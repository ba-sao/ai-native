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4"/>
  </p:sldMasterIdLst>
  <p:notesMasterIdLst>
    <p:notesMasterId r:id="rId38"/>
  </p:notesMasterIdLst>
  <p:sldIdLst>
    <p:sldId id="257" r:id="rId5"/>
    <p:sldId id="258" r:id="rId6"/>
    <p:sldId id="259" r:id="rId7"/>
    <p:sldId id="260" r:id="rId8"/>
    <p:sldId id="313"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95" r:id="rId23"/>
    <p:sldId id="316" r:id="rId24"/>
    <p:sldId id="275" r:id="rId25"/>
    <p:sldId id="276" r:id="rId26"/>
    <p:sldId id="318" r:id="rId27"/>
    <p:sldId id="277" r:id="rId28"/>
    <p:sldId id="278" r:id="rId29"/>
    <p:sldId id="279" r:id="rId30"/>
    <p:sldId id="280" r:id="rId31"/>
    <p:sldId id="281" r:id="rId32"/>
    <p:sldId id="282" r:id="rId33"/>
    <p:sldId id="283" r:id="rId34"/>
    <p:sldId id="284" r:id="rId35"/>
    <p:sldId id="285" r:id="rId36"/>
    <p:sldId id="286" r:id="rId37"/>
  </p:sldIdLst>
  <p:sldSz cx="18288000" cy="10287000"/>
  <p:notesSz cx="6858000" cy="9144000"/>
  <p:embeddedFontLst>
    <p:embeddedFont>
      <p:font typeface="Montserrat" panose="00000500000000000000" pitchFamily="2" charset="0"/>
      <p:regular r:id="rId39"/>
      <p:bold r:id="rId40"/>
      <p:italic r:id="rId41"/>
      <p:boldItalic r:id="rId42"/>
    </p:embeddedFont>
    <p:embeddedFont>
      <p:font typeface="Montserrat Bold" panose="00000800000000000000" pitchFamily="2" charset="0"/>
      <p:regular r:id="rId43"/>
      <p:bold r:id="rId44"/>
    </p:embeddedFont>
    <p:embeddedFont>
      <p:font typeface="Montserrat Italics" panose="020B0604020202020204" charset="0"/>
      <p:regular r:id="rId45"/>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A8A65"/>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F226544-9BE9-DB9D-32B4-BC2D66DEA762}" v="3" dt="2026-10-08T09:00:09.536"/>
    <p1510:client id="{EBC8812B-923E-F5B4-A972-D88716B72D93}" v="5" dt="2026-10-09T06:28:31.22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20" autoAdjust="0"/>
    <p:restoredTop sz="95208" autoAdjust="0"/>
  </p:normalViewPr>
  <p:slideViewPr>
    <p:cSldViewPr>
      <p:cViewPr>
        <p:scale>
          <a:sx n="50" d="100"/>
          <a:sy n="50" d="100"/>
        </p:scale>
        <p:origin x="946" y="283"/>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font" Target="fonts/font1.fntdata"/><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font" Target="fonts/font4.fntdata"/><Relationship Id="rId47" Type="http://schemas.openxmlformats.org/officeDocument/2006/relationships/viewProps" Target="viewProps.xml"/><Relationship Id="rId50" Type="http://schemas.microsoft.com/office/2016/11/relationships/changesInfo" Target="changesInfos/changesInfo1.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font" Target="fonts/font2.fntdata"/><Relationship Id="rId45" Type="http://schemas.openxmlformats.org/officeDocument/2006/relationships/font" Target="fonts/font7.fntdata"/><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font" Target="fonts/font6.fntdata"/><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font" Target="fonts/font5.fntdata"/><Relationship Id="rId48" Type="http://schemas.openxmlformats.org/officeDocument/2006/relationships/theme" Target="theme/theme1.xml"/><Relationship Id="rId8" Type="http://schemas.openxmlformats.org/officeDocument/2006/relationships/slide" Target="slides/slide4.xml"/><Relationship Id="rId51" Type="http://schemas.microsoft.com/office/2015/10/relationships/revisionInfo" Target="revisionInfo.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notesMaster" Target="notesMasters/notesMaster1.xml"/><Relationship Id="rId46" Type="http://schemas.openxmlformats.org/officeDocument/2006/relationships/presProps" Target="presProps.xml"/><Relationship Id="rId20" Type="http://schemas.openxmlformats.org/officeDocument/2006/relationships/slide" Target="slides/slide16.xml"/><Relationship Id="rId41" Type="http://schemas.openxmlformats.org/officeDocument/2006/relationships/font" Target="fonts/font3.fntdata"/><Relationship Id="rId1" Type="http://schemas.openxmlformats.org/officeDocument/2006/relationships/customXml" Target="../customXml/item1.xml"/><Relationship Id="rId6" Type="http://schemas.openxmlformats.org/officeDocument/2006/relationships/slide" Target="slides/slide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Nguyet, Tran Thi (BS | DT)" userId="S::nguyet.tt@tristarvn.com.vn::be8d0f58-0638-4167-a3df-3570f66dfcdd" providerId="AD" clId="Web-{EBC8812B-923E-F5B4-A972-D88716B72D93}"/>
    <pc:docChg chg="delSld">
      <pc:chgData name="Nguyet, Tran Thi (BS | DT)" userId="S::nguyet.tt@tristarvn.com.vn::be8d0f58-0638-4167-a3df-3570f66dfcdd" providerId="AD" clId="Web-{EBC8812B-923E-F5B4-A972-D88716B72D93}" dt="2026-10-09T06:28:31.220" v="4"/>
      <pc:docMkLst>
        <pc:docMk/>
      </pc:docMkLst>
      <pc:sldChg chg="del">
        <pc:chgData name="Nguyet, Tran Thi (BS | DT)" userId="S::nguyet.tt@tristarvn.com.vn::be8d0f58-0638-4167-a3df-3570f66dfcdd" providerId="AD" clId="Web-{EBC8812B-923E-F5B4-A972-D88716B72D93}" dt="2026-10-09T06:27:36.546" v="0"/>
        <pc:sldMkLst>
          <pc:docMk/>
          <pc:sldMk cId="3512939710" sldId="311"/>
        </pc:sldMkLst>
      </pc:sldChg>
      <pc:sldChg chg="del">
        <pc:chgData name="Nguyet, Tran Thi (BS | DT)" userId="S::nguyet.tt@tristarvn.com.vn::be8d0f58-0638-4167-a3df-3570f66dfcdd" providerId="AD" clId="Web-{EBC8812B-923E-F5B4-A972-D88716B72D93}" dt="2026-10-09T06:28:31.220" v="4"/>
        <pc:sldMkLst>
          <pc:docMk/>
          <pc:sldMk cId="1335640439" sldId="312"/>
        </pc:sldMkLst>
      </pc:sldChg>
      <pc:sldChg chg="del">
        <pc:chgData name="Nguyet, Tran Thi (BS | DT)" userId="S::nguyet.tt@tristarvn.com.vn::be8d0f58-0638-4167-a3df-3570f66dfcdd" providerId="AD" clId="Web-{EBC8812B-923E-F5B4-A972-D88716B72D93}" dt="2026-10-09T06:27:42.781" v="1"/>
        <pc:sldMkLst>
          <pc:docMk/>
          <pc:sldMk cId="3101244785" sldId="314"/>
        </pc:sldMkLst>
      </pc:sldChg>
      <pc:sldChg chg="del">
        <pc:chgData name="Nguyet, Tran Thi (BS | DT)" userId="S::nguyet.tt@tristarvn.com.vn::be8d0f58-0638-4167-a3df-3570f66dfcdd" providerId="AD" clId="Web-{EBC8812B-923E-F5B4-A972-D88716B72D93}" dt="2026-10-09T06:28:10.548" v="2"/>
        <pc:sldMkLst>
          <pc:docMk/>
          <pc:sldMk cId="1023591874" sldId="315"/>
        </pc:sldMkLst>
      </pc:sldChg>
      <pc:sldChg chg="del">
        <pc:chgData name="Nguyet, Tran Thi (BS | DT)" userId="S::nguyet.tt@tristarvn.com.vn::be8d0f58-0638-4167-a3df-3570f66dfcdd" providerId="AD" clId="Web-{EBC8812B-923E-F5B4-A972-D88716B72D93}" dt="2026-10-09T06:28:14.673" v="3"/>
        <pc:sldMkLst>
          <pc:docMk/>
          <pc:sldMk cId="1551528391" sldId="317"/>
        </pc:sldMkLst>
      </pc:sldChg>
    </pc:docChg>
  </pc:docChgLst>
  <pc:docChgLst>
    <pc:chgData name="Nhung, Le Thi Kieu (BS | DT)" userId="S::nhung.ltk@tristarvn.com.vn::bb3c7c35-a68b-4ae9-a98c-1ddd1c838109" providerId="AD" clId="Web-{7F226544-9BE9-DB9D-32B4-BC2D66DEA762}"/>
    <pc:docChg chg="modSld">
      <pc:chgData name="Nhung, Le Thi Kieu (BS | DT)" userId="S::nhung.ltk@tristarvn.com.vn::bb3c7c35-a68b-4ae9-a98c-1ddd1c838109" providerId="AD" clId="Web-{7F226544-9BE9-DB9D-32B4-BC2D66DEA762}" dt="2026-10-08T09:00:09.536" v="2" actId="20577"/>
      <pc:docMkLst>
        <pc:docMk/>
      </pc:docMkLst>
      <pc:sldChg chg="modSp">
        <pc:chgData name="Nhung, Le Thi Kieu (BS | DT)" userId="S::nhung.ltk@tristarvn.com.vn::bb3c7c35-a68b-4ae9-a98c-1ddd1c838109" providerId="AD" clId="Web-{7F226544-9BE9-DB9D-32B4-BC2D66DEA762}" dt="2026-10-08T09:00:09.536" v="2" actId="20577"/>
        <pc:sldMkLst>
          <pc:docMk/>
          <pc:sldMk cId="0" sldId="257"/>
        </pc:sldMkLst>
        <pc:spChg chg="mod">
          <ac:chgData name="Nhung, Le Thi Kieu (BS | DT)" userId="S::nhung.ltk@tristarvn.com.vn::bb3c7c35-a68b-4ae9-a98c-1ddd1c838109" providerId="AD" clId="Web-{7F226544-9BE9-DB9D-32B4-BC2D66DEA762}" dt="2026-10-08T09:00:09.536" v="2" actId="20577"/>
          <ac:spMkLst>
            <pc:docMk/>
            <pc:sldMk cId="0" sldId="257"/>
            <ac:spMk id="13"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08.10.2026</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2</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3</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4</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5</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5</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179729773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6</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7</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8</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9</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10</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11</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12</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13</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14</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15</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16</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18</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317775072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20</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21</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15</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152546142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22</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23</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24</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25</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26</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27</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28</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29</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30</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31</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10/8/2026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10/8/2026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10/8/2026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10/8/2026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10/8/2026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10/8/2026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grpSp>
        <p:nvGrpSpPr>
          <p:cNvPr id="5" name="Group 2">
            <a:extLst>
              <a:ext uri="{FF2B5EF4-FFF2-40B4-BE49-F238E27FC236}">
                <a16:creationId xmlns:a16="http://schemas.microsoft.com/office/drawing/2014/main" id="{22EA14C2-28D2-4419-BC1A-BF1211B95819}"/>
              </a:ext>
            </a:extLst>
          </p:cNvPr>
          <p:cNvGrpSpPr/>
          <p:nvPr userDrawn="1"/>
        </p:nvGrpSpPr>
        <p:grpSpPr>
          <a:xfrm>
            <a:off x="16527780" y="438912"/>
            <a:ext cx="1097280" cy="822960"/>
            <a:chOff x="0" y="0"/>
            <a:chExt cx="1463040" cy="1097280"/>
          </a:xfrm>
        </p:grpSpPr>
        <p:sp>
          <p:nvSpPr>
            <p:cNvPr id="6" name="Freeform 3" descr="/tmp/claude-0/-home-claude/f2393a9e-ecac-5976-acd4-5fd24e92a8fe/scratchpad/assets/logo.jpg">
              <a:extLst>
                <a:ext uri="{FF2B5EF4-FFF2-40B4-BE49-F238E27FC236}">
                  <a16:creationId xmlns:a16="http://schemas.microsoft.com/office/drawing/2014/main" id="{2094BEC8-B250-4C96-9B57-2E1848CE5013}"/>
                </a:ext>
              </a:extLst>
            </p:cNvPr>
            <p:cNvSpPr/>
            <p:nvPr/>
          </p:nvSpPr>
          <p:spPr>
            <a:xfrm>
              <a:off x="0" y="0"/>
              <a:ext cx="1463040" cy="1097280"/>
            </a:xfrm>
            <a:custGeom>
              <a:avLst/>
              <a:gdLst/>
              <a:ahLst/>
              <a:cxnLst/>
              <a:rect l="l" t="t" r="r" b="b"/>
              <a:pathLst>
                <a:path w="1463040" h="1097280">
                  <a:moveTo>
                    <a:pt x="0" y="0"/>
                  </a:moveTo>
                  <a:lnTo>
                    <a:pt x="1463040" y="0"/>
                  </a:lnTo>
                  <a:lnTo>
                    <a:pt x="1463040" y="1097280"/>
                  </a:lnTo>
                  <a:lnTo>
                    <a:pt x="0" y="1097280"/>
                  </a:lnTo>
                  <a:lnTo>
                    <a:pt x="0" y="0"/>
                  </a:lnTo>
                  <a:close/>
                </a:path>
              </a:pathLst>
            </a:custGeom>
            <a:blipFill>
              <a:blip r:embed="rId2"/>
              <a:stretch>
                <a:fillRect/>
              </a:stretch>
            </a:blipFill>
          </p:spPr>
        </p:sp>
      </p:gr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10/8/2026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10/8/2026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10/8/2026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7.xml"/><Relationship Id="rId5" Type="http://schemas.openxmlformats.org/officeDocument/2006/relationships/image" Target="../media/image3.jpeg"/><Relationship Id="rId4" Type="http://schemas.openxmlformats.org/officeDocument/2006/relationships/image" Target="../media/image1.jpeg"/></Relationships>
</file>

<file path=ppt/slides/_rels/slide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xml"/><Relationship Id="rId1" Type="http://schemas.openxmlformats.org/officeDocument/2006/relationships/slideLayout" Target="../slideLayouts/slideLayout7.xml"/><Relationship Id="rId4" Type="http://schemas.openxmlformats.org/officeDocument/2006/relationships/image" Target="../media/image3.jpeg"/></Relationships>
</file>

<file path=ppt/slides/_rels/slide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3.xml"/><Relationship Id="rId1" Type="http://schemas.openxmlformats.org/officeDocument/2006/relationships/slideLayout" Target="../slideLayouts/slideLayout7.xml"/><Relationship Id="rId4" Type="http://schemas.openxmlformats.org/officeDocument/2006/relationships/image" Target="../media/image3.jpeg"/></Relationships>
</file>

<file path=ppt/slides/_rels/slide4.xml.rels><?xml version="1.0" encoding="UTF-8" standalone="yes"?>
<Relationships xmlns="http://schemas.openxmlformats.org/package/2006/relationships"><Relationship Id="rId3" Type="http://schemas.openxmlformats.org/officeDocument/2006/relationships/image" Target="../media/image3.jpeg"/><Relationship Id="rId7"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7.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3.jpeg"/><Relationship Id="rId7" Type="http://schemas.openxmlformats.org/officeDocument/2006/relationships/image" Target="../media/image11.png"/><Relationship Id="rId2" Type="http://schemas.openxmlformats.org/officeDocument/2006/relationships/notesSlide" Target="../notesSlides/notesSlide6.xml"/><Relationship Id="rId1" Type="http://schemas.openxmlformats.org/officeDocument/2006/relationships/slideLayout" Target="../slideLayouts/slideLayout7.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7.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image" Target="../media/image3.jpeg"/><Relationship Id="rId7" Type="http://schemas.openxmlformats.org/officeDocument/2006/relationships/image" Target="../media/image15.png"/><Relationship Id="rId2" Type="http://schemas.openxmlformats.org/officeDocument/2006/relationships/notesSlide" Target="../notesSlides/notesSlide7.xml"/><Relationship Id="rId1" Type="http://schemas.openxmlformats.org/officeDocument/2006/relationships/slideLayout" Target="../slideLayouts/slideLayout7.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 Id="rId9" Type="http://schemas.openxmlformats.org/officeDocument/2006/relationships/image" Target="../media/image17.png"/></Relationships>
</file>

<file path=ppt/slides/_rels/slide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8.xml"/><Relationship Id="rId1" Type="http://schemas.openxmlformats.org/officeDocument/2006/relationships/slideLayout" Target="../slideLayouts/slideLayout7.xml"/><Relationship Id="rId4" Type="http://schemas.openxmlformats.org/officeDocument/2006/relationships/image" Target="../media/image3.jpeg"/></Relationships>
</file>

<file path=ppt/slides/_rels/slide9.xml.rels><?xml version="1.0" encoding="UTF-8" standalone="yes"?>
<Relationships xmlns="http://schemas.openxmlformats.org/package/2006/relationships"><Relationship Id="rId3" Type="http://schemas.openxmlformats.org/officeDocument/2006/relationships/image" Target="../media/image1.jpeg"/><Relationship Id="rId7" Type="http://schemas.openxmlformats.org/officeDocument/2006/relationships/image" Target="../media/image20.png"/><Relationship Id="rId2" Type="http://schemas.openxmlformats.org/officeDocument/2006/relationships/notesSlide" Target="../notesSlides/notesSlide9.xml"/><Relationship Id="rId1" Type="http://schemas.openxmlformats.org/officeDocument/2006/relationships/slideLayout" Target="../slideLayouts/slideLayout7.xml"/><Relationship Id="rId6" Type="http://schemas.openxmlformats.org/officeDocument/2006/relationships/image" Target="../media/image19.png"/><Relationship Id="rId5" Type="http://schemas.openxmlformats.org/officeDocument/2006/relationships/image" Target="../media/image18.png"/><Relationship Id="rId4" Type="http://schemas.openxmlformats.org/officeDocument/2006/relationships/image" Target="../media/image3.jpeg"/></Relationships>
</file>

<file path=ppt/slides/_rels/slide1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0.xml"/><Relationship Id="rId1" Type="http://schemas.openxmlformats.org/officeDocument/2006/relationships/slideLayout" Target="../slideLayouts/slideLayout7.xml"/><Relationship Id="rId4" Type="http://schemas.openxmlformats.org/officeDocument/2006/relationships/image" Target="../media/image3.jpeg"/></Relationships>
</file>

<file path=ppt/slides/_rels/slide11.xml.rels><?xml version="1.0" encoding="UTF-8" standalone="yes"?>
<Relationships xmlns="http://schemas.openxmlformats.org/package/2006/relationships"><Relationship Id="rId8" Type="http://schemas.openxmlformats.org/officeDocument/2006/relationships/image" Target="../media/image25.png"/><Relationship Id="rId3" Type="http://schemas.openxmlformats.org/officeDocument/2006/relationships/image" Target="../media/image3.jpeg"/><Relationship Id="rId7" Type="http://schemas.openxmlformats.org/officeDocument/2006/relationships/image" Target="../media/image24.jpeg"/><Relationship Id="rId2" Type="http://schemas.openxmlformats.org/officeDocument/2006/relationships/notesSlide" Target="../notesSlides/notesSlide11.xml"/><Relationship Id="rId1" Type="http://schemas.openxmlformats.org/officeDocument/2006/relationships/slideLayout" Target="../slideLayouts/slideLayout7.xml"/><Relationship Id="rId6" Type="http://schemas.openxmlformats.org/officeDocument/2006/relationships/image" Target="../media/image23.png"/><Relationship Id="rId5" Type="http://schemas.openxmlformats.org/officeDocument/2006/relationships/image" Target="../media/image22.png"/><Relationship Id="rId4" Type="http://schemas.openxmlformats.org/officeDocument/2006/relationships/image" Target="../media/image21.png"/><Relationship Id="rId9" Type="http://schemas.openxmlformats.org/officeDocument/2006/relationships/image" Target="../media/image26.png"/></Relationships>
</file>

<file path=ppt/slides/_rels/slide1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2.xml"/><Relationship Id="rId1" Type="http://schemas.openxmlformats.org/officeDocument/2006/relationships/slideLayout" Target="../slideLayouts/slideLayout7.xml"/><Relationship Id="rId4" Type="http://schemas.openxmlformats.org/officeDocument/2006/relationships/image" Target="../media/image3.jpeg"/></Relationships>
</file>

<file path=ppt/slides/_rels/slide13.xml.rels><?xml version="1.0" encoding="UTF-8" standalone="yes"?>
<Relationships xmlns="http://schemas.openxmlformats.org/package/2006/relationships"><Relationship Id="rId3" Type="http://schemas.openxmlformats.org/officeDocument/2006/relationships/image" Target="../media/image3.jpeg"/><Relationship Id="rId7" Type="http://schemas.openxmlformats.org/officeDocument/2006/relationships/image" Target="../media/image30.png"/><Relationship Id="rId2" Type="http://schemas.openxmlformats.org/officeDocument/2006/relationships/notesSlide" Target="../notesSlides/notesSlide13.xml"/><Relationship Id="rId1" Type="http://schemas.openxmlformats.org/officeDocument/2006/relationships/slideLayout" Target="../slideLayouts/slideLayout7.xml"/><Relationship Id="rId6" Type="http://schemas.openxmlformats.org/officeDocument/2006/relationships/image" Target="../media/image29.png"/><Relationship Id="rId5" Type="http://schemas.openxmlformats.org/officeDocument/2006/relationships/image" Target="../media/image28.png"/><Relationship Id="rId4" Type="http://schemas.openxmlformats.org/officeDocument/2006/relationships/image" Target="../media/image27.png"/></Relationships>
</file>

<file path=ppt/slides/_rels/slide14.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4.xml"/><Relationship Id="rId1" Type="http://schemas.openxmlformats.org/officeDocument/2006/relationships/slideLayout" Target="../slideLayouts/slideLayout7.xml"/><Relationship Id="rId4" Type="http://schemas.openxmlformats.org/officeDocument/2006/relationships/image" Target="../media/image31.png"/></Relationships>
</file>

<file path=ppt/slides/_rels/slide15.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5.xml"/><Relationship Id="rId1" Type="http://schemas.openxmlformats.org/officeDocument/2006/relationships/slideLayout" Target="../slideLayouts/slideLayout7.xml"/><Relationship Id="rId4" Type="http://schemas.openxmlformats.org/officeDocument/2006/relationships/image" Target="../media/image3.jpeg"/></Relationships>
</file>

<file path=ppt/slides/_rels/slide16.xml.rels><?xml version="1.0" encoding="UTF-8" standalone="yes"?>
<Relationships xmlns="http://schemas.openxmlformats.org/package/2006/relationships"><Relationship Id="rId8" Type="http://schemas.openxmlformats.org/officeDocument/2006/relationships/image" Target="../media/image36.jpeg"/><Relationship Id="rId3" Type="http://schemas.openxmlformats.org/officeDocument/2006/relationships/image" Target="../media/image3.jpeg"/><Relationship Id="rId7" Type="http://schemas.openxmlformats.org/officeDocument/2006/relationships/image" Target="../media/image35.jpeg"/><Relationship Id="rId2" Type="http://schemas.openxmlformats.org/officeDocument/2006/relationships/notesSlide" Target="../notesSlides/notesSlide16.xml"/><Relationship Id="rId1" Type="http://schemas.openxmlformats.org/officeDocument/2006/relationships/slideLayout" Target="../slideLayouts/slideLayout7.xml"/><Relationship Id="rId6" Type="http://schemas.openxmlformats.org/officeDocument/2006/relationships/image" Target="../media/image34.jpeg"/><Relationship Id="rId5" Type="http://schemas.openxmlformats.org/officeDocument/2006/relationships/image" Target="../media/image33.png"/><Relationship Id="rId4" Type="http://schemas.openxmlformats.org/officeDocument/2006/relationships/image" Target="../media/image32.png"/></Relationships>
</file>

<file path=ppt/slides/_rels/slide17.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8.xml"/><Relationship Id="rId1" Type="http://schemas.openxmlformats.org/officeDocument/2006/relationships/slideLayout" Target="../slideLayouts/slideLayout7.xml"/><Relationship Id="rId6" Type="http://schemas.openxmlformats.org/officeDocument/2006/relationships/image" Target="../media/image7.png"/><Relationship Id="rId5" Type="http://schemas.openxmlformats.org/officeDocument/2006/relationships/image" Target="../media/image38.png"/><Relationship Id="rId4" Type="http://schemas.openxmlformats.org/officeDocument/2006/relationships/image" Target="../media/image37.png"/></Relationships>
</file>

<file path=ppt/slides/_rels/slide19.xml.rels><?xml version="1.0" encoding="UTF-8" standalone="yes"?>
<Relationships xmlns="http://schemas.openxmlformats.org/package/2006/relationships"><Relationship Id="rId3" Type="http://schemas.openxmlformats.org/officeDocument/2006/relationships/image" Target="../media/image39.png"/><Relationship Id="rId7" Type="http://schemas.openxmlformats.org/officeDocument/2006/relationships/image" Target="../media/image43.png"/><Relationship Id="rId2" Type="http://schemas.openxmlformats.org/officeDocument/2006/relationships/notesSlide" Target="../notesSlides/notesSlide19.xml"/><Relationship Id="rId1" Type="http://schemas.openxmlformats.org/officeDocument/2006/relationships/slideLayout" Target="../slideLayouts/slideLayout7.xml"/><Relationship Id="rId6" Type="http://schemas.openxmlformats.org/officeDocument/2006/relationships/image" Target="../media/image42.png"/><Relationship Id="rId5" Type="http://schemas.openxmlformats.org/officeDocument/2006/relationships/image" Target="../media/image41.png"/><Relationship Id="rId4" Type="http://schemas.openxmlformats.org/officeDocument/2006/relationships/image" Target="../media/image40.png"/></Relationships>
</file>

<file path=ppt/slides/_rels/slide20.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3.jpeg"/><Relationship Id="rId7" Type="http://schemas.openxmlformats.org/officeDocument/2006/relationships/image" Target="../media/image45.png"/><Relationship Id="rId2" Type="http://schemas.openxmlformats.org/officeDocument/2006/relationships/notesSlide" Target="../notesSlides/notesSlide21.xml"/><Relationship Id="rId1" Type="http://schemas.openxmlformats.org/officeDocument/2006/relationships/slideLayout" Target="../slideLayouts/slideLayout7.xml"/><Relationship Id="rId6" Type="http://schemas.openxmlformats.org/officeDocument/2006/relationships/image" Target="../media/image32.png"/><Relationship Id="rId5" Type="http://schemas.openxmlformats.org/officeDocument/2006/relationships/image" Target="../media/image44.png"/><Relationship Id="rId4" Type="http://schemas.openxmlformats.org/officeDocument/2006/relationships/image" Target="../media/image29.png"/></Relationships>
</file>

<file path=ppt/slides/_rels/slide2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22.xml"/><Relationship Id="rId1" Type="http://schemas.openxmlformats.org/officeDocument/2006/relationships/slideLayout" Target="../slideLayouts/slideLayout7.xml"/><Relationship Id="rId6" Type="http://schemas.openxmlformats.org/officeDocument/2006/relationships/image" Target="../media/image48.png"/><Relationship Id="rId5" Type="http://schemas.openxmlformats.org/officeDocument/2006/relationships/image" Target="../media/image47.png"/><Relationship Id="rId4" Type="http://schemas.openxmlformats.org/officeDocument/2006/relationships/image" Target="../media/image46.png"/></Relationships>
</file>

<file path=ppt/slides/_rels/slide2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3.xml"/><Relationship Id="rId1" Type="http://schemas.openxmlformats.org/officeDocument/2006/relationships/slideLayout" Target="../slideLayouts/slideLayout7.xml"/><Relationship Id="rId4" Type="http://schemas.openxmlformats.org/officeDocument/2006/relationships/image" Target="../media/image3.jpeg"/></Relationships>
</file>

<file path=ppt/slides/_rels/slide24.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24.xml"/><Relationship Id="rId1" Type="http://schemas.openxmlformats.org/officeDocument/2006/relationships/slideLayout" Target="../slideLayouts/slideLayout7.xml"/><Relationship Id="rId6" Type="http://schemas.openxmlformats.org/officeDocument/2006/relationships/image" Target="../media/image10.png"/><Relationship Id="rId5" Type="http://schemas.openxmlformats.org/officeDocument/2006/relationships/image" Target="../media/image50.png"/><Relationship Id="rId4" Type="http://schemas.openxmlformats.org/officeDocument/2006/relationships/image" Target="../media/image49.png"/></Relationships>
</file>

<file path=ppt/slides/_rels/slide25.xml.rels><?xml version="1.0" encoding="UTF-8" standalone="yes"?>
<Relationships xmlns="http://schemas.openxmlformats.org/package/2006/relationships"><Relationship Id="rId3" Type="http://schemas.openxmlformats.org/officeDocument/2006/relationships/image" Target="../media/image3.jpeg"/><Relationship Id="rId7" Type="http://schemas.openxmlformats.org/officeDocument/2006/relationships/image" Target="../media/image53.png"/><Relationship Id="rId2" Type="http://schemas.openxmlformats.org/officeDocument/2006/relationships/notesSlide" Target="../notesSlides/notesSlide25.xml"/><Relationship Id="rId1" Type="http://schemas.openxmlformats.org/officeDocument/2006/relationships/slideLayout" Target="../slideLayouts/slideLayout7.xml"/><Relationship Id="rId6" Type="http://schemas.openxmlformats.org/officeDocument/2006/relationships/image" Target="../media/image52.png"/><Relationship Id="rId5" Type="http://schemas.openxmlformats.org/officeDocument/2006/relationships/image" Target="../media/image17.png"/><Relationship Id="rId4" Type="http://schemas.openxmlformats.org/officeDocument/2006/relationships/image" Target="../media/image51.png"/></Relationships>
</file>

<file path=ppt/slides/_rels/slide26.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26.xml"/><Relationship Id="rId1" Type="http://schemas.openxmlformats.org/officeDocument/2006/relationships/slideLayout" Target="../slideLayouts/slideLayout7.xml"/><Relationship Id="rId4" Type="http://schemas.openxmlformats.org/officeDocument/2006/relationships/image" Target="../media/image54.png"/></Relationships>
</file>

<file path=ppt/slides/_rels/slide27.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7.xml"/><Relationship Id="rId1" Type="http://schemas.openxmlformats.org/officeDocument/2006/relationships/slideLayout" Target="../slideLayouts/slideLayout7.xml"/><Relationship Id="rId4" Type="http://schemas.openxmlformats.org/officeDocument/2006/relationships/image" Target="../media/image3.jpeg"/></Relationships>
</file>

<file path=ppt/slides/_rels/slide28.xml.rels><?xml version="1.0" encoding="UTF-8" standalone="yes"?>
<Relationships xmlns="http://schemas.openxmlformats.org/package/2006/relationships"><Relationship Id="rId3" Type="http://schemas.openxmlformats.org/officeDocument/2006/relationships/image" Target="../media/image3.jpeg"/><Relationship Id="rId7" Type="http://schemas.openxmlformats.org/officeDocument/2006/relationships/image" Target="../media/image58.png"/><Relationship Id="rId2" Type="http://schemas.openxmlformats.org/officeDocument/2006/relationships/notesSlide" Target="../notesSlides/notesSlide28.xml"/><Relationship Id="rId1" Type="http://schemas.openxmlformats.org/officeDocument/2006/relationships/slideLayout" Target="../slideLayouts/slideLayout7.xml"/><Relationship Id="rId6" Type="http://schemas.openxmlformats.org/officeDocument/2006/relationships/image" Target="../media/image57.png"/><Relationship Id="rId5" Type="http://schemas.openxmlformats.org/officeDocument/2006/relationships/image" Target="../media/image56.png"/><Relationship Id="rId4" Type="http://schemas.openxmlformats.org/officeDocument/2006/relationships/image" Target="../media/image55.png"/></Relationships>
</file>

<file path=ppt/slides/_rels/slide29.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29.xml"/><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30.xml"/><Relationship Id="rId1" Type="http://schemas.openxmlformats.org/officeDocument/2006/relationships/slideLayout" Target="../slideLayouts/slideLayout7.xml"/><Relationship Id="rId4" Type="http://schemas.openxmlformats.org/officeDocument/2006/relationships/image" Target="../media/image3.jpeg"/></Relationships>
</file>

<file path=ppt/slides/_rels/slide31.xml.rels><?xml version="1.0" encoding="UTF-8" standalone="yes"?>
<Relationships xmlns="http://schemas.openxmlformats.org/package/2006/relationships"><Relationship Id="rId3" Type="http://schemas.openxmlformats.org/officeDocument/2006/relationships/image" Target="../media/image1.jpeg"/><Relationship Id="rId7" Type="http://schemas.openxmlformats.org/officeDocument/2006/relationships/image" Target="../media/image61.png"/><Relationship Id="rId2" Type="http://schemas.openxmlformats.org/officeDocument/2006/relationships/notesSlide" Target="../notesSlides/notesSlide31.xml"/><Relationship Id="rId1" Type="http://schemas.openxmlformats.org/officeDocument/2006/relationships/slideLayout" Target="../slideLayouts/slideLayout7.xml"/><Relationship Id="rId6" Type="http://schemas.openxmlformats.org/officeDocument/2006/relationships/image" Target="../media/image60.png"/><Relationship Id="rId5" Type="http://schemas.openxmlformats.org/officeDocument/2006/relationships/image" Target="../media/image59.png"/><Relationship Id="rId4" Type="http://schemas.openxmlformats.org/officeDocument/2006/relationships/image" Target="../media/image3.jpeg"/></Relationships>
</file>

<file path=ppt/slides/_rels/slide3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32.xml"/><Relationship Id="rId1" Type="http://schemas.openxmlformats.org/officeDocument/2006/relationships/slideLayout" Target="../slideLayouts/slideLayout7.xml"/><Relationship Id="rId6" Type="http://schemas.openxmlformats.org/officeDocument/2006/relationships/image" Target="../media/image64.png"/><Relationship Id="rId5" Type="http://schemas.openxmlformats.org/officeDocument/2006/relationships/image" Target="../media/image63.png"/><Relationship Id="rId4" Type="http://schemas.openxmlformats.org/officeDocument/2006/relationships/image" Target="../media/image62.png"/></Relationships>
</file>

<file path=ppt/slides/_rels/slide33.xml.rels><?xml version="1.0" encoding="UTF-8" standalone="yes"?>
<Relationships xmlns="http://schemas.openxmlformats.org/package/2006/relationships"><Relationship Id="rId3" Type="http://schemas.openxmlformats.org/officeDocument/2006/relationships/image" Target="../media/image65.jpeg"/><Relationship Id="rId2" Type="http://schemas.openxmlformats.org/officeDocument/2006/relationships/notesSlide" Target="../notesSlides/notesSlide33.xml"/><Relationship Id="rId1" Type="http://schemas.openxmlformats.org/officeDocument/2006/relationships/slideLayout" Target="../slideLayouts/slideLayout7.xml"/><Relationship Id="rId5" Type="http://schemas.openxmlformats.org/officeDocument/2006/relationships/image" Target="../media/image3.jpeg"/><Relationship Id="rId4" Type="http://schemas.openxmlformats.org/officeDocument/2006/relationships/image" Target="../media/image1.jpe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22C1E"/>
        </a:solidFill>
        <a:effectLst/>
      </p:bgPr>
    </p:bg>
    <p:spTree>
      <p:nvGrpSpPr>
        <p:cNvPr id="1" name=""/>
        <p:cNvGrpSpPr/>
        <p:nvPr/>
      </p:nvGrpSpPr>
      <p:grpSpPr>
        <a:xfrm>
          <a:off x="0" y="0"/>
          <a:ext cx="0" cy="0"/>
          <a:chOff x="0" y="0"/>
          <a:chExt cx="0" cy="0"/>
        </a:xfrm>
      </p:grpSpPr>
      <p:grpSp>
        <p:nvGrpSpPr>
          <p:cNvPr id="2" name="Group 2"/>
          <p:cNvGrpSpPr/>
          <p:nvPr/>
        </p:nvGrpSpPr>
        <p:grpSpPr>
          <a:xfrm>
            <a:off x="9144000" y="75848"/>
            <a:ext cx="10057943" cy="10228021"/>
            <a:chOff x="0" y="0"/>
            <a:chExt cx="13410590" cy="13637362"/>
          </a:xfrm>
        </p:grpSpPr>
        <p:sp>
          <p:nvSpPr>
            <p:cNvPr id="3" name="Freeform 3" descr="/tmp/claude-0/-home-claude/f2393a9e-ecac-5976-acd4-5fd24e92a8fe/scratchpad/assets/hero_c.png"/>
            <p:cNvSpPr/>
            <p:nvPr/>
          </p:nvSpPr>
          <p:spPr>
            <a:xfrm>
              <a:off x="0" y="0"/>
              <a:ext cx="13410564" cy="13637388"/>
            </a:xfrm>
            <a:custGeom>
              <a:avLst/>
              <a:gdLst/>
              <a:ahLst/>
              <a:cxnLst/>
              <a:rect l="l" t="t" r="r" b="b"/>
              <a:pathLst>
                <a:path w="13410564" h="13637388">
                  <a:moveTo>
                    <a:pt x="0" y="0"/>
                  </a:moveTo>
                  <a:lnTo>
                    <a:pt x="13410564" y="0"/>
                  </a:lnTo>
                  <a:lnTo>
                    <a:pt x="13410564" y="13637388"/>
                  </a:lnTo>
                  <a:lnTo>
                    <a:pt x="0" y="13637388"/>
                  </a:lnTo>
                  <a:lnTo>
                    <a:pt x="0" y="0"/>
                  </a:lnTo>
                  <a:close/>
                </a:path>
              </a:pathLst>
            </a:custGeom>
            <a:blipFill>
              <a:blip r:embed="rId3"/>
              <a:stretch>
                <a:fillRect l="-3" r="-3"/>
              </a:stretch>
            </a:blipFill>
          </p:spPr>
        </p:sp>
      </p:grpSp>
      <p:grpSp>
        <p:nvGrpSpPr>
          <p:cNvPr id="4" name="Group 4"/>
          <p:cNvGrpSpPr/>
          <p:nvPr/>
        </p:nvGrpSpPr>
        <p:grpSpPr>
          <a:xfrm>
            <a:off x="960120" y="822960"/>
            <a:ext cx="1371600" cy="1028700"/>
            <a:chOff x="0" y="0"/>
            <a:chExt cx="1828800" cy="1371600"/>
          </a:xfrm>
        </p:grpSpPr>
        <p:sp>
          <p:nvSpPr>
            <p:cNvPr id="5" name="Freeform 5" descr="/tmp/claude-0/-home-claude/f2393a9e-ecac-5976-acd4-5fd24e92a8fe/scratchpad/assets/logo.jpg"/>
            <p:cNvSpPr/>
            <p:nvPr/>
          </p:nvSpPr>
          <p:spPr>
            <a:xfrm>
              <a:off x="0" y="0"/>
              <a:ext cx="1828800" cy="1371600"/>
            </a:xfrm>
            <a:custGeom>
              <a:avLst/>
              <a:gdLst/>
              <a:ahLst/>
              <a:cxnLst/>
              <a:rect l="l" t="t" r="r" b="b"/>
              <a:pathLst>
                <a:path w="1828800" h="1371600">
                  <a:moveTo>
                    <a:pt x="0" y="0"/>
                  </a:moveTo>
                  <a:lnTo>
                    <a:pt x="1828800" y="0"/>
                  </a:lnTo>
                  <a:lnTo>
                    <a:pt x="1828800" y="1371600"/>
                  </a:lnTo>
                  <a:lnTo>
                    <a:pt x="0" y="1371600"/>
                  </a:lnTo>
                  <a:lnTo>
                    <a:pt x="0" y="0"/>
                  </a:lnTo>
                  <a:close/>
                </a:path>
              </a:pathLst>
            </a:custGeom>
            <a:blipFill>
              <a:blip r:embed="rId4"/>
              <a:stretch>
                <a:fillRect/>
              </a:stretch>
            </a:blipFill>
          </p:spPr>
        </p:sp>
      </p:grpSp>
      <p:grpSp>
        <p:nvGrpSpPr>
          <p:cNvPr id="6" name="Group 6"/>
          <p:cNvGrpSpPr/>
          <p:nvPr/>
        </p:nvGrpSpPr>
        <p:grpSpPr>
          <a:xfrm>
            <a:off x="960120" y="3154680"/>
            <a:ext cx="9052560" cy="3017520"/>
            <a:chOff x="0" y="0"/>
            <a:chExt cx="12070080" cy="4023360"/>
          </a:xfrm>
        </p:grpSpPr>
        <p:sp>
          <p:nvSpPr>
            <p:cNvPr id="7" name="Freeform 7"/>
            <p:cNvSpPr/>
            <p:nvPr/>
          </p:nvSpPr>
          <p:spPr>
            <a:xfrm>
              <a:off x="0" y="0"/>
              <a:ext cx="12070080" cy="4023360"/>
            </a:xfrm>
            <a:custGeom>
              <a:avLst/>
              <a:gdLst/>
              <a:ahLst/>
              <a:cxnLst/>
              <a:rect l="l" t="t" r="r" b="b"/>
              <a:pathLst>
                <a:path w="12070080" h="4023360">
                  <a:moveTo>
                    <a:pt x="0" y="0"/>
                  </a:moveTo>
                  <a:lnTo>
                    <a:pt x="12070080" y="0"/>
                  </a:lnTo>
                  <a:lnTo>
                    <a:pt x="12070080" y="4023360"/>
                  </a:lnTo>
                  <a:lnTo>
                    <a:pt x="0" y="4023360"/>
                  </a:lnTo>
                  <a:close/>
                </a:path>
              </a:pathLst>
            </a:custGeom>
            <a:blipFill>
              <a:blip r:embed="rId5">
                <a:alphaModFix amt="0"/>
              </a:blip>
              <a:stretch>
                <a:fillRect t="-8455" b="-8455"/>
              </a:stretch>
            </a:blipFill>
          </p:spPr>
        </p:sp>
        <p:sp>
          <p:nvSpPr>
            <p:cNvPr id="8" name="TextBox 8"/>
            <p:cNvSpPr txBox="1"/>
            <p:nvPr/>
          </p:nvSpPr>
          <p:spPr>
            <a:xfrm>
              <a:off x="0" y="47625"/>
              <a:ext cx="12070080" cy="3975735"/>
            </a:xfrm>
            <a:prstGeom prst="rect">
              <a:avLst/>
            </a:prstGeom>
          </p:spPr>
          <p:txBody>
            <a:bodyPr lIns="0" tIns="0" rIns="0" bIns="0" rtlCol="0" anchor="ctr"/>
            <a:lstStyle/>
            <a:p>
              <a:pPr algn="l">
                <a:lnSpc>
                  <a:spcPts val="8891"/>
                </a:lnSpc>
              </a:pPr>
              <a:r>
                <a:rPr lang="en-US" sz="7800" b="1">
                  <a:solidFill>
                    <a:srgbClr val="FFFFFF"/>
                  </a:solidFill>
                  <a:latin typeface="Montserrat Bold"/>
                  <a:ea typeface="Montserrat Bold"/>
                  <a:cs typeface="Montserrat Bold"/>
                  <a:sym typeface="Montserrat Bold"/>
                </a:rPr>
                <a:t>AI-NATIVE</a:t>
              </a:r>
            </a:p>
            <a:p>
              <a:pPr algn="l">
                <a:lnSpc>
                  <a:spcPts val="8891"/>
                </a:lnSpc>
              </a:pPr>
              <a:r>
                <a:rPr lang="en-US" sz="7800" b="1">
                  <a:solidFill>
                    <a:srgbClr val="FFFFFF"/>
                  </a:solidFill>
                  <a:latin typeface="Montserrat Bold"/>
                  <a:ea typeface="Montserrat Bold"/>
                  <a:cs typeface="Montserrat Bold"/>
                  <a:sym typeface="Montserrat Bold"/>
                </a:rPr>
                <a:t>ORGANIZATION</a:t>
              </a:r>
            </a:p>
          </p:txBody>
        </p:sp>
      </p:grpSp>
      <p:grpSp>
        <p:nvGrpSpPr>
          <p:cNvPr id="9" name="Group 9"/>
          <p:cNvGrpSpPr/>
          <p:nvPr/>
        </p:nvGrpSpPr>
        <p:grpSpPr>
          <a:xfrm>
            <a:off x="950595" y="6642735"/>
            <a:ext cx="6328410" cy="773430"/>
            <a:chOff x="0" y="0"/>
            <a:chExt cx="8437880" cy="1031240"/>
          </a:xfrm>
        </p:grpSpPr>
        <p:sp>
          <p:nvSpPr>
            <p:cNvPr id="10" name="Freeform 10"/>
            <p:cNvSpPr/>
            <p:nvPr/>
          </p:nvSpPr>
          <p:spPr>
            <a:xfrm>
              <a:off x="0" y="0"/>
              <a:ext cx="8437880" cy="1031240"/>
            </a:xfrm>
            <a:custGeom>
              <a:avLst/>
              <a:gdLst/>
              <a:ahLst/>
              <a:cxnLst/>
              <a:rect l="l" t="t" r="r" b="b"/>
              <a:pathLst>
                <a:path w="8437880" h="1031240">
                  <a:moveTo>
                    <a:pt x="0" y="506222"/>
                  </a:moveTo>
                  <a:cubicBezTo>
                    <a:pt x="0" y="226695"/>
                    <a:pt x="226695" y="0"/>
                    <a:pt x="506222" y="0"/>
                  </a:cubicBezTo>
                  <a:lnTo>
                    <a:pt x="7931658" y="0"/>
                  </a:lnTo>
                  <a:cubicBezTo>
                    <a:pt x="8211312" y="0"/>
                    <a:pt x="8437880" y="226695"/>
                    <a:pt x="8437880" y="506222"/>
                  </a:cubicBezTo>
                  <a:lnTo>
                    <a:pt x="8437880" y="525018"/>
                  </a:lnTo>
                  <a:cubicBezTo>
                    <a:pt x="8437880" y="804672"/>
                    <a:pt x="8211185" y="1031240"/>
                    <a:pt x="7931658" y="1031240"/>
                  </a:cubicBezTo>
                  <a:lnTo>
                    <a:pt x="506222" y="1031240"/>
                  </a:lnTo>
                  <a:cubicBezTo>
                    <a:pt x="226695" y="1031240"/>
                    <a:pt x="0" y="804545"/>
                    <a:pt x="0" y="525018"/>
                  </a:cubicBezTo>
                  <a:close/>
                </a:path>
              </a:pathLst>
            </a:custGeom>
            <a:solidFill>
              <a:srgbClr val="FF7300"/>
            </a:solidFill>
            <a:ln w="19050" cap="sq">
              <a:solidFill>
                <a:srgbClr val="FF7300"/>
              </a:solidFill>
              <a:prstDash val="solid"/>
              <a:miter/>
            </a:ln>
          </p:spPr>
        </p:sp>
      </p:grpSp>
      <p:grpSp>
        <p:nvGrpSpPr>
          <p:cNvPr id="11" name="Group 11"/>
          <p:cNvGrpSpPr/>
          <p:nvPr/>
        </p:nvGrpSpPr>
        <p:grpSpPr>
          <a:xfrm>
            <a:off x="960120" y="6652260"/>
            <a:ext cx="6309360" cy="754380"/>
            <a:chOff x="0" y="0"/>
            <a:chExt cx="8412480" cy="1005840"/>
          </a:xfrm>
        </p:grpSpPr>
        <p:sp>
          <p:nvSpPr>
            <p:cNvPr id="12" name="Freeform 12"/>
            <p:cNvSpPr/>
            <p:nvPr/>
          </p:nvSpPr>
          <p:spPr>
            <a:xfrm>
              <a:off x="0" y="0"/>
              <a:ext cx="8412480" cy="1005840"/>
            </a:xfrm>
            <a:custGeom>
              <a:avLst/>
              <a:gdLst/>
              <a:ahLst/>
              <a:cxnLst/>
              <a:rect l="l" t="t" r="r" b="b"/>
              <a:pathLst>
                <a:path w="8412480" h="1005840">
                  <a:moveTo>
                    <a:pt x="0" y="0"/>
                  </a:moveTo>
                  <a:lnTo>
                    <a:pt x="8412480" y="0"/>
                  </a:lnTo>
                  <a:lnTo>
                    <a:pt x="8412480" y="1005840"/>
                  </a:lnTo>
                  <a:lnTo>
                    <a:pt x="0" y="1005840"/>
                  </a:lnTo>
                  <a:close/>
                </a:path>
              </a:pathLst>
            </a:custGeom>
            <a:blipFill>
              <a:blip r:embed="rId5">
                <a:alphaModFix amt="0"/>
              </a:blip>
              <a:stretch>
                <a:fillRect t="-112965" b="-112965"/>
              </a:stretch>
            </a:blipFill>
          </p:spPr>
        </p:sp>
        <p:sp>
          <p:nvSpPr>
            <p:cNvPr id="13" name="TextBox 13"/>
            <p:cNvSpPr txBox="1"/>
            <p:nvPr/>
          </p:nvSpPr>
          <p:spPr>
            <a:xfrm>
              <a:off x="0" y="-9525"/>
              <a:ext cx="8412480" cy="1015365"/>
            </a:xfrm>
            <a:prstGeom prst="rect">
              <a:avLst/>
            </a:prstGeom>
          </p:spPr>
          <p:txBody>
            <a:bodyPr lIns="0" tIns="0" rIns="0" bIns="0" rtlCol="0" anchor="ctr"/>
            <a:lstStyle/>
            <a:p>
              <a:pPr algn="ctr">
                <a:lnSpc>
                  <a:spcPts val="2700"/>
                </a:lnSpc>
              </a:pPr>
              <a:r>
                <a:rPr lang="en-US" sz="2250" b="1" dirty="0" err="1">
                  <a:solidFill>
                    <a:srgbClr val="FFFFFF"/>
                  </a:solidFill>
                  <a:latin typeface="Montserrat Bold"/>
                  <a:ea typeface="Montserrat Bold"/>
                  <a:cs typeface="Montserrat Bold"/>
                  <a:sym typeface="Montserrat Bold"/>
                </a:rPr>
                <a:t>Tháng</a:t>
              </a:r>
              <a:r>
                <a:rPr lang="en-US" sz="2250" b="1" dirty="0">
                  <a:solidFill>
                    <a:srgbClr val="FFFFFF"/>
                  </a:solidFill>
                  <a:latin typeface="Montserrat Bold"/>
                  <a:ea typeface="Montserrat Bold"/>
                  <a:cs typeface="Montserrat Bold"/>
                  <a:sym typeface="Montserrat Bold"/>
                </a:rPr>
                <a:t> 10 </a:t>
              </a:r>
              <a:r>
                <a:rPr lang="en-US" sz="2250" b="1" dirty="0" err="1">
                  <a:solidFill>
                    <a:srgbClr val="FFFFFF"/>
                  </a:solidFill>
                  <a:latin typeface="Montserrat Bold"/>
                  <a:ea typeface="Montserrat Bold"/>
                  <a:cs typeface="Montserrat Bold"/>
                  <a:sym typeface="Montserrat Bold"/>
                </a:rPr>
                <a:t>năm</a:t>
              </a:r>
              <a:r>
                <a:rPr lang="en-US" sz="2250" b="1" dirty="0">
                  <a:solidFill>
                    <a:srgbClr val="FFFFFF"/>
                  </a:solidFill>
                  <a:latin typeface="Montserrat Bold"/>
                  <a:ea typeface="Montserrat Bold"/>
                  <a:cs typeface="Montserrat Bold"/>
                  <a:sym typeface="Montserrat Bold"/>
                </a:rPr>
                <a:t> 2026</a:t>
              </a:r>
            </a:p>
          </p:txBody>
        </p:sp>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06838"/>
        </a:solidFill>
        <a:effectLst/>
      </p:bgPr>
    </p:bg>
    <p:spTree>
      <p:nvGrpSpPr>
        <p:cNvPr id="1" name=""/>
        <p:cNvGrpSpPr/>
        <p:nvPr/>
      </p:nvGrpSpPr>
      <p:grpSpPr>
        <a:xfrm>
          <a:off x="0" y="0"/>
          <a:ext cx="0" cy="0"/>
          <a:chOff x="0" y="0"/>
          <a:chExt cx="0" cy="0"/>
        </a:xfrm>
      </p:grpSpPr>
      <p:grpSp>
        <p:nvGrpSpPr>
          <p:cNvPr id="2" name="Group 2"/>
          <p:cNvGrpSpPr/>
          <p:nvPr/>
        </p:nvGrpSpPr>
        <p:grpSpPr>
          <a:xfrm>
            <a:off x="11786235" y="-9525"/>
            <a:ext cx="6510833" cy="10306050"/>
            <a:chOff x="0" y="0"/>
            <a:chExt cx="8681110" cy="13741400"/>
          </a:xfrm>
        </p:grpSpPr>
        <p:sp>
          <p:nvSpPr>
            <p:cNvPr id="3" name="Freeform 3"/>
            <p:cNvSpPr/>
            <p:nvPr/>
          </p:nvSpPr>
          <p:spPr>
            <a:xfrm>
              <a:off x="0" y="0"/>
              <a:ext cx="8681085" cy="13741400"/>
            </a:xfrm>
            <a:custGeom>
              <a:avLst/>
              <a:gdLst/>
              <a:ahLst/>
              <a:cxnLst/>
              <a:rect l="l" t="t" r="r" b="b"/>
              <a:pathLst>
                <a:path w="8681085" h="13741400">
                  <a:moveTo>
                    <a:pt x="0" y="0"/>
                  </a:moveTo>
                  <a:lnTo>
                    <a:pt x="8681085" y="0"/>
                  </a:lnTo>
                  <a:lnTo>
                    <a:pt x="8681085" y="13741400"/>
                  </a:lnTo>
                  <a:lnTo>
                    <a:pt x="0" y="13741400"/>
                  </a:lnTo>
                  <a:close/>
                </a:path>
              </a:pathLst>
            </a:custGeom>
            <a:solidFill>
              <a:srgbClr val="004A28"/>
            </a:solidFill>
            <a:ln w="19050" cap="sq">
              <a:solidFill>
                <a:srgbClr val="004A28"/>
              </a:solidFill>
              <a:prstDash val="solid"/>
              <a:miter/>
            </a:ln>
          </p:spPr>
        </p:sp>
      </p:grpSp>
      <p:grpSp>
        <p:nvGrpSpPr>
          <p:cNvPr id="4" name="Group 4"/>
          <p:cNvGrpSpPr/>
          <p:nvPr/>
        </p:nvGrpSpPr>
        <p:grpSpPr>
          <a:xfrm>
            <a:off x="960120" y="822960"/>
            <a:ext cx="1371600" cy="1028700"/>
            <a:chOff x="0" y="0"/>
            <a:chExt cx="1828800" cy="1371600"/>
          </a:xfrm>
        </p:grpSpPr>
        <p:sp>
          <p:nvSpPr>
            <p:cNvPr id="5" name="Freeform 5" descr="/tmp/claude-0/-home-claude/f2393a9e-ecac-5976-acd4-5fd24e92a8fe/scratchpad/assets/logo.jpg"/>
            <p:cNvSpPr/>
            <p:nvPr/>
          </p:nvSpPr>
          <p:spPr>
            <a:xfrm>
              <a:off x="0" y="0"/>
              <a:ext cx="1828800" cy="1371600"/>
            </a:xfrm>
            <a:custGeom>
              <a:avLst/>
              <a:gdLst/>
              <a:ahLst/>
              <a:cxnLst/>
              <a:rect l="l" t="t" r="r" b="b"/>
              <a:pathLst>
                <a:path w="1828800" h="1371600">
                  <a:moveTo>
                    <a:pt x="0" y="0"/>
                  </a:moveTo>
                  <a:lnTo>
                    <a:pt x="1828800" y="0"/>
                  </a:lnTo>
                  <a:lnTo>
                    <a:pt x="1828800" y="1371600"/>
                  </a:lnTo>
                  <a:lnTo>
                    <a:pt x="0" y="1371600"/>
                  </a:lnTo>
                  <a:lnTo>
                    <a:pt x="0" y="0"/>
                  </a:lnTo>
                  <a:close/>
                </a:path>
              </a:pathLst>
            </a:custGeom>
            <a:blipFill>
              <a:blip r:embed="rId3"/>
              <a:stretch>
                <a:fillRect/>
              </a:stretch>
            </a:blipFill>
          </p:spPr>
        </p:sp>
      </p:grpSp>
      <p:grpSp>
        <p:nvGrpSpPr>
          <p:cNvPr id="6" name="Group 6"/>
          <p:cNvGrpSpPr/>
          <p:nvPr/>
        </p:nvGrpSpPr>
        <p:grpSpPr>
          <a:xfrm>
            <a:off x="11795760" y="2606040"/>
            <a:ext cx="6491783" cy="4389120"/>
            <a:chOff x="0" y="0"/>
            <a:chExt cx="8655710" cy="5852160"/>
          </a:xfrm>
        </p:grpSpPr>
        <p:sp>
          <p:nvSpPr>
            <p:cNvPr id="7" name="Freeform 7"/>
            <p:cNvSpPr/>
            <p:nvPr/>
          </p:nvSpPr>
          <p:spPr>
            <a:xfrm>
              <a:off x="0" y="0"/>
              <a:ext cx="8655710" cy="5852160"/>
            </a:xfrm>
            <a:custGeom>
              <a:avLst/>
              <a:gdLst/>
              <a:ahLst/>
              <a:cxnLst/>
              <a:rect l="l" t="t" r="r" b="b"/>
              <a:pathLst>
                <a:path w="8655710" h="5852160">
                  <a:moveTo>
                    <a:pt x="0" y="0"/>
                  </a:moveTo>
                  <a:lnTo>
                    <a:pt x="8655710" y="0"/>
                  </a:lnTo>
                  <a:lnTo>
                    <a:pt x="8655710" y="5852160"/>
                  </a:lnTo>
                  <a:lnTo>
                    <a:pt x="0" y="5852160"/>
                  </a:lnTo>
                  <a:close/>
                </a:path>
              </a:pathLst>
            </a:custGeom>
            <a:blipFill>
              <a:blip r:embed="rId4">
                <a:alphaModFix amt="0"/>
              </a:blip>
              <a:stretch>
                <a:fillRect l="-36746" r="-36746"/>
              </a:stretch>
            </a:blipFill>
          </p:spPr>
        </p:sp>
        <p:sp>
          <p:nvSpPr>
            <p:cNvPr id="8" name="TextBox 8"/>
            <p:cNvSpPr txBox="1"/>
            <p:nvPr/>
          </p:nvSpPr>
          <p:spPr>
            <a:xfrm>
              <a:off x="0" y="-9525"/>
              <a:ext cx="8655710" cy="5861685"/>
            </a:xfrm>
            <a:prstGeom prst="rect">
              <a:avLst/>
            </a:prstGeom>
          </p:spPr>
          <p:txBody>
            <a:bodyPr lIns="0" tIns="0" rIns="0" bIns="0" rtlCol="0" anchor="ctr"/>
            <a:lstStyle/>
            <a:p>
              <a:pPr algn="ctr">
                <a:lnSpc>
                  <a:spcPts val="32400"/>
                </a:lnSpc>
              </a:pPr>
              <a:r>
                <a:rPr lang="en-US" sz="27000" b="1">
                  <a:solidFill>
                    <a:srgbClr val="FF7300"/>
                  </a:solidFill>
                  <a:latin typeface="Montserrat Bold"/>
                  <a:ea typeface="Montserrat Bold"/>
                  <a:cs typeface="Montserrat Bold"/>
                  <a:sym typeface="Montserrat Bold"/>
                </a:rPr>
                <a:t>01</a:t>
              </a:r>
            </a:p>
          </p:txBody>
        </p:sp>
      </p:grpSp>
      <p:grpSp>
        <p:nvGrpSpPr>
          <p:cNvPr id="9" name="Group 9"/>
          <p:cNvGrpSpPr/>
          <p:nvPr/>
        </p:nvGrpSpPr>
        <p:grpSpPr>
          <a:xfrm>
            <a:off x="960120" y="3291840"/>
            <a:ext cx="10287000" cy="3566160"/>
            <a:chOff x="0" y="0"/>
            <a:chExt cx="13716000" cy="4754880"/>
          </a:xfrm>
        </p:grpSpPr>
        <p:sp>
          <p:nvSpPr>
            <p:cNvPr id="10" name="Freeform 10"/>
            <p:cNvSpPr/>
            <p:nvPr/>
          </p:nvSpPr>
          <p:spPr>
            <a:xfrm>
              <a:off x="0" y="0"/>
              <a:ext cx="13716000" cy="4754880"/>
            </a:xfrm>
            <a:custGeom>
              <a:avLst/>
              <a:gdLst/>
              <a:ahLst/>
              <a:cxnLst/>
              <a:rect l="l" t="t" r="r" b="b"/>
              <a:pathLst>
                <a:path w="13716000" h="4754880">
                  <a:moveTo>
                    <a:pt x="0" y="0"/>
                  </a:moveTo>
                  <a:lnTo>
                    <a:pt x="13716000" y="0"/>
                  </a:lnTo>
                  <a:lnTo>
                    <a:pt x="13716000" y="4754880"/>
                  </a:lnTo>
                  <a:lnTo>
                    <a:pt x="0" y="4754880"/>
                  </a:lnTo>
                  <a:close/>
                </a:path>
              </a:pathLst>
            </a:custGeom>
            <a:blipFill>
              <a:blip r:embed="rId4">
                <a:alphaModFix amt="0"/>
              </a:blip>
              <a:stretch>
                <a:fillRect t="-6206" b="-6206"/>
              </a:stretch>
            </a:blipFill>
          </p:spPr>
        </p:sp>
        <p:sp>
          <p:nvSpPr>
            <p:cNvPr id="11" name="TextBox 11"/>
            <p:cNvSpPr txBox="1"/>
            <p:nvPr/>
          </p:nvSpPr>
          <p:spPr>
            <a:xfrm>
              <a:off x="0" y="0"/>
              <a:ext cx="13716000" cy="4754880"/>
            </a:xfrm>
            <a:prstGeom prst="rect">
              <a:avLst/>
            </a:prstGeom>
          </p:spPr>
          <p:txBody>
            <a:bodyPr lIns="0" tIns="0" rIns="0" bIns="0" rtlCol="0" anchor="ctr"/>
            <a:lstStyle/>
            <a:p>
              <a:pPr algn="l">
                <a:lnSpc>
                  <a:spcPts val="7200"/>
                </a:lnSpc>
              </a:pPr>
              <a:r>
                <a:rPr lang="en-US" sz="6000" b="1">
                  <a:solidFill>
                    <a:srgbClr val="FFFFFF"/>
                  </a:solidFill>
                  <a:latin typeface="Montserrat Bold"/>
                  <a:ea typeface="Montserrat Bold"/>
                  <a:cs typeface="Montserrat Bold"/>
                  <a:sym typeface="Montserrat Bold"/>
                </a:rPr>
                <a:t>TỔNG QUAN VỀ</a:t>
              </a:r>
            </a:p>
            <a:p>
              <a:pPr algn="l">
                <a:lnSpc>
                  <a:spcPts val="7200"/>
                </a:lnSpc>
              </a:pPr>
              <a:r>
                <a:rPr lang="en-US" sz="6000" b="1">
                  <a:solidFill>
                    <a:srgbClr val="FFFFFF"/>
                  </a:solidFill>
                  <a:latin typeface="Montserrat Bold"/>
                  <a:ea typeface="Montserrat Bold"/>
                  <a:cs typeface="Montserrat Bold"/>
                  <a:sym typeface="Montserrat Bold"/>
                </a:rPr>
                <a:t>AI NATIVE ORGANIZATION</a:t>
              </a:r>
            </a:p>
          </p:txBody>
        </p:sp>
      </p:gr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6527780" y="438912"/>
            <a:ext cx="1097280" cy="822960"/>
            <a:chOff x="0" y="0"/>
            <a:chExt cx="1463040" cy="1097280"/>
          </a:xfrm>
        </p:grpSpPr>
        <p:sp>
          <p:nvSpPr>
            <p:cNvPr id="3" name="Freeform 3" descr="/tmp/claude-0/-home-claude/f2393a9e-ecac-5976-acd4-5fd24e92a8fe/scratchpad/assets/logo.jpg"/>
            <p:cNvSpPr/>
            <p:nvPr/>
          </p:nvSpPr>
          <p:spPr>
            <a:xfrm>
              <a:off x="0" y="0"/>
              <a:ext cx="1463040" cy="1097280"/>
            </a:xfrm>
            <a:custGeom>
              <a:avLst/>
              <a:gdLst/>
              <a:ahLst/>
              <a:cxnLst/>
              <a:rect l="l" t="t" r="r" b="b"/>
              <a:pathLst>
                <a:path w="1463040" h="1097280">
                  <a:moveTo>
                    <a:pt x="0" y="0"/>
                  </a:moveTo>
                  <a:lnTo>
                    <a:pt x="1463040" y="0"/>
                  </a:lnTo>
                  <a:lnTo>
                    <a:pt x="1463040" y="1097280"/>
                  </a:lnTo>
                  <a:lnTo>
                    <a:pt x="0" y="1097280"/>
                  </a:lnTo>
                  <a:lnTo>
                    <a:pt x="0" y="0"/>
                  </a:lnTo>
                  <a:close/>
                </a:path>
              </a:pathLst>
            </a:custGeom>
            <a:blipFill>
              <a:blip r:embed="rId3"/>
              <a:stretch>
                <a:fillRect/>
              </a:stretch>
            </a:blipFill>
          </p:spPr>
        </p:sp>
      </p:grpSp>
      <p:grpSp>
        <p:nvGrpSpPr>
          <p:cNvPr id="4" name="Group 4"/>
          <p:cNvGrpSpPr/>
          <p:nvPr/>
        </p:nvGrpSpPr>
        <p:grpSpPr>
          <a:xfrm>
            <a:off x="822960" y="411480"/>
            <a:ext cx="15361920" cy="1371600"/>
            <a:chOff x="0" y="0"/>
            <a:chExt cx="20482560" cy="1828800"/>
          </a:xfrm>
        </p:grpSpPr>
        <p:sp>
          <p:nvSpPr>
            <p:cNvPr id="5" name="Freeform 5"/>
            <p:cNvSpPr/>
            <p:nvPr/>
          </p:nvSpPr>
          <p:spPr>
            <a:xfrm>
              <a:off x="0" y="0"/>
              <a:ext cx="20482561" cy="1828800"/>
            </a:xfrm>
            <a:custGeom>
              <a:avLst/>
              <a:gdLst/>
              <a:ahLst/>
              <a:cxnLst/>
              <a:rect l="l" t="t" r="r" b="b"/>
              <a:pathLst>
                <a:path w="20482561" h="1828800">
                  <a:moveTo>
                    <a:pt x="0" y="0"/>
                  </a:moveTo>
                  <a:lnTo>
                    <a:pt x="20482561" y="0"/>
                  </a:lnTo>
                  <a:lnTo>
                    <a:pt x="20482561" y="1828800"/>
                  </a:lnTo>
                  <a:lnTo>
                    <a:pt x="0" y="1828800"/>
                  </a:lnTo>
                  <a:close/>
                </a:path>
              </a:pathLst>
            </a:custGeom>
            <a:blipFill>
              <a:blip r:embed="rId4">
                <a:alphaModFix amt="0"/>
              </a:blip>
              <a:stretch>
                <a:fillRect t="-168232" b="-168232"/>
              </a:stretch>
            </a:blipFill>
          </p:spPr>
        </p:sp>
        <p:sp>
          <p:nvSpPr>
            <p:cNvPr id="6" name="TextBox 6"/>
            <p:cNvSpPr txBox="1"/>
            <p:nvPr/>
          </p:nvSpPr>
          <p:spPr>
            <a:xfrm>
              <a:off x="0" y="0"/>
              <a:ext cx="20482560" cy="1828800"/>
            </a:xfrm>
            <a:prstGeom prst="rect">
              <a:avLst/>
            </a:prstGeom>
          </p:spPr>
          <p:txBody>
            <a:bodyPr lIns="0" tIns="0" rIns="0" bIns="0" rtlCol="0" anchor="ctr"/>
            <a:lstStyle/>
            <a:p>
              <a:pPr algn="l">
                <a:lnSpc>
                  <a:spcPts val="4680"/>
                </a:lnSpc>
              </a:pPr>
              <a:r>
                <a:rPr lang="en-US" sz="3900" b="1">
                  <a:solidFill>
                    <a:srgbClr val="006838"/>
                  </a:solidFill>
                  <a:latin typeface="Montserrat Bold"/>
                  <a:ea typeface="Montserrat Bold"/>
                  <a:cs typeface="Montserrat Bold"/>
                  <a:sym typeface="Montserrat Bold"/>
                </a:rPr>
                <a:t>AI NATIVE ORGANIZATION LÀ GÌ?</a:t>
              </a:r>
            </a:p>
          </p:txBody>
        </p:sp>
      </p:grpSp>
      <p:grpSp>
        <p:nvGrpSpPr>
          <p:cNvPr id="7" name="Group 7"/>
          <p:cNvGrpSpPr/>
          <p:nvPr/>
        </p:nvGrpSpPr>
        <p:grpSpPr>
          <a:xfrm>
            <a:off x="815816" y="2187416"/>
            <a:ext cx="5240084" cy="7215188"/>
            <a:chOff x="0" y="0"/>
            <a:chExt cx="6986778" cy="9620250"/>
          </a:xfrm>
        </p:grpSpPr>
        <p:sp>
          <p:nvSpPr>
            <p:cNvPr id="8" name="Freeform 8"/>
            <p:cNvSpPr/>
            <p:nvPr/>
          </p:nvSpPr>
          <p:spPr>
            <a:xfrm>
              <a:off x="0" y="0"/>
              <a:ext cx="6986778" cy="9620250"/>
            </a:xfrm>
            <a:custGeom>
              <a:avLst/>
              <a:gdLst/>
              <a:ahLst/>
              <a:cxnLst/>
              <a:rect l="l" t="t" r="r" b="b"/>
              <a:pathLst>
                <a:path w="6986778" h="9620250">
                  <a:moveTo>
                    <a:pt x="0" y="220091"/>
                  </a:moveTo>
                  <a:cubicBezTo>
                    <a:pt x="0" y="98552"/>
                    <a:pt x="98552" y="0"/>
                    <a:pt x="220091" y="0"/>
                  </a:cubicBezTo>
                  <a:lnTo>
                    <a:pt x="6766687" y="0"/>
                  </a:lnTo>
                  <a:cubicBezTo>
                    <a:pt x="6888226" y="0"/>
                    <a:pt x="6986778" y="98552"/>
                    <a:pt x="6986778" y="220091"/>
                  </a:cubicBezTo>
                  <a:lnTo>
                    <a:pt x="6986778" y="9400159"/>
                  </a:lnTo>
                  <a:cubicBezTo>
                    <a:pt x="6986778" y="9521698"/>
                    <a:pt x="6888226" y="9620250"/>
                    <a:pt x="6766687" y="9620250"/>
                  </a:cubicBezTo>
                  <a:lnTo>
                    <a:pt x="220091" y="9620250"/>
                  </a:lnTo>
                  <a:cubicBezTo>
                    <a:pt x="98552" y="9620250"/>
                    <a:pt x="0" y="9521698"/>
                    <a:pt x="0" y="9400159"/>
                  </a:cubicBezTo>
                  <a:close/>
                </a:path>
              </a:pathLst>
            </a:custGeom>
            <a:solidFill>
              <a:srgbClr val="FFFFFF"/>
            </a:solidFill>
            <a:ln w="14288" cap="sq">
              <a:solidFill>
                <a:srgbClr val="DCE6E0"/>
              </a:solidFill>
              <a:prstDash val="solid"/>
              <a:miter/>
            </a:ln>
          </p:spPr>
        </p:sp>
      </p:grpSp>
      <p:sp>
        <p:nvSpPr>
          <p:cNvPr id="9" name="TextBox 9"/>
          <p:cNvSpPr txBox="1"/>
          <p:nvPr/>
        </p:nvSpPr>
        <p:spPr>
          <a:xfrm>
            <a:off x="1234440" y="2400300"/>
            <a:ext cx="1371600" cy="1234440"/>
          </a:xfrm>
          <a:prstGeom prst="rect">
            <a:avLst/>
          </a:prstGeom>
        </p:spPr>
        <p:txBody>
          <a:bodyPr lIns="0" tIns="0" rIns="0" bIns="0" rtlCol="0" anchor="t">
            <a:spAutoFit/>
          </a:bodyPr>
          <a:lstStyle/>
          <a:p>
            <a:pPr algn="l">
              <a:lnSpc>
                <a:spcPts val="11880"/>
              </a:lnSpc>
            </a:pPr>
            <a:r>
              <a:rPr lang="en-US" sz="9900" b="1">
                <a:solidFill>
                  <a:srgbClr val="FF7300"/>
                </a:solidFill>
                <a:latin typeface="Montserrat Bold"/>
                <a:ea typeface="Montserrat Bold"/>
                <a:cs typeface="Montserrat Bold"/>
                <a:sym typeface="Montserrat Bold"/>
              </a:rPr>
              <a:t>“</a:t>
            </a:r>
          </a:p>
        </p:txBody>
      </p:sp>
      <p:sp>
        <p:nvSpPr>
          <p:cNvPr id="10" name="TextBox 10"/>
          <p:cNvSpPr txBox="1"/>
          <p:nvPr/>
        </p:nvSpPr>
        <p:spPr>
          <a:xfrm>
            <a:off x="1234440" y="3449955"/>
            <a:ext cx="4402836" cy="2843664"/>
          </a:xfrm>
          <a:prstGeom prst="rect">
            <a:avLst/>
          </a:prstGeom>
        </p:spPr>
        <p:txBody>
          <a:bodyPr lIns="0" tIns="0" rIns="0" bIns="0" rtlCol="0" anchor="t">
            <a:spAutoFit/>
          </a:bodyPr>
          <a:lstStyle/>
          <a:p>
            <a:pPr algn="just">
              <a:lnSpc>
                <a:spcPts val="3208"/>
              </a:lnSpc>
            </a:pPr>
            <a:r>
              <a:rPr lang="en-US" sz="2325">
                <a:solidFill>
                  <a:srgbClr val="1E2B25"/>
                </a:solidFill>
                <a:latin typeface="Montserrat"/>
                <a:ea typeface="Montserrat"/>
                <a:cs typeface="Montserrat"/>
                <a:sym typeface="Montserrat"/>
              </a:rPr>
              <a:t>Một tổ chức AI-native là nơi mà các quy trình cốt lõi mang lại giá trị </a:t>
            </a:r>
            <a:r>
              <a:rPr lang="en-US" sz="2325" b="1">
                <a:solidFill>
                  <a:srgbClr val="006838"/>
                </a:solidFill>
                <a:latin typeface="Montserrat Bold"/>
                <a:ea typeface="Montserrat Bold"/>
                <a:cs typeface="Montserrat Bold"/>
                <a:sym typeface="Montserrat Bold"/>
              </a:rPr>
              <a:t>không còn bị giới hạn bởi con người,</a:t>
            </a:r>
            <a:r>
              <a:rPr lang="en-US" sz="2325">
                <a:solidFill>
                  <a:srgbClr val="1E2B25"/>
                </a:solidFill>
                <a:latin typeface="Montserrat"/>
                <a:ea typeface="Montserrat"/>
                <a:cs typeface="Montserrat"/>
                <a:sym typeface="Montserrat"/>
              </a:rPr>
              <a:t> mà được vận hành và mở rộng dựa trên dữ liệu, phân tích và các thuật toán AI</a:t>
            </a:r>
          </a:p>
        </p:txBody>
      </p:sp>
      <p:sp>
        <p:nvSpPr>
          <p:cNvPr id="11" name="AutoShape 11"/>
          <p:cNvSpPr/>
          <p:nvPr/>
        </p:nvSpPr>
        <p:spPr>
          <a:xfrm rot="14820">
            <a:off x="1224896" y="7676197"/>
            <a:ext cx="4421924" cy="0"/>
          </a:xfrm>
          <a:prstGeom prst="line">
            <a:avLst/>
          </a:prstGeom>
          <a:ln w="9525" cap="rnd">
            <a:solidFill>
              <a:srgbClr val="DCE6E0"/>
            </a:solidFill>
            <a:prstDash val="solid"/>
            <a:headEnd type="none" w="sm" len="sm"/>
            <a:tailEnd type="none" w="sm" len="sm"/>
          </a:ln>
        </p:spPr>
      </p:sp>
      <p:sp>
        <p:nvSpPr>
          <p:cNvPr id="12" name="TextBox 12"/>
          <p:cNvSpPr txBox="1"/>
          <p:nvPr/>
        </p:nvSpPr>
        <p:spPr>
          <a:xfrm>
            <a:off x="1234440" y="7826502"/>
            <a:ext cx="4402836" cy="1390650"/>
          </a:xfrm>
          <a:prstGeom prst="rect">
            <a:avLst/>
          </a:prstGeom>
        </p:spPr>
        <p:txBody>
          <a:bodyPr lIns="0" tIns="0" rIns="0" bIns="0" rtlCol="0" anchor="t">
            <a:spAutoFit/>
          </a:bodyPr>
          <a:lstStyle/>
          <a:p>
            <a:pPr algn="l">
              <a:lnSpc>
                <a:spcPts val="2475"/>
              </a:lnSpc>
            </a:pPr>
            <a:r>
              <a:rPr lang="en-US" sz="1875" i="1">
                <a:solidFill>
                  <a:srgbClr val="5A6A62"/>
                </a:solidFill>
                <a:latin typeface="Montserrat Italics"/>
                <a:ea typeface="Montserrat Italics"/>
                <a:cs typeface="Montserrat Italics"/>
                <a:sym typeface="Montserrat Italics"/>
              </a:rPr>
              <a:t>"Competing in the Age of AI"</a:t>
            </a:r>
          </a:p>
          <a:p>
            <a:pPr algn="l">
              <a:lnSpc>
                <a:spcPts val="2475"/>
              </a:lnSpc>
            </a:pPr>
            <a:r>
              <a:rPr lang="en-US" sz="1875" b="1">
                <a:solidFill>
                  <a:srgbClr val="006838"/>
                </a:solidFill>
                <a:latin typeface="Montserrat Bold"/>
                <a:ea typeface="Montserrat Bold"/>
                <a:cs typeface="Montserrat Bold"/>
                <a:sym typeface="Montserrat Bold"/>
              </a:rPr>
              <a:t>Marco Iansiti &amp; Karim R. Lakhani</a:t>
            </a:r>
          </a:p>
          <a:p>
            <a:pPr algn="l">
              <a:lnSpc>
                <a:spcPts val="2475"/>
              </a:lnSpc>
            </a:pPr>
            <a:r>
              <a:rPr lang="en-US" sz="1875">
                <a:solidFill>
                  <a:srgbClr val="5A6A62"/>
                </a:solidFill>
                <a:latin typeface="Montserrat"/>
                <a:ea typeface="Montserrat"/>
                <a:cs typeface="Montserrat"/>
                <a:sym typeface="Montserrat"/>
              </a:rPr>
              <a:t>Trường Kinh doanh Harvard</a:t>
            </a:r>
          </a:p>
        </p:txBody>
      </p:sp>
      <p:grpSp>
        <p:nvGrpSpPr>
          <p:cNvPr id="13" name="Group 13"/>
          <p:cNvGrpSpPr/>
          <p:nvPr/>
        </p:nvGrpSpPr>
        <p:grpSpPr>
          <a:xfrm>
            <a:off x="6521672" y="2187416"/>
            <a:ext cx="5240084" cy="7215188"/>
            <a:chOff x="0" y="0"/>
            <a:chExt cx="6986778" cy="9620250"/>
          </a:xfrm>
        </p:grpSpPr>
        <p:sp>
          <p:nvSpPr>
            <p:cNvPr id="14" name="Freeform 14"/>
            <p:cNvSpPr/>
            <p:nvPr/>
          </p:nvSpPr>
          <p:spPr>
            <a:xfrm>
              <a:off x="0" y="0"/>
              <a:ext cx="6986778" cy="9620250"/>
            </a:xfrm>
            <a:custGeom>
              <a:avLst/>
              <a:gdLst/>
              <a:ahLst/>
              <a:cxnLst/>
              <a:rect l="l" t="t" r="r" b="b"/>
              <a:pathLst>
                <a:path w="6986778" h="9620250">
                  <a:moveTo>
                    <a:pt x="0" y="220091"/>
                  </a:moveTo>
                  <a:cubicBezTo>
                    <a:pt x="0" y="98552"/>
                    <a:pt x="98552" y="0"/>
                    <a:pt x="220091" y="0"/>
                  </a:cubicBezTo>
                  <a:lnTo>
                    <a:pt x="6766687" y="0"/>
                  </a:lnTo>
                  <a:cubicBezTo>
                    <a:pt x="6888226" y="0"/>
                    <a:pt x="6986778" y="98552"/>
                    <a:pt x="6986778" y="220091"/>
                  </a:cubicBezTo>
                  <a:lnTo>
                    <a:pt x="6986778" y="9400159"/>
                  </a:lnTo>
                  <a:cubicBezTo>
                    <a:pt x="6986778" y="9521698"/>
                    <a:pt x="6888226" y="9620250"/>
                    <a:pt x="6766687" y="9620250"/>
                  </a:cubicBezTo>
                  <a:lnTo>
                    <a:pt x="220091" y="9620250"/>
                  </a:lnTo>
                  <a:cubicBezTo>
                    <a:pt x="98552" y="9620250"/>
                    <a:pt x="0" y="9521698"/>
                    <a:pt x="0" y="9400159"/>
                  </a:cubicBezTo>
                  <a:close/>
                </a:path>
              </a:pathLst>
            </a:custGeom>
            <a:solidFill>
              <a:srgbClr val="E8F3ED"/>
            </a:solidFill>
            <a:ln w="14288" cap="sq">
              <a:solidFill>
                <a:srgbClr val="CFE6D8"/>
              </a:solidFill>
              <a:prstDash val="solid"/>
              <a:miter/>
            </a:ln>
          </p:spPr>
        </p:sp>
      </p:grpSp>
      <p:sp>
        <p:nvSpPr>
          <p:cNvPr id="15" name="TextBox 15"/>
          <p:cNvSpPr txBox="1"/>
          <p:nvPr/>
        </p:nvSpPr>
        <p:spPr>
          <a:xfrm>
            <a:off x="6940296" y="2400300"/>
            <a:ext cx="1371600" cy="1234440"/>
          </a:xfrm>
          <a:prstGeom prst="rect">
            <a:avLst/>
          </a:prstGeom>
        </p:spPr>
        <p:txBody>
          <a:bodyPr lIns="0" tIns="0" rIns="0" bIns="0" rtlCol="0" anchor="t">
            <a:spAutoFit/>
          </a:bodyPr>
          <a:lstStyle/>
          <a:p>
            <a:pPr algn="l">
              <a:lnSpc>
                <a:spcPts val="11880"/>
              </a:lnSpc>
            </a:pPr>
            <a:r>
              <a:rPr lang="en-US" sz="9900" b="1">
                <a:solidFill>
                  <a:srgbClr val="FF7300"/>
                </a:solidFill>
                <a:latin typeface="Montserrat Bold"/>
                <a:ea typeface="Montserrat Bold"/>
                <a:cs typeface="Montserrat Bold"/>
                <a:sym typeface="Montserrat Bold"/>
              </a:rPr>
              <a:t>“</a:t>
            </a:r>
          </a:p>
        </p:txBody>
      </p:sp>
      <p:sp>
        <p:nvSpPr>
          <p:cNvPr id="16" name="TextBox 16"/>
          <p:cNvSpPr txBox="1"/>
          <p:nvPr/>
        </p:nvSpPr>
        <p:spPr>
          <a:xfrm>
            <a:off x="6940296" y="3449955"/>
            <a:ext cx="4402836" cy="3254032"/>
          </a:xfrm>
          <a:prstGeom prst="rect">
            <a:avLst/>
          </a:prstGeom>
        </p:spPr>
        <p:txBody>
          <a:bodyPr lIns="0" tIns="0" rIns="0" bIns="0" rtlCol="0" anchor="t">
            <a:spAutoFit/>
          </a:bodyPr>
          <a:lstStyle/>
          <a:p>
            <a:pPr algn="just">
              <a:lnSpc>
                <a:spcPts val="3208"/>
              </a:lnSpc>
            </a:pPr>
            <a:r>
              <a:rPr lang="en-US" sz="2325">
                <a:solidFill>
                  <a:srgbClr val="1E2B25"/>
                </a:solidFill>
                <a:latin typeface="Montserrat"/>
                <a:ea typeface="Montserrat"/>
                <a:cs typeface="Montserrat"/>
                <a:sym typeface="Montserrat"/>
              </a:rPr>
              <a:t>Đây là tổ chức mà AI không còn nằm ở các dự án thử nghiệm hay bị cô lập trong phòng IT, mà được </a:t>
            </a:r>
            <a:r>
              <a:rPr lang="en-US" sz="2325" b="1">
                <a:solidFill>
                  <a:srgbClr val="006838"/>
                </a:solidFill>
                <a:latin typeface="Montserrat Bold"/>
                <a:ea typeface="Montserrat Bold"/>
                <a:cs typeface="Montserrat Bold"/>
                <a:sym typeface="Montserrat Bold"/>
              </a:rPr>
              <a:t>"nhúng" trực tiếp vào mọi chuỗi giá trị cốt lõi</a:t>
            </a:r>
            <a:r>
              <a:rPr lang="en-US" sz="2325">
                <a:solidFill>
                  <a:srgbClr val="1E2B25"/>
                </a:solidFill>
                <a:latin typeface="Montserrat"/>
                <a:ea typeface="Montserrat"/>
                <a:cs typeface="Montserrat"/>
                <a:sym typeface="Montserrat"/>
              </a:rPr>
              <a:t> — từ chuỗi cung ứng, R&amp;D, đến tiếp thị và nhân sự.</a:t>
            </a:r>
          </a:p>
        </p:txBody>
      </p:sp>
      <p:sp>
        <p:nvSpPr>
          <p:cNvPr id="17" name="AutoShape 17"/>
          <p:cNvSpPr/>
          <p:nvPr/>
        </p:nvSpPr>
        <p:spPr>
          <a:xfrm rot="14820">
            <a:off x="6930752" y="7676197"/>
            <a:ext cx="4421924" cy="0"/>
          </a:xfrm>
          <a:prstGeom prst="line">
            <a:avLst/>
          </a:prstGeom>
          <a:ln w="9525" cap="rnd">
            <a:solidFill>
              <a:srgbClr val="CFE6D8"/>
            </a:solidFill>
            <a:prstDash val="solid"/>
            <a:headEnd type="none" w="sm" len="sm"/>
            <a:tailEnd type="none" w="sm" len="sm"/>
          </a:ln>
        </p:spPr>
      </p:sp>
      <p:sp>
        <p:nvSpPr>
          <p:cNvPr id="18" name="TextBox 18"/>
          <p:cNvSpPr txBox="1"/>
          <p:nvPr/>
        </p:nvSpPr>
        <p:spPr>
          <a:xfrm>
            <a:off x="6940296" y="7826502"/>
            <a:ext cx="4402836" cy="1390650"/>
          </a:xfrm>
          <a:prstGeom prst="rect">
            <a:avLst/>
          </a:prstGeom>
        </p:spPr>
        <p:txBody>
          <a:bodyPr lIns="0" tIns="0" rIns="0" bIns="0" rtlCol="0" anchor="t">
            <a:spAutoFit/>
          </a:bodyPr>
          <a:lstStyle/>
          <a:p>
            <a:pPr algn="l">
              <a:lnSpc>
                <a:spcPts val="2475"/>
              </a:lnSpc>
            </a:pPr>
            <a:r>
              <a:rPr lang="en-US" sz="1875" i="1">
                <a:solidFill>
                  <a:srgbClr val="5A6A62"/>
                </a:solidFill>
                <a:latin typeface="Montserrat Italics"/>
                <a:ea typeface="Montserrat Italics"/>
                <a:cs typeface="Montserrat Italics"/>
                <a:sym typeface="Montserrat Italics"/>
              </a:rPr>
              <a:t>"The AI-driven Enterprise" (Doanh nghiệp dẫn dắt bởi AI)</a:t>
            </a:r>
          </a:p>
          <a:p>
            <a:pPr algn="l">
              <a:lnSpc>
                <a:spcPts val="2475"/>
              </a:lnSpc>
            </a:pPr>
            <a:r>
              <a:rPr lang="en-US" sz="1875" b="1">
                <a:solidFill>
                  <a:srgbClr val="006838"/>
                </a:solidFill>
                <a:latin typeface="Montserrat Bold"/>
                <a:ea typeface="Montserrat Bold"/>
                <a:cs typeface="Montserrat Bold"/>
                <a:sym typeface="Montserrat Bold"/>
              </a:rPr>
              <a:t>McKinsey</a:t>
            </a:r>
          </a:p>
        </p:txBody>
      </p:sp>
      <p:grpSp>
        <p:nvGrpSpPr>
          <p:cNvPr id="19" name="Group 19"/>
          <p:cNvGrpSpPr/>
          <p:nvPr/>
        </p:nvGrpSpPr>
        <p:grpSpPr>
          <a:xfrm>
            <a:off x="12227528" y="2187416"/>
            <a:ext cx="5240084" cy="7215188"/>
            <a:chOff x="0" y="0"/>
            <a:chExt cx="6986778" cy="9620250"/>
          </a:xfrm>
        </p:grpSpPr>
        <p:sp>
          <p:nvSpPr>
            <p:cNvPr id="20" name="Freeform 20"/>
            <p:cNvSpPr/>
            <p:nvPr/>
          </p:nvSpPr>
          <p:spPr>
            <a:xfrm>
              <a:off x="0" y="0"/>
              <a:ext cx="6986778" cy="9620250"/>
            </a:xfrm>
            <a:custGeom>
              <a:avLst/>
              <a:gdLst/>
              <a:ahLst/>
              <a:cxnLst/>
              <a:rect l="l" t="t" r="r" b="b"/>
              <a:pathLst>
                <a:path w="6986778" h="9620250">
                  <a:moveTo>
                    <a:pt x="0" y="220091"/>
                  </a:moveTo>
                  <a:cubicBezTo>
                    <a:pt x="0" y="98552"/>
                    <a:pt x="98552" y="0"/>
                    <a:pt x="220091" y="0"/>
                  </a:cubicBezTo>
                  <a:lnTo>
                    <a:pt x="6766687" y="0"/>
                  </a:lnTo>
                  <a:cubicBezTo>
                    <a:pt x="6888226" y="0"/>
                    <a:pt x="6986778" y="98552"/>
                    <a:pt x="6986778" y="220091"/>
                  </a:cubicBezTo>
                  <a:lnTo>
                    <a:pt x="6986778" y="9400159"/>
                  </a:lnTo>
                  <a:cubicBezTo>
                    <a:pt x="6986778" y="9521698"/>
                    <a:pt x="6888226" y="9620250"/>
                    <a:pt x="6766687" y="9620250"/>
                  </a:cubicBezTo>
                  <a:lnTo>
                    <a:pt x="220091" y="9620250"/>
                  </a:lnTo>
                  <a:cubicBezTo>
                    <a:pt x="98552" y="9620250"/>
                    <a:pt x="0" y="9521698"/>
                    <a:pt x="0" y="9400159"/>
                  </a:cubicBezTo>
                  <a:close/>
                </a:path>
              </a:pathLst>
            </a:custGeom>
            <a:solidFill>
              <a:srgbClr val="FFFFFF"/>
            </a:solidFill>
            <a:ln w="14288" cap="sq">
              <a:solidFill>
                <a:srgbClr val="DCE6E0"/>
              </a:solidFill>
              <a:prstDash val="solid"/>
              <a:miter/>
            </a:ln>
          </p:spPr>
        </p:sp>
      </p:grpSp>
      <p:sp>
        <p:nvSpPr>
          <p:cNvPr id="21" name="TextBox 21"/>
          <p:cNvSpPr txBox="1"/>
          <p:nvPr/>
        </p:nvSpPr>
        <p:spPr>
          <a:xfrm>
            <a:off x="12646152" y="2400300"/>
            <a:ext cx="1371600" cy="1234440"/>
          </a:xfrm>
          <a:prstGeom prst="rect">
            <a:avLst/>
          </a:prstGeom>
        </p:spPr>
        <p:txBody>
          <a:bodyPr lIns="0" tIns="0" rIns="0" bIns="0" rtlCol="0" anchor="t">
            <a:spAutoFit/>
          </a:bodyPr>
          <a:lstStyle/>
          <a:p>
            <a:pPr algn="l">
              <a:lnSpc>
                <a:spcPts val="11880"/>
              </a:lnSpc>
            </a:pPr>
            <a:r>
              <a:rPr lang="en-US" sz="9900" b="1">
                <a:solidFill>
                  <a:srgbClr val="FF7300"/>
                </a:solidFill>
                <a:latin typeface="Montserrat Bold"/>
                <a:ea typeface="Montserrat Bold"/>
                <a:cs typeface="Montserrat Bold"/>
                <a:sym typeface="Montserrat Bold"/>
              </a:rPr>
              <a:t>“</a:t>
            </a:r>
          </a:p>
        </p:txBody>
      </p:sp>
      <p:sp>
        <p:nvSpPr>
          <p:cNvPr id="22" name="TextBox 22"/>
          <p:cNvSpPr txBox="1"/>
          <p:nvPr/>
        </p:nvSpPr>
        <p:spPr>
          <a:xfrm>
            <a:off x="12646152" y="3449955"/>
            <a:ext cx="4402836" cy="3254032"/>
          </a:xfrm>
          <a:prstGeom prst="rect">
            <a:avLst/>
          </a:prstGeom>
        </p:spPr>
        <p:txBody>
          <a:bodyPr lIns="0" tIns="0" rIns="0" bIns="0" rtlCol="0" anchor="t">
            <a:spAutoFit/>
          </a:bodyPr>
          <a:lstStyle/>
          <a:p>
            <a:pPr algn="just">
              <a:lnSpc>
                <a:spcPts val="3208"/>
              </a:lnSpc>
            </a:pPr>
            <a:r>
              <a:rPr lang="en-US" sz="2325">
                <a:solidFill>
                  <a:srgbClr val="1E2B25"/>
                </a:solidFill>
                <a:latin typeface="Montserrat"/>
                <a:ea typeface="Montserrat"/>
                <a:cs typeface="Montserrat"/>
                <a:sym typeface="Montserrat"/>
              </a:rPr>
              <a:t>Một doanh nghiệp AI-native là tổ chức thiết kế các quy trình kinh doanh, sản phẩm và kiến trúc công nghệ từ con số không với </a:t>
            </a:r>
            <a:r>
              <a:rPr lang="en-US" sz="2325" b="1">
                <a:solidFill>
                  <a:srgbClr val="006838"/>
                </a:solidFill>
                <a:latin typeface="Montserrat Bold"/>
                <a:ea typeface="Montserrat Bold"/>
                <a:cs typeface="Montserrat Bold"/>
                <a:sym typeface="Montserrat Bold"/>
              </a:rPr>
              <a:t>AI làm trung tâm,</a:t>
            </a:r>
            <a:r>
              <a:rPr lang="en-US" sz="2325">
                <a:solidFill>
                  <a:srgbClr val="1E2B25"/>
                </a:solidFill>
                <a:latin typeface="Montserrat"/>
                <a:ea typeface="Montserrat"/>
                <a:cs typeface="Montserrat"/>
                <a:sym typeface="Montserrat"/>
              </a:rPr>
              <a:t> thay vì chỉ "đắp thêm" AI vào các hệ thống cũ.</a:t>
            </a:r>
          </a:p>
        </p:txBody>
      </p:sp>
      <p:sp>
        <p:nvSpPr>
          <p:cNvPr id="23" name="AutoShape 23"/>
          <p:cNvSpPr/>
          <p:nvPr/>
        </p:nvSpPr>
        <p:spPr>
          <a:xfrm rot="14820">
            <a:off x="12636608" y="7676197"/>
            <a:ext cx="4421924" cy="0"/>
          </a:xfrm>
          <a:prstGeom prst="line">
            <a:avLst/>
          </a:prstGeom>
          <a:ln w="9525" cap="rnd">
            <a:solidFill>
              <a:srgbClr val="DCE6E0"/>
            </a:solidFill>
            <a:prstDash val="solid"/>
            <a:headEnd type="none" w="sm" len="sm"/>
            <a:tailEnd type="none" w="sm" len="sm"/>
          </a:ln>
        </p:spPr>
      </p:sp>
      <p:sp>
        <p:nvSpPr>
          <p:cNvPr id="24" name="TextBox 24"/>
          <p:cNvSpPr txBox="1"/>
          <p:nvPr/>
        </p:nvSpPr>
        <p:spPr>
          <a:xfrm>
            <a:off x="12646152" y="7826502"/>
            <a:ext cx="4402836" cy="1390650"/>
          </a:xfrm>
          <a:prstGeom prst="rect">
            <a:avLst/>
          </a:prstGeom>
        </p:spPr>
        <p:txBody>
          <a:bodyPr lIns="0" tIns="0" rIns="0" bIns="0" rtlCol="0" anchor="t">
            <a:spAutoFit/>
          </a:bodyPr>
          <a:lstStyle/>
          <a:p>
            <a:pPr algn="l">
              <a:lnSpc>
                <a:spcPts val="2475"/>
              </a:lnSpc>
            </a:pPr>
            <a:r>
              <a:rPr lang="en-US" sz="1875" b="1">
                <a:solidFill>
                  <a:srgbClr val="006838"/>
                </a:solidFill>
                <a:latin typeface="Montserrat Bold"/>
                <a:ea typeface="Montserrat Bold"/>
                <a:cs typeface="Montserrat Bold"/>
                <a:sym typeface="Montserrat Bold"/>
              </a:rPr>
              <a:t>Gartner</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4"/>
          <p:cNvGrpSpPr/>
          <p:nvPr/>
        </p:nvGrpSpPr>
        <p:grpSpPr>
          <a:xfrm>
            <a:off x="822960" y="411480"/>
            <a:ext cx="15361920" cy="1371600"/>
            <a:chOff x="0" y="0"/>
            <a:chExt cx="20482560" cy="1828800"/>
          </a:xfrm>
        </p:grpSpPr>
        <p:sp>
          <p:nvSpPr>
            <p:cNvPr id="5" name="Freeform 5"/>
            <p:cNvSpPr/>
            <p:nvPr/>
          </p:nvSpPr>
          <p:spPr>
            <a:xfrm>
              <a:off x="0" y="0"/>
              <a:ext cx="20482561" cy="1828800"/>
            </a:xfrm>
            <a:custGeom>
              <a:avLst/>
              <a:gdLst/>
              <a:ahLst/>
              <a:cxnLst/>
              <a:rect l="l" t="t" r="r" b="b"/>
              <a:pathLst>
                <a:path w="20482561" h="1828800">
                  <a:moveTo>
                    <a:pt x="0" y="0"/>
                  </a:moveTo>
                  <a:lnTo>
                    <a:pt x="20482561" y="0"/>
                  </a:lnTo>
                  <a:lnTo>
                    <a:pt x="20482561" y="1828800"/>
                  </a:lnTo>
                  <a:lnTo>
                    <a:pt x="0" y="1828800"/>
                  </a:lnTo>
                  <a:close/>
                </a:path>
              </a:pathLst>
            </a:custGeom>
            <a:blipFill>
              <a:blip r:embed="rId3">
                <a:alphaModFix amt="0"/>
              </a:blip>
              <a:stretch>
                <a:fillRect t="-168232" b="-168232"/>
              </a:stretch>
            </a:blipFill>
          </p:spPr>
        </p:sp>
        <p:sp>
          <p:nvSpPr>
            <p:cNvPr id="6" name="TextBox 6"/>
            <p:cNvSpPr txBox="1"/>
            <p:nvPr/>
          </p:nvSpPr>
          <p:spPr>
            <a:xfrm>
              <a:off x="0" y="0"/>
              <a:ext cx="20482560" cy="1828800"/>
            </a:xfrm>
            <a:prstGeom prst="rect">
              <a:avLst/>
            </a:prstGeom>
          </p:spPr>
          <p:txBody>
            <a:bodyPr lIns="0" tIns="0" rIns="0" bIns="0" rtlCol="0" anchor="ctr"/>
            <a:lstStyle/>
            <a:p>
              <a:pPr algn="l">
                <a:lnSpc>
                  <a:spcPts val="4680"/>
                </a:lnSpc>
              </a:pPr>
              <a:r>
                <a:rPr lang="en-US" sz="3900" b="1">
                  <a:solidFill>
                    <a:srgbClr val="006838"/>
                  </a:solidFill>
                  <a:latin typeface="Montserrat Bold"/>
                  <a:ea typeface="Montserrat Bold"/>
                  <a:cs typeface="Montserrat Bold"/>
                  <a:sym typeface="Montserrat Bold"/>
                </a:rPr>
                <a:t>04 ĐẶC ĐIỂM NHẬN DẠNG</a:t>
              </a:r>
            </a:p>
          </p:txBody>
        </p:sp>
      </p:grpSp>
      <p:grpSp>
        <p:nvGrpSpPr>
          <p:cNvPr id="7" name="Group 7"/>
          <p:cNvGrpSpPr/>
          <p:nvPr/>
        </p:nvGrpSpPr>
        <p:grpSpPr>
          <a:xfrm>
            <a:off x="815816" y="2255996"/>
            <a:ext cx="8051864" cy="3306128"/>
            <a:chOff x="0" y="0"/>
            <a:chExt cx="10735818" cy="4408170"/>
          </a:xfrm>
        </p:grpSpPr>
        <p:sp>
          <p:nvSpPr>
            <p:cNvPr id="8" name="Freeform 8"/>
            <p:cNvSpPr/>
            <p:nvPr/>
          </p:nvSpPr>
          <p:spPr>
            <a:xfrm>
              <a:off x="0" y="0"/>
              <a:ext cx="10735818" cy="4408170"/>
            </a:xfrm>
            <a:custGeom>
              <a:avLst/>
              <a:gdLst/>
              <a:ahLst/>
              <a:cxnLst/>
              <a:rect l="l" t="t" r="r" b="b"/>
              <a:pathLst>
                <a:path w="10735818" h="4408170">
                  <a:moveTo>
                    <a:pt x="0" y="220472"/>
                  </a:moveTo>
                  <a:cubicBezTo>
                    <a:pt x="0" y="98679"/>
                    <a:pt x="98679" y="0"/>
                    <a:pt x="220345" y="0"/>
                  </a:cubicBezTo>
                  <a:lnTo>
                    <a:pt x="10515473" y="0"/>
                  </a:lnTo>
                  <a:cubicBezTo>
                    <a:pt x="10637139" y="0"/>
                    <a:pt x="10735818" y="98679"/>
                    <a:pt x="10735818" y="220345"/>
                  </a:cubicBezTo>
                  <a:lnTo>
                    <a:pt x="10735818" y="4187825"/>
                  </a:lnTo>
                  <a:cubicBezTo>
                    <a:pt x="10735818" y="4309491"/>
                    <a:pt x="10637139" y="4408170"/>
                    <a:pt x="10515473" y="4408170"/>
                  </a:cubicBezTo>
                  <a:lnTo>
                    <a:pt x="220472" y="4408170"/>
                  </a:lnTo>
                  <a:cubicBezTo>
                    <a:pt x="98679" y="4408170"/>
                    <a:pt x="0" y="4309491"/>
                    <a:pt x="0" y="4187825"/>
                  </a:cubicBezTo>
                  <a:close/>
                </a:path>
              </a:pathLst>
            </a:custGeom>
            <a:solidFill>
              <a:srgbClr val="006838"/>
            </a:solidFill>
            <a:ln w="14288" cap="sq">
              <a:solidFill>
                <a:srgbClr val="006838"/>
              </a:solidFill>
              <a:prstDash val="solid"/>
              <a:miter/>
            </a:ln>
          </p:spPr>
        </p:sp>
      </p:grpSp>
      <p:grpSp>
        <p:nvGrpSpPr>
          <p:cNvPr id="9" name="Group 9"/>
          <p:cNvGrpSpPr/>
          <p:nvPr/>
        </p:nvGrpSpPr>
        <p:grpSpPr>
          <a:xfrm>
            <a:off x="1362075" y="2829687"/>
            <a:ext cx="1390650" cy="1390650"/>
            <a:chOff x="0" y="0"/>
            <a:chExt cx="1854200" cy="1854200"/>
          </a:xfrm>
        </p:grpSpPr>
        <p:sp>
          <p:nvSpPr>
            <p:cNvPr id="10" name="Freeform 10"/>
            <p:cNvSpPr/>
            <p:nvPr/>
          </p:nvSpPr>
          <p:spPr>
            <a:xfrm>
              <a:off x="0" y="0"/>
              <a:ext cx="1854200" cy="1854200"/>
            </a:xfrm>
            <a:custGeom>
              <a:avLst/>
              <a:gdLst/>
              <a:ahLst/>
              <a:cxnLst/>
              <a:rect l="l" t="t" r="r" b="b"/>
              <a:pathLst>
                <a:path w="1854200" h="1854200">
                  <a:moveTo>
                    <a:pt x="0" y="927100"/>
                  </a:moveTo>
                  <a:cubicBezTo>
                    <a:pt x="0" y="415036"/>
                    <a:pt x="415036" y="0"/>
                    <a:pt x="927100" y="0"/>
                  </a:cubicBezTo>
                  <a:cubicBezTo>
                    <a:pt x="1439164" y="0"/>
                    <a:pt x="1854200" y="415036"/>
                    <a:pt x="1854200" y="927100"/>
                  </a:cubicBezTo>
                  <a:cubicBezTo>
                    <a:pt x="1854200" y="1439164"/>
                    <a:pt x="1439164" y="1854200"/>
                    <a:pt x="927100" y="1854200"/>
                  </a:cubicBezTo>
                  <a:cubicBezTo>
                    <a:pt x="415036" y="1854200"/>
                    <a:pt x="0" y="1439164"/>
                    <a:pt x="0" y="927100"/>
                  </a:cubicBezTo>
                  <a:close/>
                </a:path>
              </a:pathLst>
            </a:custGeom>
            <a:solidFill>
              <a:srgbClr val="FFFFFF"/>
            </a:solidFill>
            <a:ln w="19050" cap="sq">
              <a:solidFill>
                <a:srgbClr val="FFFFFF"/>
              </a:solidFill>
              <a:prstDash val="solid"/>
              <a:miter/>
            </a:ln>
          </p:spPr>
        </p:sp>
      </p:grpSp>
      <p:grpSp>
        <p:nvGrpSpPr>
          <p:cNvPr id="11" name="Group 11"/>
          <p:cNvGrpSpPr/>
          <p:nvPr/>
        </p:nvGrpSpPr>
        <p:grpSpPr>
          <a:xfrm>
            <a:off x="1728216" y="3195828"/>
            <a:ext cx="658368" cy="658368"/>
            <a:chOff x="0" y="0"/>
            <a:chExt cx="877824" cy="877824"/>
          </a:xfrm>
        </p:grpSpPr>
        <p:sp>
          <p:nvSpPr>
            <p:cNvPr id="12" name="Freeform 12" descr="preencoded.png"/>
            <p:cNvSpPr/>
            <p:nvPr/>
          </p:nvSpPr>
          <p:spPr>
            <a:xfrm>
              <a:off x="0" y="0"/>
              <a:ext cx="877824" cy="877824"/>
            </a:xfrm>
            <a:custGeom>
              <a:avLst/>
              <a:gdLst/>
              <a:ahLst/>
              <a:cxnLst/>
              <a:rect l="l" t="t" r="r" b="b"/>
              <a:pathLst>
                <a:path w="877824" h="877824">
                  <a:moveTo>
                    <a:pt x="0" y="0"/>
                  </a:moveTo>
                  <a:lnTo>
                    <a:pt x="877824" y="0"/>
                  </a:lnTo>
                  <a:lnTo>
                    <a:pt x="877824" y="877824"/>
                  </a:lnTo>
                  <a:lnTo>
                    <a:pt x="0" y="877824"/>
                  </a:lnTo>
                  <a:lnTo>
                    <a:pt x="0" y="0"/>
                  </a:lnTo>
                  <a:close/>
                </a:path>
              </a:pathLst>
            </a:custGeom>
            <a:blipFill>
              <a:blip r:embed="rId4"/>
              <a:stretch>
                <a:fillRect/>
              </a:stretch>
            </a:blipFill>
          </p:spPr>
        </p:sp>
      </p:grpSp>
      <p:sp>
        <p:nvSpPr>
          <p:cNvPr id="13" name="TextBox 13"/>
          <p:cNvSpPr txBox="1"/>
          <p:nvPr/>
        </p:nvSpPr>
        <p:spPr>
          <a:xfrm>
            <a:off x="7077456" y="2606040"/>
            <a:ext cx="1371600" cy="822960"/>
          </a:xfrm>
          <a:prstGeom prst="rect">
            <a:avLst/>
          </a:prstGeom>
        </p:spPr>
        <p:txBody>
          <a:bodyPr lIns="0" tIns="0" rIns="0" bIns="0" rtlCol="0" anchor="t">
            <a:spAutoFit/>
          </a:bodyPr>
          <a:lstStyle/>
          <a:p>
            <a:pPr algn="r">
              <a:lnSpc>
                <a:spcPts val="5040"/>
              </a:lnSpc>
            </a:pPr>
            <a:r>
              <a:rPr lang="en-US" sz="4200" b="1">
                <a:solidFill>
                  <a:srgbClr val="FF7300"/>
                </a:solidFill>
                <a:latin typeface="Montserrat Bold"/>
                <a:ea typeface="Montserrat Bold"/>
                <a:cs typeface="Montserrat Bold"/>
                <a:sym typeface="Montserrat Bold"/>
              </a:rPr>
              <a:t>01</a:t>
            </a:r>
          </a:p>
        </p:txBody>
      </p:sp>
      <p:grpSp>
        <p:nvGrpSpPr>
          <p:cNvPr id="14" name="Group 14"/>
          <p:cNvGrpSpPr/>
          <p:nvPr/>
        </p:nvGrpSpPr>
        <p:grpSpPr>
          <a:xfrm>
            <a:off x="3154680" y="2948940"/>
            <a:ext cx="4059936" cy="754380"/>
            <a:chOff x="0" y="0"/>
            <a:chExt cx="5413248" cy="1005840"/>
          </a:xfrm>
        </p:grpSpPr>
        <p:sp>
          <p:nvSpPr>
            <p:cNvPr id="15" name="Freeform 15"/>
            <p:cNvSpPr/>
            <p:nvPr/>
          </p:nvSpPr>
          <p:spPr>
            <a:xfrm>
              <a:off x="0" y="0"/>
              <a:ext cx="5413248" cy="1005840"/>
            </a:xfrm>
            <a:custGeom>
              <a:avLst/>
              <a:gdLst/>
              <a:ahLst/>
              <a:cxnLst/>
              <a:rect l="l" t="t" r="r" b="b"/>
              <a:pathLst>
                <a:path w="5413248" h="1005840">
                  <a:moveTo>
                    <a:pt x="0" y="0"/>
                  </a:moveTo>
                  <a:lnTo>
                    <a:pt x="5413248" y="0"/>
                  </a:lnTo>
                  <a:lnTo>
                    <a:pt x="5413248" y="1005840"/>
                  </a:lnTo>
                  <a:lnTo>
                    <a:pt x="0" y="1005840"/>
                  </a:lnTo>
                  <a:close/>
                </a:path>
              </a:pathLst>
            </a:custGeom>
            <a:blipFill>
              <a:blip r:embed="rId3">
                <a:alphaModFix amt="0"/>
              </a:blip>
              <a:stretch>
                <a:fillRect t="-54864" b="-54864"/>
              </a:stretch>
            </a:blipFill>
          </p:spPr>
        </p:sp>
        <p:sp>
          <p:nvSpPr>
            <p:cNvPr id="16" name="TextBox 16"/>
            <p:cNvSpPr txBox="1"/>
            <p:nvPr/>
          </p:nvSpPr>
          <p:spPr>
            <a:xfrm>
              <a:off x="0" y="0"/>
              <a:ext cx="5413248" cy="1005840"/>
            </a:xfrm>
            <a:prstGeom prst="rect">
              <a:avLst/>
            </a:prstGeom>
          </p:spPr>
          <p:txBody>
            <a:bodyPr lIns="0" tIns="0" rIns="0" bIns="0" rtlCol="0" anchor="ctr"/>
            <a:lstStyle/>
            <a:p>
              <a:pPr algn="l">
                <a:lnSpc>
                  <a:spcPts val="3779"/>
                </a:lnSpc>
              </a:pPr>
              <a:r>
                <a:rPr lang="en-US" sz="3150" b="1">
                  <a:solidFill>
                    <a:srgbClr val="FFFFFF"/>
                  </a:solidFill>
                  <a:latin typeface="Montserrat Bold"/>
                  <a:ea typeface="Montserrat Bold"/>
                  <a:cs typeface="Montserrat Bold"/>
                  <a:sym typeface="Montserrat Bold"/>
                </a:rPr>
                <a:t>Thin Organization</a:t>
              </a:r>
            </a:p>
          </p:txBody>
        </p:sp>
      </p:grpSp>
      <p:sp>
        <p:nvSpPr>
          <p:cNvPr id="17" name="TextBox 17"/>
          <p:cNvSpPr txBox="1"/>
          <p:nvPr/>
        </p:nvSpPr>
        <p:spPr>
          <a:xfrm>
            <a:off x="3154680" y="3830955"/>
            <a:ext cx="4608004" cy="692497"/>
          </a:xfrm>
          <a:prstGeom prst="rect">
            <a:avLst/>
          </a:prstGeom>
        </p:spPr>
        <p:txBody>
          <a:bodyPr wrap="square" lIns="0" tIns="0" rIns="0" bIns="0" rtlCol="0" anchor="t">
            <a:spAutoFit/>
          </a:bodyPr>
          <a:lstStyle/>
          <a:p>
            <a:pPr algn="l">
              <a:lnSpc>
                <a:spcPts val="2700"/>
              </a:lnSpc>
            </a:pPr>
            <a:r>
              <a:rPr lang="en-US" sz="2250">
                <a:solidFill>
                  <a:srgbClr val="E6F2EB"/>
                </a:solidFill>
                <a:latin typeface="Montserrat"/>
                <a:ea typeface="Montserrat"/>
                <a:cs typeface="Montserrat"/>
                <a:sym typeface="Montserrat"/>
              </a:rPr>
              <a:t>Tổ chức tinh gọn - loại bỏ tầng dư thừa</a:t>
            </a:r>
          </a:p>
        </p:txBody>
      </p:sp>
      <p:grpSp>
        <p:nvGrpSpPr>
          <p:cNvPr id="18" name="Group 18"/>
          <p:cNvGrpSpPr/>
          <p:nvPr/>
        </p:nvGrpSpPr>
        <p:grpSpPr>
          <a:xfrm>
            <a:off x="9415748" y="2255996"/>
            <a:ext cx="8051864" cy="3306128"/>
            <a:chOff x="0" y="0"/>
            <a:chExt cx="10735818" cy="4408170"/>
          </a:xfrm>
        </p:grpSpPr>
        <p:sp>
          <p:nvSpPr>
            <p:cNvPr id="19" name="Freeform 19"/>
            <p:cNvSpPr/>
            <p:nvPr/>
          </p:nvSpPr>
          <p:spPr>
            <a:xfrm>
              <a:off x="0" y="0"/>
              <a:ext cx="10735818" cy="4408170"/>
            </a:xfrm>
            <a:custGeom>
              <a:avLst/>
              <a:gdLst/>
              <a:ahLst/>
              <a:cxnLst/>
              <a:rect l="l" t="t" r="r" b="b"/>
              <a:pathLst>
                <a:path w="10735818" h="4408170">
                  <a:moveTo>
                    <a:pt x="0" y="220472"/>
                  </a:moveTo>
                  <a:cubicBezTo>
                    <a:pt x="0" y="98679"/>
                    <a:pt x="98679" y="0"/>
                    <a:pt x="220345" y="0"/>
                  </a:cubicBezTo>
                  <a:lnTo>
                    <a:pt x="10515473" y="0"/>
                  </a:lnTo>
                  <a:cubicBezTo>
                    <a:pt x="10637139" y="0"/>
                    <a:pt x="10735818" y="98679"/>
                    <a:pt x="10735818" y="220345"/>
                  </a:cubicBezTo>
                  <a:lnTo>
                    <a:pt x="10735818" y="4187825"/>
                  </a:lnTo>
                  <a:cubicBezTo>
                    <a:pt x="10735818" y="4309491"/>
                    <a:pt x="10637139" y="4408170"/>
                    <a:pt x="10515473" y="4408170"/>
                  </a:cubicBezTo>
                  <a:lnTo>
                    <a:pt x="220472" y="4408170"/>
                  </a:lnTo>
                  <a:cubicBezTo>
                    <a:pt x="98679" y="4408170"/>
                    <a:pt x="0" y="4309491"/>
                    <a:pt x="0" y="4187825"/>
                  </a:cubicBezTo>
                  <a:close/>
                </a:path>
              </a:pathLst>
            </a:custGeom>
            <a:solidFill>
              <a:srgbClr val="FFFFFF"/>
            </a:solidFill>
            <a:ln w="14288" cap="sq">
              <a:solidFill>
                <a:srgbClr val="DCE6E0"/>
              </a:solidFill>
              <a:prstDash val="solid"/>
              <a:miter/>
            </a:ln>
          </p:spPr>
        </p:sp>
      </p:grpSp>
      <p:grpSp>
        <p:nvGrpSpPr>
          <p:cNvPr id="20" name="Group 20"/>
          <p:cNvGrpSpPr/>
          <p:nvPr/>
        </p:nvGrpSpPr>
        <p:grpSpPr>
          <a:xfrm>
            <a:off x="9962007" y="2829687"/>
            <a:ext cx="1390650" cy="1390650"/>
            <a:chOff x="0" y="0"/>
            <a:chExt cx="1854200" cy="1854200"/>
          </a:xfrm>
        </p:grpSpPr>
        <p:sp>
          <p:nvSpPr>
            <p:cNvPr id="21" name="Freeform 21"/>
            <p:cNvSpPr/>
            <p:nvPr/>
          </p:nvSpPr>
          <p:spPr>
            <a:xfrm>
              <a:off x="0" y="0"/>
              <a:ext cx="1854200" cy="1854200"/>
            </a:xfrm>
            <a:custGeom>
              <a:avLst/>
              <a:gdLst/>
              <a:ahLst/>
              <a:cxnLst/>
              <a:rect l="l" t="t" r="r" b="b"/>
              <a:pathLst>
                <a:path w="1854200" h="1854200">
                  <a:moveTo>
                    <a:pt x="0" y="927100"/>
                  </a:moveTo>
                  <a:cubicBezTo>
                    <a:pt x="0" y="415036"/>
                    <a:pt x="415036" y="0"/>
                    <a:pt x="927100" y="0"/>
                  </a:cubicBezTo>
                  <a:cubicBezTo>
                    <a:pt x="1439164" y="0"/>
                    <a:pt x="1854200" y="415036"/>
                    <a:pt x="1854200" y="927100"/>
                  </a:cubicBezTo>
                  <a:cubicBezTo>
                    <a:pt x="1854200" y="1439164"/>
                    <a:pt x="1439164" y="1854200"/>
                    <a:pt x="927100" y="1854200"/>
                  </a:cubicBezTo>
                  <a:cubicBezTo>
                    <a:pt x="415036" y="1854200"/>
                    <a:pt x="0" y="1439164"/>
                    <a:pt x="0" y="927100"/>
                  </a:cubicBezTo>
                  <a:close/>
                </a:path>
              </a:pathLst>
            </a:custGeom>
            <a:solidFill>
              <a:srgbClr val="E8F3ED"/>
            </a:solidFill>
            <a:ln w="19050" cap="sq">
              <a:solidFill>
                <a:srgbClr val="E8F3ED"/>
              </a:solidFill>
              <a:prstDash val="solid"/>
              <a:miter/>
            </a:ln>
          </p:spPr>
        </p:sp>
      </p:grpSp>
      <p:grpSp>
        <p:nvGrpSpPr>
          <p:cNvPr id="22" name="Group 22"/>
          <p:cNvGrpSpPr/>
          <p:nvPr/>
        </p:nvGrpSpPr>
        <p:grpSpPr>
          <a:xfrm>
            <a:off x="10328148" y="3195828"/>
            <a:ext cx="658368" cy="658368"/>
            <a:chOff x="0" y="0"/>
            <a:chExt cx="877824" cy="877824"/>
          </a:xfrm>
        </p:grpSpPr>
        <p:sp>
          <p:nvSpPr>
            <p:cNvPr id="23" name="Freeform 23" descr="preencoded.png"/>
            <p:cNvSpPr/>
            <p:nvPr/>
          </p:nvSpPr>
          <p:spPr>
            <a:xfrm>
              <a:off x="0" y="0"/>
              <a:ext cx="877824" cy="877824"/>
            </a:xfrm>
            <a:custGeom>
              <a:avLst/>
              <a:gdLst/>
              <a:ahLst/>
              <a:cxnLst/>
              <a:rect l="l" t="t" r="r" b="b"/>
              <a:pathLst>
                <a:path w="877824" h="877824">
                  <a:moveTo>
                    <a:pt x="0" y="0"/>
                  </a:moveTo>
                  <a:lnTo>
                    <a:pt x="877824" y="0"/>
                  </a:lnTo>
                  <a:lnTo>
                    <a:pt x="877824" y="877824"/>
                  </a:lnTo>
                  <a:lnTo>
                    <a:pt x="0" y="877824"/>
                  </a:lnTo>
                  <a:lnTo>
                    <a:pt x="0" y="0"/>
                  </a:lnTo>
                  <a:close/>
                </a:path>
              </a:pathLst>
            </a:custGeom>
            <a:blipFill>
              <a:blip r:embed="rId5"/>
              <a:stretch>
                <a:fillRect/>
              </a:stretch>
            </a:blipFill>
          </p:spPr>
        </p:sp>
      </p:grpSp>
      <p:sp>
        <p:nvSpPr>
          <p:cNvPr id="24" name="TextBox 24"/>
          <p:cNvSpPr txBox="1"/>
          <p:nvPr/>
        </p:nvSpPr>
        <p:spPr>
          <a:xfrm>
            <a:off x="15677388" y="2606040"/>
            <a:ext cx="1371600" cy="822960"/>
          </a:xfrm>
          <a:prstGeom prst="rect">
            <a:avLst/>
          </a:prstGeom>
        </p:spPr>
        <p:txBody>
          <a:bodyPr lIns="0" tIns="0" rIns="0" bIns="0" rtlCol="0" anchor="t">
            <a:spAutoFit/>
          </a:bodyPr>
          <a:lstStyle/>
          <a:p>
            <a:pPr algn="r">
              <a:lnSpc>
                <a:spcPts val="5040"/>
              </a:lnSpc>
            </a:pPr>
            <a:r>
              <a:rPr lang="en-US" sz="4200" b="1">
                <a:solidFill>
                  <a:srgbClr val="FF7300"/>
                </a:solidFill>
                <a:latin typeface="Montserrat Bold"/>
                <a:ea typeface="Montserrat Bold"/>
                <a:cs typeface="Montserrat Bold"/>
                <a:sym typeface="Montserrat Bold"/>
              </a:rPr>
              <a:t>02</a:t>
            </a:r>
          </a:p>
        </p:txBody>
      </p:sp>
      <p:grpSp>
        <p:nvGrpSpPr>
          <p:cNvPr id="25" name="Group 25"/>
          <p:cNvGrpSpPr/>
          <p:nvPr/>
        </p:nvGrpSpPr>
        <p:grpSpPr>
          <a:xfrm>
            <a:off x="11754612" y="2580771"/>
            <a:ext cx="4059936" cy="1472288"/>
            <a:chOff x="0" y="0"/>
            <a:chExt cx="5413248" cy="1963051"/>
          </a:xfrm>
        </p:grpSpPr>
        <p:sp>
          <p:nvSpPr>
            <p:cNvPr id="26" name="Freeform 26"/>
            <p:cNvSpPr/>
            <p:nvPr/>
          </p:nvSpPr>
          <p:spPr>
            <a:xfrm>
              <a:off x="0" y="0"/>
              <a:ext cx="5413248" cy="1963051"/>
            </a:xfrm>
            <a:custGeom>
              <a:avLst/>
              <a:gdLst/>
              <a:ahLst/>
              <a:cxnLst/>
              <a:rect l="l" t="t" r="r" b="b"/>
              <a:pathLst>
                <a:path w="5413248" h="1963051">
                  <a:moveTo>
                    <a:pt x="0" y="0"/>
                  </a:moveTo>
                  <a:lnTo>
                    <a:pt x="5413248" y="0"/>
                  </a:lnTo>
                  <a:lnTo>
                    <a:pt x="5413248" y="1963051"/>
                  </a:lnTo>
                  <a:lnTo>
                    <a:pt x="0" y="1963051"/>
                  </a:lnTo>
                  <a:close/>
                </a:path>
              </a:pathLst>
            </a:custGeom>
            <a:blipFill>
              <a:blip r:embed="rId3">
                <a:alphaModFix amt="0"/>
              </a:blip>
              <a:stretch>
                <a:fillRect t="-28112" b="20649"/>
              </a:stretch>
            </a:blipFill>
          </p:spPr>
        </p:sp>
        <p:sp>
          <p:nvSpPr>
            <p:cNvPr id="27" name="TextBox 27"/>
            <p:cNvSpPr txBox="1"/>
            <p:nvPr/>
          </p:nvSpPr>
          <p:spPr>
            <a:xfrm>
              <a:off x="0" y="0"/>
              <a:ext cx="5413248" cy="1963051"/>
            </a:xfrm>
            <a:prstGeom prst="rect">
              <a:avLst/>
            </a:prstGeom>
          </p:spPr>
          <p:txBody>
            <a:bodyPr lIns="0" tIns="0" rIns="0" bIns="0" rtlCol="0" anchor="ctr"/>
            <a:lstStyle/>
            <a:p>
              <a:pPr algn="l">
                <a:lnSpc>
                  <a:spcPts val="3779"/>
                </a:lnSpc>
              </a:pPr>
              <a:r>
                <a:rPr lang="en-US" sz="3150" b="1">
                  <a:solidFill>
                    <a:srgbClr val="006838"/>
                  </a:solidFill>
                  <a:latin typeface="Montserrat Bold"/>
                  <a:ea typeface="Montserrat Bold"/>
                  <a:cs typeface="Montserrat Bold"/>
                  <a:sym typeface="Montserrat Bold"/>
                </a:rPr>
                <a:t>Real-time Alignment</a:t>
              </a:r>
            </a:p>
          </p:txBody>
        </p:sp>
      </p:grpSp>
      <p:sp>
        <p:nvSpPr>
          <p:cNvPr id="28" name="TextBox 28"/>
          <p:cNvSpPr txBox="1"/>
          <p:nvPr/>
        </p:nvSpPr>
        <p:spPr>
          <a:xfrm>
            <a:off x="11754612" y="3830955"/>
            <a:ext cx="5157216" cy="1243965"/>
          </a:xfrm>
          <a:prstGeom prst="rect">
            <a:avLst/>
          </a:prstGeom>
        </p:spPr>
        <p:txBody>
          <a:bodyPr lIns="0" tIns="0" rIns="0" bIns="0" rtlCol="0" anchor="t">
            <a:spAutoFit/>
          </a:bodyPr>
          <a:lstStyle/>
          <a:p>
            <a:pPr algn="l">
              <a:lnSpc>
                <a:spcPts val="2700"/>
              </a:lnSpc>
            </a:pPr>
            <a:r>
              <a:rPr lang="en-US" sz="2250">
                <a:solidFill>
                  <a:srgbClr val="1E2B25"/>
                </a:solidFill>
                <a:latin typeface="Montserrat"/>
                <a:ea typeface="Montserrat"/>
                <a:cs typeface="Montserrat"/>
                <a:sym typeface="Montserrat"/>
              </a:rPr>
              <a:t>Đồng bộ hóa theo thời gian thực</a:t>
            </a:r>
          </a:p>
        </p:txBody>
      </p:sp>
      <p:grpSp>
        <p:nvGrpSpPr>
          <p:cNvPr id="29" name="Group 29"/>
          <p:cNvGrpSpPr/>
          <p:nvPr/>
        </p:nvGrpSpPr>
        <p:grpSpPr>
          <a:xfrm>
            <a:off x="815816" y="5959316"/>
            <a:ext cx="8051864" cy="3306128"/>
            <a:chOff x="0" y="0"/>
            <a:chExt cx="10735818" cy="4408170"/>
          </a:xfrm>
        </p:grpSpPr>
        <p:sp>
          <p:nvSpPr>
            <p:cNvPr id="30" name="Freeform 30"/>
            <p:cNvSpPr/>
            <p:nvPr/>
          </p:nvSpPr>
          <p:spPr>
            <a:xfrm>
              <a:off x="0" y="0"/>
              <a:ext cx="10735818" cy="4408170"/>
            </a:xfrm>
            <a:custGeom>
              <a:avLst/>
              <a:gdLst/>
              <a:ahLst/>
              <a:cxnLst/>
              <a:rect l="l" t="t" r="r" b="b"/>
              <a:pathLst>
                <a:path w="10735818" h="4408170">
                  <a:moveTo>
                    <a:pt x="0" y="220472"/>
                  </a:moveTo>
                  <a:cubicBezTo>
                    <a:pt x="0" y="98679"/>
                    <a:pt x="98679" y="0"/>
                    <a:pt x="220345" y="0"/>
                  </a:cubicBezTo>
                  <a:lnTo>
                    <a:pt x="10515473" y="0"/>
                  </a:lnTo>
                  <a:cubicBezTo>
                    <a:pt x="10637139" y="0"/>
                    <a:pt x="10735818" y="98679"/>
                    <a:pt x="10735818" y="220345"/>
                  </a:cubicBezTo>
                  <a:lnTo>
                    <a:pt x="10735818" y="4187825"/>
                  </a:lnTo>
                  <a:cubicBezTo>
                    <a:pt x="10735818" y="4309491"/>
                    <a:pt x="10637139" y="4408170"/>
                    <a:pt x="10515473" y="4408170"/>
                  </a:cubicBezTo>
                  <a:lnTo>
                    <a:pt x="220472" y="4408170"/>
                  </a:lnTo>
                  <a:cubicBezTo>
                    <a:pt x="98679" y="4408170"/>
                    <a:pt x="0" y="4309491"/>
                    <a:pt x="0" y="4187825"/>
                  </a:cubicBezTo>
                  <a:close/>
                </a:path>
              </a:pathLst>
            </a:custGeom>
            <a:solidFill>
              <a:srgbClr val="FFFFFF"/>
            </a:solidFill>
            <a:ln w="14288" cap="sq">
              <a:solidFill>
                <a:srgbClr val="DCE6E0"/>
              </a:solidFill>
              <a:prstDash val="solid"/>
              <a:miter/>
            </a:ln>
          </p:spPr>
        </p:sp>
      </p:grpSp>
      <p:grpSp>
        <p:nvGrpSpPr>
          <p:cNvPr id="31" name="Group 31"/>
          <p:cNvGrpSpPr/>
          <p:nvPr/>
        </p:nvGrpSpPr>
        <p:grpSpPr>
          <a:xfrm>
            <a:off x="1362075" y="6533007"/>
            <a:ext cx="1390650" cy="1390650"/>
            <a:chOff x="0" y="0"/>
            <a:chExt cx="1854200" cy="1854200"/>
          </a:xfrm>
        </p:grpSpPr>
        <p:sp>
          <p:nvSpPr>
            <p:cNvPr id="32" name="Freeform 32"/>
            <p:cNvSpPr/>
            <p:nvPr/>
          </p:nvSpPr>
          <p:spPr>
            <a:xfrm>
              <a:off x="0" y="0"/>
              <a:ext cx="1854200" cy="1854200"/>
            </a:xfrm>
            <a:custGeom>
              <a:avLst/>
              <a:gdLst/>
              <a:ahLst/>
              <a:cxnLst/>
              <a:rect l="l" t="t" r="r" b="b"/>
              <a:pathLst>
                <a:path w="1854200" h="1854200">
                  <a:moveTo>
                    <a:pt x="0" y="927100"/>
                  </a:moveTo>
                  <a:cubicBezTo>
                    <a:pt x="0" y="415036"/>
                    <a:pt x="415036" y="0"/>
                    <a:pt x="927100" y="0"/>
                  </a:cubicBezTo>
                  <a:cubicBezTo>
                    <a:pt x="1439164" y="0"/>
                    <a:pt x="1854200" y="415036"/>
                    <a:pt x="1854200" y="927100"/>
                  </a:cubicBezTo>
                  <a:cubicBezTo>
                    <a:pt x="1854200" y="1439164"/>
                    <a:pt x="1439164" y="1854200"/>
                    <a:pt x="927100" y="1854200"/>
                  </a:cubicBezTo>
                  <a:cubicBezTo>
                    <a:pt x="415036" y="1854200"/>
                    <a:pt x="0" y="1439164"/>
                    <a:pt x="0" y="927100"/>
                  </a:cubicBezTo>
                  <a:close/>
                </a:path>
              </a:pathLst>
            </a:custGeom>
            <a:solidFill>
              <a:srgbClr val="E8F3ED"/>
            </a:solidFill>
            <a:ln w="19050" cap="sq">
              <a:solidFill>
                <a:srgbClr val="E8F3ED"/>
              </a:solidFill>
              <a:prstDash val="solid"/>
              <a:miter/>
            </a:ln>
          </p:spPr>
        </p:sp>
      </p:grpSp>
      <p:grpSp>
        <p:nvGrpSpPr>
          <p:cNvPr id="33" name="Group 33"/>
          <p:cNvGrpSpPr/>
          <p:nvPr/>
        </p:nvGrpSpPr>
        <p:grpSpPr>
          <a:xfrm>
            <a:off x="1728216" y="6899148"/>
            <a:ext cx="658368" cy="658368"/>
            <a:chOff x="0" y="0"/>
            <a:chExt cx="877824" cy="877824"/>
          </a:xfrm>
        </p:grpSpPr>
        <p:sp>
          <p:nvSpPr>
            <p:cNvPr id="34" name="Freeform 34" descr="preencoded.png"/>
            <p:cNvSpPr/>
            <p:nvPr/>
          </p:nvSpPr>
          <p:spPr>
            <a:xfrm>
              <a:off x="0" y="0"/>
              <a:ext cx="877824" cy="877824"/>
            </a:xfrm>
            <a:custGeom>
              <a:avLst/>
              <a:gdLst/>
              <a:ahLst/>
              <a:cxnLst/>
              <a:rect l="l" t="t" r="r" b="b"/>
              <a:pathLst>
                <a:path w="877824" h="877824">
                  <a:moveTo>
                    <a:pt x="0" y="0"/>
                  </a:moveTo>
                  <a:lnTo>
                    <a:pt x="877824" y="0"/>
                  </a:lnTo>
                  <a:lnTo>
                    <a:pt x="877824" y="877824"/>
                  </a:lnTo>
                  <a:lnTo>
                    <a:pt x="0" y="877824"/>
                  </a:lnTo>
                  <a:lnTo>
                    <a:pt x="0" y="0"/>
                  </a:lnTo>
                  <a:close/>
                </a:path>
              </a:pathLst>
            </a:custGeom>
            <a:blipFill>
              <a:blip r:embed="rId6"/>
              <a:stretch>
                <a:fillRect/>
              </a:stretch>
            </a:blipFill>
          </p:spPr>
        </p:sp>
      </p:grpSp>
      <p:sp>
        <p:nvSpPr>
          <p:cNvPr id="35" name="TextBox 35"/>
          <p:cNvSpPr txBox="1"/>
          <p:nvPr/>
        </p:nvSpPr>
        <p:spPr>
          <a:xfrm>
            <a:off x="7077456" y="6309360"/>
            <a:ext cx="1371600" cy="822960"/>
          </a:xfrm>
          <a:prstGeom prst="rect">
            <a:avLst/>
          </a:prstGeom>
        </p:spPr>
        <p:txBody>
          <a:bodyPr lIns="0" tIns="0" rIns="0" bIns="0" rtlCol="0" anchor="t">
            <a:spAutoFit/>
          </a:bodyPr>
          <a:lstStyle/>
          <a:p>
            <a:pPr algn="r">
              <a:lnSpc>
                <a:spcPts val="5040"/>
              </a:lnSpc>
            </a:pPr>
            <a:r>
              <a:rPr lang="en-US" sz="4200" b="1">
                <a:solidFill>
                  <a:srgbClr val="FF7300"/>
                </a:solidFill>
                <a:latin typeface="Montserrat Bold"/>
                <a:ea typeface="Montserrat Bold"/>
                <a:cs typeface="Montserrat Bold"/>
                <a:sym typeface="Montserrat Bold"/>
              </a:rPr>
              <a:t>03</a:t>
            </a:r>
          </a:p>
        </p:txBody>
      </p:sp>
      <p:grpSp>
        <p:nvGrpSpPr>
          <p:cNvPr id="36" name="Group 36"/>
          <p:cNvGrpSpPr/>
          <p:nvPr/>
        </p:nvGrpSpPr>
        <p:grpSpPr>
          <a:xfrm>
            <a:off x="3154680" y="6652260"/>
            <a:ext cx="4059936" cy="754380"/>
            <a:chOff x="0" y="0"/>
            <a:chExt cx="5413248" cy="1005840"/>
          </a:xfrm>
        </p:grpSpPr>
        <p:sp>
          <p:nvSpPr>
            <p:cNvPr id="37" name="Freeform 37"/>
            <p:cNvSpPr/>
            <p:nvPr/>
          </p:nvSpPr>
          <p:spPr>
            <a:xfrm>
              <a:off x="0" y="0"/>
              <a:ext cx="5413248" cy="1005840"/>
            </a:xfrm>
            <a:custGeom>
              <a:avLst/>
              <a:gdLst/>
              <a:ahLst/>
              <a:cxnLst/>
              <a:rect l="l" t="t" r="r" b="b"/>
              <a:pathLst>
                <a:path w="5413248" h="1005840">
                  <a:moveTo>
                    <a:pt x="0" y="0"/>
                  </a:moveTo>
                  <a:lnTo>
                    <a:pt x="5413248" y="0"/>
                  </a:lnTo>
                  <a:lnTo>
                    <a:pt x="5413248" y="1005840"/>
                  </a:lnTo>
                  <a:lnTo>
                    <a:pt x="0" y="1005840"/>
                  </a:lnTo>
                  <a:close/>
                </a:path>
              </a:pathLst>
            </a:custGeom>
            <a:blipFill>
              <a:blip r:embed="rId3">
                <a:alphaModFix amt="0"/>
              </a:blip>
              <a:stretch>
                <a:fillRect t="-54864" b="-54864"/>
              </a:stretch>
            </a:blipFill>
          </p:spPr>
        </p:sp>
        <p:sp>
          <p:nvSpPr>
            <p:cNvPr id="38" name="TextBox 38"/>
            <p:cNvSpPr txBox="1"/>
            <p:nvPr/>
          </p:nvSpPr>
          <p:spPr>
            <a:xfrm>
              <a:off x="0" y="0"/>
              <a:ext cx="5413248" cy="1005840"/>
            </a:xfrm>
            <a:prstGeom prst="rect">
              <a:avLst/>
            </a:prstGeom>
          </p:spPr>
          <p:txBody>
            <a:bodyPr lIns="0" tIns="0" rIns="0" bIns="0" rtlCol="0" anchor="ctr"/>
            <a:lstStyle/>
            <a:p>
              <a:pPr algn="l">
                <a:lnSpc>
                  <a:spcPts val="3779"/>
                </a:lnSpc>
              </a:pPr>
              <a:r>
                <a:rPr lang="en-US" sz="3150" b="1">
                  <a:solidFill>
                    <a:srgbClr val="006838"/>
                  </a:solidFill>
                  <a:latin typeface="Montserrat Bold"/>
                  <a:ea typeface="Montserrat Bold"/>
                  <a:cs typeface="Montserrat Bold"/>
                  <a:sym typeface="Montserrat Bold"/>
                </a:rPr>
                <a:t>Context over SOP</a:t>
              </a:r>
            </a:p>
          </p:txBody>
        </p:sp>
      </p:grpSp>
      <p:sp>
        <p:nvSpPr>
          <p:cNvPr id="39" name="TextBox 39"/>
          <p:cNvSpPr txBox="1"/>
          <p:nvPr/>
        </p:nvSpPr>
        <p:spPr>
          <a:xfrm>
            <a:off x="3154680" y="7534275"/>
            <a:ext cx="5157216" cy="1243965"/>
          </a:xfrm>
          <a:prstGeom prst="rect">
            <a:avLst/>
          </a:prstGeom>
        </p:spPr>
        <p:txBody>
          <a:bodyPr lIns="0" tIns="0" rIns="0" bIns="0" rtlCol="0" anchor="t">
            <a:spAutoFit/>
          </a:bodyPr>
          <a:lstStyle/>
          <a:p>
            <a:pPr algn="l">
              <a:lnSpc>
                <a:spcPts val="2700"/>
              </a:lnSpc>
            </a:pPr>
            <a:r>
              <a:rPr lang="en-US" sz="2250">
                <a:solidFill>
                  <a:srgbClr val="1E2B25"/>
                </a:solidFill>
                <a:latin typeface="Montserrat"/>
                <a:ea typeface="Montserrat"/>
                <a:cs typeface="Montserrat"/>
                <a:sym typeface="Montserrat"/>
              </a:rPr>
              <a:t>Ưu tiên ngữ cảnh thay vì quy trình cứng nhắc</a:t>
            </a:r>
          </a:p>
        </p:txBody>
      </p:sp>
      <p:grpSp>
        <p:nvGrpSpPr>
          <p:cNvPr id="40" name="Group 40"/>
          <p:cNvGrpSpPr/>
          <p:nvPr/>
        </p:nvGrpSpPr>
        <p:grpSpPr>
          <a:xfrm>
            <a:off x="9415748" y="5959316"/>
            <a:ext cx="8051864" cy="3306128"/>
            <a:chOff x="0" y="0"/>
            <a:chExt cx="10735818" cy="4408170"/>
          </a:xfrm>
        </p:grpSpPr>
        <p:sp>
          <p:nvSpPr>
            <p:cNvPr id="41" name="Freeform 41"/>
            <p:cNvSpPr/>
            <p:nvPr/>
          </p:nvSpPr>
          <p:spPr>
            <a:xfrm>
              <a:off x="0" y="0"/>
              <a:ext cx="10735818" cy="4408170"/>
            </a:xfrm>
            <a:custGeom>
              <a:avLst/>
              <a:gdLst/>
              <a:ahLst/>
              <a:cxnLst/>
              <a:rect l="l" t="t" r="r" b="b"/>
              <a:pathLst>
                <a:path w="10735818" h="4408170">
                  <a:moveTo>
                    <a:pt x="0" y="220472"/>
                  </a:moveTo>
                  <a:cubicBezTo>
                    <a:pt x="0" y="98679"/>
                    <a:pt x="98679" y="0"/>
                    <a:pt x="220345" y="0"/>
                  </a:cubicBezTo>
                  <a:lnTo>
                    <a:pt x="10515473" y="0"/>
                  </a:lnTo>
                  <a:cubicBezTo>
                    <a:pt x="10637139" y="0"/>
                    <a:pt x="10735818" y="98679"/>
                    <a:pt x="10735818" y="220345"/>
                  </a:cubicBezTo>
                  <a:lnTo>
                    <a:pt x="10735818" y="4187825"/>
                  </a:lnTo>
                  <a:cubicBezTo>
                    <a:pt x="10735818" y="4309491"/>
                    <a:pt x="10637139" y="4408170"/>
                    <a:pt x="10515473" y="4408170"/>
                  </a:cubicBezTo>
                  <a:lnTo>
                    <a:pt x="220472" y="4408170"/>
                  </a:lnTo>
                  <a:cubicBezTo>
                    <a:pt x="98679" y="4408170"/>
                    <a:pt x="0" y="4309491"/>
                    <a:pt x="0" y="4187825"/>
                  </a:cubicBezTo>
                  <a:close/>
                </a:path>
              </a:pathLst>
            </a:custGeom>
            <a:solidFill>
              <a:srgbClr val="006838"/>
            </a:solidFill>
            <a:ln w="14288" cap="sq">
              <a:solidFill>
                <a:srgbClr val="006838"/>
              </a:solidFill>
              <a:prstDash val="solid"/>
              <a:miter/>
            </a:ln>
          </p:spPr>
        </p:sp>
      </p:grpSp>
      <p:grpSp>
        <p:nvGrpSpPr>
          <p:cNvPr id="42" name="Group 42"/>
          <p:cNvGrpSpPr/>
          <p:nvPr/>
        </p:nvGrpSpPr>
        <p:grpSpPr>
          <a:xfrm>
            <a:off x="9962007" y="6533007"/>
            <a:ext cx="1390650" cy="1390650"/>
            <a:chOff x="0" y="0"/>
            <a:chExt cx="1854200" cy="1854200"/>
          </a:xfrm>
        </p:grpSpPr>
        <p:sp>
          <p:nvSpPr>
            <p:cNvPr id="43" name="Freeform 43"/>
            <p:cNvSpPr/>
            <p:nvPr/>
          </p:nvSpPr>
          <p:spPr>
            <a:xfrm>
              <a:off x="0" y="0"/>
              <a:ext cx="1854200" cy="1854200"/>
            </a:xfrm>
            <a:custGeom>
              <a:avLst/>
              <a:gdLst/>
              <a:ahLst/>
              <a:cxnLst/>
              <a:rect l="l" t="t" r="r" b="b"/>
              <a:pathLst>
                <a:path w="1854200" h="1854200">
                  <a:moveTo>
                    <a:pt x="0" y="927100"/>
                  </a:moveTo>
                  <a:cubicBezTo>
                    <a:pt x="0" y="415036"/>
                    <a:pt x="415036" y="0"/>
                    <a:pt x="927100" y="0"/>
                  </a:cubicBezTo>
                  <a:cubicBezTo>
                    <a:pt x="1439164" y="0"/>
                    <a:pt x="1854200" y="415036"/>
                    <a:pt x="1854200" y="927100"/>
                  </a:cubicBezTo>
                  <a:cubicBezTo>
                    <a:pt x="1854200" y="1439164"/>
                    <a:pt x="1439164" y="1854200"/>
                    <a:pt x="927100" y="1854200"/>
                  </a:cubicBezTo>
                  <a:cubicBezTo>
                    <a:pt x="415036" y="1854200"/>
                    <a:pt x="0" y="1439164"/>
                    <a:pt x="0" y="927100"/>
                  </a:cubicBezTo>
                  <a:close/>
                </a:path>
              </a:pathLst>
            </a:custGeom>
            <a:solidFill>
              <a:srgbClr val="FFFFFF"/>
            </a:solidFill>
            <a:ln w="19050" cap="sq">
              <a:solidFill>
                <a:srgbClr val="FFFFFF"/>
              </a:solidFill>
              <a:prstDash val="solid"/>
              <a:miter/>
            </a:ln>
          </p:spPr>
        </p:sp>
      </p:grpSp>
      <p:grpSp>
        <p:nvGrpSpPr>
          <p:cNvPr id="44" name="Group 44"/>
          <p:cNvGrpSpPr/>
          <p:nvPr/>
        </p:nvGrpSpPr>
        <p:grpSpPr>
          <a:xfrm>
            <a:off x="10328148" y="6899148"/>
            <a:ext cx="658368" cy="658368"/>
            <a:chOff x="0" y="0"/>
            <a:chExt cx="877824" cy="877824"/>
          </a:xfrm>
        </p:grpSpPr>
        <p:sp>
          <p:nvSpPr>
            <p:cNvPr id="45" name="Freeform 45" descr="preencoded.png"/>
            <p:cNvSpPr/>
            <p:nvPr/>
          </p:nvSpPr>
          <p:spPr>
            <a:xfrm>
              <a:off x="0" y="0"/>
              <a:ext cx="877824" cy="877824"/>
            </a:xfrm>
            <a:custGeom>
              <a:avLst/>
              <a:gdLst/>
              <a:ahLst/>
              <a:cxnLst/>
              <a:rect l="l" t="t" r="r" b="b"/>
              <a:pathLst>
                <a:path w="877824" h="877824">
                  <a:moveTo>
                    <a:pt x="0" y="0"/>
                  </a:moveTo>
                  <a:lnTo>
                    <a:pt x="877824" y="0"/>
                  </a:lnTo>
                  <a:lnTo>
                    <a:pt x="877824" y="877824"/>
                  </a:lnTo>
                  <a:lnTo>
                    <a:pt x="0" y="877824"/>
                  </a:lnTo>
                  <a:lnTo>
                    <a:pt x="0" y="0"/>
                  </a:lnTo>
                  <a:close/>
                </a:path>
              </a:pathLst>
            </a:custGeom>
            <a:blipFill>
              <a:blip r:embed="rId7"/>
              <a:stretch>
                <a:fillRect/>
              </a:stretch>
            </a:blipFill>
          </p:spPr>
        </p:sp>
      </p:grpSp>
      <p:sp>
        <p:nvSpPr>
          <p:cNvPr id="46" name="TextBox 46"/>
          <p:cNvSpPr txBox="1"/>
          <p:nvPr/>
        </p:nvSpPr>
        <p:spPr>
          <a:xfrm>
            <a:off x="15677388" y="6309360"/>
            <a:ext cx="1371600" cy="822960"/>
          </a:xfrm>
          <a:prstGeom prst="rect">
            <a:avLst/>
          </a:prstGeom>
        </p:spPr>
        <p:txBody>
          <a:bodyPr lIns="0" tIns="0" rIns="0" bIns="0" rtlCol="0" anchor="t">
            <a:spAutoFit/>
          </a:bodyPr>
          <a:lstStyle/>
          <a:p>
            <a:pPr algn="r">
              <a:lnSpc>
                <a:spcPts val="5040"/>
              </a:lnSpc>
            </a:pPr>
            <a:r>
              <a:rPr lang="en-US" sz="4200" b="1">
                <a:solidFill>
                  <a:srgbClr val="FF7300"/>
                </a:solidFill>
                <a:latin typeface="Montserrat Bold"/>
                <a:ea typeface="Montserrat Bold"/>
                <a:cs typeface="Montserrat Bold"/>
                <a:sym typeface="Montserrat Bold"/>
              </a:rPr>
              <a:t>04</a:t>
            </a:r>
          </a:p>
        </p:txBody>
      </p:sp>
      <p:grpSp>
        <p:nvGrpSpPr>
          <p:cNvPr id="47" name="Group 47"/>
          <p:cNvGrpSpPr/>
          <p:nvPr/>
        </p:nvGrpSpPr>
        <p:grpSpPr>
          <a:xfrm>
            <a:off x="11754612" y="6652260"/>
            <a:ext cx="4059936" cy="754380"/>
            <a:chOff x="0" y="0"/>
            <a:chExt cx="5413248" cy="1005840"/>
          </a:xfrm>
        </p:grpSpPr>
        <p:sp>
          <p:nvSpPr>
            <p:cNvPr id="48" name="Freeform 48"/>
            <p:cNvSpPr/>
            <p:nvPr/>
          </p:nvSpPr>
          <p:spPr>
            <a:xfrm>
              <a:off x="0" y="0"/>
              <a:ext cx="5413248" cy="1005840"/>
            </a:xfrm>
            <a:custGeom>
              <a:avLst/>
              <a:gdLst/>
              <a:ahLst/>
              <a:cxnLst/>
              <a:rect l="l" t="t" r="r" b="b"/>
              <a:pathLst>
                <a:path w="5413248" h="1005840">
                  <a:moveTo>
                    <a:pt x="0" y="0"/>
                  </a:moveTo>
                  <a:lnTo>
                    <a:pt x="5413248" y="0"/>
                  </a:lnTo>
                  <a:lnTo>
                    <a:pt x="5413248" y="1005840"/>
                  </a:lnTo>
                  <a:lnTo>
                    <a:pt x="0" y="1005840"/>
                  </a:lnTo>
                  <a:close/>
                </a:path>
              </a:pathLst>
            </a:custGeom>
            <a:blipFill>
              <a:blip r:embed="rId3">
                <a:alphaModFix amt="0"/>
              </a:blip>
              <a:stretch>
                <a:fillRect t="-54864" b="-54864"/>
              </a:stretch>
            </a:blipFill>
          </p:spPr>
        </p:sp>
        <p:sp>
          <p:nvSpPr>
            <p:cNvPr id="49" name="TextBox 49"/>
            <p:cNvSpPr txBox="1"/>
            <p:nvPr/>
          </p:nvSpPr>
          <p:spPr>
            <a:xfrm>
              <a:off x="0" y="0"/>
              <a:ext cx="5413248" cy="1005840"/>
            </a:xfrm>
            <a:prstGeom prst="rect">
              <a:avLst/>
            </a:prstGeom>
          </p:spPr>
          <p:txBody>
            <a:bodyPr lIns="0" tIns="0" rIns="0" bIns="0" rtlCol="0" anchor="ctr"/>
            <a:lstStyle/>
            <a:p>
              <a:pPr algn="l">
                <a:lnSpc>
                  <a:spcPts val="3779"/>
                </a:lnSpc>
              </a:pPr>
              <a:r>
                <a:rPr lang="en-US" sz="3150" b="1">
                  <a:solidFill>
                    <a:srgbClr val="FFFFFF"/>
                  </a:solidFill>
                  <a:latin typeface="Montserrat Bold"/>
                  <a:ea typeface="Montserrat Bold"/>
                  <a:cs typeface="Montserrat Bold"/>
                  <a:sym typeface="Montserrat Bold"/>
                </a:rPr>
                <a:t>Agent-First Workflow</a:t>
              </a:r>
            </a:p>
          </p:txBody>
        </p:sp>
      </p:grpSp>
      <p:sp>
        <p:nvSpPr>
          <p:cNvPr id="50" name="TextBox 50"/>
          <p:cNvSpPr txBox="1"/>
          <p:nvPr/>
        </p:nvSpPr>
        <p:spPr>
          <a:xfrm>
            <a:off x="11754612" y="7534275"/>
            <a:ext cx="5157216" cy="1243965"/>
          </a:xfrm>
          <a:prstGeom prst="rect">
            <a:avLst/>
          </a:prstGeom>
        </p:spPr>
        <p:txBody>
          <a:bodyPr lIns="0" tIns="0" rIns="0" bIns="0" rtlCol="0" anchor="t">
            <a:spAutoFit/>
          </a:bodyPr>
          <a:lstStyle/>
          <a:p>
            <a:pPr algn="l">
              <a:lnSpc>
                <a:spcPts val="2700"/>
              </a:lnSpc>
            </a:pPr>
            <a:r>
              <a:rPr lang="en-US" sz="2250">
                <a:solidFill>
                  <a:srgbClr val="E6F2EB"/>
                </a:solidFill>
                <a:latin typeface="Montserrat"/>
                <a:ea typeface="Montserrat"/>
                <a:cs typeface="Montserrat"/>
                <a:sym typeface="Montserrat"/>
              </a:rPr>
              <a:t>AI hiện diện mặc định trong mọi quy trình</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4"/>
          <p:cNvGrpSpPr/>
          <p:nvPr/>
        </p:nvGrpSpPr>
        <p:grpSpPr>
          <a:xfrm>
            <a:off x="822960" y="411480"/>
            <a:ext cx="15361920" cy="1371600"/>
            <a:chOff x="0" y="0"/>
            <a:chExt cx="20482560" cy="1828800"/>
          </a:xfrm>
        </p:grpSpPr>
        <p:sp>
          <p:nvSpPr>
            <p:cNvPr id="5" name="Freeform 5"/>
            <p:cNvSpPr/>
            <p:nvPr/>
          </p:nvSpPr>
          <p:spPr>
            <a:xfrm>
              <a:off x="0" y="0"/>
              <a:ext cx="20482561" cy="1828800"/>
            </a:xfrm>
            <a:custGeom>
              <a:avLst/>
              <a:gdLst/>
              <a:ahLst/>
              <a:cxnLst/>
              <a:rect l="l" t="t" r="r" b="b"/>
              <a:pathLst>
                <a:path w="20482561" h="1828800">
                  <a:moveTo>
                    <a:pt x="0" y="0"/>
                  </a:moveTo>
                  <a:lnTo>
                    <a:pt x="20482561" y="0"/>
                  </a:lnTo>
                  <a:lnTo>
                    <a:pt x="20482561" y="1828800"/>
                  </a:lnTo>
                  <a:lnTo>
                    <a:pt x="0" y="1828800"/>
                  </a:lnTo>
                  <a:close/>
                </a:path>
              </a:pathLst>
            </a:custGeom>
            <a:blipFill>
              <a:blip r:embed="rId3">
                <a:alphaModFix amt="0"/>
              </a:blip>
              <a:stretch>
                <a:fillRect t="-168232" b="-168232"/>
              </a:stretch>
            </a:blipFill>
          </p:spPr>
        </p:sp>
        <p:sp>
          <p:nvSpPr>
            <p:cNvPr id="6" name="TextBox 6"/>
            <p:cNvSpPr txBox="1"/>
            <p:nvPr/>
          </p:nvSpPr>
          <p:spPr>
            <a:xfrm>
              <a:off x="0" y="0"/>
              <a:ext cx="20482560" cy="1828800"/>
            </a:xfrm>
            <a:prstGeom prst="rect">
              <a:avLst/>
            </a:prstGeom>
          </p:spPr>
          <p:txBody>
            <a:bodyPr lIns="0" tIns="0" rIns="0" bIns="0" rtlCol="0" anchor="ctr"/>
            <a:lstStyle/>
            <a:p>
              <a:pPr algn="l">
                <a:lnSpc>
                  <a:spcPts val="4680"/>
                </a:lnSpc>
              </a:pPr>
              <a:r>
                <a:rPr lang="en-US" sz="3900" b="1">
                  <a:solidFill>
                    <a:srgbClr val="006838"/>
                  </a:solidFill>
                  <a:latin typeface="Montserrat Bold"/>
                  <a:ea typeface="Montserrat Bold"/>
                  <a:cs typeface="Montserrat Bold"/>
                  <a:sym typeface="Montserrat Bold"/>
                </a:rPr>
                <a:t>MA TRẬN ĐÁNH GIÁ AI NATIVE ORG.</a:t>
              </a:r>
            </a:p>
          </p:txBody>
        </p:sp>
      </p:grpSp>
      <p:graphicFrame>
        <p:nvGraphicFramePr>
          <p:cNvPr id="3" name="Table 2">
            <a:extLst>
              <a:ext uri="{FF2B5EF4-FFF2-40B4-BE49-F238E27FC236}">
                <a16:creationId xmlns:a16="http://schemas.microsoft.com/office/drawing/2014/main" id="{3B6FB09B-42BA-4725-925C-04ECA905DA6C}"/>
              </a:ext>
            </a:extLst>
          </p:cNvPr>
          <p:cNvGraphicFramePr>
            <a:graphicFrameLocks noGrp="1"/>
          </p:cNvGraphicFramePr>
          <p:nvPr>
            <p:extLst>
              <p:ext uri="{D42A27DB-BD31-4B8C-83A1-F6EECF244321}">
                <p14:modId xmlns:p14="http://schemas.microsoft.com/office/powerpoint/2010/main" val="2644376257"/>
              </p:ext>
            </p:extLst>
          </p:nvPr>
        </p:nvGraphicFramePr>
        <p:xfrm>
          <a:off x="990600" y="1590172"/>
          <a:ext cx="16474440" cy="8353928"/>
        </p:xfrm>
        <a:graphic>
          <a:graphicData uri="http://schemas.openxmlformats.org/drawingml/2006/table">
            <a:tbl>
              <a:tblPr/>
              <a:tblGrid>
                <a:gridCol w="2438400">
                  <a:extLst>
                    <a:ext uri="{9D8B030D-6E8A-4147-A177-3AD203B41FA5}">
                      <a16:colId xmlns:a16="http://schemas.microsoft.com/office/drawing/2014/main" val="3384008797"/>
                    </a:ext>
                  </a:extLst>
                </a:gridCol>
                <a:gridCol w="2590800">
                  <a:extLst>
                    <a:ext uri="{9D8B030D-6E8A-4147-A177-3AD203B41FA5}">
                      <a16:colId xmlns:a16="http://schemas.microsoft.com/office/drawing/2014/main" val="3082322797"/>
                    </a:ext>
                  </a:extLst>
                </a:gridCol>
                <a:gridCol w="2438400">
                  <a:extLst>
                    <a:ext uri="{9D8B030D-6E8A-4147-A177-3AD203B41FA5}">
                      <a16:colId xmlns:a16="http://schemas.microsoft.com/office/drawing/2014/main" val="3435016530"/>
                    </a:ext>
                  </a:extLst>
                </a:gridCol>
                <a:gridCol w="2667000">
                  <a:extLst>
                    <a:ext uri="{9D8B030D-6E8A-4147-A177-3AD203B41FA5}">
                      <a16:colId xmlns:a16="http://schemas.microsoft.com/office/drawing/2014/main" val="3630961536"/>
                    </a:ext>
                  </a:extLst>
                </a:gridCol>
                <a:gridCol w="2286000">
                  <a:extLst>
                    <a:ext uri="{9D8B030D-6E8A-4147-A177-3AD203B41FA5}">
                      <a16:colId xmlns:a16="http://schemas.microsoft.com/office/drawing/2014/main" val="3841089842"/>
                    </a:ext>
                  </a:extLst>
                </a:gridCol>
                <a:gridCol w="2362200">
                  <a:extLst>
                    <a:ext uri="{9D8B030D-6E8A-4147-A177-3AD203B41FA5}">
                      <a16:colId xmlns:a16="http://schemas.microsoft.com/office/drawing/2014/main" val="1597989983"/>
                    </a:ext>
                  </a:extLst>
                </a:gridCol>
                <a:gridCol w="1691640">
                  <a:extLst>
                    <a:ext uri="{9D8B030D-6E8A-4147-A177-3AD203B41FA5}">
                      <a16:colId xmlns:a16="http://schemas.microsoft.com/office/drawing/2014/main" val="1465714167"/>
                    </a:ext>
                  </a:extLst>
                </a:gridCol>
              </a:tblGrid>
              <a:tr h="573505">
                <a:tc>
                  <a:txBody>
                    <a:bodyPr/>
                    <a:lstStyle/>
                    <a:p>
                      <a:pPr algn="l"/>
                      <a:r>
                        <a:rPr lang="en-US" sz="1600" b="1">
                          <a:solidFill>
                            <a:schemeClr val="bg1"/>
                          </a:solidFill>
                          <a:effectLst/>
                          <a:latin typeface="Montserrat" panose="020B0604020202020204" charset="0"/>
                        </a:rPr>
                        <a:t>Trụ cột Vận hành</a:t>
                      </a:r>
                    </a:p>
                  </a:txBody>
                  <a:tcPr marL="27392" marR="27392" marT="12642" marB="12642" anchor="ctr">
                    <a:lnL w="6096" cap="flat" cmpd="sng" algn="ctr">
                      <a:solidFill>
                        <a:srgbClr val="D9D9DD"/>
                      </a:solidFill>
                      <a:prstDash val="solid"/>
                      <a:round/>
                      <a:headEnd type="none" w="med" len="med"/>
                      <a:tailEnd type="none" w="med" len="med"/>
                    </a:lnL>
                    <a:lnR w="6096" cap="flat" cmpd="sng" algn="ctr">
                      <a:solidFill>
                        <a:srgbClr val="D9D9DD"/>
                      </a:solidFill>
                      <a:prstDash val="solid"/>
                      <a:round/>
                      <a:headEnd type="none" w="med" len="med"/>
                      <a:tailEnd type="none" w="med" len="med"/>
                    </a:lnR>
                    <a:lnT w="6096" cap="flat" cmpd="sng" algn="ctr">
                      <a:solidFill>
                        <a:srgbClr val="D9D9DD"/>
                      </a:solidFill>
                      <a:prstDash val="solid"/>
                      <a:round/>
                      <a:headEnd type="none" w="med" len="med"/>
                      <a:tailEnd type="none" w="med" len="med"/>
                    </a:lnT>
                    <a:lnB w="6096" cap="flat" cmpd="sng" algn="ctr">
                      <a:solidFill>
                        <a:srgbClr val="D9D9DD"/>
                      </a:solidFill>
                      <a:prstDash val="solid"/>
                      <a:round/>
                      <a:headEnd type="none" w="med" len="med"/>
                      <a:tailEnd type="none" w="med" len="med"/>
                    </a:lnB>
                    <a:solidFill>
                      <a:srgbClr val="3A8A65"/>
                    </a:solidFill>
                  </a:tcPr>
                </a:tc>
                <a:tc>
                  <a:txBody>
                    <a:bodyPr/>
                    <a:lstStyle/>
                    <a:p>
                      <a:pPr algn="l"/>
                      <a:r>
                        <a:rPr lang="en-US" sz="1600" b="1">
                          <a:solidFill>
                            <a:schemeClr val="bg1"/>
                          </a:solidFill>
                          <a:effectLst/>
                          <a:latin typeface="Montserrat" panose="020B0604020202020204" charset="0"/>
                        </a:rPr>
                        <a:t>Level 1: Truyền thống </a:t>
                      </a:r>
                      <a:r>
                        <a:rPr lang="en-US" sz="1600" b="1" i="1">
                          <a:solidFill>
                            <a:schemeClr val="bg1"/>
                          </a:solidFill>
                          <a:effectLst/>
                          <a:latin typeface="Montserrat" panose="020B0604020202020204" charset="0"/>
                        </a:rPr>
                        <a:t>(Đóng băng)</a:t>
                      </a:r>
                      <a:endParaRPr lang="en-US" sz="1600" b="1">
                        <a:solidFill>
                          <a:schemeClr val="bg1"/>
                        </a:solidFill>
                        <a:effectLst/>
                        <a:latin typeface="Montserrat" panose="020B0604020202020204" charset="0"/>
                      </a:endParaRPr>
                    </a:p>
                  </a:txBody>
                  <a:tcPr marL="27392" marR="27392" marT="12642" marB="12642" anchor="ctr">
                    <a:lnL w="6096" cap="flat" cmpd="sng" algn="ctr">
                      <a:solidFill>
                        <a:srgbClr val="D9D9DD"/>
                      </a:solidFill>
                      <a:prstDash val="solid"/>
                      <a:round/>
                      <a:headEnd type="none" w="med" len="med"/>
                      <a:tailEnd type="none" w="med" len="med"/>
                    </a:lnL>
                    <a:lnR w="6096" cap="flat" cmpd="sng" algn="ctr">
                      <a:solidFill>
                        <a:srgbClr val="D9D9DD"/>
                      </a:solidFill>
                      <a:prstDash val="solid"/>
                      <a:round/>
                      <a:headEnd type="none" w="med" len="med"/>
                      <a:tailEnd type="none" w="med" len="med"/>
                    </a:lnR>
                    <a:lnT w="6096" cap="flat" cmpd="sng" algn="ctr">
                      <a:solidFill>
                        <a:srgbClr val="D9D9DD"/>
                      </a:solidFill>
                      <a:prstDash val="solid"/>
                      <a:round/>
                      <a:headEnd type="none" w="med" len="med"/>
                      <a:tailEnd type="none" w="med" len="med"/>
                    </a:lnT>
                    <a:lnB w="6096" cap="flat" cmpd="sng" algn="ctr">
                      <a:solidFill>
                        <a:srgbClr val="D9D9DD"/>
                      </a:solidFill>
                      <a:prstDash val="solid"/>
                      <a:round/>
                      <a:headEnd type="none" w="med" len="med"/>
                      <a:tailEnd type="none" w="med" len="med"/>
                    </a:lnB>
                    <a:solidFill>
                      <a:srgbClr val="3A8A65"/>
                    </a:solidFill>
                  </a:tcPr>
                </a:tc>
                <a:tc>
                  <a:txBody>
                    <a:bodyPr/>
                    <a:lstStyle/>
                    <a:p>
                      <a:pPr algn="l"/>
                      <a:r>
                        <a:rPr lang="en-US" sz="1600" b="1">
                          <a:solidFill>
                            <a:schemeClr val="bg1"/>
                          </a:solidFill>
                          <a:effectLst/>
                          <a:latin typeface="Montserrat" panose="020B0604020202020204" charset="0"/>
                        </a:rPr>
                        <a:t>Level 2: Khởi động </a:t>
                      </a:r>
                    </a:p>
                    <a:p>
                      <a:pPr algn="l"/>
                      <a:r>
                        <a:rPr lang="en-US" sz="1600" b="1" i="1">
                          <a:solidFill>
                            <a:schemeClr val="bg1"/>
                          </a:solidFill>
                          <a:effectLst/>
                          <a:latin typeface="Montserrat" panose="020B0604020202020204" charset="0"/>
                        </a:rPr>
                        <a:t>(Phản ứng)</a:t>
                      </a:r>
                      <a:endParaRPr lang="en-US" sz="1600" b="1">
                        <a:solidFill>
                          <a:schemeClr val="bg1"/>
                        </a:solidFill>
                        <a:effectLst/>
                        <a:latin typeface="Montserrat" panose="020B0604020202020204" charset="0"/>
                      </a:endParaRPr>
                    </a:p>
                  </a:txBody>
                  <a:tcPr marL="27392" marR="27392" marT="12642" marB="12642" anchor="ctr">
                    <a:lnL w="6096" cap="flat" cmpd="sng" algn="ctr">
                      <a:solidFill>
                        <a:srgbClr val="D9D9DD"/>
                      </a:solidFill>
                      <a:prstDash val="solid"/>
                      <a:round/>
                      <a:headEnd type="none" w="med" len="med"/>
                      <a:tailEnd type="none" w="med" len="med"/>
                    </a:lnL>
                    <a:lnR w="6096" cap="flat" cmpd="sng" algn="ctr">
                      <a:solidFill>
                        <a:srgbClr val="D9D9DD"/>
                      </a:solidFill>
                      <a:prstDash val="solid"/>
                      <a:round/>
                      <a:headEnd type="none" w="med" len="med"/>
                      <a:tailEnd type="none" w="med" len="med"/>
                    </a:lnR>
                    <a:lnT w="6096" cap="flat" cmpd="sng" algn="ctr">
                      <a:solidFill>
                        <a:srgbClr val="D9D9DD"/>
                      </a:solidFill>
                      <a:prstDash val="solid"/>
                      <a:round/>
                      <a:headEnd type="none" w="med" len="med"/>
                      <a:tailEnd type="none" w="med" len="med"/>
                    </a:lnT>
                    <a:lnB w="6096" cap="flat" cmpd="sng" algn="ctr">
                      <a:solidFill>
                        <a:srgbClr val="D9D9DD"/>
                      </a:solidFill>
                      <a:prstDash val="solid"/>
                      <a:round/>
                      <a:headEnd type="none" w="med" len="med"/>
                      <a:tailEnd type="none" w="med" len="med"/>
                    </a:lnB>
                    <a:solidFill>
                      <a:srgbClr val="3A8A65"/>
                    </a:solidFill>
                  </a:tcPr>
                </a:tc>
                <a:tc>
                  <a:txBody>
                    <a:bodyPr/>
                    <a:lstStyle/>
                    <a:p>
                      <a:pPr algn="l"/>
                      <a:r>
                        <a:rPr lang="en-US" sz="1600" b="1">
                          <a:solidFill>
                            <a:schemeClr val="bg1"/>
                          </a:solidFill>
                          <a:effectLst/>
                          <a:latin typeface="Montserrat" panose="020B0604020202020204" charset="0"/>
                        </a:rPr>
                        <a:t>Level 3: Chuyển tiếp </a:t>
                      </a:r>
                    </a:p>
                    <a:p>
                      <a:pPr algn="l"/>
                      <a:r>
                        <a:rPr lang="en-US" sz="1600" b="1" i="1">
                          <a:solidFill>
                            <a:schemeClr val="bg1"/>
                          </a:solidFill>
                          <a:effectLst/>
                          <a:latin typeface="Montserrat" panose="020B0604020202020204" charset="0"/>
                        </a:rPr>
                        <a:t>(Trợ lý)</a:t>
                      </a:r>
                      <a:endParaRPr lang="en-US" sz="1600" b="1">
                        <a:solidFill>
                          <a:schemeClr val="bg1"/>
                        </a:solidFill>
                        <a:effectLst/>
                        <a:latin typeface="Montserrat" panose="020B0604020202020204" charset="0"/>
                      </a:endParaRPr>
                    </a:p>
                  </a:txBody>
                  <a:tcPr marL="27392" marR="27392" marT="12642" marB="12642" anchor="ctr">
                    <a:lnL w="6096" cap="flat" cmpd="sng" algn="ctr">
                      <a:solidFill>
                        <a:srgbClr val="D9D9DD"/>
                      </a:solidFill>
                      <a:prstDash val="solid"/>
                      <a:round/>
                      <a:headEnd type="none" w="med" len="med"/>
                      <a:tailEnd type="none" w="med" len="med"/>
                    </a:lnL>
                    <a:lnR w="6096" cap="flat" cmpd="sng" algn="ctr">
                      <a:solidFill>
                        <a:srgbClr val="D9D9DD"/>
                      </a:solidFill>
                      <a:prstDash val="solid"/>
                      <a:round/>
                      <a:headEnd type="none" w="med" len="med"/>
                      <a:tailEnd type="none" w="med" len="med"/>
                    </a:lnR>
                    <a:lnT w="6096" cap="flat" cmpd="sng" algn="ctr">
                      <a:solidFill>
                        <a:srgbClr val="D9D9DD"/>
                      </a:solidFill>
                      <a:prstDash val="solid"/>
                      <a:round/>
                      <a:headEnd type="none" w="med" len="med"/>
                      <a:tailEnd type="none" w="med" len="med"/>
                    </a:lnT>
                    <a:lnB w="6096" cap="flat" cmpd="sng" algn="ctr">
                      <a:solidFill>
                        <a:srgbClr val="D9D9DD"/>
                      </a:solidFill>
                      <a:prstDash val="solid"/>
                      <a:round/>
                      <a:headEnd type="none" w="med" len="med"/>
                      <a:tailEnd type="none" w="med" len="med"/>
                    </a:lnB>
                    <a:solidFill>
                      <a:srgbClr val="3A8A65"/>
                    </a:solidFill>
                  </a:tcPr>
                </a:tc>
                <a:tc>
                  <a:txBody>
                    <a:bodyPr/>
                    <a:lstStyle/>
                    <a:p>
                      <a:pPr algn="l"/>
                      <a:r>
                        <a:rPr lang="en-US" sz="1600" b="1">
                          <a:solidFill>
                            <a:schemeClr val="bg1"/>
                          </a:solidFill>
                          <a:effectLst/>
                          <a:latin typeface="Montserrat" panose="020B0604020202020204" charset="0"/>
                        </a:rPr>
                        <a:t>Level 4: Tích hợp </a:t>
                      </a:r>
                      <a:r>
                        <a:rPr lang="en-US" sz="1600" b="1" i="1">
                          <a:solidFill>
                            <a:schemeClr val="bg1"/>
                          </a:solidFill>
                          <a:effectLst/>
                          <a:latin typeface="Montserrat" panose="020B0604020202020204" charset="0"/>
                        </a:rPr>
                        <a:t>(</a:t>
                      </a:r>
                    </a:p>
                    <a:p>
                      <a:pPr algn="l"/>
                      <a:r>
                        <a:rPr lang="en-US" sz="1600" b="1" i="1">
                          <a:solidFill>
                            <a:schemeClr val="bg1"/>
                          </a:solidFill>
                          <a:effectLst/>
                          <a:latin typeface="Montserrat" panose="020B0604020202020204" charset="0"/>
                        </a:rPr>
                        <a:t>Chủ động)</a:t>
                      </a:r>
                      <a:endParaRPr lang="en-US" sz="1600" b="1">
                        <a:solidFill>
                          <a:schemeClr val="bg1"/>
                        </a:solidFill>
                        <a:effectLst/>
                        <a:latin typeface="Montserrat" panose="020B0604020202020204" charset="0"/>
                      </a:endParaRPr>
                    </a:p>
                  </a:txBody>
                  <a:tcPr marL="27392" marR="27392" marT="12642" marB="12642" anchor="ctr">
                    <a:lnL w="6096" cap="flat" cmpd="sng" algn="ctr">
                      <a:solidFill>
                        <a:srgbClr val="D9D9DD"/>
                      </a:solidFill>
                      <a:prstDash val="solid"/>
                      <a:round/>
                      <a:headEnd type="none" w="med" len="med"/>
                      <a:tailEnd type="none" w="med" len="med"/>
                    </a:lnL>
                    <a:lnR w="6096" cap="flat" cmpd="sng" algn="ctr">
                      <a:solidFill>
                        <a:srgbClr val="D9D9DD"/>
                      </a:solidFill>
                      <a:prstDash val="solid"/>
                      <a:round/>
                      <a:headEnd type="none" w="med" len="med"/>
                      <a:tailEnd type="none" w="med" len="med"/>
                    </a:lnR>
                    <a:lnT w="6096" cap="flat" cmpd="sng" algn="ctr">
                      <a:solidFill>
                        <a:srgbClr val="D9D9DD"/>
                      </a:solidFill>
                      <a:prstDash val="solid"/>
                      <a:round/>
                      <a:headEnd type="none" w="med" len="med"/>
                      <a:tailEnd type="none" w="med" len="med"/>
                    </a:lnT>
                    <a:lnB w="6096" cap="flat" cmpd="sng" algn="ctr">
                      <a:solidFill>
                        <a:srgbClr val="D9D9DD"/>
                      </a:solidFill>
                      <a:prstDash val="solid"/>
                      <a:round/>
                      <a:headEnd type="none" w="med" len="med"/>
                      <a:tailEnd type="none" w="med" len="med"/>
                    </a:lnB>
                    <a:solidFill>
                      <a:srgbClr val="3A8A65"/>
                    </a:solidFill>
                  </a:tcPr>
                </a:tc>
                <a:tc>
                  <a:txBody>
                    <a:bodyPr/>
                    <a:lstStyle/>
                    <a:p>
                      <a:pPr algn="l"/>
                      <a:r>
                        <a:rPr lang="it-IT" sz="1600" b="1">
                          <a:solidFill>
                            <a:schemeClr val="bg1"/>
                          </a:solidFill>
                          <a:effectLst/>
                          <a:latin typeface="Montserrat" panose="020B0604020202020204" charset="0"/>
                        </a:rPr>
                        <a:t>Level 5: AI-Native </a:t>
                      </a:r>
                    </a:p>
                    <a:p>
                      <a:pPr algn="l"/>
                      <a:r>
                        <a:rPr lang="it-IT" sz="1600" b="1" i="1">
                          <a:solidFill>
                            <a:schemeClr val="bg1"/>
                          </a:solidFill>
                          <a:effectLst/>
                          <a:latin typeface="Montserrat" panose="020B0604020202020204" charset="0"/>
                        </a:rPr>
                        <a:t>(Tối ưu)</a:t>
                      </a:r>
                      <a:endParaRPr lang="it-IT" sz="1600" b="1">
                        <a:solidFill>
                          <a:schemeClr val="bg1"/>
                        </a:solidFill>
                        <a:effectLst/>
                        <a:latin typeface="Montserrat" panose="020B0604020202020204" charset="0"/>
                      </a:endParaRPr>
                    </a:p>
                  </a:txBody>
                  <a:tcPr marL="27392" marR="27392" marT="12642" marB="12642" anchor="ctr">
                    <a:lnL w="6096" cap="flat" cmpd="sng" algn="ctr">
                      <a:solidFill>
                        <a:srgbClr val="D9D9DD"/>
                      </a:solidFill>
                      <a:prstDash val="solid"/>
                      <a:round/>
                      <a:headEnd type="none" w="med" len="med"/>
                      <a:tailEnd type="none" w="med" len="med"/>
                    </a:lnL>
                    <a:lnR w="6096" cap="flat" cmpd="sng" algn="ctr">
                      <a:solidFill>
                        <a:srgbClr val="D9D9DD"/>
                      </a:solidFill>
                      <a:prstDash val="solid"/>
                      <a:round/>
                      <a:headEnd type="none" w="med" len="med"/>
                      <a:tailEnd type="none" w="med" len="med"/>
                    </a:lnR>
                    <a:lnT w="6096" cap="flat" cmpd="sng" algn="ctr">
                      <a:solidFill>
                        <a:srgbClr val="D9D9DD"/>
                      </a:solidFill>
                      <a:prstDash val="solid"/>
                      <a:round/>
                      <a:headEnd type="none" w="med" len="med"/>
                      <a:tailEnd type="none" w="med" len="med"/>
                    </a:lnT>
                    <a:lnB w="6096" cap="flat" cmpd="sng" algn="ctr">
                      <a:solidFill>
                        <a:srgbClr val="D9D9DD"/>
                      </a:solidFill>
                      <a:prstDash val="solid"/>
                      <a:round/>
                      <a:headEnd type="none" w="med" len="med"/>
                      <a:tailEnd type="none" w="med" len="med"/>
                    </a:lnB>
                    <a:solidFill>
                      <a:srgbClr val="3A8A65"/>
                    </a:solidFill>
                  </a:tcPr>
                </a:tc>
                <a:tc>
                  <a:txBody>
                    <a:bodyPr/>
                    <a:lstStyle/>
                    <a:p>
                      <a:pPr algn="l"/>
                      <a:r>
                        <a:rPr lang="it-IT" sz="1600" b="1">
                          <a:solidFill>
                            <a:schemeClr val="bg1"/>
                          </a:solidFill>
                          <a:effectLst/>
                          <a:latin typeface="Montserrat" panose="020B0604020202020204" charset="0"/>
                        </a:rPr>
                        <a:t>Điểm của bạn</a:t>
                      </a:r>
                    </a:p>
                  </a:txBody>
                  <a:tcPr marL="27392" marR="27392" marT="12642" marB="12642" anchor="ctr">
                    <a:lnL w="6096" cap="flat" cmpd="sng" algn="ctr">
                      <a:solidFill>
                        <a:srgbClr val="D9D9DD"/>
                      </a:solidFill>
                      <a:prstDash val="solid"/>
                      <a:round/>
                      <a:headEnd type="none" w="med" len="med"/>
                      <a:tailEnd type="none" w="med" len="med"/>
                    </a:lnL>
                    <a:lnR w="6096" cap="flat" cmpd="sng" algn="ctr">
                      <a:solidFill>
                        <a:srgbClr val="D9D9DD"/>
                      </a:solidFill>
                      <a:prstDash val="solid"/>
                      <a:round/>
                      <a:headEnd type="none" w="med" len="med"/>
                      <a:tailEnd type="none" w="med" len="med"/>
                    </a:lnR>
                    <a:lnT w="6096" cap="flat" cmpd="sng" algn="ctr">
                      <a:solidFill>
                        <a:srgbClr val="D9D9DD"/>
                      </a:solidFill>
                      <a:prstDash val="solid"/>
                      <a:round/>
                      <a:headEnd type="none" w="med" len="med"/>
                      <a:tailEnd type="none" w="med" len="med"/>
                    </a:lnT>
                    <a:lnB w="6096" cap="flat" cmpd="sng" algn="ctr">
                      <a:solidFill>
                        <a:srgbClr val="D9D9DD"/>
                      </a:solidFill>
                      <a:prstDash val="solid"/>
                      <a:round/>
                      <a:headEnd type="none" w="med" len="med"/>
                      <a:tailEnd type="none" w="med" len="med"/>
                    </a:lnB>
                    <a:solidFill>
                      <a:srgbClr val="3A8A65"/>
                    </a:solidFill>
                  </a:tcPr>
                </a:tc>
                <a:extLst>
                  <a:ext uri="{0D108BD9-81ED-4DB2-BD59-A6C34878D82A}">
                    <a16:rowId xmlns:a16="http://schemas.microsoft.com/office/drawing/2014/main" val="111048667"/>
                  </a:ext>
                </a:extLst>
              </a:tr>
              <a:tr h="1913023">
                <a:tc>
                  <a:txBody>
                    <a:bodyPr/>
                    <a:lstStyle/>
                    <a:p>
                      <a:r>
                        <a:rPr lang="en-US" sz="1600" b="1">
                          <a:effectLst/>
                          <a:latin typeface="Montserrat" panose="020B0604020202020204" charset="0"/>
                        </a:rPr>
                        <a:t>1. Thin Organization</a:t>
                      </a:r>
                      <a:br>
                        <a:rPr lang="en-US" sz="1600">
                          <a:effectLst/>
                          <a:latin typeface="Montserrat" panose="020B0604020202020204" charset="0"/>
                        </a:rPr>
                      </a:br>
                      <a:r>
                        <a:rPr lang="en-US" sz="1600" i="1">
                          <a:effectLst/>
                          <a:latin typeface="Montserrat" panose="020B0604020202020204" charset="0"/>
                        </a:rPr>
                        <a:t>(Tổ chức tinh gọn)</a:t>
                      </a:r>
                      <a:endParaRPr lang="en-US" sz="1600">
                        <a:effectLst/>
                        <a:latin typeface="Montserrat" panose="020B0604020202020204" charset="0"/>
                      </a:endParaRPr>
                    </a:p>
                  </a:txBody>
                  <a:tcPr marL="27392" marR="27392" marT="12642" marB="12642" anchor="ctr">
                    <a:lnL w="6096" cap="flat" cmpd="sng" algn="ctr">
                      <a:solidFill>
                        <a:srgbClr val="D9D9DD"/>
                      </a:solidFill>
                      <a:prstDash val="solid"/>
                      <a:round/>
                      <a:headEnd type="none" w="med" len="med"/>
                      <a:tailEnd type="none" w="med" len="med"/>
                    </a:lnL>
                    <a:lnR w="6096" cap="flat" cmpd="sng" algn="ctr">
                      <a:solidFill>
                        <a:srgbClr val="D9D9DD"/>
                      </a:solidFill>
                      <a:prstDash val="solid"/>
                      <a:round/>
                      <a:headEnd type="none" w="med" len="med"/>
                      <a:tailEnd type="none" w="med" len="med"/>
                    </a:lnR>
                    <a:lnT w="6096" cap="flat" cmpd="sng" algn="ctr">
                      <a:solidFill>
                        <a:srgbClr val="D9D9DD"/>
                      </a:solidFill>
                      <a:prstDash val="solid"/>
                      <a:round/>
                      <a:headEnd type="none" w="med" len="med"/>
                      <a:tailEnd type="none" w="med" len="med"/>
                    </a:lnT>
                    <a:lnB w="6096" cap="flat" cmpd="sng" algn="ctr">
                      <a:solidFill>
                        <a:srgbClr val="D9D9DD"/>
                      </a:solidFill>
                      <a:prstDash val="solid"/>
                      <a:round/>
                      <a:headEnd type="none" w="med" len="med"/>
                      <a:tailEnd type="none" w="med" len="med"/>
                    </a:lnB>
                    <a:solidFill>
                      <a:srgbClr val="FFFFFF"/>
                    </a:solidFill>
                  </a:tcPr>
                </a:tc>
                <a:tc>
                  <a:txBody>
                    <a:bodyPr/>
                    <a:lstStyle/>
                    <a:p>
                      <a:r>
                        <a:rPr lang="vi-VN" sz="1600" b="1">
                          <a:effectLst/>
                          <a:latin typeface="Montserrat" panose="020B0604020202020204" charset="0"/>
                        </a:rPr>
                        <a:t>Nặng nề:</a:t>
                      </a:r>
                      <a:r>
                        <a:rPr lang="vi-VN" sz="1600">
                          <a:effectLst/>
                          <a:latin typeface="Montserrat" panose="020B0604020202020204" charset="0"/>
                        </a:rPr>
                        <a:t> Nhiều tầng phê duyệt. Quản lý mất 80% thời gian làm "bưu tá" chuyển thông tin và ký duyệt giấy tờ.</a:t>
                      </a:r>
                    </a:p>
                  </a:txBody>
                  <a:tcPr marL="27392" marR="27392" marT="12642" marB="12642" anchor="ctr">
                    <a:lnL w="6096" cap="flat" cmpd="sng" algn="ctr">
                      <a:solidFill>
                        <a:srgbClr val="D9D9DD"/>
                      </a:solidFill>
                      <a:prstDash val="solid"/>
                      <a:round/>
                      <a:headEnd type="none" w="med" len="med"/>
                      <a:tailEnd type="none" w="med" len="med"/>
                    </a:lnL>
                    <a:lnR w="6096" cap="flat" cmpd="sng" algn="ctr">
                      <a:solidFill>
                        <a:srgbClr val="D9D9DD"/>
                      </a:solidFill>
                      <a:prstDash val="solid"/>
                      <a:round/>
                      <a:headEnd type="none" w="med" len="med"/>
                      <a:tailEnd type="none" w="med" len="med"/>
                    </a:lnR>
                    <a:lnT w="6096" cap="flat" cmpd="sng" algn="ctr">
                      <a:solidFill>
                        <a:srgbClr val="D9D9DD"/>
                      </a:solidFill>
                      <a:prstDash val="solid"/>
                      <a:round/>
                      <a:headEnd type="none" w="med" len="med"/>
                      <a:tailEnd type="none" w="med" len="med"/>
                    </a:lnT>
                    <a:lnB w="6096" cap="flat" cmpd="sng" algn="ctr">
                      <a:solidFill>
                        <a:srgbClr val="D9D9DD"/>
                      </a:solidFill>
                      <a:prstDash val="solid"/>
                      <a:round/>
                      <a:headEnd type="none" w="med" len="med"/>
                      <a:tailEnd type="none" w="med" len="med"/>
                    </a:lnB>
                    <a:solidFill>
                      <a:srgbClr val="FFFFFF"/>
                    </a:solidFill>
                  </a:tcPr>
                </a:tc>
                <a:tc>
                  <a:txBody>
                    <a:bodyPr/>
                    <a:lstStyle/>
                    <a:p>
                      <a:r>
                        <a:rPr lang="vi-VN" sz="1600" b="1">
                          <a:effectLst/>
                          <a:latin typeface="Montserrat" panose="020B0604020202020204" charset="0"/>
                        </a:rPr>
                        <a:t>Số hóa bề mặt:</a:t>
                      </a:r>
                      <a:r>
                        <a:rPr lang="vi-VN" sz="1600">
                          <a:effectLst/>
                          <a:latin typeface="Montserrat" panose="020B0604020202020204" charset="0"/>
                        </a:rPr>
                        <a:t> Đưa giấy tờ lên phần mềm, nhưng vẫn giữ nguyên số lượng cấp duyệt. Quản lý vẫn kẹt trong sự vụ.</a:t>
                      </a:r>
                    </a:p>
                  </a:txBody>
                  <a:tcPr marL="27392" marR="27392" marT="12642" marB="12642" anchor="ctr">
                    <a:lnL w="6096" cap="flat" cmpd="sng" algn="ctr">
                      <a:solidFill>
                        <a:srgbClr val="D9D9DD"/>
                      </a:solidFill>
                      <a:prstDash val="solid"/>
                      <a:round/>
                      <a:headEnd type="none" w="med" len="med"/>
                      <a:tailEnd type="none" w="med" len="med"/>
                    </a:lnL>
                    <a:lnR w="6096" cap="flat" cmpd="sng" algn="ctr">
                      <a:solidFill>
                        <a:srgbClr val="D9D9DD"/>
                      </a:solidFill>
                      <a:prstDash val="solid"/>
                      <a:round/>
                      <a:headEnd type="none" w="med" len="med"/>
                      <a:tailEnd type="none" w="med" len="med"/>
                    </a:lnR>
                    <a:lnT w="6096" cap="flat" cmpd="sng" algn="ctr">
                      <a:solidFill>
                        <a:srgbClr val="D9D9DD"/>
                      </a:solidFill>
                      <a:prstDash val="solid"/>
                      <a:round/>
                      <a:headEnd type="none" w="med" len="med"/>
                      <a:tailEnd type="none" w="med" len="med"/>
                    </a:lnT>
                    <a:lnB w="6096" cap="flat" cmpd="sng" algn="ctr">
                      <a:solidFill>
                        <a:srgbClr val="D9D9DD"/>
                      </a:solidFill>
                      <a:prstDash val="solid"/>
                      <a:round/>
                      <a:headEnd type="none" w="med" len="med"/>
                      <a:tailEnd type="none" w="med" len="med"/>
                    </a:lnB>
                    <a:solidFill>
                      <a:srgbClr val="FFFFFF"/>
                    </a:solidFill>
                  </a:tcPr>
                </a:tc>
                <a:tc>
                  <a:txBody>
                    <a:bodyPr/>
                    <a:lstStyle/>
                    <a:p>
                      <a:r>
                        <a:rPr lang="vi-VN" sz="1600" b="1">
                          <a:effectLst/>
                          <a:latin typeface="Montserrat" panose="020B0604020202020204" charset="0"/>
                        </a:rPr>
                        <a:t>Bắt đầu ủy quyền:</a:t>
                      </a:r>
                      <a:r>
                        <a:rPr lang="vi-VN" sz="1600">
                          <a:effectLst/>
                          <a:latin typeface="Montserrat" panose="020B0604020202020204" charset="0"/>
                        </a:rPr>
                        <a:t> Giảm bớt các bước duyệt trung gian. Quản lý bắt đầu có thời gian tập trung vào đào tạo và xử lý ca khó.</a:t>
                      </a:r>
                    </a:p>
                  </a:txBody>
                  <a:tcPr marL="27392" marR="27392" marT="12642" marB="12642" anchor="ctr">
                    <a:lnL w="6096" cap="flat" cmpd="sng" algn="ctr">
                      <a:solidFill>
                        <a:srgbClr val="D9D9DD"/>
                      </a:solidFill>
                      <a:prstDash val="solid"/>
                      <a:round/>
                      <a:headEnd type="none" w="med" len="med"/>
                      <a:tailEnd type="none" w="med" len="med"/>
                    </a:lnL>
                    <a:lnR w="6096" cap="flat" cmpd="sng" algn="ctr">
                      <a:solidFill>
                        <a:srgbClr val="D9D9DD"/>
                      </a:solidFill>
                      <a:prstDash val="solid"/>
                      <a:round/>
                      <a:headEnd type="none" w="med" len="med"/>
                      <a:tailEnd type="none" w="med" len="med"/>
                    </a:lnR>
                    <a:lnT w="6096" cap="flat" cmpd="sng" algn="ctr">
                      <a:solidFill>
                        <a:srgbClr val="D9D9DD"/>
                      </a:solidFill>
                      <a:prstDash val="solid"/>
                      <a:round/>
                      <a:headEnd type="none" w="med" len="med"/>
                      <a:tailEnd type="none" w="med" len="med"/>
                    </a:lnT>
                    <a:lnB w="6096" cap="flat" cmpd="sng" algn="ctr">
                      <a:solidFill>
                        <a:srgbClr val="D9D9DD"/>
                      </a:solidFill>
                      <a:prstDash val="solid"/>
                      <a:round/>
                      <a:headEnd type="none" w="med" len="med"/>
                      <a:tailEnd type="none" w="med" len="med"/>
                    </a:lnB>
                    <a:solidFill>
                      <a:srgbClr val="FFFFFF"/>
                    </a:solidFill>
                  </a:tcPr>
                </a:tc>
                <a:tc>
                  <a:txBody>
                    <a:bodyPr/>
                    <a:lstStyle/>
                    <a:p>
                      <a:r>
                        <a:rPr lang="vi-VN" sz="1600" b="1">
                          <a:effectLst/>
                          <a:latin typeface="Montserrat" panose="020B0604020202020204" charset="0"/>
                        </a:rPr>
                        <a:t>Cơ cấu phẳng:</a:t>
                      </a:r>
                      <a:r>
                        <a:rPr lang="vi-VN" sz="1600">
                          <a:effectLst/>
                          <a:latin typeface="Montserrat" panose="020B0604020202020204" charset="0"/>
                        </a:rPr>
                        <a:t> Nhân viên tự quyết định dựa trên data/AI gợi ý. Quản lý chỉ can thiệp và phê duyệt các ngoại lệ (Exception).</a:t>
                      </a:r>
                    </a:p>
                  </a:txBody>
                  <a:tcPr marL="27392" marR="27392" marT="12642" marB="12642" anchor="ctr">
                    <a:lnL w="6096" cap="flat" cmpd="sng" algn="ctr">
                      <a:solidFill>
                        <a:srgbClr val="D9D9DD"/>
                      </a:solidFill>
                      <a:prstDash val="solid"/>
                      <a:round/>
                      <a:headEnd type="none" w="med" len="med"/>
                      <a:tailEnd type="none" w="med" len="med"/>
                    </a:lnL>
                    <a:lnR w="6096" cap="flat" cmpd="sng" algn="ctr">
                      <a:solidFill>
                        <a:srgbClr val="D9D9DD"/>
                      </a:solidFill>
                      <a:prstDash val="solid"/>
                      <a:round/>
                      <a:headEnd type="none" w="med" len="med"/>
                      <a:tailEnd type="none" w="med" len="med"/>
                    </a:lnR>
                    <a:lnT w="6096" cap="flat" cmpd="sng" algn="ctr">
                      <a:solidFill>
                        <a:srgbClr val="D9D9DD"/>
                      </a:solidFill>
                      <a:prstDash val="solid"/>
                      <a:round/>
                      <a:headEnd type="none" w="med" len="med"/>
                      <a:tailEnd type="none" w="med" len="med"/>
                    </a:lnT>
                    <a:lnB w="6096" cap="flat" cmpd="sng" algn="ctr">
                      <a:solidFill>
                        <a:srgbClr val="D9D9DD"/>
                      </a:solidFill>
                      <a:prstDash val="solid"/>
                      <a:round/>
                      <a:headEnd type="none" w="med" len="med"/>
                      <a:tailEnd type="none" w="med" len="med"/>
                    </a:lnB>
                    <a:solidFill>
                      <a:srgbClr val="FFFFFF"/>
                    </a:solidFill>
                  </a:tcPr>
                </a:tc>
                <a:tc>
                  <a:txBody>
                    <a:bodyPr/>
                    <a:lstStyle/>
                    <a:p>
                      <a:r>
                        <a:rPr lang="vi-VN" sz="1600" b="1">
                          <a:effectLst/>
                          <a:latin typeface="Montserrat" panose="020B0604020202020204" charset="0"/>
                        </a:rPr>
                        <a:t>Siêu tinh gọn:</a:t>
                      </a:r>
                      <a:r>
                        <a:rPr lang="vi-VN" sz="1600">
                          <a:effectLst/>
                          <a:latin typeface="Montserrat" panose="020B0604020202020204" charset="0"/>
                        </a:rPr>
                        <a:t> AI tự động duyệt các tác vụ chuẩn. Quản lý hoàn toàn tập trung vào chiến lược và kiến tạo giá trị mới.</a:t>
                      </a:r>
                    </a:p>
                  </a:txBody>
                  <a:tcPr marL="27392" marR="27392" marT="12642" marB="12642" anchor="ctr">
                    <a:lnL w="6096" cap="flat" cmpd="sng" algn="ctr">
                      <a:solidFill>
                        <a:srgbClr val="D9D9DD"/>
                      </a:solidFill>
                      <a:prstDash val="solid"/>
                      <a:round/>
                      <a:headEnd type="none" w="med" len="med"/>
                      <a:tailEnd type="none" w="med" len="med"/>
                    </a:lnL>
                    <a:lnR w="6096" cap="flat" cmpd="sng" algn="ctr">
                      <a:solidFill>
                        <a:srgbClr val="D9D9DD"/>
                      </a:solidFill>
                      <a:prstDash val="solid"/>
                      <a:round/>
                      <a:headEnd type="none" w="med" len="med"/>
                      <a:tailEnd type="none" w="med" len="med"/>
                    </a:lnR>
                    <a:lnT w="6096" cap="flat" cmpd="sng" algn="ctr">
                      <a:solidFill>
                        <a:srgbClr val="D9D9DD"/>
                      </a:solidFill>
                      <a:prstDash val="solid"/>
                      <a:round/>
                      <a:headEnd type="none" w="med" len="med"/>
                      <a:tailEnd type="none" w="med" len="med"/>
                    </a:lnT>
                    <a:lnB w="6096" cap="flat" cmpd="sng" algn="ctr">
                      <a:solidFill>
                        <a:srgbClr val="D9D9DD"/>
                      </a:solidFill>
                      <a:prstDash val="solid"/>
                      <a:round/>
                      <a:headEnd type="none" w="med" len="med"/>
                      <a:tailEnd type="none" w="med" len="med"/>
                    </a:lnB>
                    <a:solidFill>
                      <a:srgbClr val="FFFFFF"/>
                    </a:solidFill>
                  </a:tcPr>
                </a:tc>
                <a:tc>
                  <a:txBody>
                    <a:bodyPr/>
                    <a:lstStyle/>
                    <a:p>
                      <a:r>
                        <a:rPr lang="en-US" sz="1600">
                          <a:effectLst/>
                          <a:latin typeface="Montserrat" panose="020B0604020202020204" charset="0"/>
                        </a:rPr>
                        <a:t>……/5</a:t>
                      </a:r>
                      <a:endParaRPr lang="vi-VN" sz="1600">
                        <a:effectLst/>
                        <a:latin typeface="Montserrat" panose="020B0604020202020204" charset="0"/>
                      </a:endParaRPr>
                    </a:p>
                  </a:txBody>
                  <a:tcPr marL="27392" marR="27392" marT="12642" marB="12642" anchor="ctr">
                    <a:lnL w="6096" cap="flat" cmpd="sng" algn="ctr">
                      <a:solidFill>
                        <a:srgbClr val="D9D9DD"/>
                      </a:solidFill>
                      <a:prstDash val="solid"/>
                      <a:round/>
                      <a:headEnd type="none" w="med" len="med"/>
                      <a:tailEnd type="none" w="med" len="med"/>
                    </a:lnL>
                    <a:lnR w="6096" cap="flat" cmpd="sng" algn="ctr">
                      <a:solidFill>
                        <a:srgbClr val="D9D9DD"/>
                      </a:solidFill>
                      <a:prstDash val="solid"/>
                      <a:round/>
                      <a:headEnd type="none" w="med" len="med"/>
                      <a:tailEnd type="none" w="med" len="med"/>
                    </a:lnR>
                    <a:lnT w="6096" cap="flat" cmpd="sng" algn="ctr">
                      <a:solidFill>
                        <a:srgbClr val="D9D9DD"/>
                      </a:solidFill>
                      <a:prstDash val="solid"/>
                      <a:round/>
                      <a:headEnd type="none" w="med" len="med"/>
                      <a:tailEnd type="none" w="med" len="med"/>
                    </a:lnT>
                    <a:lnB w="6096" cap="flat" cmpd="sng" algn="ctr">
                      <a:solidFill>
                        <a:srgbClr val="D9D9DD"/>
                      </a:solidFill>
                      <a:prstDash val="solid"/>
                      <a:round/>
                      <a:headEnd type="none" w="med" len="med"/>
                      <a:tailEnd type="none" w="med" len="med"/>
                    </a:lnB>
                    <a:solidFill>
                      <a:srgbClr val="FFFFFF"/>
                    </a:solidFill>
                  </a:tcPr>
                </a:tc>
                <a:extLst>
                  <a:ext uri="{0D108BD9-81ED-4DB2-BD59-A6C34878D82A}">
                    <a16:rowId xmlns:a16="http://schemas.microsoft.com/office/drawing/2014/main" val="3373869623"/>
                  </a:ext>
                </a:extLst>
              </a:tr>
              <a:tr h="1632284">
                <a:tc>
                  <a:txBody>
                    <a:bodyPr/>
                    <a:lstStyle/>
                    <a:p>
                      <a:r>
                        <a:rPr lang="en-US" sz="1600" b="1">
                          <a:effectLst/>
                          <a:latin typeface="Montserrat" panose="020B0604020202020204" charset="0"/>
                        </a:rPr>
                        <a:t>2. Real-time Alignment</a:t>
                      </a:r>
                      <a:br>
                        <a:rPr lang="en-US" sz="1600">
                          <a:effectLst/>
                          <a:latin typeface="Montserrat" panose="020B0604020202020204" charset="0"/>
                        </a:rPr>
                      </a:br>
                      <a:r>
                        <a:rPr lang="en-US" sz="1600" i="1">
                          <a:effectLst/>
                          <a:latin typeface="Montserrat" panose="020B0604020202020204" charset="0"/>
                        </a:rPr>
                        <a:t>(Đồng bộ thời gian thực)</a:t>
                      </a:r>
                      <a:endParaRPr lang="en-US" sz="1600">
                        <a:effectLst/>
                        <a:latin typeface="Montserrat" panose="020B0604020202020204" charset="0"/>
                      </a:endParaRPr>
                    </a:p>
                  </a:txBody>
                  <a:tcPr marL="27392" marR="27392" marT="12642" marB="12642" anchor="ctr">
                    <a:lnL w="6096" cap="flat" cmpd="sng" algn="ctr">
                      <a:solidFill>
                        <a:srgbClr val="D9D9DD"/>
                      </a:solidFill>
                      <a:prstDash val="solid"/>
                      <a:round/>
                      <a:headEnd type="none" w="med" len="med"/>
                      <a:tailEnd type="none" w="med" len="med"/>
                    </a:lnL>
                    <a:lnR w="6096" cap="flat" cmpd="sng" algn="ctr">
                      <a:solidFill>
                        <a:srgbClr val="D9D9DD"/>
                      </a:solidFill>
                      <a:prstDash val="solid"/>
                      <a:round/>
                      <a:headEnd type="none" w="med" len="med"/>
                      <a:tailEnd type="none" w="med" len="med"/>
                    </a:lnR>
                    <a:lnT w="6096" cap="flat" cmpd="sng" algn="ctr">
                      <a:solidFill>
                        <a:srgbClr val="D9D9DD"/>
                      </a:solidFill>
                      <a:prstDash val="solid"/>
                      <a:round/>
                      <a:headEnd type="none" w="med" len="med"/>
                      <a:tailEnd type="none" w="med" len="med"/>
                    </a:lnT>
                    <a:lnB w="6096" cap="flat" cmpd="sng" algn="ctr">
                      <a:solidFill>
                        <a:srgbClr val="D9D9DD"/>
                      </a:solidFill>
                      <a:prstDash val="solid"/>
                      <a:round/>
                      <a:headEnd type="none" w="med" len="med"/>
                      <a:tailEnd type="none" w="med" len="med"/>
                    </a:lnB>
                    <a:solidFill>
                      <a:srgbClr val="FFFFFF"/>
                    </a:solidFill>
                  </a:tcPr>
                </a:tc>
                <a:tc>
                  <a:txBody>
                    <a:bodyPr/>
                    <a:lstStyle/>
                    <a:p>
                      <a:r>
                        <a:rPr lang="en-US" sz="1600" b="1">
                          <a:effectLst/>
                          <a:latin typeface="Montserrat" panose="020B0604020202020204" charset="0"/>
                        </a:rPr>
                        <a:t>Silo (Cục bộ):</a:t>
                      </a:r>
                      <a:r>
                        <a:rPr lang="en-US" sz="1600">
                          <a:effectLst/>
                          <a:latin typeface="Montserrat" panose="020B0604020202020204" charset="0"/>
                        </a:rPr>
                        <a:t> Các phòng ban làm việc biệt lập. Phải chờ họp giao ban hoặc báo cáo cuối tháng mới biết vấn đề.</a:t>
                      </a:r>
                    </a:p>
                  </a:txBody>
                  <a:tcPr marL="27392" marR="27392" marT="12642" marB="12642" anchor="ctr">
                    <a:lnL w="6096" cap="flat" cmpd="sng" algn="ctr">
                      <a:solidFill>
                        <a:srgbClr val="D9D9DD"/>
                      </a:solidFill>
                      <a:prstDash val="solid"/>
                      <a:round/>
                      <a:headEnd type="none" w="med" len="med"/>
                      <a:tailEnd type="none" w="med" len="med"/>
                    </a:lnL>
                    <a:lnR w="6096" cap="flat" cmpd="sng" algn="ctr">
                      <a:solidFill>
                        <a:srgbClr val="D9D9DD"/>
                      </a:solidFill>
                      <a:prstDash val="solid"/>
                      <a:round/>
                      <a:headEnd type="none" w="med" len="med"/>
                      <a:tailEnd type="none" w="med" len="med"/>
                    </a:lnR>
                    <a:lnT w="6096" cap="flat" cmpd="sng" algn="ctr">
                      <a:solidFill>
                        <a:srgbClr val="D9D9DD"/>
                      </a:solidFill>
                      <a:prstDash val="solid"/>
                      <a:round/>
                      <a:headEnd type="none" w="med" len="med"/>
                      <a:tailEnd type="none" w="med" len="med"/>
                    </a:lnT>
                    <a:lnB w="6096" cap="flat" cmpd="sng" algn="ctr">
                      <a:solidFill>
                        <a:srgbClr val="D9D9DD"/>
                      </a:solidFill>
                      <a:prstDash val="solid"/>
                      <a:round/>
                      <a:headEnd type="none" w="med" len="med"/>
                      <a:tailEnd type="none" w="med" len="med"/>
                    </a:lnB>
                    <a:solidFill>
                      <a:srgbClr val="FFFFFF"/>
                    </a:solidFill>
                  </a:tcPr>
                </a:tc>
                <a:tc>
                  <a:txBody>
                    <a:bodyPr/>
                    <a:lstStyle/>
                    <a:p>
                      <a:r>
                        <a:rPr lang="vi-VN" sz="1600" b="1">
                          <a:effectLst/>
                          <a:latin typeface="Montserrat" panose="020B0604020202020204" charset="0"/>
                        </a:rPr>
                        <a:t>Rời rạc:</a:t>
                      </a:r>
                      <a:r>
                        <a:rPr lang="vi-VN" sz="1600">
                          <a:effectLst/>
                          <a:latin typeface="Montserrat" panose="020B0604020202020204" charset="0"/>
                        </a:rPr>
                        <a:t> Cập nhật qua Zalo/Email nhưng thông tin dễ trôi, đứt gãy. Dữ liệu mỗi phòng ban tự làm một kiểu.</a:t>
                      </a:r>
                    </a:p>
                  </a:txBody>
                  <a:tcPr marL="27392" marR="27392" marT="12642" marB="12642" anchor="ctr">
                    <a:lnL w="6096" cap="flat" cmpd="sng" algn="ctr">
                      <a:solidFill>
                        <a:srgbClr val="D9D9DD"/>
                      </a:solidFill>
                      <a:prstDash val="solid"/>
                      <a:round/>
                      <a:headEnd type="none" w="med" len="med"/>
                      <a:tailEnd type="none" w="med" len="med"/>
                    </a:lnL>
                    <a:lnR w="6096" cap="flat" cmpd="sng" algn="ctr">
                      <a:solidFill>
                        <a:srgbClr val="D9D9DD"/>
                      </a:solidFill>
                      <a:prstDash val="solid"/>
                      <a:round/>
                      <a:headEnd type="none" w="med" len="med"/>
                      <a:tailEnd type="none" w="med" len="med"/>
                    </a:lnR>
                    <a:lnT w="6096" cap="flat" cmpd="sng" algn="ctr">
                      <a:solidFill>
                        <a:srgbClr val="D9D9DD"/>
                      </a:solidFill>
                      <a:prstDash val="solid"/>
                      <a:round/>
                      <a:headEnd type="none" w="med" len="med"/>
                      <a:tailEnd type="none" w="med" len="med"/>
                    </a:lnT>
                    <a:lnB w="6096" cap="flat" cmpd="sng" algn="ctr">
                      <a:solidFill>
                        <a:srgbClr val="D9D9DD"/>
                      </a:solidFill>
                      <a:prstDash val="solid"/>
                      <a:round/>
                      <a:headEnd type="none" w="med" len="med"/>
                      <a:tailEnd type="none" w="med" len="med"/>
                    </a:lnB>
                    <a:solidFill>
                      <a:srgbClr val="FFFFFF"/>
                    </a:solidFill>
                  </a:tcPr>
                </a:tc>
                <a:tc>
                  <a:txBody>
                    <a:bodyPr/>
                    <a:lstStyle/>
                    <a:p>
                      <a:r>
                        <a:rPr lang="vi-VN" sz="1600" b="1">
                          <a:effectLst/>
                          <a:latin typeface="Montserrat" panose="020B0604020202020204" charset="0"/>
                        </a:rPr>
                        <a:t>Dashboard có độ trễ:</a:t>
                      </a:r>
                      <a:r>
                        <a:rPr lang="vi-VN" sz="1600">
                          <a:effectLst/>
                          <a:latin typeface="Montserrat" panose="020B0604020202020204" charset="0"/>
                        </a:rPr>
                        <a:t> Có hệ thống báo cáo chung nhưng dữ liệu delay 1-2 ngày. Vẫn cần người tổng hợp thủ công.</a:t>
                      </a:r>
                    </a:p>
                  </a:txBody>
                  <a:tcPr marL="27392" marR="27392" marT="12642" marB="12642" anchor="ctr">
                    <a:lnL w="6096" cap="flat" cmpd="sng" algn="ctr">
                      <a:solidFill>
                        <a:srgbClr val="D9D9DD"/>
                      </a:solidFill>
                      <a:prstDash val="solid"/>
                      <a:round/>
                      <a:headEnd type="none" w="med" len="med"/>
                      <a:tailEnd type="none" w="med" len="med"/>
                    </a:lnL>
                    <a:lnR w="6096" cap="flat" cmpd="sng" algn="ctr">
                      <a:solidFill>
                        <a:srgbClr val="D9D9DD"/>
                      </a:solidFill>
                      <a:prstDash val="solid"/>
                      <a:round/>
                      <a:headEnd type="none" w="med" len="med"/>
                      <a:tailEnd type="none" w="med" len="med"/>
                    </a:lnR>
                    <a:lnT w="6096" cap="flat" cmpd="sng" algn="ctr">
                      <a:solidFill>
                        <a:srgbClr val="D9D9DD"/>
                      </a:solidFill>
                      <a:prstDash val="solid"/>
                      <a:round/>
                      <a:headEnd type="none" w="med" len="med"/>
                      <a:tailEnd type="none" w="med" len="med"/>
                    </a:lnT>
                    <a:lnB w="6096" cap="flat" cmpd="sng" algn="ctr">
                      <a:solidFill>
                        <a:srgbClr val="D9D9DD"/>
                      </a:solidFill>
                      <a:prstDash val="solid"/>
                      <a:round/>
                      <a:headEnd type="none" w="med" len="med"/>
                      <a:tailEnd type="none" w="med" len="med"/>
                    </a:lnB>
                    <a:solidFill>
                      <a:srgbClr val="FFFFFF"/>
                    </a:solidFill>
                  </a:tcPr>
                </a:tc>
                <a:tc>
                  <a:txBody>
                    <a:bodyPr/>
                    <a:lstStyle/>
                    <a:p>
                      <a:r>
                        <a:rPr lang="vi-VN" sz="1600" b="1">
                          <a:effectLst/>
                          <a:latin typeface="Montserrat" panose="020B0604020202020204" charset="0"/>
                        </a:rPr>
                        <a:t>Liên thông:</a:t>
                      </a:r>
                      <a:r>
                        <a:rPr lang="vi-VN" sz="1600">
                          <a:effectLst/>
                          <a:latin typeface="Montserrat" panose="020B0604020202020204" charset="0"/>
                        </a:rPr>
                        <a:t> Mọi người nhìn chung một "sự thật" Xử lý sự cố liên phòng ban tính bằng giờ.</a:t>
                      </a:r>
                    </a:p>
                  </a:txBody>
                  <a:tcPr marL="27392" marR="27392" marT="12642" marB="12642" anchor="ctr">
                    <a:lnL w="6096" cap="flat" cmpd="sng" algn="ctr">
                      <a:solidFill>
                        <a:srgbClr val="D9D9DD"/>
                      </a:solidFill>
                      <a:prstDash val="solid"/>
                      <a:round/>
                      <a:headEnd type="none" w="med" len="med"/>
                      <a:tailEnd type="none" w="med" len="med"/>
                    </a:lnL>
                    <a:lnR w="6096" cap="flat" cmpd="sng" algn="ctr">
                      <a:solidFill>
                        <a:srgbClr val="D9D9DD"/>
                      </a:solidFill>
                      <a:prstDash val="solid"/>
                      <a:round/>
                      <a:headEnd type="none" w="med" len="med"/>
                      <a:tailEnd type="none" w="med" len="med"/>
                    </a:lnR>
                    <a:lnT w="6096" cap="flat" cmpd="sng" algn="ctr">
                      <a:solidFill>
                        <a:srgbClr val="D9D9DD"/>
                      </a:solidFill>
                      <a:prstDash val="solid"/>
                      <a:round/>
                      <a:headEnd type="none" w="med" len="med"/>
                      <a:tailEnd type="none" w="med" len="med"/>
                    </a:lnT>
                    <a:lnB w="6096" cap="flat" cmpd="sng" algn="ctr">
                      <a:solidFill>
                        <a:srgbClr val="D9D9DD"/>
                      </a:solidFill>
                      <a:prstDash val="solid"/>
                      <a:round/>
                      <a:headEnd type="none" w="med" len="med"/>
                      <a:tailEnd type="none" w="med" len="med"/>
                    </a:lnB>
                    <a:solidFill>
                      <a:srgbClr val="FFFFFF"/>
                    </a:solidFill>
                  </a:tcPr>
                </a:tc>
                <a:tc>
                  <a:txBody>
                    <a:bodyPr/>
                    <a:lstStyle/>
                    <a:p>
                      <a:r>
                        <a:rPr lang="vi-VN" sz="1600" b="1">
                          <a:effectLst/>
                          <a:latin typeface="Montserrat" panose="020B0604020202020204" charset="0"/>
                        </a:rPr>
                        <a:t>Dự báo tức thì:</a:t>
                      </a:r>
                      <a:r>
                        <a:rPr lang="vi-VN" sz="1600">
                          <a:effectLst/>
                          <a:latin typeface="Montserrat" panose="020B0604020202020204" charset="0"/>
                        </a:rPr>
                        <a:t> Dữ liệu realtime 100%. AI tự động cảnh báo rủi ro chéo phòng ban </a:t>
                      </a:r>
                      <a:r>
                        <a:rPr lang="vi-VN" sz="1600" i="1">
                          <a:effectLst/>
                          <a:latin typeface="Montserrat" panose="020B0604020202020204" charset="0"/>
                        </a:rPr>
                        <a:t>trước khi</a:t>
                      </a:r>
                      <a:r>
                        <a:rPr lang="vi-VN" sz="1600">
                          <a:effectLst/>
                          <a:latin typeface="Montserrat" panose="020B0604020202020204" charset="0"/>
                        </a:rPr>
                        <a:t> nó xảy ra.</a:t>
                      </a:r>
                    </a:p>
                  </a:txBody>
                  <a:tcPr marL="27392" marR="27392" marT="12642" marB="12642" anchor="ctr">
                    <a:lnL w="6096" cap="flat" cmpd="sng" algn="ctr">
                      <a:solidFill>
                        <a:srgbClr val="D9D9DD"/>
                      </a:solidFill>
                      <a:prstDash val="solid"/>
                      <a:round/>
                      <a:headEnd type="none" w="med" len="med"/>
                      <a:tailEnd type="none" w="med" len="med"/>
                    </a:lnL>
                    <a:lnR w="6096" cap="flat" cmpd="sng" algn="ctr">
                      <a:solidFill>
                        <a:srgbClr val="D9D9DD"/>
                      </a:solidFill>
                      <a:prstDash val="solid"/>
                      <a:round/>
                      <a:headEnd type="none" w="med" len="med"/>
                      <a:tailEnd type="none" w="med" len="med"/>
                    </a:lnR>
                    <a:lnT w="6096" cap="flat" cmpd="sng" algn="ctr">
                      <a:solidFill>
                        <a:srgbClr val="D9D9DD"/>
                      </a:solidFill>
                      <a:prstDash val="solid"/>
                      <a:round/>
                      <a:headEnd type="none" w="med" len="med"/>
                      <a:tailEnd type="none" w="med" len="med"/>
                    </a:lnT>
                    <a:lnB w="6096" cap="flat" cmpd="sng" algn="ctr">
                      <a:solidFill>
                        <a:srgbClr val="D9D9DD"/>
                      </a:solidFill>
                      <a:prstDash val="solid"/>
                      <a:round/>
                      <a:headEnd type="none" w="med" len="med"/>
                      <a:tailEnd type="none" w="med" len="med"/>
                    </a:lnB>
                    <a:solidFill>
                      <a:srgbClr val="FFFFFF"/>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prstClr val="black"/>
                          </a:solidFill>
                          <a:effectLst/>
                          <a:uLnTx/>
                          <a:uFillTx/>
                          <a:latin typeface="Montserrat" panose="020B0604020202020204" charset="0"/>
                          <a:ea typeface="+mn-ea"/>
                          <a:cs typeface="+mn-cs"/>
                        </a:rPr>
                        <a:t>……/5</a:t>
                      </a:r>
                      <a:endParaRPr kumimoji="0" lang="vi-VN" sz="1600" b="0" i="0" u="none" strike="noStrike" kern="1200" cap="none" spc="0" normalizeH="0" baseline="0" noProof="0">
                        <a:ln>
                          <a:noFill/>
                        </a:ln>
                        <a:solidFill>
                          <a:prstClr val="black"/>
                        </a:solidFill>
                        <a:effectLst/>
                        <a:uLnTx/>
                        <a:uFillTx/>
                        <a:latin typeface="Montserrat" panose="020B0604020202020204" charset="0"/>
                        <a:ea typeface="+mn-ea"/>
                        <a:cs typeface="+mn-cs"/>
                      </a:endParaRPr>
                    </a:p>
                  </a:txBody>
                  <a:tcPr marL="27392" marR="27392" marT="12642" marB="12642" anchor="ctr">
                    <a:lnL w="6096" cap="flat" cmpd="sng" algn="ctr">
                      <a:solidFill>
                        <a:srgbClr val="D9D9DD"/>
                      </a:solidFill>
                      <a:prstDash val="solid"/>
                      <a:round/>
                      <a:headEnd type="none" w="med" len="med"/>
                      <a:tailEnd type="none" w="med" len="med"/>
                    </a:lnL>
                    <a:lnR w="6096" cap="flat" cmpd="sng" algn="ctr">
                      <a:solidFill>
                        <a:srgbClr val="D9D9DD"/>
                      </a:solidFill>
                      <a:prstDash val="solid"/>
                      <a:round/>
                      <a:headEnd type="none" w="med" len="med"/>
                      <a:tailEnd type="none" w="med" len="med"/>
                    </a:lnR>
                    <a:lnT w="6096" cap="flat" cmpd="sng" algn="ctr">
                      <a:solidFill>
                        <a:srgbClr val="D9D9DD"/>
                      </a:solidFill>
                      <a:prstDash val="solid"/>
                      <a:round/>
                      <a:headEnd type="none" w="med" len="med"/>
                      <a:tailEnd type="none" w="med" len="med"/>
                    </a:lnT>
                    <a:lnB w="6096" cap="flat" cmpd="sng" algn="ctr">
                      <a:solidFill>
                        <a:srgbClr val="D9D9DD"/>
                      </a:solidFill>
                      <a:prstDash val="solid"/>
                      <a:round/>
                      <a:headEnd type="none" w="med" len="med"/>
                      <a:tailEnd type="none" w="med" len="med"/>
                    </a:lnB>
                    <a:solidFill>
                      <a:srgbClr val="FFFFFF"/>
                    </a:solidFill>
                  </a:tcPr>
                </a:tc>
                <a:extLst>
                  <a:ext uri="{0D108BD9-81ED-4DB2-BD59-A6C34878D82A}">
                    <a16:rowId xmlns:a16="http://schemas.microsoft.com/office/drawing/2014/main" val="3646822566"/>
                  </a:ext>
                </a:extLst>
              </a:tr>
              <a:tr h="1764632">
                <a:tc>
                  <a:txBody>
                    <a:bodyPr/>
                    <a:lstStyle/>
                    <a:p>
                      <a:r>
                        <a:rPr lang="vi-VN" sz="1600" b="1">
                          <a:effectLst/>
                          <a:latin typeface="Montserrat" panose="020B0604020202020204" charset="0"/>
                        </a:rPr>
                        <a:t>3. Context over SOP</a:t>
                      </a:r>
                      <a:br>
                        <a:rPr lang="vi-VN" sz="1600">
                          <a:effectLst/>
                          <a:latin typeface="Montserrat" panose="020B0604020202020204" charset="0"/>
                        </a:rPr>
                      </a:br>
                      <a:r>
                        <a:rPr lang="vi-VN" sz="1600" i="1">
                          <a:effectLst/>
                          <a:latin typeface="Montserrat" panose="020B0604020202020204" charset="0"/>
                        </a:rPr>
                        <a:t>(Ưu tiên Ngữ cảnh)</a:t>
                      </a:r>
                      <a:endParaRPr lang="vi-VN" sz="1600">
                        <a:effectLst/>
                        <a:latin typeface="Montserrat" panose="020B0604020202020204" charset="0"/>
                      </a:endParaRPr>
                    </a:p>
                  </a:txBody>
                  <a:tcPr marL="27392" marR="27392" marT="12642" marB="12642" anchor="ctr">
                    <a:lnL w="6096" cap="flat" cmpd="sng" algn="ctr">
                      <a:solidFill>
                        <a:srgbClr val="D9D9DD"/>
                      </a:solidFill>
                      <a:prstDash val="solid"/>
                      <a:round/>
                      <a:headEnd type="none" w="med" len="med"/>
                      <a:tailEnd type="none" w="med" len="med"/>
                    </a:lnL>
                    <a:lnR w="6096" cap="flat" cmpd="sng" algn="ctr">
                      <a:solidFill>
                        <a:srgbClr val="D9D9DD"/>
                      </a:solidFill>
                      <a:prstDash val="solid"/>
                      <a:round/>
                      <a:headEnd type="none" w="med" len="med"/>
                      <a:tailEnd type="none" w="med" len="med"/>
                    </a:lnR>
                    <a:lnT w="6096" cap="flat" cmpd="sng" algn="ctr">
                      <a:solidFill>
                        <a:srgbClr val="D9D9DD"/>
                      </a:solidFill>
                      <a:prstDash val="solid"/>
                      <a:round/>
                      <a:headEnd type="none" w="med" len="med"/>
                      <a:tailEnd type="none" w="med" len="med"/>
                    </a:lnT>
                    <a:lnB w="6096" cap="flat" cmpd="sng" algn="ctr">
                      <a:solidFill>
                        <a:srgbClr val="D9D9DD"/>
                      </a:solidFill>
                      <a:prstDash val="solid"/>
                      <a:round/>
                      <a:headEnd type="none" w="med" len="med"/>
                      <a:tailEnd type="none" w="med" len="med"/>
                    </a:lnB>
                    <a:solidFill>
                      <a:srgbClr val="FFFFFF"/>
                    </a:solidFill>
                  </a:tcPr>
                </a:tc>
                <a:tc>
                  <a:txBody>
                    <a:bodyPr/>
                    <a:lstStyle/>
                    <a:p>
                      <a:r>
                        <a:rPr lang="vi-VN" sz="1600" b="1">
                          <a:effectLst/>
                          <a:latin typeface="Montserrat" panose="020B0604020202020204" charset="0"/>
                        </a:rPr>
                        <a:t>Cứng nhắc:</a:t>
                      </a:r>
                      <a:r>
                        <a:rPr lang="vi-VN" sz="1600">
                          <a:effectLst/>
                          <a:latin typeface="Montserrat" panose="020B0604020202020204" charset="0"/>
                        </a:rPr>
                        <a:t> Làm việc </a:t>
                      </a:r>
                      <a:r>
                        <a:rPr lang="en-US" sz="1600">
                          <a:effectLst/>
                          <a:latin typeface="Montserrat" panose="020B0604020202020204" charset="0"/>
                        </a:rPr>
                        <a:t>theo quy trình</a:t>
                      </a:r>
                      <a:r>
                        <a:rPr lang="vi-VN" sz="1600">
                          <a:effectLst/>
                          <a:latin typeface="Montserrat" panose="020B0604020202020204" charset="0"/>
                        </a:rPr>
                        <a:t>. "Cứ đúng quy trình mà làm, sai đâu sếp chịu". Không linh hoạt với khách hàng.</a:t>
                      </a:r>
                    </a:p>
                  </a:txBody>
                  <a:tcPr marL="27392" marR="27392" marT="12642" marB="12642" anchor="ctr">
                    <a:lnL w="6096" cap="flat" cmpd="sng" algn="ctr">
                      <a:solidFill>
                        <a:srgbClr val="D9D9DD"/>
                      </a:solidFill>
                      <a:prstDash val="solid"/>
                      <a:round/>
                      <a:headEnd type="none" w="med" len="med"/>
                      <a:tailEnd type="none" w="med" len="med"/>
                    </a:lnL>
                    <a:lnR w="6096" cap="flat" cmpd="sng" algn="ctr">
                      <a:solidFill>
                        <a:srgbClr val="D9D9DD"/>
                      </a:solidFill>
                      <a:prstDash val="solid"/>
                      <a:round/>
                      <a:headEnd type="none" w="med" len="med"/>
                      <a:tailEnd type="none" w="med" len="med"/>
                    </a:lnR>
                    <a:lnT w="6096" cap="flat" cmpd="sng" algn="ctr">
                      <a:solidFill>
                        <a:srgbClr val="D9D9DD"/>
                      </a:solidFill>
                      <a:prstDash val="solid"/>
                      <a:round/>
                      <a:headEnd type="none" w="med" len="med"/>
                      <a:tailEnd type="none" w="med" len="med"/>
                    </a:lnT>
                    <a:lnB w="6096" cap="flat" cmpd="sng" algn="ctr">
                      <a:solidFill>
                        <a:srgbClr val="D9D9DD"/>
                      </a:solidFill>
                      <a:prstDash val="solid"/>
                      <a:round/>
                      <a:headEnd type="none" w="med" len="med"/>
                      <a:tailEnd type="none" w="med" len="med"/>
                    </a:lnB>
                    <a:solidFill>
                      <a:srgbClr val="FFFFFF"/>
                    </a:solidFill>
                  </a:tcPr>
                </a:tc>
                <a:tc>
                  <a:txBody>
                    <a:bodyPr/>
                    <a:lstStyle/>
                    <a:p>
                      <a:r>
                        <a:rPr lang="vi-VN" sz="1600" b="1">
                          <a:effectLst/>
                          <a:latin typeface="Montserrat" panose="020B0604020202020204" charset="0"/>
                        </a:rPr>
                        <a:t>Lúng túng:</a:t>
                      </a:r>
                      <a:r>
                        <a:rPr lang="vi-VN" sz="1600">
                          <a:effectLst/>
                          <a:latin typeface="Montserrat" panose="020B0604020202020204" charset="0"/>
                        </a:rPr>
                        <a:t> Có quy trình nhưng bắt đầu thấy bất cập. Nhân viên liên tục phải gọi điện hỏi sếp khi gặp tình huống mới.</a:t>
                      </a:r>
                    </a:p>
                  </a:txBody>
                  <a:tcPr marL="27392" marR="27392" marT="12642" marB="12642" anchor="ctr">
                    <a:lnL w="6096" cap="flat" cmpd="sng" algn="ctr">
                      <a:solidFill>
                        <a:srgbClr val="D9D9DD"/>
                      </a:solidFill>
                      <a:prstDash val="solid"/>
                      <a:round/>
                      <a:headEnd type="none" w="med" len="med"/>
                      <a:tailEnd type="none" w="med" len="med"/>
                    </a:lnL>
                    <a:lnR w="6096" cap="flat" cmpd="sng" algn="ctr">
                      <a:solidFill>
                        <a:srgbClr val="D9D9DD"/>
                      </a:solidFill>
                      <a:prstDash val="solid"/>
                      <a:round/>
                      <a:headEnd type="none" w="med" len="med"/>
                      <a:tailEnd type="none" w="med" len="med"/>
                    </a:lnR>
                    <a:lnT w="6096" cap="flat" cmpd="sng" algn="ctr">
                      <a:solidFill>
                        <a:srgbClr val="D9D9DD"/>
                      </a:solidFill>
                      <a:prstDash val="solid"/>
                      <a:round/>
                      <a:headEnd type="none" w="med" len="med"/>
                      <a:tailEnd type="none" w="med" len="med"/>
                    </a:lnT>
                    <a:lnB w="6096" cap="flat" cmpd="sng" algn="ctr">
                      <a:solidFill>
                        <a:srgbClr val="D9D9DD"/>
                      </a:solidFill>
                      <a:prstDash val="solid"/>
                      <a:round/>
                      <a:headEnd type="none" w="med" len="med"/>
                      <a:tailEnd type="none" w="med" len="med"/>
                    </a:lnB>
                    <a:solidFill>
                      <a:srgbClr val="FFFFFF"/>
                    </a:solidFill>
                  </a:tcPr>
                </a:tc>
                <a:tc>
                  <a:txBody>
                    <a:bodyPr/>
                    <a:lstStyle/>
                    <a:p>
                      <a:r>
                        <a:rPr lang="vi-VN" sz="1600" b="1">
                          <a:effectLst/>
                          <a:latin typeface="Montserrat" panose="020B0604020202020204" charset="0"/>
                        </a:rPr>
                        <a:t>Linh hoạt có điều kiện:</a:t>
                      </a:r>
                      <a:r>
                        <a:rPr lang="vi-VN" sz="1600">
                          <a:effectLst/>
                          <a:latin typeface="Montserrat" panose="020B0604020202020204" charset="0"/>
                        </a:rPr>
                        <a:t> Nhân viên được phép linh hoạt trong một số giới hạn, nhưng vẫn phụ thuộc nhiều vào chỉ đạo của cấp trên.</a:t>
                      </a:r>
                    </a:p>
                  </a:txBody>
                  <a:tcPr marL="27392" marR="27392" marT="12642" marB="12642" anchor="ctr">
                    <a:lnL w="6096" cap="flat" cmpd="sng" algn="ctr">
                      <a:solidFill>
                        <a:srgbClr val="D9D9DD"/>
                      </a:solidFill>
                      <a:prstDash val="solid"/>
                      <a:round/>
                      <a:headEnd type="none" w="med" len="med"/>
                      <a:tailEnd type="none" w="med" len="med"/>
                    </a:lnL>
                    <a:lnR w="6096" cap="flat" cmpd="sng" algn="ctr">
                      <a:solidFill>
                        <a:srgbClr val="D9D9DD"/>
                      </a:solidFill>
                      <a:prstDash val="solid"/>
                      <a:round/>
                      <a:headEnd type="none" w="med" len="med"/>
                      <a:tailEnd type="none" w="med" len="med"/>
                    </a:lnR>
                    <a:lnT w="6096" cap="flat" cmpd="sng" algn="ctr">
                      <a:solidFill>
                        <a:srgbClr val="D9D9DD"/>
                      </a:solidFill>
                      <a:prstDash val="solid"/>
                      <a:round/>
                      <a:headEnd type="none" w="med" len="med"/>
                      <a:tailEnd type="none" w="med" len="med"/>
                    </a:lnT>
                    <a:lnB w="6096" cap="flat" cmpd="sng" algn="ctr">
                      <a:solidFill>
                        <a:srgbClr val="D9D9DD"/>
                      </a:solidFill>
                      <a:prstDash val="solid"/>
                      <a:round/>
                      <a:headEnd type="none" w="med" len="med"/>
                      <a:tailEnd type="none" w="med" len="med"/>
                    </a:lnB>
                    <a:solidFill>
                      <a:srgbClr val="FFFFFF"/>
                    </a:solidFill>
                  </a:tcPr>
                </a:tc>
                <a:tc>
                  <a:txBody>
                    <a:bodyPr/>
                    <a:lstStyle/>
                    <a:p>
                      <a:r>
                        <a:rPr lang="en-US" sz="1600" b="1">
                          <a:effectLst/>
                          <a:latin typeface="Montserrat" panose="020B0604020202020204" charset="0"/>
                        </a:rPr>
                        <a:t>Quản trị bằng Ranh giới:</a:t>
                      </a:r>
                      <a:r>
                        <a:rPr lang="en-US" sz="1600">
                          <a:effectLst/>
                          <a:latin typeface="Montserrat" panose="020B0604020202020204" charset="0"/>
                        </a:rPr>
                        <a:t> Nhân viên hiểu rõ "Bối cảnh &amp; Mục tiêu". Tự chủ động giải quyết vấn đề mà không cần đợi lệnh sếp.</a:t>
                      </a:r>
                    </a:p>
                  </a:txBody>
                  <a:tcPr marL="27392" marR="27392" marT="12642" marB="12642" anchor="ctr">
                    <a:lnL w="6096" cap="flat" cmpd="sng" algn="ctr">
                      <a:solidFill>
                        <a:srgbClr val="D9D9DD"/>
                      </a:solidFill>
                      <a:prstDash val="solid"/>
                      <a:round/>
                      <a:headEnd type="none" w="med" len="med"/>
                      <a:tailEnd type="none" w="med" len="med"/>
                    </a:lnL>
                    <a:lnR w="6096" cap="flat" cmpd="sng" algn="ctr">
                      <a:solidFill>
                        <a:srgbClr val="D9D9DD"/>
                      </a:solidFill>
                      <a:prstDash val="solid"/>
                      <a:round/>
                      <a:headEnd type="none" w="med" len="med"/>
                      <a:tailEnd type="none" w="med" len="med"/>
                    </a:lnR>
                    <a:lnT w="6096" cap="flat" cmpd="sng" algn="ctr">
                      <a:solidFill>
                        <a:srgbClr val="D9D9DD"/>
                      </a:solidFill>
                      <a:prstDash val="solid"/>
                      <a:round/>
                      <a:headEnd type="none" w="med" len="med"/>
                      <a:tailEnd type="none" w="med" len="med"/>
                    </a:lnT>
                    <a:lnB w="6096" cap="flat" cmpd="sng" algn="ctr">
                      <a:solidFill>
                        <a:srgbClr val="D9D9DD"/>
                      </a:solidFill>
                      <a:prstDash val="solid"/>
                      <a:round/>
                      <a:headEnd type="none" w="med" len="med"/>
                      <a:tailEnd type="none" w="med" len="med"/>
                    </a:lnB>
                    <a:solidFill>
                      <a:srgbClr val="FFFFFF"/>
                    </a:solidFill>
                  </a:tcPr>
                </a:tc>
                <a:tc>
                  <a:txBody>
                    <a:bodyPr/>
                    <a:lstStyle/>
                    <a:p>
                      <a:r>
                        <a:rPr lang="en-US" sz="1600" b="1">
                          <a:effectLst/>
                          <a:latin typeface="Montserrat" panose="020B0604020202020204" charset="0"/>
                        </a:rPr>
                        <a:t>Trao quyền tuyệt đối:</a:t>
                      </a:r>
                      <a:r>
                        <a:rPr lang="en-US" sz="1600">
                          <a:effectLst/>
                          <a:latin typeface="Montserrat" panose="020B0604020202020204" charset="0"/>
                        </a:rPr>
                        <a:t> AI cung cấp bối cảnh toàn diện cho nhân viên ra quyết định xuất sắc ngay tại điểm chạm khách hàng.</a:t>
                      </a:r>
                    </a:p>
                  </a:txBody>
                  <a:tcPr marL="27392" marR="27392" marT="12642" marB="12642" anchor="ctr">
                    <a:lnL w="6096" cap="flat" cmpd="sng" algn="ctr">
                      <a:solidFill>
                        <a:srgbClr val="D9D9DD"/>
                      </a:solidFill>
                      <a:prstDash val="solid"/>
                      <a:round/>
                      <a:headEnd type="none" w="med" len="med"/>
                      <a:tailEnd type="none" w="med" len="med"/>
                    </a:lnL>
                    <a:lnR w="6096" cap="flat" cmpd="sng" algn="ctr">
                      <a:solidFill>
                        <a:srgbClr val="D9D9DD"/>
                      </a:solidFill>
                      <a:prstDash val="solid"/>
                      <a:round/>
                      <a:headEnd type="none" w="med" len="med"/>
                      <a:tailEnd type="none" w="med" len="med"/>
                    </a:lnR>
                    <a:lnT w="6096" cap="flat" cmpd="sng" algn="ctr">
                      <a:solidFill>
                        <a:srgbClr val="D9D9DD"/>
                      </a:solidFill>
                      <a:prstDash val="solid"/>
                      <a:round/>
                      <a:headEnd type="none" w="med" len="med"/>
                      <a:tailEnd type="none" w="med" len="med"/>
                    </a:lnT>
                    <a:lnB w="6096" cap="flat" cmpd="sng" algn="ctr">
                      <a:solidFill>
                        <a:srgbClr val="D9D9DD"/>
                      </a:solidFill>
                      <a:prstDash val="solid"/>
                      <a:round/>
                      <a:headEnd type="none" w="med" len="med"/>
                      <a:tailEnd type="none" w="med" len="med"/>
                    </a:lnB>
                    <a:solidFill>
                      <a:srgbClr val="FFFFFF"/>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prstClr val="black"/>
                          </a:solidFill>
                          <a:effectLst/>
                          <a:uLnTx/>
                          <a:uFillTx/>
                          <a:latin typeface="Montserrat" panose="020B0604020202020204" charset="0"/>
                          <a:ea typeface="+mn-ea"/>
                          <a:cs typeface="+mn-cs"/>
                        </a:rPr>
                        <a:t>……/5</a:t>
                      </a:r>
                      <a:endParaRPr kumimoji="0" lang="vi-VN" sz="1600" b="0" i="0" u="none" strike="noStrike" kern="1200" cap="none" spc="0" normalizeH="0" baseline="0" noProof="0">
                        <a:ln>
                          <a:noFill/>
                        </a:ln>
                        <a:solidFill>
                          <a:prstClr val="black"/>
                        </a:solidFill>
                        <a:effectLst/>
                        <a:uLnTx/>
                        <a:uFillTx/>
                        <a:latin typeface="Montserrat" panose="020B0604020202020204" charset="0"/>
                        <a:ea typeface="+mn-ea"/>
                        <a:cs typeface="+mn-cs"/>
                      </a:endParaRPr>
                    </a:p>
                  </a:txBody>
                  <a:tcPr marL="27392" marR="27392" marT="12642" marB="12642" anchor="ctr">
                    <a:lnL w="6096" cap="flat" cmpd="sng" algn="ctr">
                      <a:solidFill>
                        <a:srgbClr val="D9D9DD"/>
                      </a:solidFill>
                      <a:prstDash val="solid"/>
                      <a:round/>
                      <a:headEnd type="none" w="med" len="med"/>
                      <a:tailEnd type="none" w="med" len="med"/>
                    </a:lnL>
                    <a:lnR w="6096" cap="flat" cmpd="sng" algn="ctr">
                      <a:solidFill>
                        <a:srgbClr val="D9D9DD"/>
                      </a:solidFill>
                      <a:prstDash val="solid"/>
                      <a:round/>
                      <a:headEnd type="none" w="med" len="med"/>
                      <a:tailEnd type="none" w="med" len="med"/>
                    </a:lnR>
                    <a:lnT w="6096" cap="flat" cmpd="sng" algn="ctr">
                      <a:solidFill>
                        <a:srgbClr val="D9D9DD"/>
                      </a:solidFill>
                      <a:prstDash val="solid"/>
                      <a:round/>
                      <a:headEnd type="none" w="med" len="med"/>
                      <a:tailEnd type="none" w="med" len="med"/>
                    </a:lnT>
                    <a:lnB w="6096" cap="flat" cmpd="sng" algn="ctr">
                      <a:solidFill>
                        <a:srgbClr val="D9D9DD"/>
                      </a:solidFill>
                      <a:prstDash val="solid"/>
                      <a:round/>
                      <a:headEnd type="none" w="med" len="med"/>
                      <a:tailEnd type="none" w="med" len="med"/>
                    </a:lnB>
                    <a:solidFill>
                      <a:srgbClr val="FFFFFF"/>
                    </a:solidFill>
                  </a:tcPr>
                </a:tc>
                <a:extLst>
                  <a:ext uri="{0D108BD9-81ED-4DB2-BD59-A6C34878D82A}">
                    <a16:rowId xmlns:a16="http://schemas.microsoft.com/office/drawing/2014/main" val="3430151122"/>
                  </a:ext>
                </a:extLst>
              </a:tr>
              <a:tr h="1896979">
                <a:tc>
                  <a:txBody>
                    <a:bodyPr/>
                    <a:lstStyle/>
                    <a:p>
                      <a:r>
                        <a:rPr lang="en-US" sz="1600" b="1">
                          <a:effectLst/>
                          <a:latin typeface="Montserrat" panose="020B0604020202020204" charset="0"/>
                        </a:rPr>
                        <a:t>4. Agent-First Workflow</a:t>
                      </a:r>
                      <a:br>
                        <a:rPr lang="en-US" sz="1600">
                          <a:effectLst/>
                          <a:latin typeface="Montserrat" panose="020B0604020202020204" charset="0"/>
                        </a:rPr>
                      </a:br>
                      <a:r>
                        <a:rPr lang="en-US" sz="1600" i="1">
                          <a:effectLst/>
                          <a:latin typeface="Montserrat" panose="020B0604020202020204" charset="0"/>
                        </a:rPr>
                        <a:t>(AI hiện diện mặc định)</a:t>
                      </a:r>
                      <a:endParaRPr lang="en-US" sz="1600">
                        <a:effectLst/>
                        <a:latin typeface="Montserrat" panose="020B0604020202020204" charset="0"/>
                      </a:endParaRPr>
                    </a:p>
                  </a:txBody>
                  <a:tcPr marL="27392" marR="27392" marT="12642" marB="12642" anchor="ctr">
                    <a:lnL w="6096" cap="flat" cmpd="sng" algn="ctr">
                      <a:solidFill>
                        <a:srgbClr val="D9D9DD"/>
                      </a:solidFill>
                      <a:prstDash val="solid"/>
                      <a:round/>
                      <a:headEnd type="none" w="med" len="med"/>
                      <a:tailEnd type="none" w="med" len="med"/>
                    </a:lnL>
                    <a:lnR w="6096" cap="flat" cmpd="sng" algn="ctr">
                      <a:solidFill>
                        <a:srgbClr val="D9D9DD"/>
                      </a:solidFill>
                      <a:prstDash val="solid"/>
                      <a:round/>
                      <a:headEnd type="none" w="med" len="med"/>
                      <a:tailEnd type="none" w="med" len="med"/>
                    </a:lnR>
                    <a:lnT w="6096" cap="flat" cmpd="sng" algn="ctr">
                      <a:solidFill>
                        <a:srgbClr val="D9D9DD"/>
                      </a:solidFill>
                      <a:prstDash val="solid"/>
                      <a:round/>
                      <a:headEnd type="none" w="med" len="med"/>
                      <a:tailEnd type="none" w="med" len="med"/>
                    </a:lnT>
                    <a:lnB w="6096" cap="flat" cmpd="sng" algn="ctr">
                      <a:solidFill>
                        <a:srgbClr val="D9D9DD"/>
                      </a:solidFill>
                      <a:prstDash val="solid"/>
                      <a:round/>
                      <a:headEnd type="none" w="med" len="med"/>
                      <a:tailEnd type="none" w="med" len="med"/>
                    </a:lnB>
                    <a:solidFill>
                      <a:srgbClr val="FFFFFF"/>
                    </a:solidFill>
                  </a:tcPr>
                </a:tc>
                <a:tc>
                  <a:txBody>
                    <a:bodyPr/>
                    <a:lstStyle/>
                    <a:p>
                      <a:r>
                        <a:rPr lang="en-US" sz="1600" b="1">
                          <a:effectLst/>
                          <a:latin typeface="Montserrat" panose="020B0604020202020204" charset="0"/>
                        </a:rPr>
                        <a:t>Trang giấy trắng:</a:t>
                      </a:r>
                      <a:r>
                        <a:rPr lang="en-US" sz="1600">
                          <a:effectLst/>
                          <a:latin typeface="Montserrat" panose="020B0604020202020204" charset="0"/>
                        </a:rPr>
                        <a:t> Không dùng AI. Mọi công việc đều bắt đầu làm thủ công từ con số 0.</a:t>
                      </a:r>
                    </a:p>
                  </a:txBody>
                  <a:tcPr marL="27392" marR="27392" marT="12642" marB="12642" anchor="ctr">
                    <a:lnL w="6096" cap="flat" cmpd="sng" algn="ctr">
                      <a:solidFill>
                        <a:srgbClr val="D9D9DD"/>
                      </a:solidFill>
                      <a:prstDash val="solid"/>
                      <a:round/>
                      <a:headEnd type="none" w="med" len="med"/>
                      <a:tailEnd type="none" w="med" len="med"/>
                    </a:lnL>
                    <a:lnR w="6096" cap="flat" cmpd="sng" algn="ctr">
                      <a:solidFill>
                        <a:srgbClr val="D9D9DD"/>
                      </a:solidFill>
                      <a:prstDash val="solid"/>
                      <a:round/>
                      <a:headEnd type="none" w="med" len="med"/>
                      <a:tailEnd type="none" w="med" len="med"/>
                    </a:lnR>
                    <a:lnT w="6096" cap="flat" cmpd="sng" algn="ctr">
                      <a:solidFill>
                        <a:srgbClr val="D9D9DD"/>
                      </a:solidFill>
                      <a:prstDash val="solid"/>
                      <a:round/>
                      <a:headEnd type="none" w="med" len="med"/>
                      <a:tailEnd type="none" w="med" len="med"/>
                    </a:lnT>
                    <a:lnB w="6096" cap="flat" cmpd="sng" algn="ctr">
                      <a:solidFill>
                        <a:srgbClr val="D9D9DD"/>
                      </a:solidFill>
                      <a:prstDash val="solid"/>
                      <a:round/>
                      <a:headEnd type="none" w="med" len="med"/>
                      <a:tailEnd type="none" w="med" len="med"/>
                    </a:lnB>
                    <a:solidFill>
                      <a:srgbClr val="FFFFFF"/>
                    </a:solidFill>
                  </a:tcPr>
                </a:tc>
                <a:tc>
                  <a:txBody>
                    <a:bodyPr/>
                    <a:lstStyle/>
                    <a:p>
                      <a:r>
                        <a:rPr lang="vi-VN" sz="1600" b="1">
                          <a:effectLst/>
                          <a:latin typeface="Montserrat" panose="020B0604020202020204" charset="0"/>
                        </a:rPr>
                        <a:t>Tự phát:</a:t>
                      </a:r>
                      <a:r>
                        <a:rPr lang="vi-VN" sz="1600">
                          <a:effectLst/>
                          <a:latin typeface="Montserrat" panose="020B0604020202020204" charset="0"/>
                        </a:rPr>
                        <a:t> Vài cá nhân nhạy bén tự dùng ChatGPT/Claude để làm việc nhanh hơn, không có tính hệ thống.</a:t>
                      </a:r>
                    </a:p>
                  </a:txBody>
                  <a:tcPr marL="27392" marR="27392" marT="12642" marB="12642" anchor="ctr">
                    <a:lnL w="6096" cap="flat" cmpd="sng" algn="ctr">
                      <a:solidFill>
                        <a:srgbClr val="D9D9DD"/>
                      </a:solidFill>
                      <a:prstDash val="solid"/>
                      <a:round/>
                      <a:headEnd type="none" w="med" len="med"/>
                      <a:tailEnd type="none" w="med" len="med"/>
                    </a:lnL>
                    <a:lnR w="6096" cap="flat" cmpd="sng" algn="ctr">
                      <a:solidFill>
                        <a:srgbClr val="D9D9DD"/>
                      </a:solidFill>
                      <a:prstDash val="solid"/>
                      <a:round/>
                      <a:headEnd type="none" w="med" len="med"/>
                      <a:tailEnd type="none" w="med" len="med"/>
                    </a:lnR>
                    <a:lnT w="6096" cap="flat" cmpd="sng" algn="ctr">
                      <a:solidFill>
                        <a:srgbClr val="D9D9DD"/>
                      </a:solidFill>
                      <a:prstDash val="solid"/>
                      <a:round/>
                      <a:headEnd type="none" w="med" len="med"/>
                      <a:tailEnd type="none" w="med" len="med"/>
                    </a:lnT>
                    <a:lnB w="6096" cap="flat" cmpd="sng" algn="ctr">
                      <a:solidFill>
                        <a:srgbClr val="D9D9DD"/>
                      </a:solidFill>
                      <a:prstDash val="solid"/>
                      <a:round/>
                      <a:headEnd type="none" w="med" len="med"/>
                      <a:tailEnd type="none" w="med" len="med"/>
                    </a:lnB>
                    <a:solidFill>
                      <a:srgbClr val="FFFFFF"/>
                    </a:solidFill>
                  </a:tcPr>
                </a:tc>
                <a:tc>
                  <a:txBody>
                    <a:bodyPr/>
                    <a:lstStyle/>
                    <a:p>
                      <a:r>
                        <a:rPr lang="vi-VN" sz="1600" b="1">
                          <a:effectLst/>
                          <a:latin typeface="Montserrat" panose="020B0604020202020204" charset="0"/>
                        </a:rPr>
                        <a:t>AI là Trợ lý:</a:t>
                      </a:r>
                      <a:r>
                        <a:rPr lang="vi-VN" sz="1600">
                          <a:effectLst/>
                          <a:latin typeface="Montserrat" panose="020B0604020202020204" charset="0"/>
                        </a:rPr>
                        <a:t> Công ty cấp tài khoản. Dùng AI để viết nháp, tóm tắt, dịch thuật. Phụ thuộc vào kỹ năng prompt của từng người.</a:t>
                      </a:r>
                    </a:p>
                  </a:txBody>
                  <a:tcPr marL="27392" marR="27392" marT="12642" marB="12642" anchor="ctr">
                    <a:lnL w="6096" cap="flat" cmpd="sng" algn="ctr">
                      <a:solidFill>
                        <a:srgbClr val="D9D9DD"/>
                      </a:solidFill>
                      <a:prstDash val="solid"/>
                      <a:round/>
                      <a:headEnd type="none" w="med" len="med"/>
                      <a:tailEnd type="none" w="med" len="med"/>
                    </a:lnL>
                    <a:lnR w="6096" cap="flat" cmpd="sng" algn="ctr">
                      <a:solidFill>
                        <a:srgbClr val="D9D9DD"/>
                      </a:solidFill>
                      <a:prstDash val="solid"/>
                      <a:round/>
                      <a:headEnd type="none" w="med" len="med"/>
                      <a:tailEnd type="none" w="med" len="med"/>
                    </a:lnR>
                    <a:lnT w="6096" cap="flat" cmpd="sng" algn="ctr">
                      <a:solidFill>
                        <a:srgbClr val="D9D9DD"/>
                      </a:solidFill>
                      <a:prstDash val="solid"/>
                      <a:round/>
                      <a:headEnd type="none" w="med" len="med"/>
                      <a:tailEnd type="none" w="med" len="med"/>
                    </a:lnT>
                    <a:lnB w="6096" cap="flat" cmpd="sng" algn="ctr">
                      <a:solidFill>
                        <a:srgbClr val="D9D9DD"/>
                      </a:solidFill>
                      <a:prstDash val="solid"/>
                      <a:round/>
                      <a:headEnd type="none" w="med" len="med"/>
                      <a:tailEnd type="none" w="med" len="med"/>
                    </a:lnB>
                    <a:solidFill>
                      <a:srgbClr val="FFFFFF"/>
                    </a:solidFill>
                  </a:tcPr>
                </a:tc>
                <a:tc>
                  <a:txBody>
                    <a:bodyPr/>
                    <a:lstStyle/>
                    <a:p>
                      <a:r>
                        <a:rPr lang="vi-VN" sz="1600" b="1">
                          <a:effectLst/>
                          <a:latin typeface="Montserrat" panose="020B0604020202020204" charset="0"/>
                        </a:rPr>
                        <a:t>AI là Quy trình:</a:t>
                      </a:r>
                      <a:r>
                        <a:rPr lang="vi-VN" sz="1600">
                          <a:effectLst/>
                          <a:latin typeface="Montserrat" panose="020B0604020202020204" charset="0"/>
                        </a:rPr>
                        <a:t> AI được "nhúng" vào workflow. Bắt buộc AI làm bản nháp/phân tích thô đầu tiên, con người chỉ thẩm định.</a:t>
                      </a:r>
                    </a:p>
                  </a:txBody>
                  <a:tcPr marL="27392" marR="27392" marT="12642" marB="12642" anchor="ctr">
                    <a:lnL w="6096" cap="flat" cmpd="sng" algn="ctr">
                      <a:solidFill>
                        <a:srgbClr val="D9D9DD"/>
                      </a:solidFill>
                      <a:prstDash val="solid"/>
                      <a:round/>
                      <a:headEnd type="none" w="med" len="med"/>
                      <a:tailEnd type="none" w="med" len="med"/>
                    </a:lnL>
                    <a:lnR w="6096" cap="flat" cmpd="sng" algn="ctr">
                      <a:solidFill>
                        <a:srgbClr val="D9D9DD"/>
                      </a:solidFill>
                      <a:prstDash val="solid"/>
                      <a:round/>
                      <a:headEnd type="none" w="med" len="med"/>
                      <a:tailEnd type="none" w="med" len="med"/>
                    </a:lnR>
                    <a:lnT w="6096" cap="flat" cmpd="sng" algn="ctr">
                      <a:solidFill>
                        <a:srgbClr val="D9D9DD"/>
                      </a:solidFill>
                      <a:prstDash val="solid"/>
                      <a:round/>
                      <a:headEnd type="none" w="med" len="med"/>
                      <a:tailEnd type="none" w="med" len="med"/>
                    </a:lnT>
                    <a:lnB w="6096" cap="flat" cmpd="sng" algn="ctr">
                      <a:solidFill>
                        <a:srgbClr val="D9D9DD"/>
                      </a:solidFill>
                      <a:prstDash val="solid"/>
                      <a:round/>
                      <a:headEnd type="none" w="med" len="med"/>
                      <a:tailEnd type="none" w="med" len="med"/>
                    </a:lnB>
                    <a:solidFill>
                      <a:srgbClr val="FFFFFF"/>
                    </a:solidFill>
                  </a:tcPr>
                </a:tc>
                <a:tc>
                  <a:txBody>
                    <a:bodyPr/>
                    <a:lstStyle/>
                    <a:p>
                      <a:r>
                        <a:rPr lang="vi-VN" sz="1600" b="1">
                          <a:effectLst/>
                          <a:latin typeface="Montserrat" panose="020B0604020202020204" charset="0"/>
                        </a:rPr>
                        <a:t>AI là Agent:</a:t>
                      </a:r>
                      <a:r>
                        <a:rPr lang="vi-VN" sz="1600">
                          <a:effectLst/>
                          <a:latin typeface="Montserrat" panose="020B0604020202020204" charset="0"/>
                        </a:rPr>
                        <a:t> AI tự động nhận diện vấn đề, tự chạy chuỗi tác vụ và báo cáo kết quả cuối cùng. Con người là người giám sát.</a:t>
                      </a:r>
                    </a:p>
                  </a:txBody>
                  <a:tcPr marL="27392" marR="27392" marT="12642" marB="12642" anchor="ctr">
                    <a:lnL w="6096" cap="flat" cmpd="sng" algn="ctr">
                      <a:solidFill>
                        <a:srgbClr val="D9D9DD"/>
                      </a:solidFill>
                      <a:prstDash val="solid"/>
                      <a:round/>
                      <a:headEnd type="none" w="med" len="med"/>
                      <a:tailEnd type="none" w="med" len="med"/>
                    </a:lnL>
                    <a:lnR w="6096" cap="flat" cmpd="sng" algn="ctr">
                      <a:solidFill>
                        <a:srgbClr val="D9D9DD"/>
                      </a:solidFill>
                      <a:prstDash val="solid"/>
                      <a:round/>
                      <a:headEnd type="none" w="med" len="med"/>
                      <a:tailEnd type="none" w="med" len="med"/>
                    </a:lnR>
                    <a:lnT w="6096" cap="flat" cmpd="sng" algn="ctr">
                      <a:solidFill>
                        <a:srgbClr val="D9D9DD"/>
                      </a:solidFill>
                      <a:prstDash val="solid"/>
                      <a:round/>
                      <a:headEnd type="none" w="med" len="med"/>
                      <a:tailEnd type="none" w="med" len="med"/>
                    </a:lnT>
                    <a:lnB w="6096" cap="flat" cmpd="sng" algn="ctr">
                      <a:solidFill>
                        <a:srgbClr val="D9D9DD"/>
                      </a:solidFill>
                      <a:prstDash val="solid"/>
                      <a:round/>
                      <a:headEnd type="none" w="med" len="med"/>
                      <a:tailEnd type="none" w="med" len="med"/>
                    </a:lnB>
                    <a:solidFill>
                      <a:srgbClr val="FFFFFF"/>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prstClr val="black"/>
                          </a:solidFill>
                          <a:effectLst/>
                          <a:uLnTx/>
                          <a:uFillTx/>
                          <a:latin typeface="Montserrat" panose="020B0604020202020204" charset="0"/>
                          <a:ea typeface="+mn-ea"/>
                          <a:cs typeface="+mn-cs"/>
                        </a:rPr>
                        <a:t>……/5</a:t>
                      </a:r>
                      <a:endParaRPr kumimoji="0" lang="vi-VN" sz="1600" b="0" i="0" u="none" strike="noStrike" kern="1200" cap="none" spc="0" normalizeH="0" baseline="0" noProof="0">
                        <a:ln>
                          <a:noFill/>
                        </a:ln>
                        <a:solidFill>
                          <a:prstClr val="black"/>
                        </a:solidFill>
                        <a:effectLst/>
                        <a:uLnTx/>
                        <a:uFillTx/>
                        <a:latin typeface="Montserrat" panose="020B0604020202020204" charset="0"/>
                        <a:ea typeface="+mn-ea"/>
                        <a:cs typeface="+mn-cs"/>
                      </a:endParaRPr>
                    </a:p>
                  </a:txBody>
                  <a:tcPr marL="27392" marR="27392" marT="12642" marB="12642" anchor="ctr">
                    <a:lnL w="6096" cap="flat" cmpd="sng" algn="ctr">
                      <a:solidFill>
                        <a:srgbClr val="D9D9DD"/>
                      </a:solidFill>
                      <a:prstDash val="solid"/>
                      <a:round/>
                      <a:headEnd type="none" w="med" len="med"/>
                      <a:tailEnd type="none" w="med" len="med"/>
                    </a:lnL>
                    <a:lnR w="6096" cap="flat" cmpd="sng" algn="ctr">
                      <a:solidFill>
                        <a:srgbClr val="D9D9DD"/>
                      </a:solidFill>
                      <a:prstDash val="solid"/>
                      <a:round/>
                      <a:headEnd type="none" w="med" len="med"/>
                      <a:tailEnd type="none" w="med" len="med"/>
                    </a:lnR>
                    <a:lnT w="6096" cap="flat" cmpd="sng" algn="ctr">
                      <a:solidFill>
                        <a:srgbClr val="D9D9DD"/>
                      </a:solidFill>
                      <a:prstDash val="solid"/>
                      <a:round/>
                      <a:headEnd type="none" w="med" len="med"/>
                      <a:tailEnd type="none" w="med" len="med"/>
                    </a:lnT>
                    <a:lnB w="6096" cap="flat" cmpd="sng" algn="ctr">
                      <a:solidFill>
                        <a:srgbClr val="D9D9DD"/>
                      </a:solidFill>
                      <a:prstDash val="solid"/>
                      <a:round/>
                      <a:headEnd type="none" w="med" len="med"/>
                      <a:tailEnd type="none" w="med" len="med"/>
                    </a:lnB>
                    <a:solidFill>
                      <a:srgbClr val="FFFFFF"/>
                    </a:solidFill>
                  </a:tcPr>
                </a:tc>
                <a:extLst>
                  <a:ext uri="{0D108BD9-81ED-4DB2-BD59-A6C34878D82A}">
                    <a16:rowId xmlns:a16="http://schemas.microsoft.com/office/drawing/2014/main" val="2305532070"/>
                  </a:ext>
                </a:extLst>
              </a:tr>
              <a:tr h="573505">
                <a:tc gridSpan="6">
                  <a:txBody>
                    <a:bodyPr/>
                    <a:lstStyle/>
                    <a:p>
                      <a:r>
                        <a:rPr lang="en-US" sz="1600" b="1">
                          <a:effectLst/>
                          <a:latin typeface="Montserrat" panose="020B0604020202020204" charset="0"/>
                        </a:rPr>
                        <a:t>Tổng điểm</a:t>
                      </a:r>
                    </a:p>
                  </a:txBody>
                  <a:tcPr marL="27392" marR="27392" marT="12642" marB="12642" anchor="ctr">
                    <a:lnL w="6096" cap="flat" cmpd="sng" algn="ctr">
                      <a:solidFill>
                        <a:srgbClr val="D9D9DD"/>
                      </a:solidFill>
                      <a:prstDash val="solid"/>
                      <a:round/>
                      <a:headEnd type="none" w="med" len="med"/>
                      <a:tailEnd type="none" w="med" len="med"/>
                    </a:lnL>
                    <a:lnR w="6096" cap="flat" cmpd="sng" algn="ctr">
                      <a:solidFill>
                        <a:srgbClr val="D9D9DD"/>
                      </a:solidFill>
                      <a:prstDash val="solid"/>
                      <a:round/>
                      <a:headEnd type="none" w="med" len="med"/>
                      <a:tailEnd type="none" w="med" len="med"/>
                    </a:lnR>
                    <a:lnT w="6096" cap="flat" cmpd="sng" algn="ctr">
                      <a:solidFill>
                        <a:srgbClr val="D9D9DD"/>
                      </a:solidFill>
                      <a:prstDash val="solid"/>
                      <a:round/>
                      <a:headEnd type="none" w="med" len="med"/>
                      <a:tailEnd type="none" w="med" len="med"/>
                    </a:lnT>
                    <a:lnB w="6096" cap="flat" cmpd="sng" algn="ctr">
                      <a:solidFill>
                        <a:srgbClr val="D9D9DD"/>
                      </a:solidFill>
                      <a:prstDash val="solid"/>
                      <a:round/>
                      <a:headEnd type="none" w="med" len="med"/>
                      <a:tailEnd type="none" w="med" len="med"/>
                    </a:lnB>
                    <a:solidFill>
                      <a:schemeClr val="accent3">
                        <a:lumMod val="20000"/>
                        <a:lumOff val="80000"/>
                      </a:schemeClr>
                    </a:solidFill>
                  </a:tcPr>
                </a:tc>
                <a:tc hMerge="1">
                  <a:txBody>
                    <a:bodyPr/>
                    <a:lstStyle/>
                    <a:p>
                      <a:endParaRPr lang="en-US" sz="1600">
                        <a:effectLst/>
                        <a:latin typeface="Montserrat" panose="020B0604020202020204" charset="0"/>
                      </a:endParaRPr>
                    </a:p>
                  </a:txBody>
                  <a:tcPr marL="27392" marR="27392" marT="12642" marB="12642" anchor="ctr">
                    <a:lnL w="6096" cap="flat" cmpd="sng" algn="ctr">
                      <a:solidFill>
                        <a:srgbClr val="D9D9DD"/>
                      </a:solidFill>
                      <a:prstDash val="solid"/>
                      <a:round/>
                      <a:headEnd type="none" w="med" len="med"/>
                      <a:tailEnd type="none" w="med" len="med"/>
                    </a:lnL>
                    <a:lnR w="6096" cap="flat" cmpd="sng" algn="ctr">
                      <a:solidFill>
                        <a:srgbClr val="D9D9DD"/>
                      </a:solidFill>
                      <a:prstDash val="solid"/>
                      <a:round/>
                      <a:headEnd type="none" w="med" len="med"/>
                      <a:tailEnd type="none" w="med" len="med"/>
                    </a:lnR>
                    <a:lnT w="6096" cap="flat" cmpd="sng" algn="ctr">
                      <a:solidFill>
                        <a:srgbClr val="D9D9DD"/>
                      </a:solidFill>
                      <a:prstDash val="solid"/>
                      <a:round/>
                      <a:headEnd type="none" w="med" len="med"/>
                      <a:tailEnd type="none" w="med" len="med"/>
                    </a:lnT>
                    <a:lnB w="6096" cap="flat" cmpd="sng" algn="ctr">
                      <a:solidFill>
                        <a:srgbClr val="D9D9DD"/>
                      </a:solidFill>
                      <a:prstDash val="solid"/>
                      <a:round/>
                      <a:headEnd type="none" w="med" len="med"/>
                      <a:tailEnd type="none" w="med" len="med"/>
                    </a:lnB>
                    <a:solidFill>
                      <a:srgbClr val="FFFFFF"/>
                    </a:solidFill>
                  </a:tcPr>
                </a:tc>
                <a:tc hMerge="1">
                  <a:txBody>
                    <a:bodyPr/>
                    <a:lstStyle/>
                    <a:p>
                      <a:endParaRPr lang="vi-VN" sz="1600">
                        <a:effectLst/>
                        <a:latin typeface="Montserrat" panose="020B0604020202020204" charset="0"/>
                      </a:endParaRPr>
                    </a:p>
                  </a:txBody>
                  <a:tcPr marL="27392" marR="27392" marT="12642" marB="12642" anchor="ctr">
                    <a:lnL w="6096" cap="flat" cmpd="sng" algn="ctr">
                      <a:solidFill>
                        <a:srgbClr val="D9D9DD"/>
                      </a:solidFill>
                      <a:prstDash val="solid"/>
                      <a:round/>
                      <a:headEnd type="none" w="med" len="med"/>
                      <a:tailEnd type="none" w="med" len="med"/>
                    </a:lnL>
                    <a:lnR w="6096" cap="flat" cmpd="sng" algn="ctr">
                      <a:solidFill>
                        <a:srgbClr val="D9D9DD"/>
                      </a:solidFill>
                      <a:prstDash val="solid"/>
                      <a:round/>
                      <a:headEnd type="none" w="med" len="med"/>
                      <a:tailEnd type="none" w="med" len="med"/>
                    </a:lnR>
                    <a:lnT w="6096" cap="flat" cmpd="sng" algn="ctr">
                      <a:solidFill>
                        <a:srgbClr val="D9D9DD"/>
                      </a:solidFill>
                      <a:prstDash val="solid"/>
                      <a:round/>
                      <a:headEnd type="none" w="med" len="med"/>
                      <a:tailEnd type="none" w="med" len="med"/>
                    </a:lnT>
                    <a:lnB w="6096" cap="flat" cmpd="sng" algn="ctr">
                      <a:solidFill>
                        <a:srgbClr val="D9D9DD"/>
                      </a:solidFill>
                      <a:prstDash val="solid"/>
                      <a:round/>
                      <a:headEnd type="none" w="med" len="med"/>
                      <a:tailEnd type="none" w="med" len="med"/>
                    </a:lnB>
                    <a:solidFill>
                      <a:srgbClr val="FFFFFF"/>
                    </a:solidFill>
                  </a:tcPr>
                </a:tc>
                <a:tc hMerge="1">
                  <a:txBody>
                    <a:bodyPr/>
                    <a:lstStyle/>
                    <a:p>
                      <a:endParaRPr lang="vi-VN" sz="1600">
                        <a:effectLst/>
                        <a:latin typeface="Montserrat" panose="020B0604020202020204" charset="0"/>
                      </a:endParaRPr>
                    </a:p>
                  </a:txBody>
                  <a:tcPr marL="27392" marR="27392" marT="12642" marB="12642" anchor="ctr">
                    <a:lnL w="6096" cap="flat" cmpd="sng" algn="ctr">
                      <a:solidFill>
                        <a:srgbClr val="D9D9DD"/>
                      </a:solidFill>
                      <a:prstDash val="solid"/>
                      <a:round/>
                      <a:headEnd type="none" w="med" len="med"/>
                      <a:tailEnd type="none" w="med" len="med"/>
                    </a:lnL>
                    <a:lnR w="6096" cap="flat" cmpd="sng" algn="ctr">
                      <a:solidFill>
                        <a:srgbClr val="D9D9DD"/>
                      </a:solidFill>
                      <a:prstDash val="solid"/>
                      <a:round/>
                      <a:headEnd type="none" w="med" len="med"/>
                      <a:tailEnd type="none" w="med" len="med"/>
                    </a:lnR>
                    <a:lnT w="6096" cap="flat" cmpd="sng" algn="ctr">
                      <a:solidFill>
                        <a:srgbClr val="D9D9DD"/>
                      </a:solidFill>
                      <a:prstDash val="solid"/>
                      <a:round/>
                      <a:headEnd type="none" w="med" len="med"/>
                      <a:tailEnd type="none" w="med" len="med"/>
                    </a:lnT>
                    <a:lnB w="6096" cap="flat" cmpd="sng" algn="ctr">
                      <a:solidFill>
                        <a:srgbClr val="D9D9DD"/>
                      </a:solidFill>
                      <a:prstDash val="solid"/>
                      <a:round/>
                      <a:headEnd type="none" w="med" len="med"/>
                      <a:tailEnd type="none" w="med" len="med"/>
                    </a:lnB>
                    <a:solidFill>
                      <a:srgbClr val="FFFFFF"/>
                    </a:solidFill>
                  </a:tcPr>
                </a:tc>
                <a:tc hMerge="1">
                  <a:txBody>
                    <a:bodyPr/>
                    <a:lstStyle/>
                    <a:p>
                      <a:endParaRPr lang="vi-VN" sz="1600">
                        <a:effectLst/>
                        <a:latin typeface="Montserrat" panose="020B0604020202020204" charset="0"/>
                      </a:endParaRPr>
                    </a:p>
                  </a:txBody>
                  <a:tcPr marL="27392" marR="27392" marT="12642" marB="12642" anchor="ctr">
                    <a:lnL w="6096" cap="flat" cmpd="sng" algn="ctr">
                      <a:solidFill>
                        <a:srgbClr val="D9D9DD"/>
                      </a:solidFill>
                      <a:prstDash val="solid"/>
                      <a:round/>
                      <a:headEnd type="none" w="med" len="med"/>
                      <a:tailEnd type="none" w="med" len="med"/>
                    </a:lnL>
                    <a:lnR w="6096" cap="flat" cmpd="sng" algn="ctr">
                      <a:solidFill>
                        <a:srgbClr val="D9D9DD"/>
                      </a:solidFill>
                      <a:prstDash val="solid"/>
                      <a:round/>
                      <a:headEnd type="none" w="med" len="med"/>
                      <a:tailEnd type="none" w="med" len="med"/>
                    </a:lnR>
                    <a:lnT w="6096" cap="flat" cmpd="sng" algn="ctr">
                      <a:solidFill>
                        <a:srgbClr val="D9D9DD"/>
                      </a:solidFill>
                      <a:prstDash val="solid"/>
                      <a:round/>
                      <a:headEnd type="none" w="med" len="med"/>
                      <a:tailEnd type="none" w="med" len="med"/>
                    </a:lnT>
                    <a:lnB w="6096" cap="flat" cmpd="sng" algn="ctr">
                      <a:solidFill>
                        <a:srgbClr val="D9D9DD"/>
                      </a:solidFill>
                      <a:prstDash val="solid"/>
                      <a:round/>
                      <a:headEnd type="none" w="med" len="med"/>
                      <a:tailEnd type="none" w="med" len="med"/>
                    </a:lnB>
                    <a:solidFill>
                      <a:srgbClr val="FFFFFF"/>
                    </a:solidFill>
                  </a:tcPr>
                </a:tc>
                <a:tc hMerge="1">
                  <a:txBody>
                    <a:bodyPr/>
                    <a:lstStyle/>
                    <a:p>
                      <a:endParaRPr lang="vi-VN" sz="1600">
                        <a:effectLst/>
                        <a:latin typeface="Montserrat" panose="020B0604020202020204" charset="0"/>
                      </a:endParaRPr>
                    </a:p>
                  </a:txBody>
                  <a:tcPr marL="27392" marR="27392" marT="12642" marB="12642" anchor="ctr">
                    <a:lnL w="6096" cap="flat" cmpd="sng" algn="ctr">
                      <a:solidFill>
                        <a:srgbClr val="D9D9DD"/>
                      </a:solidFill>
                      <a:prstDash val="solid"/>
                      <a:round/>
                      <a:headEnd type="none" w="med" len="med"/>
                      <a:tailEnd type="none" w="med" len="med"/>
                    </a:lnL>
                    <a:lnR w="6096" cap="flat" cmpd="sng" algn="ctr">
                      <a:solidFill>
                        <a:srgbClr val="D9D9DD"/>
                      </a:solidFill>
                      <a:prstDash val="solid"/>
                      <a:round/>
                      <a:headEnd type="none" w="med" len="med"/>
                      <a:tailEnd type="none" w="med" len="med"/>
                    </a:lnR>
                    <a:lnT w="6096" cap="flat" cmpd="sng" algn="ctr">
                      <a:solidFill>
                        <a:srgbClr val="D9D9DD"/>
                      </a:solidFill>
                      <a:prstDash val="solid"/>
                      <a:round/>
                      <a:headEnd type="none" w="med" len="med"/>
                      <a:tailEnd type="none" w="med" len="med"/>
                    </a:lnT>
                    <a:lnB w="6096" cap="flat" cmpd="sng" algn="ctr">
                      <a:solidFill>
                        <a:srgbClr val="D9D9DD"/>
                      </a:solidFill>
                      <a:prstDash val="solid"/>
                      <a:round/>
                      <a:headEnd type="none" w="med" len="med"/>
                      <a:tailEnd type="none" w="med" len="med"/>
                    </a:lnB>
                    <a:solidFill>
                      <a:srgbClr val="FFFFFF"/>
                    </a:solidFill>
                  </a:tcPr>
                </a:tc>
                <a:tc>
                  <a:txBody>
                    <a:bodyPr/>
                    <a:lstStyle/>
                    <a:p>
                      <a:r>
                        <a:rPr lang="en-US" sz="1600" b="1">
                          <a:effectLst/>
                          <a:latin typeface="Montserrat" panose="020B0604020202020204" charset="0"/>
                        </a:rPr>
                        <a:t> ……/20</a:t>
                      </a:r>
                      <a:endParaRPr lang="vi-VN" sz="1600" b="1">
                        <a:effectLst/>
                        <a:latin typeface="Montserrat" panose="020B0604020202020204" charset="0"/>
                      </a:endParaRPr>
                    </a:p>
                  </a:txBody>
                  <a:tcPr marL="27392" marR="27392" marT="12642" marB="12642" anchor="ctr">
                    <a:lnL w="6096" cap="flat" cmpd="sng" algn="ctr">
                      <a:solidFill>
                        <a:srgbClr val="D9D9DD"/>
                      </a:solidFill>
                      <a:prstDash val="solid"/>
                      <a:round/>
                      <a:headEnd type="none" w="med" len="med"/>
                      <a:tailEnd type="none" w="med" len="med"/>
                    </a:lnL>
                    <a:lnR w="6096" cap="flat" cmpd="sng" algn="ctr">
                      <a:solidFill>
                        <a:srgbClr val="D9D9DD"/>
                      </a:solidFill>
                      <a:prstDash val="solid"/>
                      <a:round/>
                      <a:headEnd type="none" w="med" len="med"/>
                      <a:tailEnd type="none" w="med" len="med"/>
                    </a:lnR>
                    <a:lnT w="6096" cap="flat" cmpd="sng" algn="ctr">
                      <a:solidFill>
                        <a:srgbClr val="D9D9DD"/>
                      </a:solidFill>
                      <a:prstDash val="solid"/>
                      <a:round/>
                      <a:headEnd type="none" w="med" len="med"/>
                      <a:tailEnd type="none" w="med" len="med"/>
                    </a:lnT>
                    <a:lnB w="6096" cap="flat" cmpd="sng" algn="ctr">
                      <a:solidFill>
                        <a:srgbClr val="D9D9DD"/>
                      </a:solidFill>
                      <a:prstDash val="solid"/>
                      <a:round/>
                      <a:headEnd type="none" w="med" len="med"/>
                      <a:tailEnd type="none" w="med" len="med"/>
                    </a:lnB>
                    <a:solidFill>
                      <a:schemeClr val="accent3">
                        <a:lumMod val="20000"/>
                        <a:lumOff val="80000"/>
                      </a:schemeClr>
                    </a:solidFill>
                  </a:tcPr>
                </a:tc>
                <a:extLst>
                  <a:ext uri="{0D108BD9-81ED-4DB2-BD59-A6C34878D82A}">
                    <a16:rowId xmlns:a16="http://schemas.microsoft.com/office/drawing/2014/main" val="2544949126"/>
                  </a:ext>
                </a:extLst>
              </a:tr>
            </a:tbl>
          </a:graphicData>
        </a:graphic>
      </p:graphicFrame>
    </p:spTree>
    <p:extLst>
      <p:ext uri="{BB962C8B-B14F-4D97-AF65-F5344CB8AC3E}">
        <p14:creationId xmlns:p14="http://schemas.microsoft.com/office/powerpoint/2010/main" val="96792145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4"/>
          <p:cNvGrpSpPr/>
          <p:nvPr/>
        </p:nvGrpSpPr>
        <p:grpSpPr>
          <a:xfrm>
            <a:off x="822960" y="411480"/>
            <a:ext cx="15361920" cy="1371600"/>
            <a:chOff x="0" y="0"/>
            <a:chExt cx="20482560" cy="1828800"/>
          </a:xfrm>
        </p:grpSpPr>
        <p:sp>
          <p:nvSpPr>
            <p:cNvPr id="5" name="Freeform 5"/>
            <p:cNvSpPr/>
            <p:nvPr/>
          </p:nvSpPr>
          <p:spPr>
            <a:xfrm>
              <a:off x="0" y="0"/>
              <a:ext cx="20482561" cy="1828800"/>
            </a:xfrm>
            <a:custGeom>
              <a:avLst/>
              <a:gdLst/>
              <a:ahLst/>
              <a:cxnLst/>
              <a:rect l="l" t="t" r="r" b="b"/>
              <a:pathLst>
                <a:path w="20482561" h="1828800">
                  <a:moveTo>
                    <a:pt x="0" y="0"/>
                  </a:moveTo>
                  <a:lnTo>
                    <a:pt x="20482561" y="0"/>
                  </a:lnTo>
                  <a:lnTo>
                    <a:pt x="20482561" y="1828800"/>
                  </a:lnTo>
                  <a:lnTo>
                    <a:pt x="0" y="1828800"/>
                  </a:lnTo>
                  <a:close/>
                </a:path>
              </a:pathLst>
            </a:custGeom>
            <a:blipFill>
              <a:blip r:embed="rId3">
                <a:alphaModFix amt="0"/>
              </a:blip>
              <a:stretch>
                <a:fillRect t="-168232" b="-168232"/>
              </a:stretch>
            </a:blipFill>
          </p:spPr>
        </p:sp>
        <p:sp>
          <p:nvSpPr>
            <p:cNvPr id="6" name="TextBox 6"/>
            <p:cNvSpPr txBox="1"/>
            <p:nvPr/>
          </p:nvSpPr>
          <p:spPr>
            <a:xfrm>
              <a:off x="0" y="0"/>
              <a:ext cx="20482560" cy="1828800"/>
            </a:xfrm>
            <a:prstGeom prst="rect">
              <a:avLst/>
            </a:prstGeom>
          </p:spPr>
          <p:txBody>
            <a:bodyPr lIns="0" tIns="0" rIns="0" bIns="0" rtlCol="0" anchor="ctr"/>
            <a:lstStyle/>
            <a:p>
              <a:pPr algn="l">
                <a:lnSpc>
                  <a:spcPts val="4680"/>
                </a:lnSpc>
              </a:pPr>
              <a:r>
                <a:rPr lang="en-US" sz="3900" b="1">
                  <a:solidFill>
                    <a:srgbClr val="006838"/>
                  </a:solidFill>
                  <a:latin typeface="Montserrat Bold"/>
                  <a:ea typeface="Montserrat Bold"/>
                  <a:cs typeface="Montserrat Bold"/>
                  <a:sym typeface="Montserrat Bold"/>
                </a:rPr>
                <a:t>SỰ KHÁC BIỆT GIỮA CÓ CÔNG CỤ AI &amp; LÀ TỔ CHỨC AI</a:t>
              </a:r>
            </a:p>
          </p:txBody>
        </p:sp>
      </p:grpSp>
      <p:grpSp>
        <p:nvGrpSpPr>
          <p:cNvPr id="7" name="Group 7"/>
          <p:cNvGrpSpPr/>
          <p:nvPr/>
        </p:nvGrpSpPr>
        <p:grpSpPr>
          <a:xfrm>
            <a:off x="815816" y="2187416"/>
            <a:ext cx="7695247" cy="5294947"/>
            <a:chOff x="0" y="0"/>
            <a:chExt cx="10260330" cy="7059930"/>
          </a:xfrm>
        </p:grpSpPr>
        <p:sp>
          <p:nvSpPr>
            <p:cNvPr id="8" name="Freeform 8"/>
            <p:cNvSpPr/>
            <p:nvPr/>
          </p:nvSpPr>
          <p:spPr>
            <a:xfrm>
              <a:off x="0" y="0"/>
              <a:ext cx="10260330" cy="7059930"/>
            </a:xfrm>
            <a:custGeom>
              <a:avLst/>
              <a:gdLst/>
              <a:ahLst/>
              <a:cxnLst/>
              <a:rect l="l" t="t" r="r" b="b"/>
              <a:pathLst>
                <a:path w="10260330" h="7059930">
                  <a:moveTo>
                    <a:pt x="0" y="220091"/>
                  </a:moveTo>
                  <a:cubicBezTo>
                    <a:pt x="0" y="98552"/>
                    <a:pt x="98552" y="0"/>
                    <a:pt x="220091" y="0"/>
                  </a:cubicBezTo>
                  <a:lnTo>
                    <a:pt x="10040239" y="0"/>
                  </a:lnTo>
                  <a:cubicBezTo>
                    <a:pt x="10161778" y="0"/>
                    <a:pt x="10260330" y="98552"/>
                    <a:pt x="10260330" y="220091"/>
                  </a:cubicBezTo>
                  <a:lnTo>
                    <a:pt x="10260330" y="6839839"/>
                  </a:lnTo>
                  <a:cubicBezTo>
                    <a:pt x="10260330" y="6961378"/>
                    <a:pt x="10161778" y="7059930"/>
                    <a:pt x="10040239" y="7059930"/>
                  </a:cubicBezTo>
                  <a:lnTo>
                    <a:pt x="220091" y="7059930"/>
                  </a:lnTo>
                  <a:cubicBezTo>
                    <a:pt x="98552" y="7059930"/>
                    <a:pt x="0" y="6961378"/>
                    <a:pt x="0" y="6839839"/>
                  </a:cubicBezTo>
                  <a:close/>
                </a:path>
              </a:pathLst>
            </a:custGeom>
            <a:solidFill>
              <a:srgbClr val="F5F8F6"/>
            </a:solidFill>
            <a:ln w="14288" cap="sq">
              <a:solidFill>
                <a:srgbClr val="DCE6E0"/>
              </a:solidFill>
              <a:prstDash val="solid"/>
              <a:miter/>
            </a:ln>
          </p:spPr>
        </p:sp>
      </p:grpSp>
      <p:grpSp>
        <p:nvGrpSpPr>
          <p:cNvPr id="9" name="Group 9"/>
          <p:cNvGrpSpPr/>
          <p:nvPr/>
        </p:nvGrpSpPr>
        <p:grpSpPr>
          <a:xfrm>
            <a:off x="1293495" y="2596515"/>
            <a:ext cx="1116330" cy="1116330"/>
            <a:chOff x="0" y="0"/>
            <a:chExt cx="1488440" cy="1488440"/>
          </a:xfrm>
        </p:grpSpPr>
        <p:sp>
          <p:nvSpPr>
            <p:cNvPr id="10" name="Freeform 10"/>
            <p:cNvSpPr/>
            <p:nvPr/>
          </p:nvSpPr>
          <p:spPr>
            <a:xfrm>
              <a:off x="0" y="0"/>
              <a:ext cx="1488440" cy="1488440"/>
            </a:xfrm>
            <a:custGeom>
              <a:avLst/>
              <a:gdLst/>
              <a:ahLst/>
              <a:cxnLst/>
              <a:rect l="l" t="t" r="r" b="b"/>
              <a:pathLst>
                <a:path w="1488440" h="1488440">
                  <a:moveTo>
                    <a:pt x="0" y="744220"/>
                  </a:moveTo>
                  <a:cubicBezTo>
                    <a:pt x="0" y="333248"/>
                    <a:pt x="333248" y="0"/>
                    <a:pt x="744220" y="0"/>
                  </a:cubicBezTo>
                  <a:cubicBezTo>
                    <a:pt x="1155192" y="0"/>
                    <a:pt x="1488440" y="333248"/>
                    <a:pt x="1488440" y="744220"/>
                  </a:cubicBezTo>
                  <a:cubicBezTo>
                    <a:pt x="1488440" y="1155192"/>
                    <a:pt x="1155192" y="1488440"/>
                    <a:pt x="744220" y="1488440"/>
                  </a:cubicBezTo>
                  <a:cubicBezTo>
                    <a:pt x="333248" y="1488440"/>
                    <a:pt x="0" y="1155192"/>
                    <a:pt x="0" y="744220"/>
                  </a:cubicBezTo>
                  <a:close/>
                </a:path>
              </a:pathLst>
            </a:custGeom>
            <a:solidFill>
              <a:srgbClr val="FFFFFF"/>
            </a:solidFill>
            <a:ln w="19050" cap="sq">
              <a:solidFill>
                <a:srgbClr val="FFFFFF"/>
              </a:solidFill>
              <a:prstDash val="solid"/>
              <a:miter/>
            </a:ln>
          </p:spPr>
        </p:sp>
      </p:grpSp>
      <p:grpSp>
        <p:nvGrpSpPr>
          <p:cNvPr id="11" name="Group 11"/>
          <p:cNvGrpSpPr/>
          <p:nvPr/>
        </p:nvGrpSpPr>
        <p:grpSpPr>
          <a:xfrm>
            <a:off x="1588313" y="2891333"/>
            <a:ext cx="526694" cy="526694"/>
            <a:chOff x="0" y="0"/>
            <a:chExt cx="702259" cy="702259"/>
          </a:xfrm>
        </p:grpSpPr>
        <p:sp>
          <p:nvSpPr>
            <p:cNvPr id="12" name="Freeform 12" descr="preencoded.png"/>
            <p:cNvSpPr/>
            <p:nvPr/>
          </p:nvSpPr>
          <p:spPr>
            <a:xfrm>
              <a:off x="0" y="0"/>
              <a:ext cx="702310" cy="702310"/>
            </a:xfrm>
            <a:custGeom>
              <a:avLst/>
              <a:gdLst/>
              <a:ahLst/>
              <a:cxnLst/>
              <a:rect l="l" t="t" r="r" b="b"/>
              <a:pathLst>
                <a:path w="702310" h="702310">
                  <a:moveTo>
                    <a:pt x="0" y="0"/>
                  </a:moveTo>
                  <a:lnTo>
                    <a:pt x="702310" y="0"/>
                  </a:lnTo>
                  <a:lnTo>
                    <a:pt x="702310" y="702310"/>
                  </a:lnTo>
                  <a:lnTo>
                    <a:pt x="0" y="702310"/>
                  </a:lnTo>
                  <a:lnTo>
                    <a:pt x="0" y="0"/>
                  </a:lnTo>
                  <a:close/>
                </a:path>
              </a:pathLst>
            </a:custGeom>
            <a:blipFill>
              <a:blip r:embed="rId4"/>
              <a:stretch>
                <a:fillRect r="7" b="7"/>
              </a:stretch>
            </a:blipFill>
          </p:spPr>
        </p:sp>
      </p:grpSp>
      <p:grpSp>
        <p:nvGrpSpPr>
          <p:cNvPr id="13" name="Group 13"/>
          <p:cNvGrpSpPr/>
          <p:nvPr/>
        </p:nvGrpSpPr>
        <p:grpSpPr>
          <a:xfrm>
            <a:off x="2674620" y="2606040"/>
            <a:ext cx="5486400" cy="1097280"/>
            <a:chOff x="0" y="0"/>
            <a:chExt cx="7315200" cy="1463040"/>
          </a:xfrm>
        </p:grpSpPr>
        <p:sp>
          <p:nvSpPr>
            <p:cNvPr id="14" name="Freeform 14"/>
            <p:cNvSpPr/>
            <p:nvPr/>
          </p:nvSpPr>
          <p:spPr>
            <a:xfrm>
              <a:off x="0" y="0"/>
              <a:ext cx="7315200" cy="1463040"/>
            </a:xfrm>
            <a:custGeom>
              <a:avLst/>
              <a:gdLst/>
              <a:ahLst/>
              <a:cxnLst/>
              <a:rect l="l" t="t" r="r" b="b"/>
              <a:pathLst>
                <a:path w="7315200" h="1463040">
                  <a:moveTo>
                    <a:pt x="0" y="0"/>
                  </a:moveTo>
                  <a:lnTo>
                    <a:pt x="7315200" y="0"/>
                  </a:lnTo>
                  <a:lnTo>
                    <a:pt x="7315200" y="1463040"/>
                  </a:lnTo>
                  <a:lnTo>
                    <a:pt x="0" y="1463040"/>
                  </a:lnTo>
                  <a:close/>
                </a:path>
              </a:pathLst>
            </a:custGeom>
            <a:blipFill>
              <a:blip r:embed="rId3">
                <a:alphaModFix amt="0"/>
              </a:blip>
              <a:stretch>
                <a:fillRect t="-47425" b="-47425"/>
              </a:stretch>
            </a:blipFill>
          </p:spPr>
        </p:sp>
        <p:sp>
          <p:nvSpPr>
            <p:cNvPr id="15" name="TextBox 15"/>
            <p:cNvSpPr txBox="1"/>
            <p:nvPr/>
          </p:nvSpPr>
          <p:spPr>
            <a:xfrm>
              <a:off x="0" y="0"/>
              <a:ext cx="7315200" cy="1463040"/>
            </a:xfrm>
            <a:prstGeom prst="rect">
              <a:avLst/>
            </a:prstGeom>
          </p:spPr>
          <p:txBody>
            <a:bodyPr lIns="0" tIns="0" rIns="0" bIns="0" rtlCol="0" anchor="ctr"/>
            <a:lstStyle/>
            <a:p>
              <a:pPr algn="l">
                <a:lnSpc>
                  <a:spcPts val="3960"/>
                </a:lnSpc>
              </a:pPr>
              <a:r>
                <a:rPr lang="en-US" sz="3300" b="1">
                  <a:solidFill>
                    <a:srgbClr val="5A6A62"/>
                  </a:solidFill>
                  <a:latin typeface="Montserrat Bold"/>
                  <a:ea typeface="Montserrat Bold"/>
                  <a:cs typeface="Montserrat Bold"/>
                  <a:sym typeface="Montserrat Bold"/>
                </a:rPr>
                <a:t>Có công cụ AI</a:t>
              </a:r>
            </a:p>
          </p:txBody>
        </p:sp>
      </p:grpSp>
      <p:sp>
        <p:nvSpPr>
          <p:cNvPr id="16" name="TextBox 16"/>
          <p:cNvSpPr txBox="1"/>
          <p:nvPr/>
        </p:nvSpPr>
        <p:spPr>
          <a:xfrm>
            <a:off x="1303020" y="4076700"/>
            <a:ext cx="6088380" cy="1724025"/>
          </a:xfrm>
          <a:prstGeom prst="rect">
            <a:avLst/>
          </a:prstGeom>
        </p:spPr>
        <p:txBody>
          <a:bodyPr wrap="square" lIns="0" tIns="0" rIns="0" bIns="0" rtlCol="0" anchor="t">
            <a:spAutoFit/>
          </a:bodyPr>
          <a:lstStyle/>
          <a:p>
            <a:pPr marL="407194" lvl="1" indent="-203597" algn="just">
              <a:lnSpc>
                <a:spcPts val="2700"/>
              </a:lnSpc>
              <a:buFont typeface="Arial"/>
              <a:buChar char="•"/>
            </a:pPr>
            <a:r>
              <a:rPr lang="en-US" sz="2250">
                <a:solidFill>
                  <a:srgbClr val="1E2B25"/>
                </a:solidFill>
                <a:latin typeface="Montserrat"/>
                <a:ea typeface="Montserrat"/>
                <a:cs typeface="Montserrat"/>
                <a:sym typeface="Montserrat"/>
              </a:rPr>
              <a:t>Nhân viên có tài khoản pro ChatGPT / Copilot/ Claude</a:t>
            </a:r>
          </a:p>
          <a:p>
            <a:pPr marL="407194" lvl="1" indent="-203597" algn="just">
              <a:lnSpc>
                <a:spcPts val="2700"/>
              </a:lnSpc>
              <a:buFont typeface="Arial"/>
              <a:buChar char="•"/>
            </a:pPr>
            <a:r>
              <a:rPr lang="en-US" sz="2250">
                <a:solidFill>
                  <a:srgbClr val="1E2B25"/>
                </a:solidFill>
                <a:latin typeface="Montserrat"/>
                <a:ea typeface="Montserrat"/>
                <a:cs typeface="Montserrat"/>
                <a:sym typeface="Montserrat"/>
              </a:rPr>
              <a:t>Vài pilot dự án rải rác theo phòng ban</a:t>
            </a:r>
          </a:p>
          <a:p>
            <a:pPr marL="407194" lvl="1" indent="-203597" algn="l">
              <a:lnSpc>
                <a:spcPts val="2700"/>
              </a:lnSpc>
              <a:buFont typeface="Arial"/>
              <a:buChar char="•"/>
            </a:pPr>
            <a:r>
              <a:rPr lang="en-US" sz="2250">
                <a:solidFill>
                  <a:srgbClr val="1E2B25"/>
                </a:solidFill>
                <a:latin typeface="Montserrat"/>
                <a:ea typeface="Montserrat"/>
                <a:cs typeface="Montserrat"/>
                <a:sym typeface="Montserrat"/>
              </a:rPr>
              <a:t>IT hoặc Innovation "phụ trách AI"</a:t>
            </a:r>
          </a:p>
          <a:p>
            <a:pPr marL="407194" lvl="1" indent="-203597" algn="l">
              <a:lnSpc>
                <a:spcPts val="2700"/>
              </a:lnSpc>
              <a:buFont typeface="Arial"/>
              <a:buChar char="•"/>
            </a:pPr>
            <a:r>
              <a:rPr lang="en-US" sz="2250">
                <a:solidFill>
                  <a:srgbClr val="1E2B25"/>
                </a:solidFill>
                <a:latin typeface="Montserrat"/>
                <a:ea typeface="Montserrat"/>
                <a:cs typeface="Montserrat"/>
                <a:sym typeface="Montserrat"/>
              </a:rPr>
              <a:t>Báo cáo thường niên có nhắc đến AI</a:t>
            </a:r>
          </a:p>
        </p:txBody>
      </p:sp>
      <p:grpSp>
        <p:nvGrpSpPr>
          <p:cNvPr id="17" name="Group 17"/>
          <p:cNvGrpSpPr/>
          <p:nvPr/>
        </p:nvGrpSpPr>
        <p:grpSpPr>
          <a:xfrm>
            <a:off x="9772364" y="2187416"/>
            <a:ext cx="7695247" cy="5294947"/>
            <a:chOff x="0" y="0"/>
            <a:chExt cx="10260330" cy="7059930"/>
          </a:xfrm>
        </p:grpSpPr>
        <p:sp>
          <p:nvSpPr>
            <p:cNvPr id="18" name="Freeform 18"/>
            <p:cNvSpPr/>
            <p:nvPr/>
          </p:nvSpPr>
          <p:spPr>
            <a:xfrm>
              <a:off x="0" y="0"/>
              <a:ext cx="10260330" cy="7059930"/>
            </a:xfrm>
            <a:custGeom>
              <a:avLst/>
              <a:gdLst/>
              <a:ahLst/>
              <a:cxnLst/>
              <a:rect l="l" t="t" r="r" b="b"/>
              <a:pathLst>
                <a:path w="10260330" h="7059930">
                  <a:moveTo>
                    <a:pt x="0" y="220091"/>
                  </a:moveTo>
                  <a:cubicBezTo>
                    <a:pt x="0" y="98552"/>
                    <a:pt x="98552" y="0"/>
                    <a:pt x="220091" y="0"/>
                  </a:cubicBezTo>
                  <a:lnTo>
                    <a:pt x="10040239" y="0"/>
                  </a:lnTo>
                  <a:cubicBezTo>
                    <a:pt x="10161778" y="0"/>
                    <a:pt x="10260330" y="98552"/>
                    <a:pt x="10260330" y="220091"/>
                  </a:cubicBezTo>
                  <a:lnTo>
                    <a:pt x="10260330" y="6839839"/>
                  </a:lnTo>
                  <a:cubicBezTo>
                    <a:pt x="10260330" y="6961378"/>
                    <a:pt x="10161778" y="7059930"/>
                    <a:pt x="10040239" y="7059930"/>
                  </a:cubicBezTo>
                  <a:lnTo>
                    <a:pt x="220091" y="7059930"/>
                  </a:lnTo>
                  <a:cubicBezTo>
                    <a:pt x="98552" y="7059930"/>
                    <a:pt x="0" y="6961378"/>
                    <a:pt x="0" y="6839839"/>
                  </a:cubicBezTo>
                  <a:close/>
                </a:path>
              </a:pathLst>
            </a:custGeom>
            <a:solidFill>
              <a:srgbClr val="006838"/>
            </a:solidFill>
            <a:ln w="14288" cap="sq">
              <a:solidFill>
                <a:srgbClr val="006838"/>
              </a:solidFill>
              <a:prstDash val="solid"/>
              <a:miter/>
            </a:ln>
          </p:spPr>
        </p:sp>
      </p:grpSp>
      <p:grpSp>
        <p:nvGrpSpPr>
          <p:cNvPr id="19" name="Group 19"/>
          <p:cNvGrpSpPr/>
          <p:nvPr/>
        </p:nvGrpSpPr>
        <p:grpSpPr>
          <a:xfrm>
            <a:off x="10250043" y="2596515"/>
            <a:ext cx="1116330" cy="1116330"/>
            <a:chOff x="0" y="0"/>
            <a:chExt cx="1488440" cy="1488440"/>
          </a:xfrm>
        </p:grpSpPr>
        <p:sp>
          <p:nvSpPr>
            <p:cNvPr id="20" name="Freeform 20"/>
            <p:cNvSpPr/>
            <p:nvPr/>
          </p:nvSpPr>
          <p:spPr>
            <a:xfrm>
              <a:off x="0" y="0"/>
              <a:ext cx="1488440" cy="1488440"/>
            </a:xfrm>
            <a:custGeom>
              <a:avLst/>
              <a:gdLst/>
              <a:ahLst/>
              <a:cxnLst/>
              <a:rect l="l" t="t" r="r" b="b"/>
              <a:pathLst>
                <a:path w="1488440" h="1488440">
                  <a:moveTo>
                    <a:pt x="0" y="744220"/>
                  </a:moveTo>
                  <a:cubicBezTo>
                    <a:pt x="0" y="333248"/>
                    <a:pt x="333248" y="0"/>
                    <a:pt x="744220" y="0"/>
                  </a:cubicBezTo>
                  <a:cubicBezTo>
                    <a:pt x="1155192" y="0"/>
                    <a:pt x="1488440" y="333248"/>
                    <a:pt x="1488440" y="744220"/>
                  </a:cubicBezTo>
                  <a:cubicBezTo>
                    <a:pt x="1488440" y="1155192"/>
                    <a:pt x="1155192" y="1488440"/>
                    <a:pt x="744220" y="1488440"/>
                  </a:cubicBezTo>
                  <a:cubicBezTo>
                    <a:pt x="333248" y="1488440"/>
                    <a:pt x="0" y="1155192"/>
                    <a:pt x="0" y="744220"/>
                  </a:cubicBezTo>
                  <a:close/>
                </a:path>
              </a:pathLst>
            </a:custGeom>
            <a:solidFill>
              <a:srgbClr val="FFFFFF"/>
            </a:solidFill>
            <a:ln w="19050" cap="sq">
              <a:solidFill>
                <a:srgbClr val="FFFFFF"/>
              </a:solidFill>
              <a:prstDash val="solid"/>
              <a:miter/>
            </a:ln>
          </p:spPr>
        </p:sp>
      </p:grpSp>
      <p:grpSp>
        <p:nvGrpSpPr>
          <p:cNvPr id="21" name="Group 21"/>
          <p:cNvGrpSpPr/>
          <p:nvPr/>
        </p:nvGrpSpPr>
        <p:grpSpPr>
          <a:xfrm>
            <a:off x="10544861" y="2891333"/>
            <a:ext cx="526694" cy="526694"/>
            <a:chOff x="0" y="0"/>
            <a:chExt cx="702259" cy="702259"/>
          </a:xfrm>
        </p:grpSpPr>
        <p:sp>
          <p:nvSpPr>
            <p:cNvPr id="22" name="Freeform 22" descr="preencoded.png"/>
            <p:cNvSpPr/>
            <p:nvPr/>
          </p:nvSpPr>
          <p:spPr>
            <a:xfrm>
              <a:off x="0" y="0"/>
              <a:ext cx="702310" cy="702310"/>
            </a:xfrm>
            <a:custGeom>
              <a:avLst/>
              <a:gdLst/>
              <a:ahLst/>
              <a:cxnLst/>
              <a:rect l="l" t="t" r="r" b="b"/>
              <a:pathLst>
                <a:path w="702310" h="702310">
                  <a:moveTo>
                    <a:pt x="0" y="0"/>
                  </a:moveTo>
                  <a:lnTo>
                    <a:pt x="702310" y="0"/>
                  </a:lnTo>
                  <a:lnTo>
                    <a:pt x="702310" y="702310"/>
                  </a:lnTo>
                  <a:lnTo>
                    <a:pt x="0" y="702310"/>
                  </a:lnTo>
                  <a:lnTo>
                    <a:pt x="0" y="0"/>
                  </a:lnTo>
                  <a:close/>
                </a:path>
              </a:pathLst>
            </a:custGeom>
            <a:blipFill>
              <a:blip r:embed="rId5"/>
              <a:stretch>
                <a:fillRect r="7" b="7"/>
              </a:stretch>
            </a:blipFill>
          </p:spPr>
        </p:sp>
      </p:grpSp>
      <p:grpSp>
        <p:nvGrpSpPr>
          <p:cNvPr id="23" name="Group 23"/>
          <p:cNvGrpSpPr/>
          <p:nvPr/>
        </p:nvGrpSpPr>
        <p:grpSpPr>
          <a:xfrm>
            <a:off x="11631168" y="2606040"/>
            <a:ext cx="5486400" cy="1097280"/>
            <a:chOff x="0" y="0"/>
            <a:chExt cx="7315200" cy="1463040"/>
          </a:xfrm>
        </p:grpSpPr>
        <p:sp>
          <p:nvSpPr>
            <p:cNvPr id="24" name="Freeform 24"/>
            <p:cNvSpPr/>
            <p:nvPr/>
          </p:nvSpPr>
          <p:spPr>
            <a:xfrm>
              <a:off x="0" y="0"/>
              <a:ext cx="7315200" cy="1463040"/>
            </a:xfrm>
            <a:custGeom>
              <a:avLst/>
              <a:gdLst/>
              <a:ahLst/>
              <a:cxnLst/>
              <a:rect l="l" t="t" r="r" b="b"/>
              <a:pathLst>
                <a:path w="7315200" h="1463040">
                  <a:moveTo>
                    <a:pt x="0" y="0"/>
                  </a:moveTo>
                  <a:lnTo>
                    <a:pt x="7315200" y="0"/>
                  </a:lnTo>
                  <a:lnTo>
                    <a:pt x="7315200" y="1463040"/>
                  </a:lnTo>
                  <a:lnTo>
                    <a:pt x="0" y="1463040"/>
                  </a:lnTo>
                  <a:close/>
                </a:path>
              </a:pathLst>
            </a:custGeom>
            <a:blipFill>
              <a:blip r:embed="rId3">
                <a:alphaModFix amt="0"/>
              </a:blip>
              <a:stretch>
                <a:fillRect t="-47425" b="-47425"/>
              </a:stretch>
            </a:blipFill>
          </p:spPr>
        </p:sp>
        <p:sp>
          <p:nvSpPr>
            <p:cNvPr id="25" name="TextBox 25"/>
            <p:cNvSpPr txBox="1"/>
            <p:nvPr/>
          </p:nvSpPr>
          <p:spPr>
            <a:xfrm>
              <a:off x="0" y="0"/>
              <a:ext cx="7315200" cy="1463040"/>
            </a:xfrm>
            <a:prstGeom prst="rect">
              <a:avLst/>
            </a:prstGeom>
          </p:spPr>
          <p:txBody>
            <a:bodyPr lIns="0" tIns="0" rIns="0" bIns="0" rtlCol="0" anchor="ctr"/>
            <a:lstStyle/>
            <a:p>
              <a:pPr algn="l">
                <a:lnSpc>
                  <a:spcPts val="3960"/>
                </a:lnSpc>
              </a:pPr>
              <a:r>
                <a:rPr lang="en-US" sz="3300" b="1">
                  <a:solidFill>
                    <a:srgbClr val="FFFFFF"/>
                  </a:solidFill>
                  <a:latin typeface="Montserrat Bold"/>
                  <a:ea typeface="Montserrat Bold"/>
                  <a:cs typeface="Montserrat Bold"/>
                  <a:sym typeface="Montserrat Bold"/>
                </a:rPr>
                <a:t>Tổ chức AI-Native</a:t>
              </a:r>
            </a:p>
          </p:txBody>
        </p:sp>
      </p:grpSp>
      <p:sp>
        <p:nvSpPr>
          <p:cNvPr id="26" name="TextBox 26"/>
          <p:cNvSpPr txBox="1"/>
          <p:nvPr/>
        </p:nvSpPr>
        <p:spPr>
          <a:xfrm>
            <a:off x="10259568" y="4036695"/>
            <a:ext cx="6858000" cy="1724025"/>
          </a:xfrm>
          <a:prstGeom prst="rect">
            <a:avLst/>
          </a:prstGeom>
        </p:spPr>
        <p:txBody>
          <a:bodyPr lIns="0" tIns="0" rIns="0" bIns="0" rtlCol="0" anchor="t">
            <a:spAutoFit/>
          </a:bodyPr>
          <a:lstStyle/>
          <a:p>
            <a:pPr marL="407194" lvl="1" indent="-203597" algn="l">
              <a:lnSpc>
                <a:spcPts val="2700"/>
              </a:lnSpc>
              <a:buFont typeface="Arial"/>
              <a:buChar char="•"/>
            </a:pPr>
            <a:r>
              <a:rPr lang="en-US" sz="2250">
                <a:solidFill>
                  <a:srgbClr val="FFFFFF"/>
                </a:solidFill>
                <a:latin typeface="Montserrat"/>
                <a:ea typeface="Montserrat"/>
                <a:cs typeface="Montserrat"/>
                <a:sym typeface="Montserrat"/>
              </a:rPr>
              <a:t>AI nằm trong KPI và cơ chế Reward</a:t>
            </a:r>
          </a:p>
          <a:p>
            <a:pPr marL="407194" lvl="1" indent="-203597" algn="just">
              <a:lnSpc>
                <a:spcPts val="2700"/>
              </a:lnSpc>
              <a:buFont typeface="Arial"/>
              <a:buChar char="•"/>
            </a:pPr>
            <a:r>
              <a:rPr lang="en-US" sz="2250">
                <a:solidFill>
                  <a:srgbClr val="FFFFFF"/>
                </a:solidFill>
                <a:latin typeface="Montserrat"/>
                <a:ea typeface="Montserrat"/>
                <a:cs typeface="Montserrat"/>
                <a:sym typeface="Montserrat"/>
              </a:rPr>
              <a:t>Cấu trúc báo cáo và quyền quyết định được thiết kế lại</a:t>
            </a:r>
          </a:p>
          <a:p>
            <a:pPr marL="407194" lvl="1" indent="-203597" algn="l">
              <a:lnSpc>
                <a:spcPts val="2700"/>
              </a:lnSpc>
              <a:buFont typeface="Arial"/>
              <a:buChar char="•"/>
            </a:pPr>
            <a:r>
              <a:rPr lang="en-US" sz="2250">
                <a:solidFill>
                  <a:srgbClr val="FFFFFF"/>
                </a:solidFill>
                <a:latin typeface="Montserrat"/>
                <a:ea typeface="Montserrat"/>
                <a:cs typeface="Montserrat"/>
                <a:sym typeface="Montserrat"/>
              </a:rPr>
              <a:t>Có người chịu trách nhiệm cấp toàn tổ chức</a:t>
            </a:r>
          </a:p>
          <a:p>
            <a:pPr marL="407194" lvl="1" indent="-203597" algn="l">
              <a:lnSpc>
                <a:spcPts val="2700"/>
              </a:lnSpc>
              <a:buFont typeface="Arial"/>
              <a:buChar char="•"/>
            </a:pPr>
            <a:r>
              <a:rPr lang="en-US" sz="2250">
                <a:solidFill>
                  <a:srgbClr val="FFFFFF"/>
                </a:solidFill>
                <a:latin typeface="Montserrat"/>
                <a:ea typeface="Montserrat"/>
                <a:cs typeface="Montserrat"/>
                <a:sym typeface="Montserrat"/>
              </a:rPr>
              <a:t>Cách ra quyết định hàng ngày đã thay đổi</a:t>
            </a:r>
          </a:p>
        </p:txBody>
      </p:sp>
      <p:grpSp>
        <p:nvGrpSpPr>
          <p:cNvPr id="27" name="Group 27"/>
          <p:cNvGrpSpPr/>
          <p:nvPr/>
        </p:nvGrpSpPr>
        <p:grpSpPr>
          <a:xfrm>
            <a:off x="8617839" y="4311015"/>
            <a:ext cx="1047750" cy="1047750"/>
            <a:chOff x="0" y="0"/>
            <a:chExt cx="1397000" cy="1397000"/>
          </a:xfrm>
        </p:grpSpPr>
        <p:sp>
          <p:nvSpPr>
            <p:cNvPr id="28" name="Freeform 28"/>
            <p:cNvSpPr/>
            <p:nvPr/>
          </p:nvSpPr>
          <p:spPr>
            <a:xfrm>
              <a:off x="0" y="0"/>
              <a:ext cx="1397000" cy="1397000"/>
            </a:xfrm>
            <a:custGeom>
              <a:avLst/>
              <a:gdLst/>
              <a:ahLst/>
              <a:cxnLst/>
              <a:rect l="l" t="t" r="r" b="b"/>
              <a:pathLst>
                <a:path w="1397000" h="1397000">
                  <a:moveTo>
                    <a:pt x="0" y="698500"/>
                  </a:moveTo>
                  <a:cubicBezTo>
                    <a:pt x="0" y="312674"/>
                    <a:pt x="312674" y="0"/>
                    <a:pt x="698500" y="0"/>
                  </a:cubicBezTo>
                  <a:cubicBezTo>
                    <a:pt x="1084326" y="0"/>
                    <a:pt x="1397000" y="312674"/>
                    <a:pt x="1397000" y="698500"/>
                  </a:cubicBezTo>
                  <a:cubicBezTo>
                    <a:pt x="1397000" y="1084326"/>
                    <a:pt x="1084326" y="1397000"/>
                    <a:pt x="698500" y="1397000"/>
                  </a:cubicBezTo>
                  <a:cubicBezTo>
                    <a:pt x="312674" y="1397000"/>
                    <a:pt x="0" y="1084326"/>
                    <a:pt x="0" y="698500"/>
                  </a:cubicBezTo>
                  <a:close/>
                </a:path>
              </a:pathLst>
            </a:custGeom>
            <a:solidFill>
              <a:srgbClr val="FF7300"/>
            </a:solidFill>
            <a:ln w="19050" cap="sq">
              <a:solidFill>
                <a:srgbClr val="FF7300"/>
              </a:solidFill>
              <a:prstDash val="solid"/>
              <a:miter/>
            </a:ln>
          </p:spPr>
        </p:sp>
      </p:grpSp>
      <p:grpSp>
        <p:nvGrpSpPr>
          <p:cNvPr id="29" name="Group 29"/>
          <p:cNvGrpSpPr/>
          <p:nvPr/>
        </p:nvGrpSpPr>
        <p:grpSpPr>
          <a:xfrm>
            <a:off x="8905113" y="4598289"/>
            <a:ext cx="473202" cy="473202"/>
            <a:chOff x="0" y="0"/>
            <a:chExt cx="630936" cy="630936"/>
          </a:xfrm>
        </p:grpSpPr>
        <p:sp>
          <p:nvSpPr>
            <p:cNvPr id="30" name="Freeform 30" descr="preencoded.png"/>
            <p:cNvSpPr/>
            <p:nvPr/>
          </p:nvSpPr>
          <p:spPr>
            <a:xfrm>
              <a:off x="0" y="0"/>
              <a:ext cx="630936" cy="630936"/>
            </a:xfrm>
            <a:custGeom>
              <a:avLst/>
              <a:gdLst/>
              <a:ahLst/>
              <a:cxnLst/>
              <a:rect l="l" t="t" r="r" b="b"/>
              <a:pathLst>
                <a:path w="630936" h="630936">
                  <a:moveTo>
                    <a:pt x="0" y="0"/>
                  </a:moveTo>
                  <a:lnTo>
                    <a:pt x="630936" y="0"/>
                  </a:lnTo>
                  <a:lnTo>
                    <a:pt x="630936" y="630936"/>
                  </a:lnTo>
                  <a:lnTo>
                    <a:pt x="0" y="630936"/>
                  </a:lnTo>
                  <a:lnTo>
                    <a:pt x="0" y="0"/>
                  </a:lnTo>
                  <a:close/>
                </a:path>
              </a:pathLst>
            </a:custGeom>
            <a:blipFill>
              <a:blip r:embed="rId6"/>
              <a:stretch>
                <a:fillRect/>
              </a:stretch>
            </a:blipFill>
          </p:spPr>
        </p:sp>
      </p:grpSp>
      <p:grpSp>
        <p:nvGrpSpPr>
          <p:cNvPr id="31" name="Group 31"/>
          <p:cNvGrpSpPr/>
          <p:nvPr/>
        </p:nvGrpSpPr>
        <p:grpSpPr>
          <a:xfrm>
            <a:off x="815816" y="7879556"/>
            <a:ext cx="16651796" cy="1591627"/>
            <a:chOff x="0" y="0"/>
            <a:chExt cx="22202394" cy="2122170"/>
          </a:xfrm>
        </p:grpSpPr>
        <p:sp>
          <p:nvSpPr>
            <p:cNvPr id="32" name="Freeform 32"/>
            <p:cNvSpPr/>
            <p:nvPr/>
          </p:nvSpPr>
          <p:spPr>
            <a:xfrm>
              <a:off x="0" y="0"/>
              <a:ext cx="22202394" cy="2122170"/>
            </a:xfrm>
            <a:custGeom>
              <a:avLst/>
              <a:gdLst/>
              <a:ahLst/>
              <a:cxnLst/>
              <a:rect l="l" t="t" r="r" b="b"/>
              <a:pathLst>
                <a:path w="22202394" h="2122170">
                  <a:moveTo>
                    <a:pt x="0" y="221488"/>
                  </a:moveTo>
                  <a:cubicBezTo>
                    <a:pt x="0" y="99187"/>
                    <a:pt x="99187" y="0"/>
                    <a:pt x="221488" y="0"/>
                  </a:cubicBezTo>
                  <a:lnTo>
                    <a:pt x="21980906" y="0"/>
                  </a:lnTo>
                  <a:cubicBezTo>
                    <a:pt x="22103207" y="0"/>
                    <a:pt x="22202394" y="99187"/>
                    <a:pt x="22202394" y="221488"/>
                  </a:cubicBezTo>
                  <a:lnTo>
                    <a:pt x="22202394" y="1900682"/>
                  </a:lnTo>
                  <a:cubicBezTo>
                    <a:pt x="22202394" y="2022983"/>
                    <a:pt x="22103207" y="2122170"/>
                    <a:pt x="21980906" y="2122170"/>
                  </a:cubicBezTo>
                  <a:lnTo>
                    <a:pt x="221488" y="2122170"/>
                  </a:lnTo>
                  <a:cubicBezTo>
                    <a:pt x="99187" y="2122170"/>
                    <a:pt x="0" y="2022983"/>
                    <a:pt x="0" y="1900682"/>
                  </a:cubicBezTo>
                  <a:close/>
                </a:path>
              </a:pathLst>
            </a:custGeom>
            <a:solidFill>
              <a:srgbClr val="FFF1E5"/>
            </a:solidFill>
            <a:ln w="14288" cap="sq">
              <a:solidFill>
                <a:srgbClr val="FFF1E5"/>
              </a:solidFill>
              <a:prstDash val="solid"/>
              <a:miter/>
            </a:ln>
          </p:spPr>
        </p:sp>
      </p:grpSp>
      <p:grpSp>
        <p:nvGrpSpPr>
          <p:cNvPr id="33" name="Group 33"/>
          <p:cNvGrpSpPr/>
          <p:nvPr/>
        </p:nvGrpSpPr>
        <p:grpSpPr>
          <a:xfrm>
            <a:off x="1224915" y="8151495"/>
            <a:ext cx="1047750" cy="1047750"/>
            <a:chOff x="0" y="0"/>
            <a:chExt cx="1397000" cy="1397000"/>
          </a:xfrm>
        </p:grpSpPr>
        <p:sp>
          <p:nvSpPr>
            <p:cNvPr id="34" name="Freeform 34"/>
            <p:cNvSpPr/>
            <p:nvPr/>
          </p:nvSpPr>
          <p:spPr>
            <a:xfrm>
              <a:off x="0" y="0"/>
              <a:ext cx="1397000" cy="1397000"/>
            </a:xfrm>
            <a:custGeom>
              <a:avLst/>
              <a:gdLst/>
              <a:ahLst/>
              <a:cxnLst/>
              <a:rect l="l" t="t" r="r" b="b"/>
              <a:pathLst>
                <a:path w="1397000" h="1397000">
                  <a:moveTo>
                    <a:pt x="0" y="698500"/>
                  </a:moveTo>
                  <a:cubicBezTo>
                    <a:pt x="0" y="312674"/>
                    <a:pt x="312674" y="0"/>
                    <a:pt x="698500" y="0"/>
                  </a:cubicBezTo>
                  <a:cubicBezTo>
                    <a:pt x="1084326" y="0"/>
                    <a:pt x="1397000" y="312674"/>
                    <a:pt x="1397000" y="698500"/>
                  </a:cubicBezTo>
                  <a:cubicBezTo>
                    <a:pt x="1397000" y="1084326"/>
                    <a:pt x="1084326" y="1397000"/>
                    <a:pt x="698500" y="1397000"/>
                  </a:cubicBezTo>
                  <a:cubicBezTo>
                    <a:pt x="312674" y="1397000"/>
                    <a:pt x="0" y="1084326"/>
                    <a:pt x="0" y="698500"/>
                  </a:cubicBezTo>
                  <a:close/>
                </a:path>
              </a:pathLst>
            </a:custGeom>
            <a:solidFill>
              <a:srgbClr val="FF7300"/>
            </a:solidFill>
            <a:ln w="19050" cap="sq">
              <a:solidFill>
                <a:srgbClr val="FF7300"/>
              </a:solidFill>
              <a:prstDash val="solid"/>
              <a:miter/>
            </a:ln>
          </p:spPr>
        </p:sp>
      </p:grpSp>
      <p:grpSp>
        <p:nvGrpSpPr>
          <p:cNvPr id="35" name="Group 35"/>
          <p:cNvGrpSpPr/>
          <p:nvPr/>
        </p:nvGrpSpPr>
        <p:grpSpPr>
          <a:xfrm>
            <a:off x="1491615" y="8418195"/>
            <a:ext cx="514350" cy="514350"/>
            <a:chOff x="0" y="0"/>
            <a:chExt cx="685800" cy="685800"/>
          </a:xfrm>
        </p:grpSpPr>
        <p:sp>
          <p:nvSpPr>
            <p:cNvPr id="36" name="Freeform 36" descr="preencoded.png"/>
            <p:cNvSpPr/>
            <p:nvPr/>
          </p:nvSpPr>
          <p:spPr>
            <a:xfrm>
              <a:off x="0" y="0"/>
              <a:ext cx="685800" cy="685800"/>
            </a:xfrm>
            <a:custGeom>
              <a:avLst/>
              <a:gdLst/>
              <a:ahLst/>
              <a:cxnLst/>
              <a:rect l="l" t="t" r="r" b="b"/>
              <a:pathLst>
                <a:path w="685800" h="685800">
                  <a:moveTo>
                    <a:pt x="0" y="0"/>
                  </a:moveTo>
                  <a:lnTo>
                    <a:pt x="685800" y="0"/>
                  </a:lnTo>
                  <a:lnTo>
                    <a:pt x="685800" y="685800"/>
                  </a:lnTo>
                  <a:lnTo>
                    <a:pt x="0" y="685800"/>
                  </a:lnTo>
                  <a:lnTo>
                    <a:pt x="0" y="0"/>
                  </a:lnTo>
                  <a:close/>
                </a:path>
              </a:pathLst>
            </a:custGeom>
            <a:blipFill>
              <a:blip r:embed="rId7"/>
              <a:stretch>
                <a:fillRect/>
              </a:stretch>
            </a:blipFill>
          </p:spPr>
        </p:sp>
      </p:grpSp>
      <p:grpSp>
        <p:nvGrpSpPr>
          <p:cNvPr id="37" name="Group 37"/>
          <p:cNvGrpSpPr/>
          <p:nvPr/>
        </p:nvGrpSpPr>
        <p:grpSpPr>
          <a:xfrm>
            <a:off x="2674620" y="7982712"/>
            <a:ext cx="14401800" cy="1371600"/>
            <a:chOff x="0" y="0"/>
            <a:chExt cx="19202400" cy="1828800"/>
          </a:xfrm>
        </p:grpSpPr>
        <p:sp>
          <p:nvSpPr>
            <p:cNvPr id="38" name="Freeform 38"/>
            <p:cNvSpPr/>
            <p:nvPr/>
          </p:nvSpPr>
          <p:spPr>
            <a:xfrm>
              <a:off x="0" y="0"/>
              <a:ext cx="19202400" cy="1828800"/>
            </a:xfrm>
            <a:custGeom>
              <a:avLst/>
              <a:gdLst/>
              <a:ahLst/>
              <a:cxnLst/>
              <a:rect l="l" t="t" r="r" b="b"/>
              <a:pathLst>
                <a:path w="19202400" h="1828800">
                  <a:moveTo>
                    <a:pt x="0" y="0"/>
                  </a:moveTo>
                  <a:lnTo>
                    <a:pt x="19202400" y="0"/>
                  </a:lnTo>
                  <a:lnTo>
                    <a:pt x="19202400" y="1828800"/>
                  </a:lnTo>
                  <a:lnTo>
                    <a:pt x="0" y="1828800"/>
                  </a:lnTo>
                  <a:close/>
                </a:path>
              </a:pathLst>
            </a:custGeom>
            <a:blipFill>
              <a:blip r:embed="rId3">
                <a:alphaModFix amt="0"/>
              </a:blip>
              <a:stretch>
                <a:fillRect t="-154592" b="-154592"/>
              </a:stretch>
            </a:blipFill>
          </p:spPr>
        </p:sp>
        <p:sp>
          <p:nvSpPr>
            <p:cNvPr id="39" name="TextBox 39"/>
            <p:cNvSpPr txBox="1"/>
            <p:nvPr/>
          </p:nvSpPr>
          <p:spPr>
            <a:xfrm>
              <a:off x="0" y="0"/>
              <a:ext cx="19202400" cy="1828800"/>
            </a:xfrm>
            <a:prstGeom prst="rect">
              <a:avLst/>
            </a:prstGeom>
          </p:spPr>
          <p:txBody>
            <a:bodyPr lIns="0" tIns="0" rIns="0" bIns="0" rtlCol="0" anchor="ctr"/>
            <a:lstStyle/>
            <a:p>
              <a:pPr algn="l">
                <a:lnSpc>
                  <a:spcPts val="3419"/>
                </a:lnSpc>
              </a:pPr>
              <a:r>
                <a:rPr lang="en-US" sz="2850" b="1">
                  <a:solidFill>
                    <a:srgbClr val="1E2B25"/>
                  </a:solidFill>
                  <a:latin typeface="Montserrat Bold"/>
                  <a:ea typeface="Montserrat Bold"/>
                  <a:cs typeface="Montserrat Bold"/>
                  <a:sym typeface="Montserrat Bold"/>
                </a:rPr>
                <a:t>Khoảng cách giữa hai cột không nằm ở công nghệ.</a:t>
              </a:r>
            </a:p>
            <a:p>
              <a:pPr algn="l">
                <a:lnSpc>
                  <a:spcPts val="3419"/>
                </a:lnSpc>
              </a:pPr>
              <a:r>
                <a:rPr lang="en-US" sz="2850" b="1">
                  <a:solidFill>
                    <a:srgbClr val="C25700"/>
                  </a:solidFill>
                  <a:latin typeface="Montserrat Bold"/>
                  <a:ea typeface="Montserrat Bold"/>
                  <a:cs typeface="Montserrat Bold"/>
                  <a:sym typeface="Montserrat Bold"/>
                </a:rPr>
                <a:t>Nó nằm ở thiết kế tổ chức.</a:t>
              </a:r>
            </a:p>
          </p:txBody>
        </p:sp>
      </p:gr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4"/>
          <p:cNvGrpSpPr/>
          <p:nvPr/>
        </p:nvGrpSpPr>
        <p:grpSpPr>
          <a:xfrm>
            <a:off x="822960" y="411480"/>
            <a:ext cx="15361920" cy="1371600"/>
            <a:chOff x="0" y="0"/>
            <a:chExt cx="20482560" cy="1828800"/>
          </a:xfrm>
        </p:grpSpPr>
        <p:sp>
          <p:nvSpPr>
            <p:cNvPr id="5" name="Freeform 5"/>
            <p:cNvSpPr/>
            <p:nvPr/>
          </p:nvSpPr>
          <p:spPr>
            <a:xfrm>
              <a:off x="0" y="0"/>
              <a:ext cx="20482561" cy="1828800"/>
            </a:xfrm>
            <a:custGeom>
              <a:avLst/>
              <a:gdLst/>
              <a:ahLst/>
              <a:cxnLst/>
              <a:rect l="l" t="t" r="r" b="b"/>
              <a:pathLst>
                <a:path w="20482561" h="1828800">
                  <a:moveTo>
                    <a:pt x="0" y="0"/>
                  </a:moveTo>
                  <a:lnTo>
                    <a:pt x="20482561" y="0"/>
                  </a:lnTo>
                  <a:lnTo>
                    <a:pt x="20482561" y="1828800"/>
                  </a:lnTo>
                  <a:lnTo>
                    <a:pt x="0" y="1828800"/>
                  </a:lnTo>
                  <a:close/>
                </a:path>
              </a:pathLst>
            </a:custGeom>
            <a:blipFill>
              <a:blip r:embed="rId3">
                <a:alphaModFix amt="0"/>
              </a:blip>
              <a:stretch>
                <a:fillRect t="-168232" b="-168232"/>
              </a:stretch>
            </a:blipFill>
          </p:spPr>
        </p:sp>
        <p:sp>
          <p:nvSpPr>
            <p:cNvPr id="6" name="TextBox 6"/>
            <p:cNvSpPr txBox="1"/>
            <p:nvPr/>
          </p:nvSpPr>
          <p:spPr>
            <a:xfrm>
              <a:off x="0" y="0"/>
              <a:ext cx="20482560" cy="1828800"/>
            </a:xfrm>
            <a:prstGeom prst="rect">
              <a:avLst/>
            </a:prstGeom>
          </p:spPr>
          <p:txBody>
            <a:bodyPr lIns="0" tIns="0" rIns="0" bIns="0" rtlCol="0" anchor="ctr"/>
            <a:lstStyle/>
            <a:p>
              <a:pPr algn="l">
                <a:lnSpc>
                  <a:spcPts val="4680"/>
                </a:lnSpc>
              </a:pPr>
              <a:r>
                <a:rPr lang="en-US" sz="3900" b="1">
                  <a:solidFill>
                    <a:srgbClr val="006838"/>
                  </a:solidFill>
                  <a:latin typeface="Montserrat Bold"/>
                  <a:ea typeface="Montserrat Bold"/>
                  <a:cs typeface="Montserrat Bold"/>
                  <a:sym typeface="Montserrat Bold"/>
                </a:rPr>
                <a:t>"AI READINESS RINGS" – MÔ HÌNH HỌC TỪ ALIBABA</a:t>
              </a:r>
            </a:p>
          </p:txBody>
        </p:sp>
      </p:grpSp>
      <p:grpSp>
        <p:nvGrpSpPr>
          <p:cNvPr id="7" name="Group 7"/>
          <p:cNvGrpSpPr/>
          <p:nvPr/>
        </p:nvGrpSpPr>
        <p:grpSpPr>
          <a:xfrm>
            <a:off x="815816" y="2050256"/>
            <a:ext cx="5240084" cy="7489507"/>
            <a:chOff x="0" y="0"/>
            <a:chExt cx="6986778" cy="9986010"/>
          </a:xfrm>
        </p:grpSpPr>
        <p:sp>
          <p:nvSpPr>
            <p:cNvPr id="8" name="Freeform 8"/>
            <p:cNvSpPr/>
            <p:nvPr/>
          </p:nvSpPr>
          <p:spPr>
            <a:xfrm>
              <a:off x="0" y="0"/>
              <a:ext cx="6986778" cy="9986010"/>
            </a:xfrm>
            <a:custGeom>
              <a:avLst/>
              <a:gdLst/>
              <a:ahLst/>
              <a:cxnLst/>
              <a:rect l="l" t="t" r="r" b="b"/>
              <a:pathLst>
                <a:path w="6986778" h="9986010">
                  <a:moveTo>
                    <a:pt x="0" y="220091"/>
                  </a:moveTo>
                  <a:cubicBezTo>
                    <a:pt x="0" y="98552"/>
                    <a:pt x="98552" y="0"/>
                    <a:pt x="220091" y="0"/>
                  </a:cubicBezTo>
                  <a:lnTo>
                    <a:pt x="6766687" y="0"/>
                  </a:lnTo>
                  <a:cubicBezTo>
                    <a:pt x="6888226" y="0"/>
                    <a:pt x="6986778" y="98552"/>
                    <a:pt x="6986778" y="220091"/>
                  </a:cubicBezTo>
                  <a:lnTo>
                    <a:pt x="6986778" y="9765919"/>
                  </a:lnTo>
                  <a:cubicBezTo>
                    <a:pt x="6986778" y="9887458"/>
                    <a:pt x="6888226" y="9986010"/>
                    <a:pt x="6766687" y="9986010"/>
                  </a:cubicBezTo>
                  <a:lnTo>
                    <a:pt x="220091" y="9986010"/>
                  </a:lnTo>
                  <a:cubicBezTo>
                    <a:pt x="98552" y="9986010"/>
                    <a:pt x="0" y="9887458"/>
                    <a:pt x="0" y="9765919"/>
                  </a:cubicBezTo>
                  <a:close/>
                </a:path>
              </a:pathLst>
            </a:custGeom>
            <a:solidFill>
              <a:srgbClr val="FFFFFF"/>
            </a:solidFill>
            <a:ln w="14288" cap="sq">
              <a:solidFill>
                <a:srgbClr val="DCE6E0"/>
              </a:solidFill>
              <a:prstDash val="solid"/>
              <a:miter/>
            </a:ln>
          </p:spPr>
        </p:sp>
      </p:grpSp>
      <p:grpSp>
        <p:nvGrpSpPr>
          <p:cNvPr id="9" name="Group 9"/>
          <p:cNvGrpSpPr/>
          <p:nvPr/>
        </p:nvGrpSpPr>
        <p:grpSpPr>
          <a:xfrm>
            <a:off x="1069848" y="2304288"/>
            <a:ext cx="4732020" cy="2125980"/>
            <a:chOff x="0" y="0"/>
            <a:chExt cx="6309360" cy="2834640"/>
          </a:xfrm>
        </p:grpSpPr>
        <p:sp>
          <p:nvSpPr>
            <p:cNvPr id="10" name="Freeform 10" descr="/tmp/claude-0/-home-claude/f2393a9e-ecac-5976-acd4-5fd24e92a8fe/scratchpad/assets/ring0.png"/>
            <p:cNvSpPr/>
            <p:nvPr/>
          </p:nvSpPr>
          <p:spPr>
            <a:xfrm>
              <a:off x="0" y="0"/>
              <a:ext cx="6309360" cy="2834640"/>
            </a:xfrm>
            <a:custGeom>
              <a:avLst/>
              <a:gdLst/>
              <a:ahLst/>
              <a:cxnLst/>
              <a:rect l="l" t="t" r="r" b="b"/>
              <a:pathLst>
                <a:path w="6309360" h="2834640">
                  <a:moveTo>
                    <a:pt x="0" y="0"/>
                  </a:moveTo>
                  <a:lnTo>
                    <a:pt x="6309360" y="0"/>
                  </a:lnTo>
                  <a:lnTo>
                    <a:pt x="6309360" y="2834640"/>
                  </a:lnTo>
                  <a:lnTo>
                    <a:pt x="0" y="2834640"/>
                  </a:lnTo>
                  <a:lnTo>
                    <a:pt x="0" y="0"/>
                  </a:lnTo>
                  <a:close/>
                </a:path>
              </a:pathLst>
            </a:custGeom>
            <a:blipFill>
              <a:blip r:embed="rId4"/>
              <a:stretch>
                <a:fillRect b="-23261"/>
              </a:stretch>
            </a:blipFill>
          </p:spPr>
        </p:sp>
      </p:grpSp>
      <p:grpSp>
        <p:nvGrpSpPr>
          <p:cNvPr id="11" name="Group 11"/>
          <p:cNvGrpSpPr/>
          <p:nvPr/>
        </p:nvGrpSpPr>
        <p:grpSpPr>
          <a:xfrm>
            <a:off x="1224915" y="4036695"/>
            <a:ext cx="869442" cy="869442"/>
            <a:chOff x="0" y="0"/>
            <a:chExt cx="1159256" cy="1159256"/>
          </a:xfrm>
        </p:grpSpPr>
        <p:sp>
          <p:nvSpPr>
            <p:cNvPr id="12" name="Freeform 12"/>
            <p:cNvSpPr/>
            <p:nvPr/>
          </p:nvSpPr>
          <p:spPr>
            <a:xfrm>
              <a:off x="0" y="0"/>
              <a:ext cx="1159256" cy="1159256"/>
            </a:xfrm>
            <a:custGeom>
              <a:avLst/>
              <a:gdLst/>
              <a:ahLst/>
              <a:cxnLst/>
              <a:rect l="l" t="t" r="r" b="b"/>
              <a:pathLst>
                <a:path w="1159256" h="1159256">
                  <a:moveTo>
                    <a:pt x="0" y="579628"/>
                  </a:moveTo>
                  <a:cubicBezTo>
                    <a:pt x="0" y="259461"/>
                    <a:pt x="259461" y="0"/>
                    <a:pt x="579628" y="0"/>
                  </a:cubicBezTo>
                  <a:cubicBezTo>
                    <a:pt x="899795" y="0"/>
                    <a:pt x="1159256" y="259461"/>
                    <a:pt x="1159256" y="579628"/>
                  </a:cubicBezTo>
                  <a:cubicBezTo>
                    <a:pt x="1159256" y="899795"/>
                    <a:pt x="899795" y="1159256"/>
                    <a:pt x="579628" y="1159256"/>
                  </a:cubicBezTo>
                  <a:cubicBezTo>
                    <a:pt x="259461" y="1159256"/>
                    <a:pt x="0" y="899795"/>
                    <a:pt x="0" y="579628"/>
                  </a:cubicBezTo>
                  <a:close/>
                </a:path>
              </a:pathLst>
            </a:custGeom>
            <a:solidFill>
              <a:srgbClr val="006838"/>
            </a:solidFill>
            <a:ln w="19050" cap="sq">
              <a:solidFill>
                <a:srgbClr val="006838"/>
              </a:solidFill>
              <a:prstDash val="solid"/>
              <a:miter/>
            </a:ln>
          </p:spPr>
        </p:sp>
      </p:grpSp>
      <p:grpSp>
        <p:nvGrpSpPr>
          <p:cNvPr id="13" name="Group 13"/>
          <p:cNvGrpSpPr/>
          <p:nvPr/>
        </p:nvGrpSpPr>
        <p:grpSpPr>
          <a:xfrm>
            <a:off x="1447038" y="4258818"/>
            <a:ext cx="425196" cy="425196"/>
            <a:chOff x="0" y="0"/>
            <a:chExt cx="566928" cy="566928"/>
          </a:xfrm>
        </p:grpSpPr>
        <p:sp>
          <p:nvSpPr>
            <p:cNvPr id="14" name="Freeform 14" descr="preencoded.png"/>
            <p:cNvSpPr/>
            <p:nvPr/>
          </p:nvSpPr>
          <p:spPr>
            <a:xfrm>
              <a:off x="0" y="0"/>
              <a:ext cx="566928" cy="566928"/>
            </a:xfrm>
            <a:custGeom>
              <a:avLst/>
              <a:gdLst/>
              <a:ahLst/>
              <a:cxnLst/>
              <a:rect l="l" t="t" r="r" b="b"/>
              <a:pathLst>
                <a:path w="566928" h="566928">
                  <a:moveTo>
                    <a:pt x="0" y="0"/>
                  </a:moveTo>
                  <a:lnTo>
                    <a:pt x="566928" y="0"/>
                  </a:lnTo>
                  <a:lnTo>
                    <a:pt x="566928" y="566928"/>
                  </a:lnTo>
                  <a:lnTo>
                    <a:pt x="0" y="566928"/>
                  </a:lnTo>
                  <a:lnTo>
                    <a:pt x="0" y="0"/>
                  </a:lnTo>
                  <a:close/>
                </a:path>
              </a:pathLst>
            </a:custGeom>
            <a:blipFill>
              <a:blip r:embed="rId5"/>
              <a:stretch>
                <a:fillRect/>
              </a:stretch>
            </a:blipFill>
          </p:spPr>
        </p:sp>
      </p:grpSp>
      <p:grpSp>
        <p:nvGrpSpPr>
          <p:cNvPr id="15" name="Group 15"/>
          <p:cNvGrpSpPr/>
          <p:nvPr/>
        </p:nvGrpSpPr>
        <p:grpSpPr>
          <a:xfrm>
            <a:off x="2263140" y="4553712"/>
            <a:ext cx="3511296" cy="576072"/>
            <a:chOff x="0" y="0"/>
            <a:chExt cx="4681728" cy="768096"/>
          </a:xfrm>
        </p:grpSpPr>
        <p:sp>
          <p:nvSpPr>
            <p:cNvPr id="16" name="Freeform 16"/>
            <p:cNvSpPr/>
            <p:nvPr/>
          </p:nvSpPr>
          <p:spPr>
            <a:xfrm>
              <a:off x="0" y="0"/>
              <a:ext cx="4681728" cy="768096"/>
            </a:xfrm>
            <a:custGeom>
              <a:avLst/>
              <a:gdLst/>
              <a:ahLst/>
              <a:cxnLst/>
              <a:rect l="l" t="t" r="r" b="b"/>
              <a:pathLst>
                <a:path w="4681728" h="768096">
                  <a:moveTo>
                    <a:pt x="0" y="0"/>
                  </a:moveTo>
                  <a:lnTo>
                    <a:pt x="4681728" y="0"/>
                  </a:lnTo>
                  <a:lnTo>
                    <a:pt x="4681728" y="768096"/>
                  </a:lnTo>
                  <a:lnTo>
                    <a:pt x="0" y="768096"/>
                  </a:lnTo>
                  <a:close/>
                </a:path>
              </a:pathLst>
            </a:custGeom>
            <a:blipFill>
              <a:blip r:embed="rId3">
                <a:alphaModFix amt="0"/>
              </a:blip>
              <a:stretch>
                <a:fillRect t="-68765" b="-68765"/>
              </a:stretch>
            </a:blipFill>
          </p:spPr>
        </p:sp>
        <p:sp>
          <p:nvSpPr>
            <p:cNvPr id="17" name="TextBox 17"/>
            <p:cNvSpPr txBox="1"/>
            <p:nvPr/>
          </p:nvSpPr>
          <p:spPr>
            <a:xfrm>
              <a:off x="0" y="-9525"/>
              <a:ext cx="4681728" cy="777621"/>
            </a:xfrm>
            <a:prstGeom prst="rect">
              <a:avLst/>
            </a:prstGeom>
          </p:spPr>
          <p:txBody>
            <a:bodyPr lIns="0" tIns="0" rIns="0" bIns="0" rtlCol="0" anchor="ctr"/>
            <a:lstStyle/>
            <a:p>
              <a:pPr algn="l">
                <a:lnSpc>
                  <a:spcPts val="2700"/>
                </a:lnSpc>
              </a:pPr>
              <a:r>
                <a:rPr lang="en-US" sz="2250" b="1">
                  <a:solidFill>
                    <a:srgbClr val="006838"/>
                  </a:solidFill>
                  <a:latin typeface="Montserrat Bold"/>
                  <a:ea typeface="Montserrat Bold"/>
                  <a:cs typeface="Montserrat Bold"/>
                  <a:sym typeface="Montserrat Bold"/>
                </a:rPr>
                <a:t>Governance · Quản trị</a:t>
              </a:r>
            </a:p>
          </p:txBody>
        </p:sp>
      </p:grpSp>
      <p:sp>
        <p:nvSpPr>
          <p:cNvPr id="18" name="TextBox 18"/>
          <p:cNvSpPr txBox="1"/>
          <p:nvPr/>
        </p:nvSpPr>
        <p:spPr>
          <a:xfrm>
            <a:off x="1234440" y="5302758"/>
            <a:ext cx="4402836" cy="1521314"/>
          </a:xfrm>
          <a:prstGeom prst="rect">
            <a:avLst/>
          </a:prstGeom>
        </p:spPr>
        <p:txBody>
          <a:bodyPr lIns="0" tIns="0" rIns="0" bIns="0" rtlCol="0" anchor="t">
            <a:spAutoFit/>
          </a:bodyPr>
          <a:lstStyle/>
          <a:p>
            <a:pPr algn="just">
              <a:lnSpc>
                <a:spcPts val="2430"/>
              </a:lnSpc>
            </a:pPr>
            <a:r>
              <a:rPr lang="en-US" sz="1875">
                <a:solidFill>
                  <a:srgbClr val="1E2B25"/>
                </a:solidFill>
                <a:latin typeface="Montserrat"/>
                <a:ea typeface="Montserrat"/>
                <a:cs typeface="Montserrat"/>
                <a:sym typeface="Montserrat"/>
              </a:rPr>
              <a:t>Đội ngũ được cấu trúc thế nào, quyền hạn và trách nhiệm phân bổ ra sao. Ai chịu trách nhiệm chung và ai có thẩm quyền ra quyết định thật?</a:t>
            </a:r>
          </a:p>
        </p:txBody>
      </p:sp>
      <p:grpSp>
        <p:nvGrpSpPr>
          <p:cNvPr id="19" name="Group 19"/>
          <p:cNvGrpSpPr/>
          <p:nvPr/>
        </p:nvGrpSpPr>
        <p:grpSpPr>
          <a:xfrm>
            <a:off x="1060323" y="7328535"/>
            <a:ext cx="4751070" cy="1966722"/>
            <a:chOff x="0" y="0"/>
            <a:chExt cx="6334760" cy="2622296"/>
          </a:xfrm>
        </p:grpSpPr>
        <p:sp>
          <p:nvSpPr>
            <p:cNvPr id="20" name="Freeform 20"/>
            <p:cNvSpPr/>
            <p:nvPr/>
          </p:nvSpPr>
          <p:spPr>
            <a:xfrm>
              <a:off x="0" y="0"/>
              <a:ext cx="6334760" cy="2622296"/>
            </a:xfrm>
            <a:custGeom>
              <a:avLst/>
              <a:gdLst/>
              <a:ahLst/>
              <a:cxnLst/>
              <a:rect l="l" t="t" r="r" b="b"/>
              <a:pathLst>
                <a:path w="6334760" h="2622296">
                  <a:moveTo>
                    <a:pt x="0" y="147701"/>
                  </a:moveTo>
                  <a:cubicBezTo>
                    <a:pt x="0" y="66167"/>
                    <a:pt x="66167" y="0"/>
                    <a:pt x="147701" y="0"/>
                  </a:cubicBezTo>
                  <a:lnTo>
                    <a:pt x="6187059" y="0"/>
                  </a:lnTo>
                  <a:cubicBezTo>
                    <a:pt x="6268593" y="0"/>
                    <a:pt x="6334760" y="66167"/>
                    <a:pt x="6334760" y="147701"/>
                  </a:cubicBezTo>
                  <a:lnTo>
                    <a:pt x="6334760" y="2474595"/>
                  </a:lnTo>
                  <a:cubicBezTo>
                    <a:pt x="6334760" y="2556129"/>
                    <a:pt x="6268593" y="2622296"/>
                    <a:pt x="6187059" y="2622296"/>
                  </a:cubicBezTo>
                  <a:lnTo>
                    <a:pt x="147701" y="2622296"/>
                  </a:lnTo>
                  <a:cubicBezTo>
                    <a:pt x="66167" y="2622296"/>
                    <a:pt x="0" y="2556129"/>
                    <a:pt x="0" y="2474595"/>
                  </a:cubicBezTo>
                  <a:close/>
                </a:path>
              </a:pathLst>
            </a:custGeom>
            <a:solidFill>
              <a:srgbClr val="FFF1E5"/>
            </a:solidFill>
            <a:ln w="19050" cap="sq">
              <a:solidFill>
                <a:srgbClr val="FFF1E5"/>
              </a:solidFill>
              <a:prstDash val="solid"/>
              <a:miter/>
            </a:ln>
          </p:spPr>
        </p:sp>
      </p:grpSp>
      <p:grpSp>
        <p:nvGrpSpPr>
          <p:cNvPr id="21" name="Group 21"/>
          <p:cNvGrpSpPr/>
          <p:nvPr/>
        </p:nvGrpSpPr>
        <p:grpSpPr>
          <a:xfrm>
            <a:off x="1261872" y="7475220"/>
            <a:ext cx="4347972" cy="1714500"/>
            <a:chOff x="0" y="0"/>
            <a:chExt cx="5797296" cy="2286000"/>
          </a:xfrm>
        </p:grpSpPr>
        <p:sp>
          <p:nvSpPr>
            <p:cNvPr id="22" name="Freeform 22"/>
            <p:cNvSpPr/>
            <p:nvPr/>
          </p:nvSpPr>
          <p:spPr>
            <a:xfrm>
              <a:off x="0" y="0"/>
              <a:ext cx="5797296" cy="2286000"/>
            </a:xfrm>
            <a:custGeom>
              <a:avLst/>
              <a:gdLst/>
              <a:ahLst/>
              <a:cxnLst/>
              <a:rect l="l" t="t" r="r" b="b"/>
              <a:pathLst>
                <a:path w="5797296" h="2286000">
                  <a:moveTo>
                    <a:pt x="0" y="0"/>
                  </a:moveTo>
                  <a:lnTo>
                    <a:pt x="5797296" y="0"/>
                  </a:lnTo>
                  <a:lnTo>
                    <a:pt x="5797296" y="2286000"/>
                  </a:lnTo>
                  <a:lnTo>
                    <a:pt x="0" y="2286000"/>
                  </a:lnTo>
                  <a:close/>
                </a:path>
              </a:pathLst>
            </a:custGeom>
            <a:blipFill>
              <a:blip r:embed="rId3">
                <a:alphaModFix amt="0"/>
              </a:blip>
              <a:stretch>
                <a:fillRect l="-592" r="-592"/>
              </a:stretch>
            </a:blipFill>
          </p:spPr>
        </p:sp>
        <p:sp>
          <p:nvSpPr>
            <p:cNvPr id="23" name="TextBox 23"/>
            <p:cNvSpPr txBox="1"/>
            <p:nvPr/>
          </p:nvSpPr>
          <p:spPr>
            <a:xfrm>
              <a:off x="0" y="-19050"/>
              <a:ext cx="5797296" cy="2305050"/>
            </a:xfrm>
            <a:prstGeom prst="rect">
              <a:avLst/>
            </a:prstGeom>
          </p:spPr>
          <p:txBody>
            <a:bodyPr lIns="0" tIns="0" rIns="0" bIns="0" rtlCol="0" anchor="ctr"/>
            <a:lstStyle/>
            <a:p>
              <a:pPr algn="just">
                <a:lnSpc>
                  <a:spcPts val="2430"/>
                </a:lnSpc>
              </a:pPr>
              <a:r>
                <a:rPr lang="en-US" sz="1875">
                  <a:solidFill>
                    <a:srgbClr val="7A3500"/>
                  </a:solidFill>
                  <a:latin typeface="Montserrat"/>
                  <a:ea typeface="Montserrat"/>
                  <a:cs typeface="Montserrat"/>
                  <a:sym typeface="Montserrat"/>
                </a:rPr>
                <a:t>Khi AI đã lan tỏa, tổ chức mới thiết lập các hàng rào bảo vệ về bảo mật dữ liệu, đạo đức AI và phân quyền truy cập.</a:t>
              </a:r>
            </a:p>
          </p:txBody>
        </p:sp>
      </p:grpSp>
      <p:grpSp>
        <p:nvGrpSpPr>
          <p:cNvPr id="24" name="Group 24"/>
          <p:cNvGrpSpPr/>
          <p:nvPr/>
        </p:nvGrpSpPr>
        <p:grpSpPr>
          <a:xfrm>
            <a:off x="6521672" y="2050256"/>
            <a:ext cx="5240084" cy="7489507"/>
            <a:chOff x="0" y="0"/>
            <a:chExt cx="6986778" cy="9986010"/>
          </a:xfrm>
        </p:grpSpPr>
        <p:sp>
          <p:nvSpPr>
            <p:cNvPr id="25" name="Freeform 25"/>
            <p:cNvSpPr/>
            <p:nvPr/>
          </p:nvSpPr>
          <p:spPr>
            <a:xfrm>
              <a:off x="0" y="0"/>
              <a:ext cx="6986778" cy="9986010"/>
            </a:xfrm>
            <a:custGeom>
              <a:avLst/>
              <a:gdLst/>
              <a:ahLst/>
              <a:cxnLst/>
              <a:rect l="l" t="t" r="r" b="b"/>
              <a:pathLst>
                <a:path w="6986778" h="9986010">
                  <a:moveTo>
                    <a:pt x="0" y="220091"/>
                  </a:moveTo>
                  <a:cubicBezTo>
                    <a:pt x="0" y="98552"/>
                    <a:pt x="98552" y="0"/>
                    <a:pt x="220091" y="0"/>
                  </a:cubicBezTo>
                  <a:lnTo>
                    <a:pt x="6766687" y="0"/>
                  </a:lnTo>
                  <a:cubicBezTo>
                    <a:pt x="6888226" y="0"/>
                    <a:pt x="6986778" y="98552"/>
                    <a:pt x="6986778" y="220091"/>
                  </a:cubicBezTo>
                  <a:lnTo>
                    <a:pt x="6986778" y="9765919"/>
                  </a:lnTo>
                  <a:cubicBezTo>
                    <a:pt x="6986778" y="9887458"/>
                    <a:pt x="6888226" y="9986010"/>
                    <a:pt x="6766687" y="9986010"/>
                  </a:cubicBezTo>
                  <a:lnTo>
                    <a:pt x="220091" y="9986010"/>
                  </a:lnTo>
                  <a:cubicBezTo>
                    <a:pt x="98552" y="9986010"/>
                    <a:pt x="0" y="9887458"/>
                    <a:pt x="0" y="9765919"/>
                  </a:cubicBezTo>
                  <a:close/>
                </a:path>
              </a:pathLst>
            </a:custGeom>
            <a:solidFill>
              <a:srgbClr val="FFFFFF"/>
            </a:solidFill>
            <a:ln w="14288" cap="sq">
              <a:solidFill>
                <a:srgbClr val="DCE6E0"/>
              </a:solidFill>
              <a:prstDash val="solid"/>
              <a:miter/>
            </a:ln>
          </p:spPr>
        </p:sp>
      </p:grpSp>
      <p:grpSp>
        <p:nvGrpSpPr>
          <p:cNvPr id="26" name="Group 26"/>
          <p:cNvGrpSpPr/>
          <p:nvPr/>
        </p:nvGrpSpPr>
        <p:grpSpPr>
          <a:xfrm>
            <a:off x="6775704" y="2304288"/>
            <a:ext cx="4732020" cy="2125980"/>
            <a:chOff x="0" y="0"/>
            <a:chExt cx="6309360" cy="2834640"/>
          </a:xfrm>
        </p:grpSpPr>
        <p:sp>
          <p:nvSpPr>
            <p:cNvPr id="27" name="Freeform 27" descr="/tmp/claude-0/-home-claude/f2393a9e-ecac-5976-acd4-5fd24e92a8fe/scratchpad/assets/ring1.png"/>
            <p:cNvSpPr/>
            <p:nvPr/>
          </p:nvSpPr>
          <p:spPr>
            <a:xfrm>
              <a:off x="0" y="0"/>
              <a:ext cx="6309360" cy="2834640"/>
            </a:xfrm>
            <a:custGeom>
              <a:avLst/>
              <a:gdLst/>
              <a:ahLst/>
              <a:cxnLst/>
              <a:rect l="l" t="t" r="r" b="b"/>
              <a:pathLst>
                <a:path w="6309360" h="2834640">
                  <a:moveTo>
                    <a:pt x="0" y="0"/>
                  </a:moveTo>
                  <a:lnTo>
                    <a:pt x="6309360" y="0"/>
                  </a:lnTo>
                  <a:lnTo>
                    <a:pt x="6309360" y="2834640"/>
                  </a:lnTo>
                  <a:lnTo>
                    <a:pt x="0" y="2834640"/>
                  </a:lnTo>
                  <a:lnTo>
                    <a:pt x="0" y="0"/>
                  </a:lnTo>
                  <a:close/>
                </a:path>
              </a:pathLst>
            </a:custGeom>
            <a:blipFill>
              <a:blip r:embed="rId6"/>
              <a:stretch>
                <a:fillRect b="-24714"/>
              </a:stretch>
            </a:blipFill>
          </p:spPr>
        </p:sp>
      </p:grpSp>
      <p:grpSp>
        <p:nvGrpSpPr>
          <p:cNvPr id="28" name="Group 28"/>
          <p:cNvGrpSpPr/>
          <p:nvPr/>
        </p:nvGrpSpPr>
        <p:grpSpPr>
          <a:xfrm>
            <a:off x="6930771" y="4036695"/>
            <a:ext cx="869442" cy="869442"/>
            <a:chOff x="0" y="0"/>
            <a:chExt cx="1159256" cy="1159256"/>
          </a:xfrm>
        </p:grpSpPr>
        <p:sp>
          <p:nvSpPr>
            <p:cNvPr id="29" name="Freeform 29"/>
            <p:cNvSpPr/>
            <p:nvPr/>
          </p:nvSpPr>
          <p:spPr>
            <a:xfrm>
              <a:off x="0" y="0"/>
              <a:ext cx="1159256" cy="1159256"/>
            </a:xfrm>
            <a:custGeom>
              <a:avLst/>
              <a:gdLst/>
              <a:ahLst/>
              <a:cxnLst/>
              <a:rect l="l" t="t" r="r" b="b"/>
              <a:pathLst>
                <a:path w="1159256" h="1159256">
                  <a:moveTo>
                    <a:pt x="0" y="579628"/>
                  </a:moveTo>
                  <a:cubicBezTo>
                    <a:pt x="0" y="259461"/>
                    <a:pt x="259461" y="0"/>
                    <a:pt x="579628" y="0"/>
                  </a:cubicBezTo>
                  <a:cubicBezTo>
                    <a:pt x="899795" y="0"/>
                    <a:pt x="1159256" y="259461"/>
                    <a:pt x="1159256" y="579628"/>
                  </a:cubicBezTo>
                  <a:cubicBezTo>
                    <a:pt x="1159256" y="899795"/>
                    <a:pt x="899795" y="1159256"/>
                    <a:pt x="579628" y="1159256"/>
                  </a:cubicBezTo>
                  <a:cubicBezTo>
                    <a:pt x="259461" y="1159256"/>
                    <a:pt x="0" y="899795"/>
                    <a:pt x="0" y="579628"/>
                  </a:cubicBezTo>
                  <a:close/>
                </a:path>
              </a:pathLst>
            </a:custGeom>
            <a:solidFill>
              <a:srgbClr val="006838"/>
            </a:solidFill>
            <a:ln w="19050" cap="sq">
              <a:solidFill>
                <a:srgbClr val="006838"/>
              </a:solidFill>
              <a:prstDash val="solid"/>
              <a:miter/>
            </a:ln>
          </p:spPr>
        </p:sp>
      </p:grpSp>
      <p:grpSp>
        <p:nvGrpSpPr>
          <p:cNvPr id="30" name="Group 30"/>
          <p:cNvGrpSpPr/>
          <p:nvPr/>
        </p:nvGrpSpPr>
        <p:grpSpPr>
          <a:xfrm>
            <a:off x="7152894" y="4258818"/>
            <a:ext cx="425196" cy="425196"/>
            <a:chOff x="0" y="0"/>
            <a:chExt cx="566928" cy="566928"/>
          </a:xfrm>
        </p:grpSpPr>
        <p:sp>
          <p:nvSpPr>
            <p:cNvPr id="31" name="Freeform 31" descr="preencoded.png"/>
            <p:cNvSpPr/>
            <p:nvPr/>
          </p:nvSpPr>
          <p:spPr>
            <a:xfrm>
              <a:off x="0" y="0"/>
              <a:ext cx="566928" cy="566928"/>
            </a:xfrm>
            <a:custGeom>
              <a:avLst/>
              <a:gdLst/>
              <a:ahLst/>
              <a:cxnLst/>
              <a:rect l="l" t="t" r="r" b="b"/>
              <a:pathLst>
                <a:path w="566928" h="566928">
                  <a:moveTo>
                    <a:pt x="0" y="0"/>
                  </a:moveTo>
                  <a:lnTo>
                    <a:pt x="566928" y="0"/>
                  </a:lnTo>
                  <a:lnTo>
                    <a:pt x="566928" y="566928"/>
                  </a:lnTo>
                  <a:lnTo>
                    <a:pt x="0" y="566928"/>
                  </a:lnTo>
                  <a:lnTo>
                    <a:pt x="0" y="0"/>
                  </a:lnTo>
                  <a:close/>
                </a:path>
              </a:pathLst>
            </a:custGeom>
            <a:blipFill>
              <a:blip r:embed="rId7"/>
              <a:stretch>
                <a:fillRect/>
              </a:stretch>
            </a:blipFill>
          </p:spPr>
        </p:sp>
      </p:grpSp>
      <p:grpSp>
        <p:nvGrpSpPr>
          <p:cNvPr id="32" name="Group 32"/>
          <p:cNvGrpSpPr/>
          <p:nvPr/>
        </p:nvGrpSpPr>
        <p:grpSpPr>
          <a:xfrm>
            <a:off x="7968996" y="4553712"/>
            <a:ext cx="3511296" cy="576072"/>
            <a:chOff x="0" y="0"/>
            <a:chExt cx="4681728" cy="768096"/>
          </a:xfrm>
        </p:grpSpPr>
        <p:sp>
          <p:nvSpPr>
            <p:cNvPr id="33" name="Freeform 33"/>
            <p:cNvSpPr/>
            <p:nvPr/>
          </p:nvSpPr>
          <p:spPr>
            <a:xfrm>
              <a:off x="0" y="0"/>
              <a:ext cx="4681728" cy="768096"/>
            </a:xfrm>
            <a:custGeom>
              <a:avLst/>
              <a:gdLst/>
              <a:ahLst/>
              <a:cxnLst/>
              <a:rect l="l" t="t" r="r" b="b"/>
              <a:pathLst>
                <a:path w="4681728" h="768096">
                  <a:moveTo>
                    <a:pt x="0" y="0"/>
                  </a:moveTo>
                  <a:lnTo>
                    <a:pt x="4681728" y="0"/>
                  </a:lnTo>
                  <a:lnTo>
                    <a:pt x="4681728" y="768096"/>
                  </a:lnTo>
                  <a:lnTo>
                    <a:pt x="0" y="768096"/>
                  </a:lnTo>
                  <a:close/>
                </a:path>
              </a:pathLst>
            </a:custGeom>
            <a:blipFill>
              <a:blip r:embed="rId3">
                <a:alphaModFix amt="0"/>
              </a:blip>
              <a:stretch>
                <a:fillRect t="-68765" b="-68765"/>
              </a:stretch>
            </a:blipFill>
          </p:spPr>
        </p:sp>
        <p:sp>
          <p:nvSpPr>
            <p:cNvPr id="34" name="TextBox 34"/>
            <p:cNvSpPr txBox="1"/>
            <p:nvPr/>
          </p:nvSpPr>
          <p:spPr>
            <a:xfrm>
              <a:off x="0" y="-9525"/>
              <a:ext cx="4681728" cy="777621"/>
            </a:xfrm>
            <a:prstGeom prst="rect">
              <a:avLst/>
            </a:prstGeom>
          </p:spPr>
          <p:txBody>
            <a:bodyPr lIns="0" tIns="0" rIns="0" bIns="0" rtlCol="0" anchor="ctr"/>
            <a:lstStyle/>
            <a:p>
              <a:pPr algn="l">
                <a:lnSpc>
                  <a:spcPts val="2700"/>
                </a:lnSpc>
              </a:pPr>
              <a:r>
                <a:rPr lang="en-US" sz="2250" b="1">
                  <a:solidFill>
                    <a:srgbClr val="006838"/>
                  </a:solidFill>
                  <a:latin typeface="Montserrat Bold"/>
                  <a:ea typeface="Montserrat Bold"/>
                  <a:cs typeface="Montserrat Bold"/>
                  <a:sym typeface="Montserrat Bold"/>
                </a:rPr>
                <a:t>Capability · Năng lực</a:t>
              </a:r>
            </a:p>
          </p:txBody>
        </p:sp>
      </p:grpSp>
      <p:sp>
        <p:nvSpPr>
          <p:cNvPr id="35" name="TextBox 35"/>
          <p:cNvSpPr txBox="1"/>
          <p:nvPr/>
        </p:nvSpPr>
        <p:spPr>
          <a:xfrm>
            <a:off x="6940296" y="5302758"/>
            <a:ext cx="4402836" cy="1213537"/>
          </a:xfrm>
          <a:prstGeom prst="rect">
            <a:avLst/>
          </a:prstGeom>
        </p:spPr>
        <p:txBody>
          <a:bodyPr lIns="0" tIns="0" rIns="0" bIns="0" rtlCol="0" anchor="t">
            <a:spAutoFit/>
          </a:bodyPr>
          <a:lstStyle/>
          <a:p>
            <a:pPr algn="just">
              <a:lnSpc>
                <a:spcPts val="2430"/>
              </a:lnSpc>
            </a:pPr>
            <a:r>
              <a:rPr lang="en-US" sz="1875">
                <a:solidFill>
                  <a:srgbClr val="1E2B25"/>
                </a:solidFill>
                <a:latin typeface="Montserrat"/>
                <a:ea typeface="Montserrat"/>
                <a:cs typeface="Montserrat"/>
                <a:sym typeface="Montserrat"/>
              </a:rPr>
              <a:t>Cách tổ chức biến con người và tài năng thành kết quả thật - không chỉ là có người giỏi. Ability là hạ tầng, không phải thành tích cá nhân.</a:t>
            </a:r>
          </a:p>
        </p:txBody>
      </p:sp>
      <p:grpSp>
        <p:nvGrpSpPr>
          <p:cNvPr id="36" name="Group 36"/>
          <p:cNvGrpSpPr/>
          <p:nvPr/>
        </p:nvGrpSpPr>
        <p:grpSpPr>
          <a:xfrm>
            <a:off x="6766179" y="7328535"/>
            <a:ext cx="4751070" cy="1966722"/>
            <a:chOff x="0" y="0"/>
            <a:chExt cx="6334760" cy="2622296"/>
          </a:xfrm>
        </p:grpSpPr>
        <p:sp>
          <p:nvSpPr>
            <p:cNvPr id="37" name="Freeform 37"/>
            <p:cNvSpPr/>
            <p:nvPr/>
          </p:nvSpPr>
          <p:spPr>
            <a:xfrm>
              <a:off x="0" y="0"/>
              <a:ext cx="6334760" cy="2622296"/>
            </a:xfrm>
            <a:custGeom>
              <a:avLst/>
              <a:gdLst/>
              <a:ahLst/>
              <a:cxnLst/>
              <a:rect l="l" t="t" r="r" b="b"/>
              <a:pathLst>
                <a:path w="6334760" h="2622296">
                  <a:moveTo>
                    <a:pt x="0" y="147701"/>
                  </a:moveTo>
                  <a:cubicBezTo>
                    <a:pt x="0" y="66167"/>
                    <a:pt x="66167" y="0"/>
                    <a:pt x="147701" y="0"/>
                  </a:cubicBezTo>
                  <a:lnTo>
                    <a:pt x="6187059" y="0"/>
                  </a:lnTo>
                  <a:cubicBezTo>
                    <a:pt x="6268593" y="0"/>
                    <a:pt x="6334760" y="66167"/>
                    <a:pt x="6334760" y="147701"/>
                  </a:cubicBezTo>
                  <a:lnTo>
                    <a:pt x="6334760" y="2474595"/>
                  </a:lnTo>
                  <a:cubicBezTo>
                    <a:pt x="6334760" y="2556129"/>
                    <a:pt x="6268593" y="2622296"/>
                    <a:pt x="6187059" y="2622296"/>
                  </a:cubicBezTo>
                  <a:lnTo>
                    <a:pt x="147701" y="2622296"/>
                  </a:lnTo>
                  <a:cubicBezTo>
                    <a:pt x="66167" y="2622296"/>
                    <a:pt x="0" y="2556129"/>
                    <a:pt x="0" y="2474595"/>
                  </a:cubicBezTo>
                  <a:close/>
                </a:path>
              </a:pathLst>
            </a:custGeom>
            <a:solidFill>
              <a:srgbClr val="FFF1E5"/>
            </a:solidFill>
            <a:ln w="19050" cap="sq">
              <a:solidFill>
                <a:srgbClr val="FFF1E5"/>
              </a:solidFill>
              <a:prstDash val="solid"/>
              <a:miter/>
            </a:ln>
          </p:spPr>
        </p:sp>
      </p:grpSp>
      <p:grpSp>
        <p:nvGrpSpPr>
          <p:cNvPr id="38" name="Group 38"/>
          <p:cNvGrpSpPr/>
          <p:nvPr/>
        </p:nvGrpSpPr>
        <p:grpSpPr>
          <a:xfrm>
            <a:off x="6967728" y="7475220"/>
            <a:ext cx="4347972" cy="1714500"/>
            <a:chOff x="0" y="0"/>
            <a:chExt cx="5797296" cy="2286000"/>
          </a:xfrm>
        </p:grpSpPr>
        <p:sp>
          <p:nvSpPr>
            <p:cNvPr id="39" name="Freeform 39"/>
            <p:cNvSpPr/>
            <p:nvPr/>
          </p:nvSpPr>
          <p:spPr>
            <a:xfrm>
              <a:off x="0" y="0"/>
              <a:ext cx="5797296" cy="2286000"/>
            </a:xfrm>
            <a:custGeom>
              <a:avLst/>
              <a:gdLst/>
              <a:ahLst/>
              <a:cxnLst/>
              <a:rect l="l" t="t" r="r" b="b"/>
              <a:pathLst>
                <a:path w="5797296" h="2286000">
                  <a:moveTo>
                    <a:pt x="0" y="0"/>
                  </a:moveTo>
                  <a:lnTo>
                    <a:pt x="5797296" y="0"/>
                  </a:lnTo>
                  <a:lnTo>
                    <a:pt x="5797296" y="2286000"/>
                  </a:lnTo>
                  <a:lnTo>
                    <a:pt x="0" y="2286000"/>
                  </a:lnTo>
                  <a:close/>
                </a:path>
              </a:pathLst>
            </a:custGeom>
            <a:blipFill>
              <a:blip r:embed="rId3">
                <a:alphaModFix amt="0"/>
              </a:blip>
              <a:stretch>
                <a:fillRect l="-592" r="-592"/>
              </a:stretch>
            </a:blipFill>
          </p:spPr>
        </p:sp>
        <p:sp>
          <p:nvSpPr>
            <p:cNvPr id="40" name="TextBox 40"/>
            <p:cNvSpPr txBox="1"/>
            <p:nvPr/>
          </p:nvSpPr>
          <p:spPr>
            <a:xfrm>
              <a:off x="0" y="-19050"/>
              <a:ext cx="5797296" cy="2305050"/>
            </a:xfrm>
            <a:prstGeom prst="rect">
              <a:avLst/>
            </a:prstGeom>
          </p:spPr>
          <p:txBody>
            <a:bodyPr lIns="0" tIns="0" rIns="0" bIns="0" rtlCol="0" anchor="ctr"/>
            <a:lstStyle/>
            <a:p>
              <a:pPr algn="just">
                <a:lnSpc>
                  <a:spcPts val="2430"/>
                </a:lnSpc>
              </a:pPr>
              <a:r>
                <a:rPr lang="en-US" sz="1875">
                  <a:solidFill>
                    <a:srgbClr val="7A3500"/>
                  </a:solidFill>
                  <a:latin typeface="Montserrat"/>
                  <a:ea typeface="Montserrat"/>
                  <a:cs typeface="Montserrat"/>
                  <a:sym typeface="Montserrat"/>
                </a:rPr>
                <a:t>Tập trung vào việc đào tạo, nâng cao kỹ năng để nhân viên biết cách "nói chuyện" và làm việc hiệu quả với AI (Prompt Engineering, AI Workflow)</a:t>
              </a:r>
            </a:p>
          </p:txBody>
        </p:sp>
      </p:grpSp>
      <p:grpSp>
        <p:nvGrpSpPr>
          <p:cNvPr id="41" name="Group 41"/>
          <p:cNvGrpSpPr/>
          <p:nvPr/>
        </p:nvGrpSpPr>
        <p:grpSpPr>
          <a:xfrm>
            <a:off x="12227528" y="2050256"/>
            <a:ext cx="5240084" cy="7489507"/>
            <a:chOff x="0" y="0"/>
            <a:chExt cx="6986778" cy="9986010"/>
          </a:xfrm>
        </p:grpSpPr>
        <p:sp>
          <p:nvSpPr>
            <p:cNvPr id="42" name="Freeform 42"/>
            <p:cNvSpPr/>
            <p:nvPr/>
          </p:nvSpPr>
          <p:spPr>
            <a:xfrm>
              <a:off x="0" y="0"/>
              <a:ext cx="6986778" cy="9986010"/>
            </a:xfrm>
            <a:custGeom>
              <a:avLst/>
              <a:gdLst/>
              <a:ahLst/>
              <a:cxnLst/>
              <a:rect l="l" t="t" r="r" b="b"/>
              <a:pathLst>
                <a:path w="6986778" h="9986010">
                  <a:moveTo>
                    <a:pt x="0" y="220091"/>
                  </a:moveTo>
                  <a:cubicBezTo>
                    <a:pt x="0" y="98552"/>
                    <a:pt x="98552" y="0"/>
                    <a:pt x="220091" y="0"/>
                  </a:cubicBezTo>
                  <a:lnTo>
                    <a:pt x="6766687" y="0"/>
                  </a:lnTo>
                  <a:cubicBezTo>
                    <a:pt x="6888226" y="0"/>
                    <a:pt x="6986778" y="98552"/>
                    <a:pt x="6986778" y="220091"/>
                  </a:cubicBezTo>
                  <a:lnTo>
                    <a:pt x="6986778" y="9765919"/>
                  </a:lnTo>
                  <a:cubicBezTo>
                    <a:pt x="6986778" y="9887458"/>
                    <a:pt x="6888226" y="9986010"/>
                    <a:pt x="6766687" y="9986010"/>
                  </a:cubicBezTo>
                  <a:lnTo>
                    <a:pt x="220091" y="9986010"/>
                  </a:lnTo>
                  <a:cubicBezTo>
                    <a:pt x="98552" y="9986010"/>
                    <a:pt x="0" y="9887458"/>
                    <a:pt x="0" y="9765919"/>
                  </a:cubicBezTo>
                  <a:close/>
                </a:path>
              </a:pathLst>
            </a:custGeom>
            <a:solidFill>
              <a:srgbClr val="FFFFFF"/>
            </a:solidFill>
            <a:ln w="14288" cap="sq">
              <a:solidFill>
                <a:srgbClr val="DCE6E0"/>
              </a:solidFill>
              <a:prstDash val="solid"/>
              <a:miter/>
            </a:ln>
          </p:spPr>
        </p:sp>
      </p:grpSp>
      <p:grpSp>
        <p:nvGrpSpPr>
          <p:cNvPr id="43" name="Group 43"/>
          <p:cNvGrpSpPr/>
          <p:nvPr/>
        </p:nvGrpSpPr>
        <p:grpSpPr>
          <a:xfrm>
            <a:off x="12481560" y="2304288"/>
            <a:ext cx="4732020" cy="2125980"/>
            <a:chOff x="0" y="0"/>
            <a:chExt cx="6309360" cy="2834640"/>
          </a:xfrm>
        </p:grpSpPr>
        <p:sp>
          <p:nvSpPr>
            <p:cNvPr id="44" name="Freeform 44" descr="/tmp/claude-0/-home-claude/f2393a9e-ecac-5976-acd4-5fd24e92a8fe/scratchpad/assets/ring2.png"/>
            <p:cNvSpPr/>
            <p:nvPr/>
          </p:nvSpPr>
          <p:spPr>
            <a:xfrm>
              <a:off x="0" y="0"/>
              <a:ext cx="6309360" cy="2834640"/>
            </a:xfrm>
            <a:custGeom>
              <a:avLst/>
              <a:gdLst/>
              <a:ahLst/>
              <a:cxnLst/>
              <a:rect l="l" t="t" r="r" b="b"/>
              <a:pathLst>
                <a:path w="6309360" h="2834640">
                  <a:moveTo>
                    <a:pt x="0" y="0"/>
                  </a:moveTo>
                  <a:lnTo>
                    <a:pt x="6309360" y="0"/>
                  </a:lnTo>
                  <a:lnTo>
                    <a:pt x="6309360" y="2834640"/>
                  </a:lnTo>
                  <a:lnTo>
                    <a:pt x="0" y="2834640"/>
                  </a:lnTo>
                  <a:lnTo>
                    <a:pt x="0" y="0"/>
                  </a:lnTo>
                  <a:close/>
                </a:path>
              </a:pathLst>
            </a:custGeom>
            <a:blipFill>
              <a:blip r:embed="rId8"/>
              <a:stretch>
                <a:fillRect b="-24714"/>
              </a:stretch>
            </a:blipFill>
          </p:spPr>
        </p:sp>
      </p:grpSp>
      <p:grpSp>
        <p:nvGrpSpPr>
          <p:cNvPr id="45" name="Group 45"/>
          <p:cNvGrpSpPr/>
          <p:nvPr/>
        </p:nvGrpSpPr>
        <p:grpSpPr>
          <a:xfrm>
            <a:off x="12636627" y="4036695"/>
            <a:ext cx="869442" cy="869442"/>
            <a:chOff x="0" y="0"/>
            <a:chExt cx="1159256" cy="1159256"/>
          </a:xfrm>
        </p:grpSpPr>
        <p:sp>
          <p:nvSpPr>
            <p:cNvPr id="46" name="Freeform 46"/>
            <p:cNvSpPr/>
            <p:nvPr/>
          </p:nvSpPr>
          <p:spPr>
            <a:xfrm>
              <a:off x="0" y="0"/>
              <a:ext cx="1159256" cy="1159256"/>
            </a:xfrm>
            <a:custGeom>
              <a:avLst/>
              <a:gdLst/>
              <a:ahLst/>
              <a:cxnLst/>
              <a:rect l="l" t="t" r="r" b="b"/>
              <a:pathLst>
                <a:path w="1159256" h="1159256">
                  <a:moveTo>
                    <a:pt x="0" y="579628"/>
                  </a:moveTo>
                  <a:cubicBezTo>
                    <a:pt x="0" y="259461"/>
                    <a:pt x="259461" y="0"/>
                    <a:pt x="579628" y="0"/>
                  </a:cubicBezTo>
                  <a:cubicBezTo>
                    <a:pt x="899795" y="0"/>
                    <a:pt x="1159256" y="259461"/>
                    <a:pt x="1159256" y="579628"/>
                  </a:cubicBezTo>
                  <a:cubicBezTo>
                    <a:pt x="1159256" y="899795"/>
                    <a:pt x="899795" y="1159256"/>
                    <a:pt x="579628" y="1159256"/>
                  </a:cubicBezTo>
                  <a:cubicBezTo>
                    <a:pt x="259461" y="1159256"/>
                    <a:pt x="0" y="899795"/>
                    <a:pt x="0" y="579628"/>
                  </a:cubicBezTo>
                  <a:close/>
                </a:path>
              </a:pathLst>
            </a:custGeom>
            <a:solidFill>
              <a:srgbClr val="006838"/>
            </a:solidFill>
            <a:ln w="19050" cap="sq">
              <a:solidFill>
                <a:srgbClr val="006838"/>
              </a:solidFill>
              <a:prstDash val="solid"/>
              <a:miter/>
            </a:ln>
          </p:spPr>
        </p:sp>
      </p:grpSp>
      <p:grpSp>
        <p:nvGrpSpPr>
          <p:cNvPr id="47" name="Group 47"/>
          <p:cNvGrpSpPr/>
          <p:nvPr/>
        </p:nvGrpSpPr>
        <p:grpSpPr>
          <a:xfrm>
            <a:off x="12858750" y="4258818"/>
            <a:ext cx="425196" cy="425196"/>
            <a:chOff x="0" y="0"/>
            <a:chExt cx="566928" cy="566928"/>
          </a:xfrm>
        </p:grpSpPr>
        <p:sp>
          <p:nvSpPr>
            <p:cNvPr id="48" name="Freeform 48" descr="preencoded.png"/>
            <p:cNvSpPr/>
            <p:nvPr/>
          </p:nvSpPr>
          <p:spPr>
            <a:xfrm>
              <a:off x="0" y="0"/>
              <a:ext cx="566928" cy="566928"/>
            </a:xfrm>
            <a:custGeom>
              <a:avLst/>
              <a:gdLst/>
              <a:ahLst/>
              <a:cxnLst/>
              <a:rect l="l" t="t" r="r" b="b"/>
              <a:pathLst>
                <a:path w="566928" h="566928">
                  <a:moveTo>
                    <a:pt x="0" y="0"/>
                  </a:moveTo>
                  <a:lnTo>
                    <a:pt x="566928" y="0"/>
                  </a:lnTo>
                  <a:lnTo>
                    <a:pt x="566928" y="566928"/>
                  </a:lnTo>
                  <a:lnTo>
                    <a:pt x="0" y="566928"/>
                  </a:lnTo>
                  <a:lnTo>
                    <a:pt x="0" y="0"/>
                  </a:lnTo>
                  <a:close/>
                </a:path>
              </a:pathLst>
            </a:custGeom>
            <a:blipFill>
              <a:blip r:embed="rId9"/>
              <a:stretch>
                <a:fillRect/>
              </a:stretch>
            </a:blipFill>
          </p:spPr>
        </p:sp>
      </p:grpSp>
      <p:grpSp>
        <p:nvGrpSpPr>
          <p:cNvPr id="49" name="Group 49"/>
          <p:cNvGrpSpPr/>
          <p:nvPr/>
        </p:nvGrpSpPr>
        <p:grpSpPr>
          <a:xfrm>
            <a:off x="13674852" y="4553712"/>
            <a:ext cx="3511296" cy="576072"/>
            <a:chOff x="0" y="0"/>
            <a:chExt cx="4681728" cy="768096"/>
          </a:xfrm>
        </p:grpSpPr>
        <p:sp>
          <p:nvSpPr>
            <p:cNvPr id="50" name="Freeform 50"/>
            <p:cNvSpPr/>
            <p:nvPr/>
          </p:nvSpPr>
          <p:spPr>
            <a:xfrm>
              <a:off x="0" y="0"/>
              <a:ext cx="4681728" cy="768096"/>
            </a:xfrm>
            <a:custGeom>
              <a:avLst/>
              <a:gdLst/>
              <a:ahLst/>
              <a:cxnLst/>
              <a:rect l="l" t="t" r="r" b="b"/>
              <a:pathLst>
                <a:path w="4681728" h="768096">
                  <a:moveTo>
                    <a:pt x="0" y="0"/>
                  </a:moveTo>
                  <a:lnTo>
                    <a:pt x="4681728" y="0"/>
                  </a:lnTo>
                  <a:lnTo>
                    <a:pt x="4681728" y="768096"/>
                  </a:lnTo>
                  <a:lnTo>
                    <a:pt x="0" y="768096"/>
                  </a:lnTo>
                  <a:close/>
                </a:path>
              </a:pathLst>
            </a:custGeom>
            <a:blipFill>
              <a:blip r:embed="rId3">
                <a:alphaModFix amt="0"/>
              </a:blip>
              <a:stretch>
                <a:fillRect t="-68765" b="-68765"/>
              </a:stretch>
            </a:blipFill>
          </p:spPr>
        </p:sp>
        <p:sp>
          <p:nvSpPr>
            <p:cNvPr id="51" name="TextBox 51"/>
            <p:cNvSpPr txBox="1"/>
            <p:nvPr/>
          </p:nvSpPr>
          <p:spPr>
            <a:xfrm>
              <a:off x="0" y="-9525"/>
              <a:ext cx="4681728" cy="777621"/>
            </a:xfrm>
            <a:prstGeom prst="rect">
              <a:avLst/>
            </a:prstGeom>
          </p:spPr>
          <p:txBody>
            <a:bodyPr lIns="0" tIns="0" rIns="0" bIns="0" rtlCol="0" anchor="ctr"/>
            <a:lstStyle/>
            <a:p>
              <a:pPr algn="l">
                <a:lnSpc>
                  <a:spcPts val="2700"/>
                </a:lnSpc>
              </a:pPr>
              <a:r>
                <a:rPr lang="en-US" sz="2250" b="1">
                  <a:solidFill>
                    <a:srgbClr val="006838"/>
                  </a:solidFill>
                  <a:latin typeface="Montserrat Bold"/>
                  <a:ea typeface="Montserrat Bold"/>
                  <a:cs typeface="Montserrat Bold"/>
                  <a:sym typeface="Montserrat Bold"/>
                </a:rPr>
                <a:t>Culture · Văn hoá</a:t>
              </a:r>
            </a:p>
          </p:txBody>
        </p:sp>
      </p:grpSp>
      <p:sp>
        <p:nvSpPr>
          <p:cNvPr id="52" name="TextBox 52"/>
          <p:cNvSpPr txBox="1"/>
          <p:nvPr/>
        </p:nvSpPr>
        <p:spPr>
          <a:xfrm>
            <a:off x="12646152" y="5302758"/>
            <a:ext cx="4402836" cy="1521314"/>
          </a:xfrm>
          <a:prstGeom prst="rect">
            <a:avLst/>
          </a:prstGeom>
        </p:spPr>
        <p:txBody>
          <a:bodyPr lIns="0" tIns="0" rIns="0" bIns="0" rtlCol="0" anchor="t">
            <a:spAutoFit/>
          </a:bodyPr>
          <a:lstStyle/>
          <a:p>
            <a:pPr algn="just">
              <a:lnSpc>
                <a:spcPts val="2430"/>
              </a:lnSpc>
            </a:pPr>
            <a:r>
              <a:rPr lang="en-US" sz="1875">
                <a:solidFill>
                  <a:srgbClr val="1E2B25"/>
                </a:solidFill>
                <a:latin typeface="Montserrat"/>
                <a:ea typeface="Montserrat"/>
                <a:cs typeface="Montserrat"/>
                <a:sym typeface="Montserrat"/>
              </a:rPr>
              <a:t>Điều thực sự định hình hành vi hàng ngày, kể cả khi không ai đang nhìn. Văn hoá là kết quả của hệ thống quản trị - không phải khẩu hiệu trên tường.</a:t>
            </a:r>
          </a:p>
        </p:txBody>
      </p:sp>
      <p:grpSp>
        <p:nvGrpSpPr>
          <p:cNvPr id="53" name="Group 53"/>
          <p:cNvGrpSpPr/>
          <p:nvPr/>
        </p:nvGrpSpPr>
        <p:grpSpPr>
          <a:xfrm>
            <a:off x="12472035" y="7328535"/>
            <a:ext cx="4751070" cy="1966722"/>
            <a:chOff x="0" y="0"/>
            <a:chExt cx="6334760" cy="2622296"/>
          </a:xfrm>
        </p:grpSpPr>
        <p:sp>
          <p:nvSpPr>
            <p:cNvPr id="54" name="Freeform 54"/>
            <p:cNvSpPr/>
            <p:nvPr/>
          </p:nvSpPr>
          <p:spPr>
            <a:xfrm>
              <a:off x="0" y="0"/>
              <a:ext cx="6334760" cy="2622296"/>
            </a:xfrm>
            <a:custGeom>
              <a:avLst/>
              <a:gdLst/>
              <a:ahLst/>
              <a:cxnLst/>
              <a:rect l="l" t="t" r="r" b="b"/>
              <a:pathLst>
                <a:path w="6334760" h="2622296">
                  <a:moveTo>
                    <a:pt x="0" y="147701"/>
                  </a:moveTo>
                  <a:cubicBezTo>
                    <a:pt x="0" y="66167"/>
                    <a:pt x="66167" y="0"/>
                    <a:pt x="147701" y="0"/>
                  </a:cubicBezTo>
                  <a:lnTo>
                    <a:pt x="6187059" y="0"/>
                  </a:lnTo>
                  <a:cubicBezTo>
                    <a:pt x="6268593" y="0"/>
                    <a:pt x="6334760" y="66167"/>
                    <a:pt x="6334760" y="147701"/>
                  </a:cubicBezTo>
                  <a:lnTo>
                    <a:pt x="6334760" y="2474595"/>
                  </a:lnTo>
                  <a:cubicBezTo>
                    <a:pt x="6334760" y="2556129"/>
                    <a:pt x="6268593" y="2622296"/>
                    <a:pt x="6187059" y="2622296"/>
                  </a:cubicBezTo>
                  <a:lnTo>
                    <a:pt x="147701" y="2622296"/>
                  </a:lnTo>
                  <a:cubicBezTo>
                    <a:pt x="66167" y="2622296"/>
                    <a:pt x="0" y="2556129"/>
                    <a:pt x="0" y="2474595"/>
                  </a:cubicBezTo>
                  <a:close/>
                </a:path>
              </a:pathLst>
            </a:custGeom>
            <a:solidFill>
              <a:srgbClr val="FFF1E5"/>
            </a:solidFill>
            <a:ln w="19050" cap="sq">
              <a:solidFill>
                <a:srgbClr val="FFF1E5"/>
              </a:solidFill>
              <a:prstDash val="solid"/>
              <a:miter/>
            </a:ln>
          </p:spPr>
        </p:sp>
      </p:grpSp>
      <p:grpSp>
        <p:nvGrpSpPr>
          <p:cNvPr id="55" name="Group 55"/>
          <p:cNvGrpSpPr/>
          <p:nvPr/>
        </p:nvGrpSpPr>
        <p:grpSpPr>
          <a:xfrm>
            <a:off x="12673584" y="7475220"/>
            <a:ext cx="4347972" cy="1714500"/>
            <a:chOff x="0" y="0"/>
            <a:chExt cx="5797296" cy="2286000"/>
          </a:xfrm>
        </p:grpSpPr>
        <p:sp>
          <p:nvSpPr>
            <p:cNvPr id="56" name="Freeform 56"/>
            <p:cNvSpPr/>
            <p:nvPr/>
          </p:nvSpPr>
          <p:spPr>
            <a:xfrm>
              <a:off x="0" y="0"/>
              <a:ext cx="5797296" cy="2286000"/>
            </a:xfrm>
            <a:custGeom>
              <a:avLst/>
              <a:gdLst/>
              <a:ahLst/>
              <a:cxnLst/>
              <a:rect l="l" t="t" r="r" b="b"/>
              <a:pathLst>
                <a:path w="5797296" h="2286000">
                  <a:moveTo>
                    <a:pt x="0" y="0"/>
                  </a:moveTo>
                  <a:lnTo>
                    <a:pt x="5797296" y="0"/>
                  </a:lnTo>
                  <a:lnTo>
                    <a:pt x="5797296" y="2286000"/>
                  </a:lnTo>
                  <a:lnTo>
                    <a:pt x="0" y="2286000"/>
                  </a:lnTo>
                  <a:close/>
                </a:path>
              </a:pathLst>
            </a:custGeom>
            <a:blipFill>
              <a:blip r:embed="rId3">
                <a:alphaModFix amt="0"/>
              </a:blip>
              <a:stretch>
                <a:fillRect l="-592" r="-592"/>
              </a:stretch>
            </a:blipFill>
          </p:spPr>
        </p:sp>
        <p:sp>
          <p:nvSpPr>
            <p:cNvPr id="57" name="TextBox 57"/>
            <p:cNvSpPr txBox="1"/>
            <p:nvPr/>
          </p:nvSpPr>
          <p:spPr>
            <a:xfrm>
              <a:off x="0" y="-19050"/>
              <a:ext cx="5797296" cy="2305050"/>
            </a:xfrm>
            <a:prstGeom prst="rect">
              <a:avLst/>
            </a:prstGeom>
          </p:spPr>
          <p:txBody>
            <a:bodyPr lIns="0" tIns="0" rIns="0" bIns="0" rtlCol="0" anchor="ctr"/>
            <a:lstStyle/>
            <a:p>
              <a:pPr algn="just">
                <a:lnSpc>
                  <a:spcPts val="2430"/>
                </a:lnSpc>
              </a:pPr>
              <a:r>
                <a:rPr lang="en-US" sz="1875">
                  <a:solidFill>
                    <a:srgbClr val="7A3500"/>
                  </a:solidFill>
                  <a:latin typeface="Montserrat"/>
                  <a:ea typeface="Montserrat"/>
                  <a:cs typeface="Montserrat"/>
                  <a:sym typeface="Montserrat"/>
                </a:rPr>
                <a:t>Xây dựng môi trường chấp nhận rủi ro, khuyến khích thử nghiệm. Tư duy "Context thay cho SOP".</a:t>
              </a:r>
            </a:p>
          </p:txBody>
        </p:sp>
      </p:gr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4"/>
          <p:cNvGrpSpPr/>
          <p:nvPr/>
        </p:nvGrpSpPr>
        <p:grpSpPr>
          <a:xfrm>
            <a:off x="-9525" y="-9525"/>
            <a:ext cx="6328410" cy="10306050"/>
            <a:chOff x="0" y="0"/>
            <a:chExt cx="8437880" cy="13741400"/>
          </a:xfrm>
        </p:grpSpPr>
        <p:sp>
          <p:nvSpPr>
            <p:cNvPr id="5" name="Freeform 5"/>
            <p:cNvSpPr/>
            <p:nvPr/>
          </p:nvSpPr>
          <p:spPr>
            <a:xfrm>
              <a:off x="0" y="0"/>
              <a:ext cx="8437880" cy="13741400"/>
            </a:xfrm>
            <a:custGeom>
              <a:avLst/>
              <a:gdLst/>
              <a:ahLst/>
              <a:cxnLst/>
              <a:rect l="l" t="t" r="r" b="b"/>
              <a:pathLst>
                <a:path w="8437880" h="13741400">
                  <a:moveTo>
                    <a:pt x="0" y="0"/>
                  </a:moveTo>
                  <a:lnTo>
                    <a:pt x="8437880" y="0"/>
                  </a:lnTo>
                  <a:lnTo>
                    <a:pt x="8437880" y="13741400"/>
                  </a:lnTo>
                  <a:lnTo>
                    <a:pt x="0" y="13741400"/>
                  </a:lnTo>
                  <a:close/>
                </a:path>
              </a:pathLst>
            </a:custGeom>
            <a:solidFill>
              <a:srgbClr val="006838"/>
            </a:solidFill>
            <a:ln w="19050" cap="sq">
              <a:solidFill>
                <a:srgbClr val="006838"/>
              </a:solidFill>
              <a:prstDash val="solid"/>
              <a:miter/>
            </a:ln>
          </p:spPr>
        </p:sp>
      </p:grpSp>
      <p:grpSp>
        <p:nvGrpSpPr>
          <p:cNvPr id="6" name="Group 6"/>
          <p:cNvGrpSpPr/>
          <p:nvPr/>
        </p:nvGrpSpPr>
        <p:grpSpPr>
          <a:xfrm>
            <a:off x="1343025" y="3331845"/>
            <a:ext cx="3623310" cy="3623310"/>
            <a:chOff x="0" y="0"/>
            <a:chExt cx="4831080" cy="4831080"/>
          </a:xfrm>
        </p:grpSpPr>
        <p:sp>
          <p:nvSpPr>
            <p:cNvPr id="7" name="Freeform 7"/>
            <p:cNvSpPr/>
            <p:nvPr/>
          </p:nvSpPr>
          <p:spPr>
            <a:xfrm>
              <a:off x="0" y="0"/>
              <a:ext cx="4831080" cy="4831080"/>
            </a:xfrm>
            <a:custGeom>
              <a:avLst/>
              <a:gdLst/>
              <a:ahLst/>
              <a:cxnLst/>
              <a:rect l="l" t="t" r="r" b="b"/>
              <a:pathLst>
                <a:path w="4831080" h="4831080">
                  <a:moveTo>
                    <a:pt x="0" y="2415540"/>
                  </a:moveTo>
                  <a:cubicBezTo>
                    <a:pt x="0" y="1081532"/>
                    <a:pt x="1081532" y="0"/>
                    <a:pt x="2415540" y="0"/>
                  </a:cubicBezTo>
                  <a:cubicBezTo>
                    <a:pt x="3749548" y="0"/>
                    <a:pt x="4831080" y="1081532"/>
                    <a:pt x="4831080" y="2415540"/>
                  </a:cubicBezTo>
                  <a:cubicBezTo>
                    <a:pt x="4831080" y="3749548"/>
                    <a:pt x="3749548" y="4831080"/>
                    <a:pt x="2415540" y="4831080"/>
                  </a:cubicBezTo>
                  <a:cubicBezTo>
                    <a:pt x="1081532" y="4831080"/>
                    <a:pt x="0" y="3749548"/>
                    <a:pt x="0" y="2415540"/>
                  </a:cubicBezTo>
                  <a:close/>
                </a:path>
              </a:pathLst>
            </a:custGeom>
            <a:solidFill>
              <a:srgbClr val="004A28"/>
            </a:solidFill>
            <a:ln w="57150" cap="sq">
              <a:solidFill>
                <a:schemeClr val="bg1"/>
              </a:solidFill>
              <a:prstDash val="solid"/>
              <a:miter/>
            </a:ln>
          </p:spPr>
        </p:sp>
      </p:grpSp>
      <p:grpSp>
        <p:nvGrpSpPr>
          <p:cNvPr id="8" name="Group 8"/>
          <p:cNvGrpSpPr/>
          <p:nvPr/>
        </p:nvGrpSpPr>
        <p:grpSpPr>
          <a:xfrm>
            <a:off x="2263140" y="4251960"/>
            <a:ext cx="1783080" cy="1783080"/>
            <a:chOff x="0" y="0"/>
            <a:chExt cx="2377440" cy="2377440"/>
          </a:xfrm>
        </p:grpSpPr>
        <p:sp>
          <p:nvSpPr>
            <p:cNvPr id="9" name="Freeform 9" descr="preencoded.png"/>
            <p:cNvSpPr/>
            <p:nvPr/>
          </p:nvSpPr>
          <p:spPr>
            <a:xfrm>
              <a:off x="0" y="0"/>
              <a:ext cx="2377440" cy="2377440"/>
            </a:xfrm>
            <a:custGeom>
              <a:avLst/>
              <a:gdLst/>
              <a:ahLst/>
              <a:cxnLst/>
              <a:rect l="l" t="t" r="r" b="b"/>
              <a:pathLst>
                <a:path w="2377440" h="2377440">
                  <a:moveTo>
                    <a:pt x="0" y="0"/>
                  </a:moveTo>
                  <a:lnTo>
                    <a:pt x="2377440" y="0"/>
                  </a:lnTo>
                  <a:lnTo>
                    <a:pt x="2377440" y="2377440"/>
                  </a:lnTo>
                  <a:lnTo>
                    <a:pt x="0" y="2377440"/>
                  </a:lnTo>
                  <a:lnTo>
                    <a:pt x="0" y="0"/>
                  </a:lnTo>
                  <a:close/>
                </a:path>
              </a:pathLst>
            </a:custGeom>
            <a:blipFill>
              <a:blip r:embed="rId3"/>
              <a:stretch>
                <a:fillRect/>
              </a:stretch>
            </a:blipFill>
          </p:spPr>
        </p:sp>
      </p:grpSp>
      <p:grpSp>
        <p:nvGrpSpPr>
          <p:cNvPr id="10" name="Group 10"/>
          <p:cNvGrpSpPr/>
          <p:nvPr/>
        </p:nvGrpSpPr>
        <p:grpSpPr>
          <a:xfrm>
            <a:off x="7269480" y="2400300"/>
            <a:ext cx="10149840" cy="1645920"/>
            <a:chOff x="0" y="0"/>
            <a:chExt cx="13533120" cy="2194560"/>
          </a:xfrm>
        </p:grpSpPr>
        <p:sp>
          <p:nvSpPr>
            <p:cNvPr id="11" name="Freeform 11"/>
            <p:cNvSpPr/>
            <p:nvPr/>
          </p:nvSpPr>
          <p:spPr>
            <a:xfrm>
              <a:off x="0" y="0"/>
              <a:ext cx="13533120" cy="2194560"/>
            </a:xfrm>
            <a:custGeom>
              <a:avLst/>
              <a:gdLst/>
              <a:ahLst/>
              <a:cxnLst/>
              <a:rect l="l" t="t" r="r" b="b"/>
              <a:pathLst>
                <a:path w="13533120" h="2194560">
                  <a:moveTo>
                    <a:pt x="0" y="0"/>
                  </a:moveTo>
                  <a:lnTo>
                    <a:pt x="13533120" y="0"/>
                  </a:lnTo>
                  <a:lnTo>
                    <a:pt x="13533120" y="2194560"/>
                  </a:lnTo>
                  <a:lnTo>
                    <a:pt x="0" y="2194560"/>
                  </a:lnTo>
                  <a:close/>
                </a:path>
              </a:pathLst>
            </a:custGeom>
            <a:blipFill>
              <a:blip r:embed="rId4">
                <a:alphaModFix amt="0"/>
              </a:blip>
              <a:stretch>
                <a:fillRect t="-70157" b="-70157"/>
              </a:stretch>
            </a:blipFill>
          </p:spPr>
        </p:sp>
        <p:sp>
          <p:nvSpPr>
            <p:cNvPr id="12" name="TextBox 12"/>
            <p:cNvSpPr txBox="1"/>
            <p:nvPr/>
          </p:nvSpPr>
          <p:spPr>
            <a:xfrm>
              <a:off x="0" y="0"/>
              <a:ext cx="13533120" cy="2194560"/>
            </a:xfrm>
            <a:prstGeom prst="rect">
              <a:avLst/>
            </a:prstGeom>
          </p:spPr>
          <p:txBody>
            <a:bodyPr lIns="0" tIns="0" rIns="0" bIns="0" rtlCol="0" anchor="b"/>
            <a:lstStyle/>
            <a:p>
              <a:pPr algn="l">
                <a:lnSpc>
                  <a:spcPts val="9720"/>
                </a:lnSpc>
              </a:pPr>
              <a:r>
                <a:rPr lang="en-US" sz="8100" b="1">
                  <a:solidFill>
                    <a:srgbClr val="006838"/>
                  </a:solidFill>
                  <a:latin typeface="Montserrat Bold"/>
                  <a:ea typeface="Montserrat Bold"/>
                  <a:cs typeface="Montserrat Bold"/>
                  <a:sym typeface="Montserrat Bold"/>
                </a:rPr>
                <a:t>CAPABILITY</a:t>
              </a:r>
            </a:p>
          </p:txBody>
        </p:sp>
      </p:grpSp>
      <p:sp>
        <p:nvSpPr>
          <p:cNvPr id="13" name="TextBox 13"/>
          <p:cNvSpPr txBox="1"/>
          <p:nvPr/>
        </p:nvSpPr>
        <p:spPr>
          <a:xfrm>
            <a:off x="7269480" y="4114800"/>
            <a:ext cx="10149840" cy="960120"/>
          </a:xfrm>
          <a:prstGeom prst="rect">
            <a:avLst/>
          </a:prstGeom>
        </p:spPr>
        <p:txBody>
          <a:bodyPr lIns="0" tIns="0" rIns="0" bIns="0" rtlCol="0" anchor="t">
            <a:spAutoFit/>
          </a:bodyPr>
          <a:lstStyle/>
          <a:p>
            <a:pPr algn="l">
              <a:lnSpc>
                <a:spcPts val="5040"/>
              </a:lnSpc>
            </a:pPr>
            <a:r>
              <a:rPr lang="en-US" sz="4200" b="1">
                <a:solidFill>
                  <a:srgbClr val="FF7300"/>
                </a:solidFill>
                <a:latin typeface="Montserrat Bold"/>
                <a:ea typeface="Montserrat Bold"/>
                <a:cs typeface="Montserrat Bold"/>
                <a:sym typeface="Montserrat Bold"/>
              </a:rPr>
              <a:t>Năng lực</a:t>
            </a:r>
          </a:p>
        </p:txBody>
      </p:sp>
      <p:sp>
        <p:nvSpPr>
          <p:cNvPr id="14" name="TextBox 14"/>
          <p:cNvSpPr txBox="1"/>
          <p:nvPr/>
        </p:nvSpPr>
        <p:spPr>
          <a:xfrm>
            <a:off x="7269480" y="5419725"/>
            <a:ext cx="9875520" cy="1611531"/>
          </a:xfrm>
          <a:prstGeom prst="rect">
            <a:avLst/>
          </a:prstGeom>
        </p:spPr>
        <p:txBody>
          <a:bodyPr lIns="0" tIns="0" rIns="0" bIns="0" rtlCol="0" anchor="t">
            <a:spAutoFit/>
          </a:bodyPr>
          <a:lstStyle/>
          <a:p>
            <a:pPr algn="just">
              <a:lnSpc>
                <a:spcPts val="4320"/>
              </a:lnSpc>
            </a:pPr>
            <a:r>
              <a:rPr lang="en-US" sz="3000" i="1">
                <a:solidFill>
                  <a:srgbClr val="1E2B25"/>
                </a:solidFill>
                <a:latin typeface="Montserrat Italics"/>
                <a:ea typeface="Montserrat Italics"/>
                <a:cs typeface="Montserrat Italics"/>
                <a:sym typeface="Montserrat Italics"/>
              </a:rPr>
              <a:t>Ability không phải Talent - là cách tổ chức biến con người giỏi thành kết quả thật. Năng lực là hạ tầng tập thể, không phải thành tích cá nhân.</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6527780" y="438912"/>
            <a:ext cx="1097280" cy="822960"/>
            <a:chOff x="0" y="0"/>
            <a:chExt cx="1463040" cy="1097280"/>
          </a:xfrm>
        </p:grpSpPr>
        <p:sp>
          <p:nvSpPr>
            <p:cNvPr id="3" name="Freeform 3" descr="/tmp/claude-0/-home-claude/f2393a9e-ecac-5976-acd4-5fd24e92a8fe/scratchpad/assets/logo.jpg"/>
            <p:cNvSpPr/>
            <p:nvPr/>
          </p:nvSpPr>
          <p:spPr>
            <a:xfrm>
              <a:off x="0" y="0"/>
              <a:ext cx="1463040" cy="1097280"/>
            </a:xfrm>
            <a:custGeom>
              <a:avLst/>
              <a:gdLst/>
              <a:ahLst/>
              <a:cxnLst/>
              <a:rect l="l" t="t" r="r" b="b"/>
              <a:pathLst>
                <a:path w="1463040" h="1097280">
                  <a:moveTo>
                    <a:pt x="0" y="0"/>
                  </a:moveTo>
                  <a:lnTo>
                    <a:pt x="1463040" y="0"/>
                  </a:lnTo>
                  <a:lnTo>
                    <a:pt x="1463040" y="1097280"/>
                  </a:lnTo>
                  <a:lnTo>
                    <a:pt x="0" y="1097280"/>
                  </a:lnTo>
                  <a:lnTo>
                    <a:pt x="0" y="0"/>
                  </a:lnTo>
                  <a:close/>
                </a:path>
              </a:pathLst>
            </a:custGeom>
            <a:blipFill>
              <a:blip r:embed="rId3"/>
              <a:stretch>
                <a:fillRect/>
              </a:stretch>
            </a:blipFill>
          </p:spPr>
        </p:sp>
      </p:grpSp>
      <p:grpSp>
        <p:nvGrpSpPr>
          <p:cNvPr id="4" name="Group 4"/>
          <p:cNvGrpSpPr/>
          <p:nvPr/>
        </p:nvGrpSpPr>
        <p:grpSpPr>
          <a:xfrm>
            <a:off x="822960" y="411480"/>
            <a:ext cx="15361920" cy="1371600"/>
            <a:chOff x="0" y="0"/>
            <a:chExt cx="20482560" cy="1828800"/>
          </a:xfrm>
        </p:grpSpPr>
        <p:sp>
          <p:nvSpPr>
            <p:cNvPr id="5" name="Freeform 5"/>
            <p:cNvSpPr/>
            <p:nvPr/>
          </p:nvSpPr>
          <p:spPr>
            <a:xfrm>
              <a:off x="0" y="0"/>
              <a:ext cx="20482561" cy="1828800"/>
            </a:xfrm>
            <a:custGeom>
              <a:avLst/>
              <a:gdLst/>
              <a:ahLst/>
              <a:cxnLst/>
              <a:rect l="l" t="t" r="r" b="b"/>
              <a:pathLst>
                <a:path w="20482561" h="1828800">
                  <a:moveTo>
                    <a:pt x="0" y="0"/>
                  </a:moveTo>
                  <a:lnTo>
                    <a:pt x="20482561" y="0"/>
                  </a:lnTo>
                  <a:lnTo>
                    <a:pt x="20482561" y="1828800"/>
                  </a:lnTo>
                  <a:lnTo>
                    <a:pt x="0" y="1828800"/>
                  </a:lnTo>
                  <a:close/>
                </a:path>
              </a:pathLst>
            </a:custGeom>
            <a:blipFill>
              <a:blip r:embed="rId4">
                <a:alphaModFix amt="0"/>
              </a:blip>
              <a:stretch>
                <a:fillRect t="-168232" b="-168232"/>
              </a:stretch>
            </a:blipFill>
          </p:spPr>
        </p:sp>
        <p:sp>
          <p:nvSpPr>
            <p:cNvPr id="6" name="TextBox 6"/>
            <p:cNvSpPr txBox="1"/>
            <p:nvPr/>
          </p:nvSpPr>
          <p:spPr>
            <a:xfrm>
              <a:off x="0" y="0"/>
              <a:ext cx="20482560" cy="1828800"/>
            </a:xfrm>
            <a:prstGeom prst="rect">
              <a:avLst/>
            </a:prstGeom>
          </p:spPr>
          <p:txBody>
            <a:bodyPr lIns="0" tIns="0" rIns="0" bIns="0" rtlCol="0" anchor="ctr"/>
            <a:lstStyle/>
            <a:p>
              <a:pPr algn="l">
                <a:lnSpc>
                  <a:spcPts val="4680"/>
                </a:lnSpc>
              </a:pPr>
              <a:r>
                <a:rPr lang="en-US" sz="3900" b="1">
                  <a:solidFill>
                    <a:srgbClr val="006838"/>
                  </a:solidFill>
                  <a:latin typeface="Montserrat Bold"/>
                  <a:ea typeface="Montserrat Bold"/>
                  <a:cs typeface="Montserrat Bold"/>
                  <a:sym typeface="Montserrat Bold"/>
                </a:rPr>
                <a:t>BẮT ĐẦU TỪ NĂNG LỰC –</a:t>
              </a:r>
            </a:p>
            <a:p>
              <a:pPr algn="l">
                <a:lnSpc>
                  <a:spcPts val="4680"/>
                </a:lnSpc>
              </a:pPr>
              <a:r>
                <a:rPr lang="en-US" sz="3900" b="1">
                  <a:solidFill>
                    <a:srgbClr val="FF7300"/>
                  </a:solidFill>
                  <a:latin typeface="Montserrat Bold"/>
                  <a:ea typeface="Montserrat Bold"/>
                  <a:cs typeface="Montserrat Bold"/>
                  <a:sym typeface="Montserrat Bold"/>
                </a:rPr>
                <a:t>KHÔNG BẮT ĐẦU TỪ QUẢN TRỊ!</a:t>
              </a:r>
            </a:p>
          </p:txBody>
        </p:sp>
      </p:grpSp>
      <p:grpSp>
        <p:nvGrpSpPr>
          <p:cNvPr id="7" name="Group 7"/>
          <p:cNvGrpSpPr/>
          <p:nvPr/>
        </p:nvGrpSpPr>
        <p:grpSpPr>
          <a:xfrm>
            <a:off x="815816" y="2255996"/>
            <a:ext cx="5240084" cy="7215188"/>
            <a:chOff x="0" y="0"/>
            <a:chExt cx="6986778" cy="9620250"/>
          </a:xfrm>
        </p:grpSpPr>
        <p:sp>
          <p:nvSpPr>
            <p:cNvPr id="8" name="Freeform 8"/>
            <p:cNvSpPr/>
            <p:nvPr/>
          </p:nvSpPr>
          <p:spPr>
            <a:xfrm>
              <a:off x="0" y="0"/>
              <a:ext cx="6986778" cy="9620250"/>
            </a:xfrm>
            <a:custGeom>
              <a:avLst/>
              <a:gdLst/>
              <a:ahLst/>
              <a:cxnLst/>
              <a:rect l="l" t="t" r="r" b="b"/>
              <a:pathLst>
                <a:path w="6986778" h="9620250">
                  <a:moveTo>
                    <a:pt x="0" y="220091"/>
                  </a:moveTo>
                  <a:cubicBezTo>
                    <a:pt x="0" y="98552"/>
                    <a:pt x="98552" y="0"/>
                    <a:pt x="220091" y="0"/>
                  </a:cubicBezTo>
                  <a:lnTo>
                    <a:pt x="6766687" y="0"/>
                  </a:lnTo>
                  <a:cubicBezTo>
                    <a:pt x="6888226" y="0"/>
                    <a:pt x="6986778" y="98552"/>
                    <a:pt x="6986778" y="220091"/>
                  </a:cubicBezTo>
                  <a:lnTo>
                    <a:pt x="6986778" y="9400159"/>
                  </a:lnTo>
                  <a:cubicBezTo>
                    <a:pt x="6986778" y="9521698"/>
                    <a:pt x="6888226" y="9620250"/>
                    <a:pt x="6766687" y="9620250"/>
                  </a:cubicBezTo>
                  <a:lnTo>
                    <a:pt x="220091" y="9620250"/>
                  </a:lnTo>
                  <a:cubicBezTo>
                    <a:pt x="98552" y="9620250"/>
                    <a:pt x="0" y="9521698"/>
                    <a:pt x="0" y="9400159"/>
                  </a:cubicBezTo>
                  <a:close/>
                </a:path>
              </a:pathLst>
            </a:custGeom>
            <a:solidFill>
              <a:srgbClr val="FFFFFF"/>
            </a:solidFill>
            <a:ln w="14288" cap="sq">
              <a:solidFill>
                <a:srgbClr val="DCE6E0"/>
              </a:solidFill>
              <a:prstDash val="solid"/>
              <a:miter/>
            </a:ln>
          </p:spPr>
        </p:sp>
      </p:grpSp>
      <p:grpSp>
        <p:nvGrpSpPr>
          <p:cNvPr id="9" name="Group 9"/>
          <p:cNvGrpSpPr/>
          <p:nvPr/>
        </p:nvGrpSpPr>
        <p:grpSpPr>
          <a:xfrm>
            <a:off x="1293495" y="2802255"/>
            <a:ext cx="1390650" cy="1390650"/>
            <a:chOff x="0" y="0"/>
            <a:chExt cx="1854200" cy="1854200"/>
          </a:xfrm>
        </p:grpSpPr>
        <p:sp>
          <p:nvSpPr>
            <p:cNvPr id="10" name="Freeform 10"/>
            <p:cNvSpPr/>
            <p:nvPr/>
          </p:nvSpPr>
          <p:spPr>
            <a:xfrm>
              <a:off x="0" y="0"/>
              <a:ext cx="1854200" cy="1854200"/>
            </a:xfrm>
            <a:custGeom>
              <a:avLst/>
              <a:gdLst/>
              <a:ahLst/>
              <a:cxnLst/>
              <a:rect l="l" t="t" r="r" b="b"/>
              <a:pathLst>
                <a:path w="1854200" h="1854200">
                  <a:moveTo>
                    <a:pt x="0" y="927100"/>
                  </a:moveTo>
                  <a:cubicBezTo>
                    <a:pt x="0" y="415036"/>
                    <a:pt x="415036" y="0"/>
                    <a:pt x="927100" y="0"/>
                  </a:cubicBezTo>
                  <a:cubicBezTo>
                    <a:pt x="1439164" y="0"/>
                    <a:pt x="1854200" y="415036"/>
                    <a:pt x="1854200" y="927100"/>
                  </a:cubicBezTo>
                  <a:cubicBezTo>
                    <a:pt x="1854200" y="1439164"/>
                    <a:pt x="1439164" y="1854200"/>
                    <a:pt x="927100" y="1854200"/>
                  </a:cubicBezTo>
                  <a:cubicBezTo>
                    <a:pt x="415036" y="1854200"/>
                    <a:pt x="0" y="1439164"/>
                    <a:pt x="0" y="927100"/>
                  </a:cubicBezTo>
                  <a:close/>
                </a:path>
              </a:pathLst>
            </a:custGeom>
            <a:solidFill>
              <a:srgbClr val="006838"/>
            </a:solidFill>
            <a:ln w="19050" cap="sq">
              <a:solidFill>
                <a:srgbClr val="006838"/>
              </a:solidFill>
              <a:prstDash val="solid"/>
              <a:miter/>
            </a:ln>
          </p:spPr>
        </p:sp>
      </p:grpSp>
      <p:grpSp>
        <p:nvGrpSpPr>
          <p:cNvPr id="11" name="Group 11"/>
          <p:cNvGrpSpPr/>
          <p:nvPr/>
        </p:nvGrpSpPr>
        <p:grpSpPr>
          <a:xfrm>
            <a:off x="1659636" y="3168396"/>
            <a:ext cx="658368" cy="658368"/>
            <a:chOff x="0" y="0"/>
            <a:chExt cx="877824" cy="877824"/>
          </a:xfrm>
        </p:grpSpPr>
        <p:sp>
          <p:nvSpPr>
            <p:cNvPr id="12" name="Freeform 12" descr="preencoded.png"/>
            <p:cNvSpPr/>
            <p:nvPr/>
          </p:nvSpPr>
          <p:spPr>
            <a:xfrm>
              <a:off x="0" y="0"/>
              <a:ext cx="877824" cy="877824"/>
            </a:xfrm>
            <a:custGeom>
              <a:avLst/>
              <a:gdLst/>
              <a:ahLst/>
              <a:cxnLst/>
              <a:rect l="l" t="t" r="r" b="b"/>
              <a:pathLst>
                <a:path w="877824" h="877824">
                  <a:moveTo>
                    <a:pt x="0" y="0"/>
                  </a:moveTo>
                  <a:lnTo>
                    <a:pt x="877824" y="0"/>
                  </a:lnTo>
                  <a:lnTo>
                    <a:pt x="877824" y="877824"/>
                  </a:lnTo>
                  <a:lnTo>
                    <a:pt x="0" y="877824"/>
                  </a:lnTo>
                  <a:lnTo>
                    <a:pt x="0" y="0"/>
                  </a:lnTo>
                  <a:close/>
                </a:path>
              </a:pathLst>
            </a:custGeom>
            <a:blipFill>
              <a:blip r:embed="rId5"/>
              <a:stretch>
                <a:fillRect/>
              </a:stretch>
            </a:blipFill>
          </p:spPr>
        </p:sp>
      </p:grpSp>
      <p:sp>
        <p:nvSpPr>
          <p:cNvPr id="13" name="TextBox 13"/>
          <p:cNvSpPr txBox="1"/>
          <p:nvPr/>
        </p:nvSpPr>
        <p:spPr>
          <a:xfrm>
            <a:off x="4197096" y="2880360"/>
            <a:ext cx="1371600" cy="1097280"/>
          </a:xfrm>
          <a:prstGeom prst="rect">
            <a:avLst/>
          </a:prstGeom>
        </p:spPr>
        <p:txBody>
          <a:bodyPr lIns="0" tIns="0" rIns="0" bIns="0" rtlCol="0" anchor="t">
            <a:spAutoFit/>
          </a:bodyPr>
          <a:lstStyle/>
          <a:p>
            <a:pPr algn="r">
              <a:lnSpc>
                <a:spcPts val="6480"/>
              </a:lnSpc>
            </a:pPr>
            <a:r>
              <a:rPr lang="en-US" sz="5400" b="1">
                <a:solidFill>
                  <a:srgbClr val="CFE6D8"/>
                </a:solidFill>
                <a:latin typeface="Montserrat Bold"/>
                <a:ea typeface="Montserrat Bold"/>
                <a:cs typeface="Montserrat Bold"/>
                <a:sym typeface="Montserrat Bold"/>
              </a:rPr>
              <a:t>01</a:t>
            </a:r>
          </a:p>
        </p:txBody>
      </p:sp>
      <p:grpSp>
        <p:nvGrpSpPr>
          <p:cNvPr id="14" name="Group 14"/>
          <p:cNvGrpSpPr/>
          <p:nvPr/>
        </p:nvGrpSpPr>
        <p:grpSpPr>
          <a:xfrm>
            <a:off x="1303020" y="4457700"/>
            <a:ext cx="4265676" cy="1097280"/>
            <a:chOff x="0" y="0"/>
            <a:chExt cx="5687568" cy="1463040"/>
          </a:xfrm>
        </p:grpSpPr>
        <p:sp>
          <p:nvSpPr>
            <p:cNvPr id="15" name="Freeform 15"/>
            <p:cNvSpPr/>
            <p:nvPr/>
          </p:nvSpPr>
          <p:spPr>
            <a:xfrm>
              <a:off x="0" y="0"/>
              <a:ext cx="5687568" cy="1463040"/>
            </a:xfrm>
            <a:custGeom>
              <a:avLst/>
              <a:gdLst/>
              <a:ahLst/>
              <a:cxnLst/>
              <a:rect l="l" t="t" r="r" b="b"/>
              <a:pathLst>
                <a:path w="5687568" h="1463040">
                  <a:moveTo>
                    <a:pt x="0" y="0"/>
                  </a:moveTo>
                  <a:lnTo>
                    <a:pt x="5687568" y="0"/>
                  </a:lnTo>
                  <a:lnTo>
                    <a:pt x="5687568" y="1463040"/>
                  </a:lnTo>
                  <a:lnTo>
                    <a:pt x="0" y="1463040"/>
                  </a:lnTo>
                  <a:close/>
                </a:path>
              </a:pathLst>
            </a:custGeom>
            <a:blipFill>
              <a:blip r:embed="rId4">
                <a:alphaModFix amt="0"/>
              </a:blip>
              <a:stretch>
                <a:fillRect t="-25748" b="-25748"/>
              </a:stretch>
            </a:blipFill>
          </p:spPr>
        </p:sp>
        <p:sp>
          <p:nvSpPr>
            <p:cNvPr id="16" name="TextBox 16"/>
            <p:cNvSpPr txBox="1"/>
            <p:nvPr/>
          </p:nvSpPr>
          <p:spPr>
            <a:xfrm>
              <a:off x="0" y="9525"/>
              <a:ext cx="5687568" cy="1453515"/>
            </a:xfrm>
            <a:prstGeom prst="rect">
              <a:avLst/>
            </a:prstGeom>
          </p:spPr>
          <p:txBody>
            <a:bodyPr lIns="0" tIns="0" rIns="0" bIns="0" rtlCol="0" anchor="ctr"/>
            <a:lstStyle/>
            <a:p>
              <a:pPr algn="l">
                <a:lnSpc>
                  <a:spcPts val="2879"/>
                </a:lnSpc>
              </a:pPr>
              <a:r>
                <a:rPr lang="en-US" sz="2400" b="1">
                  <a:solidFill>
                    <a:srgbClr val="006838"/>
                  </a:solidFill>
                  <a:latin typeface="Montserrat Bold"/>
                  <a:ea typeface="Montserrat Bold"/>
                  <a:cs typeface="Montserrat Bold"/>
                  <a:sym typeface="Montserrat Bold"/>
                </a:rPr>
                <a:t>BẮT BUỘC – KHÔNG PHẢI KHUYẾN KHÍCH</a:t>
              </a:r>
            </a:p>
          </p:txBody>
        </p:sp>
      </p:grpSp>
      <p:sp>
        <p:nvSpPr>
          <p:cNvPr id="17" name="TextBox 17"/>
          <p:cNvSpPr txBox="1"/>
          <p:nvPr/>
        </p:nvSpPr>
        <p:spPr>
          <a:xfrm>
            <a:off x="1303020" y="5722620"/>
            <a:ext cx="4265676" cy="744563"/>
          </a:xfrm>
          <a:prstGeom prst="rect">
            <a:avLst/>
          </a:prstGeom>
        </p:spPr>
        <p:txBody>
          <a:bodyPr lIns="0" tIns="0" rIns="0" bIns="0" rtlCol="0" anchor="t">
            <a:spAutoFit/>
          </a:bodyPr>
          <a:lstStyle/>
          <a:p>
            <a:pPr algn="just">
              <a:lnSpc>
                <a:spcPts val="3024"/>
              </a:lnSpc>
            </a:pPr>
            <a:r>
              <a:rPr lang="en-US" sz="2250">
                <a:solidFill>
                  <a:srgbClr val="1E2B25"/>
                </a:solidFill>
                <a:latin typeface="Montserrat"/>
                <a:ea typeface="Montserrat"/>
                <a:cs typeface="Montserrat"/>
                <a:sym typeface="Montserrat"/>
              </a:rPr>
              <a:t>Đưa AI vào hệ thống KPI chính thức của công ty</a:t>
            </a:r>
          </a:p>
        </p:txBody>
      </p:sp>
      <p:grpSp>
        <p:nvGrpSpPr>
          <p:cNvPr id="18" name="Group 18"/>
          <p:cNvGrpSpPr/>
          <p:nvPr/>
        </p:nvGrpSpPr>
        <p:grpSpPr>
          <a:xfrm>
            <a:off x="6521672" y="2255996"/>
            <a:ext cx="5240084" cy="7215188"/>
            <a:chOff x="0" y="0"/>
            <a:chExt cx="6986778" cy="9620250"/>
          </a:xfrm>
        </p:grpSpPr>
        <p:sp>
          <p:nvSpPr>
            <p:cNvPr id="19" name="Freeform 19"/>
            <p:cNvSpPr/>
            <p:nvPr/>
          </p:nvSpPr>
          <p:spPr>
            <a:xfrm>
              <a:off x="0" y="0"/>
              <a:ext cx="6986778" cy="9620250"/>
            </a:xfrm>
            <a:custGeom>
              <a:avLst/>
              <a:gdLst/>
              <a:ahLst/>
              <a:cxnLst/>
              <a:rect l="l" t="t" r="r" b="b"/>
              <a:pathLst>
                <a:path w="6986778" h="9620250">
                  <a:moveTo>
                    <a:pt x="0" y="220091"/>
                  </a:moveTo>
                  <a:cubicBezTo>
                    <a:pt x="0" y="98552"/>
                    <a:pt x="98552" y="0"/>
                    <a:pt x="220091" y="0"/>
                  </a:cubicBezTo>
                  <a:lnTo>
                    <a:pt x="6766687" y="0"/>
                  </a:lnTo>
                  <a:cubicBezTo>
                    <a:pt x="6888226" y="0"/>
                    <a:pt x="6986778" y="98552"/>
                    <a:pt x="6986778" y="220091"/>
                  </a:cubicBezTo>
                  <a:lnTo>
                    <a:pt x="6986778" y="9400159"/>
                  </a:lnTo>
                  <a:cubicBezTo>
                    <a:pt x="6986778" y="9521698"/>
                    <a:pt x="6888226" y="9620250"/>
                    <a:pt x="6766687" y="9620250"/>
                  </a:cubicBezTo>
                  <a:lnTo>
                    <a:pt x="220091" y="9620250"/>
                  </a:lnTo>
                  <a:cubicBezTo>
                    <a:pt x="98552" y="9620250"/>
                    <a:pt x="0" y="9521698"/>
                    <a:pt x="0" y="9400159"/>
                  </a:cubicBezTo>
                  <a:close/>
                </a:path>
              </a:pathLst>
            </a:custGeom>
            <a:solidFill>
              <a:srgbClr val="FFFFFF"/>
            </a:solidFill>
            <a:ln w="14288" cap="sq">
              <a:solidFill>
                <a:srgbClr val="DCE6E0"/>
              </a:solidFill>
              <a:prstDash val="solid"/>
              <a:miter/>
            </a:ln>
          </p:spPr>
        </p:sp>
      </p:grpSp>
      <p:grpSp>
        <p:nvGrpSpPr>
          <p:cNvPr id="20" name="Group 20"/>
          <p:cNvGrpSpPr/>
          <p:nvPr/>
        </p:nvGrpSpPr>
        <p:grpSpPr>
          <a:xfrm>
            <a:off x="6999351" y="2802255"/>
            <a:ext cx="1390650" cy="1390650"/>
            <a:chOff x="0" y="0"/>
            <a:chExt cx="1854200" cy="1854200"/>
          </a:xfrm>
        </p:grpSpPr>
        <p:sp>
          <p:nvSpPr>
            <p:cNvPr id="21" name="Freeform 21"/>
            <p:cNvSpPr/>
            <p:nvPr/>
          </p:nvSpPr>
          <p:spPr>
            <a:xfrm>
              <a:off x="0" y="0"/>
              <a:ext cx="1854200" cy="1854200"/>
            </a:xfrm>
            <a:custGeom>
              <a:avLst/>
              <a:gdLst/>
              <a:ahLst/>
              <a:cxnLst/>
              <a:rect l="l" t="t" r="r" b="b"/>
              <a:pathLst>
                <a:path w="1854200" h="1854200">
                  <a:moveTo>
                    <a:pt x="0" y="927100"/>
                  </a:moveTo>
                  <a:cubicBezTo>
                    <a:pt x="0" y="415036"/>
                    <a:pt x="415036" y="0"/>
                    <a:pt x="927100" y="0"/>
                  </a:cubicBezTo>
                  <a:cubicBezTo>
                    <a:pt x="1439164" y="0"/>
                    <a:pt x="1854200" y="415036"/>
                    <a:pt x="1854200" y="927100"/>
                  </a:cubicBezTo>
                  <a:cubicBezTo>
                    <a:pt x="1854200" y="1439164"/>
                    <a:pt x="1439164" y="1854200"/>
                    <a:pt x="927100" y="1854200"/>
                  </a:cubicBezTo>
                  <a:cubicBezTo>
                    <a:pt x="415036" y="1854200"/>
                    <a:pt x="0" y="1439164"/>
                    <a:pt x="0" y="927100"/>
                  </a:cubicBezTo>
                  <a:close/>
                </a:path>
              </a:pathLst>
            </a:custGeom>
            <a:solidFill>
              <a:srgbClr val="006838"/>
            </a:solidFill>
            <a:ln w="19050" cap="sq">
              <a:solidFill>
                <a:srgbClr val="006838"/>
              </a:solidFill>
              <a:prstDash val="solid"/>
              <a:miter/>
            </a:ln>
          </p:spPr>
        </p:sp>
      </p:grpSp>
      <p:grpSp>
        <p:nvGrpSpPr>
          <p:cNvPr id="22" name="Group 22"/>
          <p:cNvGrpSpPr/>
          <p:nvPr/>
        </p:nvGrpSpPr>
        <p:grpSpPr>
          <a:xfrm>
            <a:off x="7365492" y="3168396"/>
            <a:ext cx="658368" cy="658368"/>
            <a:chOff x="0" y="0"/>
            <a:chExt cx="877824" cy="877824"/>
          </a:xfrm>
        </p:grpSpPr>
        <p:sp>
          <p:nvSpPr>
            <p:cNvPr id="23" name="Freeform 23" descr="preencoded.png"/>
            <p:cNvSpPr/>
            <p:nvPr/>
          </p:nvSpPr>
          <p:spPr>
            <a:xfrm>
              <a:off x="0" y="0"/>
              <a:ext cx="877824" cy="877824"/>
            </a:xfrm>
            <a:custGeom>
              <a:avLst/>
              <a:gdLst/>
              <a:ahLst/>
              <a:cxnLst/>
              <a:rect l="l" t="t" r="r" b="b"/>
              <a:pathLst>
                <a:path w="877824" h="877824">
                  <a:moveTo>
                    <a:pt x="0" y="0"/>
                  </a:moveTo>
                  <a:lnTo>
                    <a:pt x="877824" y="0"/>
                  </a:lnTo>
                  <a:lnTo>
                    <a:pt x="877824" y="877824"/>
                  </a:lnTo>
                  <a:lnTo>
                    <a:pt x="0" y="877824"/>
                  </a:lnTo>
                  <a:lnTo>
                    <a:pt x="0" y="0"/>
                  </a:lnTo>
                  <a:close/>
                </a:path>
              </a:pathLst>
            </a:custGeom>
            <a:blipFill>
              <a:blip r:embed="rId6"/>
              <a:stretch>
                <a:fillRect/>
              </a:stretch>
            </a:blipFill>
          </p:spPr>
        </p:sp>
      </p:grpSp>
      <p:sp>
        <p:nvSpPr>
          <p:cNvPr id="24" name="TextBox 24"/>
          <p:cNvSpPr txBox="1"/>
          <p:nvPr/>
        </p:nvSpPr>
        <p:spPr>
          <a:xfrm>
            <a:off x="9902952" y="2880360"/>
            <a:ext cx="1371600" cy="1097280"/>
          </a:xfrm>
          <a:prstGeom prst="rect">
            <a:avLst/>
          </a:prstGeom>
        </p:spPr>
        <p:txBody>
          <a:bodyPr lIns="0" tIns="0" rIns="0" bIns="0" rtlCol="0" anchor="t">
            <a:spAutoFit/>
          </a:bodyPr>
          <a:lstStyle/>
          <a:p>
            <a:pPr algn="r">
              <a:lnSpc>
                <a:spcPts val="6480"/>
              </a:lnSpc>
            </a:pPr>
            <a:r>
              <a:rPr lang="en-US" sz="5400" b="1">
                <a:solidFill>
                  <a:srgbClr val="CFE6D8"/>
                </a:solidFill>
                <a:latin typeface="Montserrat Bold"/>
                <a:ea typeface="Montserrat Bold"/>
                <a:cs typeface="Montserrat Bold"/>
                <a:sym typeface="Montserrat Bold"/>
              </a:rPr>
              <a:t>02</a:t>
            </a:r>
          </a:p>
        </p:txBody>
      </p:sp>
      <p:grpSp>
        <p:nvGrpSpPr>
          <p:cNvPr id="25" name="Group 25"/>
          <p:cNvGrpSpPr/>
          <p:nvPr/>
        </p:nvGrpSpPr>
        <p:grpSpPr>
          <a:xfrm>
            <a:off x="7008876" y="4457700"/>
            <a:ext cx="4265676" cy="1097280"/>
            <a:chOff x="0" y="0"/>
            <a:chExt cx="5687568" cy="1463040"/>
          </a:xfrm>
        </p:grpSpPr>
        <p:sp>
          <p:nvSpPr>
            <p:cNvPr id="26" name="Freeform 26"/>
            <p:cNvSpPr/>
            <p:nvPr/>
          </p:nvSpPr>
          <p:spPr>
            <a:xfrm>
              <a:off x="0" y="0"/>
              <a:ext cx="5687568" cy="1463040"/>
            </a:xfrm>
            <a:custGeom>
              <a:avLst/>
              <a:gdLst/>
              <a:ahLst/>
              <a:cxnLst/>
              <a:rect l="l" t="t" r="r" b="b"/>
              <a:pathLst>
                <a:path w="5687568" h="1463040">
                  <a:moveTo>
                    <a:pt x="0" y="0"/>
                  </a:moveTo>
                  <a:lnTo>
                    <a:pt x="5687568" y="0"/>
                  </a:lnTo>
                  <a:lnTo>
                    <a:pt x="5687568" y="1463040"/>
                  </a:lnTo>
                  <a:lnTo>
                    <a:pt x="0" y="1463040"/>
                  </a:lnTo>
                  <a:close/>
                </a:path>
              </a:pathLst>
            </a:custGeom>
            <a:blipFill>
              <a:blip r:embed="rId4">
                <a:alphaModFix amt="0"/>
              </a:blip>
              <a:stretch>
                <a:fillRect t="-25748" b="-25748"/>
              </a:stretch>
            </a:blipFill>
          </p:spPr>
        </p:sp>
        <p:sp>
          <p:nvSpPr>
            <p:cNvPr id="27" name="TextBox 27"/>
            <p:cNvSpPr txBox="1"/>
            <p:nvPr/>
          </p:nvSpPr>
          <p:spPr>
            <a:xfrm>
              <a:off x="0" y="9525"/>
              <a:ext cx="5687568" cy="1453515"/>
            </a:xfrm>
            <a:prstGeom prst="rect">
              <a:avLst/>
            </a:prstGeom>
          </p:spPr>
          <p:txBody>
            <a:bodyPr lIns="0" tIns="0" rIns="0" bIns="0" rtlCol="0" anchor="ctr"/>
            <a:lstStyle/>
            <a:p>
              <a:pPr algn="l">
                <a:lnSpc>
                  <a:spcPts val="2879"/>
                </a:lnSpc>
              </a:pPr>
              <a:r>
                <a:rPr lang="en-US" sz="2400" b="1">
                  <a:solidFill>
                    <a:srgbClr val="006838"/>
                  </a:solidFill>
                  <a:latin typeface="Montserrat Bold"/>
                  <a:ea typeface="Montserrat Bold"/>
                  <a:cs typeface="Montserrat Bold"/>
                  <a:sym typeface="Montserrat Bold"/>
                </a:rPr>
                <a:t>TRAO CÔNG CỤ, KHÔNG BẮT TỰ XOAY SỞ</a:t>
              </a:r>
            </a:p>
          </p:txBody>
        </p:sp>
      </p:grpSp>
      <p:sp>
        <p:nvSpPr>
          <p:cNvPr id="28" name="TextBox 28"/>
          <p:cNvSpPr txBox="1"/>
          <p:nvPr/>
        </p:nvSpPr>
        <p:spPr>
          <a:xfrm>
            <a:off x="7008876" y="5722620"/>
            <a:ext cx="4265676" cy="1898725"/>
          </a:xfrm>
          <a:prstGeom prst="rect">
            <a:avLst/>
          </a:prstGeom>
        </p:spPr>
        <p:txBody>
          <a:bodyPr lIns="0" tIns="0" rIns="0" bIns="0" rtlCol="0" anchor="t">
            <a:spAutoFit/>
          </a:bodyPr>
          <a:lstStyle/>
          <a:p>
            <a:pPr algn="just">
              <a:lnSpc>
                <a:spcPts val="3024"/>
              </a:lnSpc>
            </a:pPr>
            <a:r>
              <a:rPr lang="en-US" sz="2250">
                <a:solidFill>
                  <a:srgbClr val="1E2B25"/>
                </a:solidFill>
                <a:latin typeface="Montserrat"/>
                <a:ea typeface="Montserrat"/>
                <a:cs typeface="Montserrat"/>
                <a:sym typeface="Montserrat"/>
              </a:rPr>
              <a:t>Mỗi nhân viên nhận AI token miễn phí (tương đương hàng chục triệu token/tháng – đủ để chạy hàng nghìn tác vụ AI mỗi ngày)</a:t>
            </a:r>
          </a:p>
        </p:txBody>
      </p:sp>
      <p:grpSp>
        <p:nvGrpSpPr>
          <p:cNvPr id="29" name="Group 29"/>
          <p:cNvGrpSpPr/>
          <p:nvPr/>
        </p:nvGrpSpPr>
        <p:grpSpPr>
          <a:xfrm>
            <a:off x="12227528" y="2255996"/>
            <a:ext cx="5240084" cy="7215188"/>
            <a:chOff x="0" y="0"/>
            <a:chExt cx="6986778" cy="9620250"/>
          </a:xfrm>
        </p:grpSpPr>
        <p:sp>
          <p:nvSpPr>
            <p:cNvPr id="30" name="Freeform 30"/>
            <p:cNvSpPr/>
            <p:nvPr/>
          </p:nvSpPr>
          <p:spPr>
            <a:xfrm>
              <a:off x="0" y="0"/>
              <a:ext cx="6986778" cy="9620250"/>
            </a:xfrm>
            <a:custGeom>
              <a:avLst/>
              <a:gdLst/>
              <a:ahLst/>
              <a:cxnLst/>
              <a:rect l="l" t="t" r="r" b="b"/>
              <a:pathLst>
                <a:path w="6986778" h="9620250">
                  <a:moveTo>
                    <a:pt x="0" y="220091"/>
                  </a:moveTo>
                  <a:cubicBezTo>
                    <a:pt x="0" y="98552"/>
                    <a:pt x="98552" y="0"/>
                    <a:pt x="220091" y="0"/>
                  </a:cubicBezTo>
                  <a:lnTo>
                    <a:pt x="6766687" y="0"/>
                  </a:lnTo>
                  <a:cubicBezTo>
                    <a:pt x="6888226" y="0"/>
                    <a:pt x="6986778" y="98552"/>
                    <a:pt x="6986778" y="220091"/>
                  </a:cubicBezTo>
                  <a:lnTo>
                    <a:pt x="6986778" y="9400159"/>
                  </a:lnTo>
                  <a:cubicBezTo>
                    <a:pt x="6986778" y="9521698"/>
                    <a:pt x="6888226" y="9620250"/>
                    <a:pt x="6766687" y="9620250"/>
                  </a:cubicBezTo>
                  <a:lnTo>
                    <a:pt x="220091" y="9620250"/>
                  </a:lnTo>
                  <a:cubicBezTo>
                    <a:pt x="98552" y="9620250"/>
                    <a:pt x="0" y="9521698"/>
                    <a:pt x="0" y="9400159"/>
                  </a:cubicBezTo>
                  <a:close/>
                </a:path>
              </a:pathLst>
            </a:custGeom>
            <a:solidFill>
              <a:srgbClr val="FFFFFF"/>
            </a:solidFill>
            <a:ln w="14288" cap="sq">
              <a:solidFill>
                <a:srgbClr val="DCE6E0"/>
              </a:solidFill>
              <a:prstDash val="solid"/>
              <a:miter/>
            </a:ln>
          </p:spPr>
        </p:sp>
      </p:grpSp>
      <p:grpSp>
        <p:nvGrpSpPr>
          <p:cNvPr id="31" name="Group 31"/>
          <p:cNvGrpSpPr/>
          <p:nvPr/>
        </p:nvGrpSpPr>
        <p:grpSpPr>
          <a:xfrm>
            <a:off x="12705207" y="2802255"/>
            <a:ext cx="1390650" cy="1390650"/>
            <a:chOff x="0" y="0"/>
            <a:chExt cx="1854200" cy="1854200"/>
          </a:xfrm>
        </p:grpSpPr>
        <p:sp>
          <p:nvSpPr>
            <p:cNvPr id="32" name="Freeform 32"/>
            <p:cNvSpPr/>
            <p:nvPr/>
          </p:nvSpPr>
          <p:spPr>
            <a:xfrm>
              <a:off x="0" y="0"/>
              <a:ext cx="1854200" cy="1854200"/>
            </a:xfrm>
            <a:custGeom>
              <a:avLst/>
              <a:gdLst/>
              <a:ahLst/>
              <a:cxnLst/>
              <a:rect l="l" t="t" r="r" b="b"/>
              <a:pathLst>
                <a:path w="1854200" h="1854200">
                  <a:moveTo>
                    <a:pt x="0" y="927100"/>
                  </a:moveTo>
                  <a:cubicBezTo>
                    <a:pt x="0" y="415036"/>
                    <a:pt x="415036" y="0"/>
                    <a:pt x="927100" y="0"/>
                  </a:cubicBezTo>
                  <a:cubicBezTo>
                    <a:pt x="1439164" y="0"/>
                    <a:pt x="1854200" y="415036"/>
                    <a:pt x="1854200" y="927100"/>
                  </a:cubicBezTo>
                  <a:cubicBezTo>
                    <a:pt x="1854200" y="1439164"/>
                    <a:pt x="1439164" y="1854200"/>
                    <a:pt x="927100" y="1854200"/>
                  </a:cubicBezTo>
                  <a:cubicBezTo>
                    <a:pt x="415036" y="1854200"/>
                    <a:pt x="0" y="1439164"/>
                    <a:pt x="0" y="927100"/>
                  </a:cubicBezTo>
                  <a:close/>
                </a:path>
              </a:pathLst>
            </a:custGeom>
            <a:solidFill>
              <a:srgbClr val="006838"/>
            </a:solidFill>
            <a:ln w="19050" cap="sq">
              <a:solidFill>
                <a:srgbClr val="006838"/>
              </a:solidFill>
              <a:prstDash val="solid"/>
              <a:miter/>
            </a:ln>
          </p:spPr>
        </p:sp>
      </p:grpSp>
      <p:grpSp>
        <p:nvGrpSpPr>
          <p:cNvPr id="33" name="Group 33"/>
          <p:cNvGrpSpPr/>
          <p:nvPr/>
        </p:nvGrpSpPr>
        <p:grpSpPr>
          <a:xfrm>
            <a:off x="13071348" y="3168396"/>
            <a:ext cx="658368" cy="658368"/>
            <a:chOff x="0" y="0"/>
            <a:chExt cx="877824" cy="877824"/>
          </a:xfrm>
        </p:grpSpPr>
        <p:sp>
          <p:nvSpPr>
            <p:cNvPr id="34" name="Freeform 34" descr="preencoded.png"/>
            <p:cNvSpPr/>
            <p:nvPr/>
          </p:nvSpPr>
          <p:spPr>
            <a:xfrm>
              <a:off x="0" y="0"/>
              <a:ext cx="877824" cy="877824"/>
            </a:xfrm>
            <a:custGeom>
              <a:avLst/>
              <a:gdLst/>
              <a:ahLst/>
              <a:cxnLst/>
              <a:rect l="l" t="t" r="r" b="b"/>
              <a:pathLst>
                <a:path w="877824" h="877824">
                  <a:moveTo>
                    <a:pt x="0" y="0"/>
                  </a:moveTo>
                  <a:lnTo>
                    <a:pt x="877824" y="0"/>
                  </a:lnTo>
                  <a:lnTo>
                    <a:pt x="877824" y="877824"/>
                  </a:lnTo>
                  <a:lnTo>
                    <a:pt x="0" y="877824"/>
                  </a:lnTo>
                  <a:lnTo>
                    <a:pt x="0" y="0"/>
                  </a:lnTo>
                  <a:close/>
                </a:path>
              </a:pathLst>
            </a:custGeom>
            <a:blipFill>
              <a:blip r:embed="rId7"/>
              <a:stretch>
                <a:fillRect/>
              </a:stretch>
            </a:blipFill>
          </p:spPr>
        </p:sp>
      </p:grpSp>
      <p:sp>
        <p:nvSpPr>
          <p:cNvPr id="35" name="TextBox 35"/>
          <p:cNvSpPr txBox="1"/>
          <p:nvPr/>
        </p:nvSpPr>
        <p:spPr>
          <a:xfrm>
            <a:off x="15608808" y="2880360"/>
            <a:ext cx="1371600" cy="1097280"/>
          </a:xfrm>
          <a:prstGeom prst="rect">
            <a:avLst/>
          </a:prstGeom>
        </p:spPr>
        <p:txBody>
          <a:bodyPr lIns="0" tIns="0" rIns="0" bIns="0" rtlCol="0" anchor="t">
            <a:spAutoFit/>
          </a:bodyPr>
          <a:lstStyle/>
          <a:p>
            <a:pPr algn="r">
              <a:lnSpc>
                <a:spcPts val="6480"/>
              </a:lnSpc>
            </a:pPr>
            <a:r>
              <a:rPr lang="en-US" sz="5400" b="1">
                <a:solidFill>
                  <a:srgbClr val="CFE6D8"/>
                </a:solidFill>
                <a:latin typeface="Montserrat Bold"/>
                <a:ea typeface="Montserrat Bold"/>
                <a:cs typeface="Montserrat Bold"/>
                <a:sym typeface="Montserrat Bold"/>
              </a:rPr>
              <a:t>03</a:t>
            </a:r>
          </a:p>
        </p:txBody>
      </p:sp>
      <p:grpSp>
        <p:nvGrpSpPr>
          <p:cNvPr id="36" name="Group 36"/>
          <p:cNvGrpSpPr/>
          <p:nvPr/>
        </p:nvGrpSpPr>
        <p:grpSpPr>
          <a:xfrm>
            <a:off x="12714732" y="4457700"/>
            <a:ext cx="4265676" cy="1097280"/>
            <a:chOff x="0" y="0"/>
            <a:chExt cx="5687568" cy="1463040"/>
          </a:xfrm>
        </p:grpSpPr>
        <p:sp>
          <p:nvSpPr>
            <p:cNvPr id="37" name="Freeform 37"/>
            <p:cNvSpPr/>
            <p:nvPr/>
          </p:nvSpPr>
          <p:spPr>
            <a:xfrm>
              <a:off x="0" y="0"/>
              <a:ext cx="5687568" cy="1463040"/>
            </a:xfrm>
            <a:custGeom>
              <a:avLst/>
              <a:gdLst/>
              <a:ahLst/>
              <a:cxnLst/>
              <a:rect l="l" t="t" r="r" b="b"/>
              <a:pathLst>
                <a:path w="5687568" h="1463040">
                  <a:moveTo>
                    <a:pt x="0" y="0"/>
                  </a:moveTo>
                  <a:lnTo>
                    <a:pt x="5687568" y="0"/>
                  </a:lnTo>
                  <a:lnTo>
                    <a:pt x="5687568" y="1463040"/>
                  </a:lnTo>
                  <a:lnTo>
                    <a:pt x="0" y="1463040"/>
                  </a:lnTo>
                  <a:close/>
                </a:path>
              </a:pathLst>
            </a:custGeom>
            <a:blipFill>
              <a:blip r:embed="rId4">
                <a:alphaModFix amt="0"/>
              </a:blip>
              <a:stretch>
                <a:fillRect t="-25748" b="-25748"/>
              </a:stretch>
            </a:blipFill>
          </p:spPr>
        </p:sp>
        <p:sp>
          <p:nvSpPr>
            <p:cNvPr id="38" name="TextBox 38"/>
            <p:cNvSpPr txBox="1"/>
            <p:nvPr/>
          </p:nvSpPr>
          <p:spPr>
            <a:xfrm>
              <a:off x="0" y="9525"/>
              <a:ext cx="5687568" cy="1453515"/>
            </a:xfrm>
            <a:prstGeom prst="rect">
              <a:avLst/>
            </a:prstGeom>
          </p:spPr>
          <p:txBody>
            <a:bodyPr lIns="0" tIns="0" rIns="0" bIns="0" rtlCol="0" anchor="ctr"/>
            <a:lstStyle/>
            <a:p>
              <a:pPr algn="l">
                <a:lnSpc>
                  <a:spcPts val="2879"/>
                </a:lnSpc>
              </a:pPr>
              <a:r>
                <a:rPr lang="en-US" sz="2400" b="1">
                  <a:solidFill>
                    <a:srgbClr val="006838"/>
                  </a:solidFill>
                  <a:latin typeface="Montserrat Bold"/>
                  <a:ea typeface="Montserrat Bold"/>
                  <a:cs typeface="Montserrat Bold"/>
                  <a:sym typeface="Montserrat Bold"/>
                </a:rPr>
                <a:t>BIẾN CÁ NHÂN GIỎI THÀNH TÀI SẢN CHUNG</a:t>
              </a:r>
            </a:p>
          </p:txBody>
        </p:sp>
      </p:grpSp>
      <p:sp>
        <p:nvSpPr>
          <p:cNvPr id="39" name="TextBox 39"/>
          <p:cNvSpPr txBox="1"/>
          <p:nvPr/>
        </p:nvSpPr>
        <p:spPr>
          <a:xfrm>
            <a:off x="12714732" y="5722620"/>
            <a:ext cx="4265676" cy="3467100"/>
          </a:xfrm>
          <a:prstGeom prst="rect">
            <a:avLst/>
          </a:prstGeom>
        </p:spPr>
        <p:txBody>
          <a:bodyPr lIns="0" tIns="0" rIns="0" bIns="0" rtlCol="0" anchor="t">
            <a:spAutoFit/>
          </a:bodyPr>
          <a:lstStyle/>
          <a:p>
            <a:pPr algn="just">
              <a:lnSpc>
                <a:spcPts val="3024"/>
              </a:lnSpc>
            </a:pPr>
            <a:r>
              <a:rPr lang="en-US" sz="2250">
                <a:solidFill>
                  <a:srgbClr val="1E2B25"/>
                </a:solidFill>
                <a:latin typeface="Montserrat"/>
                <a:ea typeface="Montserrat"/>
                <a:cs typeface="Montserrat"/>
                <a:sym typeface="Montserrat"/>
              </a:rPr>
              <a:t>Mỗi workflow AI hiệu quả - từ viết brief, phân tích dữ liệu, đến soạn hợp đồng được chuẩn hóa thành AI skill và đăng lên mạng nội bộ của công ty (Knowledge Hub). Năng lực AI không còn nằm ở vài cá nhân, mà trở thành hạ tầng tập thể.</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4"/>
          <p:cNvGrpSpPr/>
          <p:nvPr/>
        </p:nvGrpSpPr>
        <p:grpSpPr>
          <a:xfrm>
            <a:off x="-9525" y="-9525"/>
            <a:ext cx="6328410" cy="10306050"/>
            <a:chOff x="0" y="0"/>
            <a:chExt cx="8437880" cy="13741400"/>
          </a:xfrm>
        </p:grpSpPr>
        <p:sp>
          <p:nvSpPr>
            <p:cNvPr id="5" name="Freeform 5"/>
            <p:cNvSpPr/>
            <p:nvPr/>
          </p:nvSpPr>
          <p:spPr>
            <a:xfrm>
              <a:off x="0" y="0"/>
              <a:ext cx="8437880" cy="13741400"/>
            </a:xfrm>
            <a:custGeom>
              <a:avLst/>
              <a:gdLst/>
              <a:ahLst/>
              <a:cxnLst/>
              <a:rect l="l" t="t" r="r" b="b"/>
              <a:pathLst>
                <a:path w="8437880" h="13741400">
                  <a:moveTo>
                    <a:pt x="0" y="0"/>
                  </a:moveTo>
                  <a:lnTo>
                    <a:pt x="8437880" y="0"/>
                  </a:lnTo>
                  <a:lnTo>
                    <a:pt x="8437880" y="13741400"/>
                  </a:lnTo>
                  <a:lnTo>
                    <a:pt x="0" y="13741400"/>
                  </a:lnTo>
                  <a:close/>
                </a:path>
              </a:pathLst>
            </a:custGeom>
            <a:solidFill>
              <a:srgbClr val="006838"/>
            </a:solidFill>
            <a:ln w="19050" cap="sq">
              <a:solidFill>
                <a:srgbClr val="006838"/>
              </a:solidFill>
              <a:prstDash val="solid"/>
              <a:miter/>
            </a:ln>
          </p:spPr>
        </p:sp>
      </p:grpSp>
      <p:grpSp>
        <p:nvGrpSpPr>
          <p:cNvPr id="6" name="Group 6"/>
          <p:cNvGrpSpPr/>
          <p:nvPr/>
        </p:nvGrpSpPr>
        <p:grpSpPr>
          <a:xfrm>
            <a:off x="1343025" y="3331845"/>
            <a:ext cx="3623310" cy="3623310"/>
            <a:chOff x="0" y="0"/>
            <a:chExt cx="4831080" cy="4831080"/>
          </a:xfrm>
        </p:grpSpPr>
        <p:sp>
          <p:nvSpPr>
            <p:cNvPr id="7" name="Freeform 7"/>
            <p:cNvSpPr/>
            <p:nvPr/>
          </p:nvSpPr>
          <p:spPr>
            <a:xfrm>
              <a:off x="0" y="0"/>
              <a:ext cx="4831080" cy="4831080"/>
            </a:xfrm>
            <a:custGeom>
              <a:avLst/>
              <a:gdLst/>
              <a:ahLst/>
              <a:cxnLst/>
              <a:rect l="l" t="t" r="r" b="b"/>
              <a:pathLst>
                <a:path w="4831080" h="4831080">
                  <a:moveTo>
                    <a:pt x="0" y="2415540"/>
                  </a:moveTo>
                  <a:cubicBezTo>
                    <a:pt x="0" y="1081532"/>
                    <a:pt x="1081532" y="0"/>
                    <a:pt x="2415540" y="0"/>
                  </a:cubicBezTo>
                  <a:cubicBezTo>
                    <a:pt x="3749548" y="0"/>
                    <a:pt x="4831080" y="1081532"/>
                    <a:pt x="4831080" y="2415540"/>
                  </a:cubicBezTo>
                  <a:cubicBezTo>
                    <a:pt x="4831080" y="3749548"/>
                    <a:pt x="3749548" y="4831080"/>
                    <a:pt x="2415540" y="4831080"/>
                  </a:cubicBezTo>
                  <a:cubicBezTo>
                    <a:pt x="1081532" y="4831080"/>
                    <a:pt x="0" y="3749548"/>
                    <a:pt x="0" y="2415540"/>
                  </a:cubicBezTo>
                  <a:close/>
                </a:path>
              </a:pathLst>
            </a:custGeom>
            <a:solidFill>
              <a:srgbClr val="004A28"/>
            </a:solidFill>
            <a:ln w="57150" cap="sq">
              <a:solidFill>
                <a:schemeClr val="bg1"/>
              </a:solidFill>
              <a:prstDash val="solid"/>
              <a:miter/>
            </a:ln>
          </p:spPr>
        </p:sp>
      </p:grpSp>
      <p:grpSp>
        <p:nvGrpSpPr>
          <p:cNvPr id="8" name="Group 8"/>
          <p:cNvGrpSpPr/>
          <p:nvPr/>
        </p:nvGrpSpPr>
        <p:grpSpPr>
          <a:xfrm>
            <a:off x="2263140" y="4251960"/>
            <a:ext cx="1783080" cy="1783080"/>
            <a:chOff x="0" y="0"/>
            <a:chExt cx="2377440" cy="2377440"/>
          </a:xfrm>
        </p:grpSpPr>
        <p:sp>
          <p:nvSpPr>
            <p:cNvPr id="9" name="Freeform 9" descr="preencoded.png"/>
            <p:cNvSpPr/>
            <p:nvPr/>
          </p:nvSpPr>
          <p:spPr>
            <a:xfrm>
              <a:off x="0" y="0"/>
              <a:ext cx="2377440" cy="2377440"/>
            </a:xfrm>
            <a:custGeom>
              <a:avLst/>
              <a:gdLst/>
              <a:ahLst/>
              <a:cxnLst/>
              <a:rect l="l" t="t" r="r" b="b"/>
              <a:pathLst>
                <a:path w="2377440" h="2377440">
                  <a:moveTo>
                    <a:pt x="0" y="0"/>
                  </a:moveTo>
                  <a:lnTo>
                    <a:pt x="2377440" y="0"/>
                  </a:lnTo>
                  <a:lnTo>
                    <a:pt x="2377440" y="2377440"/>
                  </a:lnTo>
                  <a:lnTo>
                    <a:pt x="0" y="2377440"/>
                  </a:lnTo>
                  <a:lnTo>
                    <a:pt x="0" y="0"/>
                  </a:lnTo>
                  <a:close/>
                </a:path>
              </a:pathLst>
            </a:custGeom>
            <a:blipFill>
              <a:blip r:embed="rId3"/>
              <a:stretch>
                <a:fillRect/>
              </a:stretch>
            </a:blipFill>
          </p:spPr>
        </p:sp>
      </p:grpSp>
      <p:grpSp>
        <p:nvGrpSpPr>
          <p:cNvPr id="10" name="Group 10"/>
          <p:cNvGrpSpPr/>
          <p:nvPr/>
        </p:nvGrpSpPr>
        <p:grpSpPr>
          <a:xfrm>
            <a:off x="7269480" y="2400300"/>
            <a:ext cx="10149840" cy="1645920"/>
            <a:chOff x="0" y="0"/>
            <a:chExt cx="13533120" cy="2194560"/>
          </a:xfrm>
        </p:grpSpPr>
        <p:sp>
          <p:nvSpPr>
            <p:cNvPr id="11" name="Freeform 11"/>
            <p:cNvSpPr/>
            <p:nvPr/>
          </p:nvSpPr>
          <p:spPr>
            <a:xfrm>
              <a:off x="0" y="0"/>
              <a:ext cx="13533120" cy="2194560"/>
            </a:xfrm>
            <a:custGeom>
              <a:avLst/>
              <a:gdLst/>
              <a:ahLst/>
              <a:cxnLst/>
              <a:rect l="l" t="t" r="r" b="b"/>
              <a:pathLst>
                <a:path w="13533120" h="2194560">
                  <a:moveTo>
                    <a:pt x="0" y="0"/>
                  </a:moveTo>
                  <a:lnTo>
                    <a:pt x="13533120" y="0"/>
                  </a:lnTo>
                  <a:lnTo>
                    <a:pt x="13533120" y="2194560"/>
                  </a:lnTo>
                  <a:lnTo>
                    <a:pt x="0" y="2194560"/>
                  </a:lnTo>
                  <a:close/>
                </a:path>
              </a:pathLst>
            </a:custGeom>
            <a:blipFill>
              <a:blip r:embed="rId4">
                <a:alphaModFix amt="0"/>
              </a:blip>
              <a:stretch>
                <a:fillRect t="-70157" b="-70157"/>
              </a:stretch>
            </a:blipFill>
          </p:spPr>
        </p:sp>
        <p:sp>
          <p:nvSpPr>
            <p:cNvPr id="12" name="TextBox 12"/>
            <p:cNvSpPr txBox="1"/>
            <p:nvPr/>
          </p:nvSpPr>
          <p:spPr>
            <a:xfrm>
              <a:off x="0" y="0"/>
              <a:ext cx="13533120" cy="2194560"/>
            </a:xfrm>
            <a:prstGeom prst="rect">
              <a:avLst/>
            </a:prstGeom>
          </p:spPr>
          <p:txBody>
            <a:bodyPr lIns="0" tIns="0" rIns="0" bIns="0" rtlCol="0" anchor="b"/>
            <a:lstStyle/>
            <a:p>
              <a:pPr algn="l">
                <a:lnSpc>
                  <a:spcPts val="9720"/>
                </a:lnSpc>
              </a:pPr>
              <a:r>
                <a:rPr lang="en-US" sz="8100" b="1">
                  <a:solidFill>
                    <a:srgbClr val="006838"/>
                  </a:solidFill>
                  <a:latin typeface="Montserrat Bold"/>
                  <a:ea typeface="Montserrat Bold"/>
                  <a:cs typeface="Montserrat Bold"/>
                  <a:sym typeface="Montserrat Bold"/>
                </a:rPr>
                <a:t>GOVERNANCE</a:t>
              </a:r>
            </a:p>
          </p:txBody>
        </p:sp>
      </p:grpSp>
      <p:sp>
        <p:nvSpPr>
          <p:cNvPr id="13" name="TextBox 13"/>
          <p:cNvSpPr txBox="1"/>
          <p:nvPr/>
        </p:nvSpPr>
        <p:spPr>
          <a:xfrm>
            <a:off x="7269480" y="4114800"/>
            <a:ext cx="10149840" cy="960120"/>
          </a:xfrm>
          <a:prstGeom prst="rect">
            <a:avLst/>
          </a:prstGeom>
        </p:spPr>
        <p:txBody>
          <a:bodyPr lIns="0" tIns="0" rIns="0" bIns="0" rtlCol="0" anchor="t">
            <a:spAutoFit/>
          </a:bodyPr>
          <a:lstStyle/>
          <a:p>
            <a:pPr algn="l">
              <a:lnSpc>
                <a:spcPts val="5040"/>
              </a:lnSpc>
            </a:pPr>
            <a:r>
              <a:rPr lang="en-US" sz="4200" b="1">
                <a:solidFill>
                  <a:srgbClr val="FF7300"/>
                </a:solidFill>
                <a:latin typeface="Montserrat Bold"/>
                <a:ea typeface="Montserrat Bold"/>
                <a:cs typeface="Montserrat Bold"/>
                <a:sym typeface="Montserrat Bold"/>
              </a:rPr>
              <a:t>QUẢN TRỊ</a:t>
            </a:r>
          </a:p>
        </p:txBody>
      </p:sp>
      <p:sp>
        <p:nvSpPr>
          <p:cNvPr id="14" name="TextBox 14"/>
          <p:cNvSpPr txBox="1"/>
          <p:nvPr/>
        </p:nvSpPr>
        <p:spPr>
          <a:xfrm>
            <a:off x="7269480" y="5419725"/>
            <a:ext cx="9875520" cy="2162964"/>
          </a:xfrm>
          <a:prstGeom prst="rect">
            <a:avLst/>
          </a:prstGeom>
        </p:spPr>
        <p:txBody>
          <a:bodyPr lIns="0" tIns="0" rIns="0" bIns="0" rtlCol="0" anchor="t">
            <a:spAutoFit/>
          </a:bodyPr>
          <a:lstStyle/>
          <a:p>
            <a:pPr algn="just">
              <a:lnSpc>
                <a:spcPts val="4320"/>
              </a:lnSpc>
            </a:pPr>
            <a:r>
              <a:rPr lang="en-US" sz="3000" i="1">
                <a:solidFill>
                  <a:srgbClr val="1E2B25"/>
                </a:solidFill>
                <a:latin typeface="Montserrat Italics"/>
                <a:ea typeface="Montserrat Italics"/>
                <a:cs typeface="Montserrat Italics"/>
                <a:sym typeface="Montserrat Italics"/>
              </a:rPr>
              <a:t>Cấu trúc phục vụ chiến lược, không phải ngược lại. Mọi quyết định về sơ đồ tổ chức đều là quyết định chiến lược - dù người ra quyết định có nhận ra điều đó hay không.</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4"/>
          <p:cNvGrpSpPr/>
          <p:nvPr/>
        </p:nvGrpSpPr>
        <p:grpSpPr>
          <a:xfrm>
            <a:off x="822960" y="411480"/>
            <a:ext cx="15361920" cy="1371600"/>
            <a:chOff x="0" y="0"/>
            <a:chExt cx="20482560" cy="1828800"/>
          </a:xfrm>
        </p:grpSpPr>
        <p:sp>
          <p:nvSpPr>
            <p:cNvPr id="5" name="Freeform 5"/>
            <p:cNvSpPr/>
            <p:nvPr/>
          </p:nvSpPr>
          <p:spPr>
            <a:xfrm>
              <a:off x="0" y="0"/>
              <a:ext cx="20482561" cy="1828800"/>
            </a:xfrm>
            <a:custGeom>
              <a:avLst/>
              <a:gdLst/>
              <a:ahLst/>
              <a:cxnLst/>
              <a:rect l="l" t="t" r="r" b="b"/>
              <a:pathLst>
                <a:path w="20482561" h="1828800">
                  <a:moveTo>
                    <a:pt x="0" y="0"/>
                  </a:moveTo>
                  <a:lnTo>
                    <a:pt x="20482561" y="0"/>
                  </a:lnTo>
                  <a:lnTo>
                    <a:pt x="20482561" y="1828800"/>
                  </a:lnTo>
                  <a:lnTo>
                    <a:pt x="0" y="1828800"/>
                  </a:lnTo>
                  <a:close/>
                </a:path>
              </a:pathLst>
            </a:custGeom>
            <a:blipFill>
              <a:blip r:embed="rId3">
                <a:alphaModFix amt="0"/>
              </a:blip>
              <a:stretch>
                <a:fillRect t="-168232" b="-168232"/>
              </a:stretch>
            </a:blipFill>
          </p:spPr>
        </p:sp>
        <p:sp>
          <p:nvSpPr>
            <p:cNvPr id="6" name="TextBox 6"/>
            <p:cNvSpPr txBox="1"/>
            <p:nvPr/>
          </p:nvSpPr>
          <p:spPr>
            <a:xfrm>
              <a:off x="0" y="0"/>
              <a:ext cx="20482560" cy="1828800"/>
            </a:xfrm>
            <a:prstGeom prst="rect">
              <a:avLst/>
            </a:prstGeom>
          </p:spPr>
          <p:txBody>
            <a:bodyPr lIns="0" tIns="0" rIns="0" bIns="0" rtlCol="0" anchor="ctr"/>
            <a:lstStyle/>
            <a:p>
              <a:pPr algn="l">
                <a:lnSpc>
                  <a:spcPts val="4680"/>
                </a:lnSpc>
              </a:pPr>
              <a:r>
                <a:rPr lang="en-US" sz="3900" b="1">
                  <a:solidFill>
                    <a:srgbClr val="006838"/>
                  </a:solidFill>
                  <a:latin typeface="Montserrat Bold"/>
                  <a:ea typeface="Montserrat Bold"/>
                  <a:cs typeface="Montserrat Bold"/>
                  <a:sym typeface="Montserrat Bold"/>
                </a:rPr>
                <a:t>SAI LẦM THƯỜNG GẶP</a:t>
              </a:r>
            </a:p>
          </p:txBody>
        </p:sp>
      </p:grpSp>
      <p:grpSp>
        <p:nvGrpSpPr>
          <p:cNvPr id="7" name="Group 7"/>
          <p:cNvGrpSpPr/>
          <p:nvPr/>
        </p:nvGrpSpPr>
        <p:grpSpPr>
          <a:xfrm>
            <a:off x="815816" y="2324576"/>
            <a:ext cx="5240084" cy="6872288"/>
            <a:chOff x="0" y="0"/>
            <a:chExt cx="6986778" cy="9163050"/>
          </a:xfrm>
        </p:grpSpPr>
        <p:sp>
          <p:nvSpPr>
            <p:cNvPr id="8" name="Freeform 8"/>
            <p:cNvSpPr/>
            <p:nvPr/>
          </p:nvSpPr>
          <p:spPr>
            <a:xfrm>
              <a:off x="0" y="0"/>
              <a:ext cx="6986778" cy="9163050"/>
            </a:xfrm>
            <a:custGeom>
              <a:avLst/>
              <a:gdLst/>
              <a:ahLst/>
              <a:cxnLst/>
              <a:rect l="l" t="t" r="r" b="b"/>
              <a:pathLst>
                <a:path w="6986778" h="9163050">
                  <a:moveTo>
                    <a:pt x="0" y="220091"/>
                  </a:moveTo>
                  <a:cubicBezTo>
                    <a:pt x="0" y="98552"/>
                    <a:pt x="98552" y="0"/>
                    <a:pt x="220091" y="0"/>
                  </a:cubicBezTo>
                  <a:lnTo>
                    <a:pt x="6766687" y="0"/>
                  </a:lnTo>
                  <a:cubicBezTo>
                    <a:pt x="6888226" y="0"/>
                    <a:pt x="6986778" y="98552"/>
                    <a:pt x="6986778" y="220091"/>
                  </a:cubicBezTo>
                  <a:lnTo>
                    <a:pt x="6986778" y="8942959"/>
                  </a:lnTo>
                  <a:cubicBezTo>
                    <a:pt x="6986778" y="9064498"/>
                    <a:pt x="6888226" y="9163050"/>
                    <a:pt x="6766687" y="9163050"/>
                  </a:cubicBezTo>
                  <a:lnTo>
                    <a:pt x="220091" y="9163050"/>
                  </a:lnTo>
                  <a:cubicBezTo>
                    <a:pt x="98552" y="9163050"/>
                    <a:pt x="0" y="9064498"/>
                    <a:pt x="0" y="8942959"/>
                  </a:cubicBezTo>
                  <a:close/>
                </a:path>
              </a:pathLst>
            </a:custGeom>
            <a:solidFill>
              <a:srgbClr val="FFFFFF"/>
            </a:solidFill>
            <a:ln w="14288" cap="sq">
              <a:solidFill>
                <a:srgbClr val="DCE6E0"/>
              </a:solidFill>
              <a:prstDash val="solid"/>
              <a:miter/>
            </a:ln>
          </p:spPr>
        </p:sp>
      </p:grpSp>
      <p:grpSp>
        <p:nvGrpSpPr>
          <p:cNvPr id="9" name="Group 9"/>
          <p:cNvGrpSpPr/>
          <p:nvPr/>
        </p:nvGrpSpPr>
        <p:grpSpPr>
          <a:xfrm>
            <a:off x="1060323" y="1942338"/>
            <a:ext cx="4751070" cy="1802130"/>
            <a:chOff x="0" y="0"/>
            <a:chExt cx="6334760" cy="2402840"/>
          </a:xfrm>
          <a:solidFill>
            <a:schemeClr val="accent3">
              <a:lumMod val="20000"/>
              <a:lumOff val="80000"/>
            </a:schemeClr>
          </a:solidFill>
        </p:grpSpPr>
        <p:sp>
          <p:nvSpPr>
            <p:cNvPr id="10" name="Freeform 10"/>
            <p:cNvSpPr/>
            <p:nvPr/>
          </p:nvSpPr>
          <p:spPr>
            <a:xfrm>
              <a:off x="0" y="0"/>
              <a:ext cx="6334760" cy="2402840"/>
            </a:xfrm>
            <a:custGeom>
              <a:avLst/>
              <a:gdLst/>
              <a:ahLst/>
              <a:cxnLst/>
              <a:rect l="l" t="t" r="r" b="b"/>
              <a:pathLst>
                <a:path w="6334760" h="2402840">
                  <a:moveTo>
                    <a:pt x="0" y="184785"/>
                  </a:moveTo>
                  <a:cubicBezTo>
                    <a:pt x="0" y="82804"/>
                    <a:pt x="82804" y="0"/>
                    <a:pt x="184785" y="0"/>
                  </a:cubicBezTo>
                  <a:lnTo>
                    <a:pt x="6149975" y="0"/>
                  </a:lnTo>
                  <a:cubicBezTo>
                    <a:pt x="6252083" y="0"/>
                    <a:pt x="6334760" y="82804"/>
                    <a:pt x="6334760" y="184785"/>
                  </a:cubicBezTo>
                  <a:lnTo>
                    <a:pt x="6334760" y="2218055"/>
                  </a:lnTo>
                  <a:cubicBezTo>
                    <a:pt x="6334760" y="2320163"/>
                    <a:pt x="6251956" y="2402840"/>
                    <a:pt x="6149975" y="2402840"/>
                  </a:cubicBezTo>
                  <a:lnTo>
                    <a:pt x="184785" y="2402840"/>
                  </a:lnTo>
                  <a:cubicBezTo>
                    <a:pt x="82804" y="2402840"/>
                    <a:pt x="0" y="2320036"/>
                    <a:pt x="0" y="2218055"/>
                  </a:cubicBezTo>
                  <a:close/>
                </a:path>
              </a:pathLst>
            </a:custGeom>
            <a:grpFill/>
            <a:ln w="19050" cap="sq">
              <a:solidFill>
                <a:srgbClr val="FFF1E5"/>
              </a:solidFill>
              <a:prstDash val="solid"/>
              <a:miter/>
            </a:ln>
          </p:spPr>
        </p:sp>
      </p:grpSp>
      <p:grpSp>
        <p:nvGrpSpPr>
          <p:cNvPr id="11" name="Group 11"/>
          <p:cNvGrpSpPr/>
          <p:nvPr/>
        </p:nvGrpSpPr>
        <p:grpSpPr>
          <a:xfrm>
            <a:off x="1334643" y="2216658"/>
            <a:ext cx="1253490" cy="1253490"/>
            <a:chOff x="0" y="0"/>
            <a:chExt cx="1671320" cy="1671320"/>
          </a:xfrm>
          <a:solidFill>
            <a:srgbClr val="3A8A65"/>
          </a:solidFill>
        </p:grpSpPr>
        <p:sp>
          <p:nvSpPr>
            <p:cNvPr id="12" name="Freeform 12"/>
            <p:cNvSpPr/>
            <p:nvPr/>
          </p:nvSpPr>
          <p:spPr>
            <a:xfrm>
              <a:off x="0" y="0"/>
              <a:ext cx="1671320" cy="1671320"/>
            </a:xfrm>
            <a:custGeom>
              <a:avLst/>
              <a:gdLst/>
              <a:ahLst/>
              <a:cxnLst/>
              <a:rect l="l" t="t" r="r" b="b"/>
              <a:pathLst>
                <a:path w="1671320" h="1671320">
                  <a:moveTo>
                    <a:pt x="0" y="835660"/>
                  </a:moveTo>
                  <a:cubicBezTo>
                    <a:pt x="0" y="374142"/>
                    <a:pt x="374142" y="0"/>
                    <a:pt x="835660" y="0"/>
                  </a:cubicBezTo>
                  <a:cubicBezTo>
                    <a:pt x="1297178" y="0"/>
                    <a:pt x="1671320" y="374142"/>
                    <a:pt x="1671320" y="835660"/>
                  </a:cubicBezTo>
                  <a:cubicBezTo>
                    <a:pt x="1671320" y="1297178"/>
                    <a:pt x="1297178" y="1671320"/>
                    <a:pt x="835660" y="1671320"/>
                  </a:cubicBezTo>
                  <a:cubicBezTo>
                    <a:pt x="374142" y="1671320"/>
                    <a:pt x="0" y="1297178"/>
                    <a:pt x="0" y="835660"/>
                  </a:cubicBezTo>
                  <a:close/>
                </a:path>
              </a:pathLst>
            </a:custGeom>
            <a:grpFill/>
            <a:ln w="19050" cap="sq">
              <a:noFill/>
              <a:prstDash val="solid"/>
              <a:miter/>
            </a:ln>
          </p:spPr>
        </p:sp>
      </p:grpSp>
      <p:grpSp>
        <p:nvGrpSpPr>
          <p:cNvPr id="13" name="Group 13"/>
          <p:cNvGrpSpPr/>
          <p:nvPr/>
        </p:nvGrpSpPr>
        <p:grpSpPr>
          <a:xfrm>
            <a:off x="1665122" y="2547137"/>
            <a:ext cx="592531" cy="592531"/>
            <a:chOff x="0" y="0"/>
            <a:chExt cx="790042" cy="790042"/>
          </a:xfrm>
        </p:grpSpPr>
        <p:sp>
          <p:nvSpPr>
            <p:cNvPr id="14" name="Freeform 14" descr="preencoded.png"/>
            <p:cNvSpPr/>
            <p:nvPr/>
          </p:nvSpPr>
          <p:spPr>
            <a:xfrm>
              <a:off x="0" y="0"/>
              <a:ext cx="790067" cy="790067"/>
            </a:xfrm>
            <a:custGeom>
              <a:avLst/>
              <a:gdLst/>
              <a:ahLst/>
              <a:cxnLst/>
              <a:rect l="l" t="t" r="r" b="b"/>
              <a:pathLst>
                <a:path w="790067" h="790067">
                  <a:moveTo>
                    <a:pt x="0" y="0"/>
                  </a:moveTo>
                  <a:lnTo>
                    <a:pt x="790067" y="0"/>
                  </a:lnTo>
                  <a:lnTo>
                    <a:pt x="790067" y="790067"/>
                  </a:lnTo>
                  <a:lnTo>
                    <a:pt x="0" y="790067"/>
                  </a:lnTo>
                  <a:lnTo>
                    <a:pt x="0" y="0"/>
                  </a:lnTo>
                  <a:close/>
                </a:path>
              </a:pathLst>
            </a:custGeom>
            <a:blipFill>
              <a:blip r:embed="rId4"/>
              <a:stretch>
                <a:fillRect r="3" b="3"/>
              </a:stretch>
            </a:blipFill>
          </p:spPr>
        </p:sp>
      </p:grpSp>
      <p:grpSp>
        <p:nvGrpSpPr>
          <p:cNvPr id="15" name="Group 15"/>
          <p:cNvGrpSpPr/>
          <p:nvPr/>
        </p:nvGrpSpPr>
        <p:grpSpPr>
          <a:xfrm>
            <a:off x="2811780" y="2116455"/>
            <a:ext cx="2825496" cy="1453896"/>
            <a:chOff x="0" y="0"/>
            <a:chExt cx="3767328" cy="1938528"/>
          </a:xfrm>
        </p:grpSpPr>
        <p:sp>
          <p:nvSpPr>
            <p:cNvPr id="16" name="Freeform 16"/>
            <p:cNvSpPr/>
            <p:nvPr/>
          </p:nvSpPr>
          <p:spPr>
            <a:xfrm>
              <a:off x="0" y="0"/>
              <a:ext cx="3767328" cy="1938528"/>
            </a:xfrm>
            <a:custGeom>
              <a:avLst/>
              <a:gdLst/>
              <a:ahLst/>
              <a:cxnLst/>
              <a:rect l="l" t="t" r="r" b="b"/>
              <a:pathLst>
                <a:path w="3767328" h="1938528">
                  <a:moveTo>
                    <a:pt x="0" y="0"/>
                  </a:moveTo>
                  <a:lnTo>
                    <a:pt x="3767328" y="0"/>
                  </a:lnTo>
                  <a:lnTo>
                    <a:pt x="3767328" y="1938528"/>
                  </a:lnTo>
                  <a:lnTo>
                    <a:pt x="0" y="1938528"/>
                  </a:lnTo>
                  <a:close/>
                </a:path>
              </a:pathLst>
            </a:custGeom>
            <a:blipFill>
              <a:blip r:embed="rId3">
                <a:alphaModFix amt="0"/>
              </a:blip>
              <a:stretch>
                <a:fillRect l="-16020" r="-16020"/>
              </a:stretch>
            </a:blipFill>
          </p:spPr>
        </p:sp>
        <p:sp>
          <p:nvSpPr>
            <p:cNvPr id="17" name="TextBox 17"/>
            <p:cNvSpPr txBox="1"/>
            <p:nvPr/>
          </p:nvSpPr>
          <p:spPr>
            <a:xfrm>
              <a:off x="0" y="0"/>
              <a:ext cx="3767328" cy="1938528"/>
            </a:xfrm>
            <a:prstGeom prst="rect">
              <a:avLst/>
            </a:prstGeom>
          </p:spPr>
          <p:txBody>
            <a:bodyPr lIns="0" tIns="0" rIns="0" bIns="0" rtlCol="0" anchor="ctr"/>
            <a:lstStyle/>
            <a:p>
              <a:pPr algn="l">
                <a:lnSpc>
                  <a:spcPts val="3060"/>
                </a:lnSpc>
              </a:pPr>
              <a:r>
                <a:rPr lang="en-US" sz="2550" b="1">
                  <a:solidFill>
                    <a:srgbClr val="1E2B25"/>
                  </a:solidFill>
                  <a:latin typeface="Montserrat Bold"/>
                  <a:ea typeface="Montserrat Bold"/>
                  <a:cs typeface="Montserrat Bold"/>
                  <a:sym typeface="Montserrat Bold"/>
                </a:rPr>
                <a:t>Giao nhầm chủ</a:t>
              </a:r>
            </a:p>
          </p:txBody>
        </p:sp>
      </p:grpSp>
      <p:sp>
        <p:nvSpPr>
          <p:cNvPr id="18" name="TextBox 18"/>
          <p:cNvSpPr txBox="1"/>
          <p:nvPr/>
        </p:nvSpPr>
        <p:spPr>
          <a:xfrm>
            <a:off x="1344168" y="6252210"/>
            <a:ext cx="4183380" cy="2809102"/>
          </a:xfrm>
          <a:prstGeom prst="rect">
            <a:avLst/>
          </a:prstGeom>
        </p:spPr>
        <p:txBody>
          <a:bodyPr lIns="0" tIns="0" rIns="0" bIns="0" rtlCol="0" anchor="t">
            <a:spAutoFit/>
          </a:bodyPr>
          <a:lstStyle/>
          <a:p>
            <a:pPr algn="just">
              <a:lnSpc>
                <a:spcPts val="3672"/>
              </a:lnSpc>
            </a:pPr>
            <a:r>
              <a:rPr lang="en-US" sz="2550">
                <a:solidFill>
                  <a:srgbClr val="1E2B25"/>
                </a:solidFill>
                <a:latin typeface="Montserrat"/>
                <a:ea typeface="Montserrat"/>
                <a:cs typeface="Montserrat"/>
                <a:sym typeface="Montserrat"/>
              </a:rPr>
              <a:t>AI thường </a:t>
            </a:r>
            <a:r>
              <a:rPr lang="en-US" sz="2550" b="1">
                <a:solidFill>
                  <a:srgbClr val="3A8A65"/>
                </a:solidFill>
                <a:latin typeface="Montserrat Bold"/>
                <a:ea typeface="Montserrat Bold"/>
                <a:cs typeface="Montserrat Bold"/>
                <a:sym typeface="Montserrat Bold"/>
              </a:rPr>
              <a:t>được giao cho một phòng ban đơn lẻ</a:t>
            </a:r>
            <a:r>
              <a:rPr lang="en-US" sz="2550">
                <a:solidFill>
                  <a:srgbClr val="3A8A65"/>
                </a:solidFill>
                <a:latin typeface="Montserrat"/>
                <a:ea typeface="Montserrat"/>
                <a:cs typeface="Montserrat"/>
                <a:sym typeface="Montserrat"/>
              </a:rPr>
              <a:t> </a:t>
            </a:r>
            <a:r>
              <a:rPr lang="en-US" sz="2550">
                <a:solidFill>
                  <a:srgbClr val="1E2B25"/>
                </a:solidFill>
                <a:latin typeface="Montserrat"/>
                <a:ea typeface="Montserrat"/>
                <a:cs typeface="Montserrat"/>
                <a:sym typeface="Montserrat"/>
              </a:rPr>
              <a:t>(IT, Innovation, đôi khi là Chuyển đổi số) thay vì được coi là vấn đề vận hành toàn tổ chức.</a:t>
            </a:r>
          </a:p>
        </p:txBody>
      </p:sp>
      <p:grpSp>
        <p:nvGrpSpPr>
          <p:cNvPr id="19" name="Group 19"/>
          <p:cNvGrpSpPr/>
          <p:nvPr/>
        </p:nvGrpSpPr>
        <p:grpSpPr>
          <a:xfrm>
            <a:off x="6521672" y="2324576"/>
            <a:ext cx="5240084" cy="6872288"/>
            <a:chOff x="0" y="0"/>
            <a:chExt cx="6986778" cy="9163050"/>
          </a:xfrm>
        </p:grpSpPr>
        <p:sp>
          <p:nvSpPr>
            <p:cNvPr id="20" name="Freeform 20"/>
            <p:cNvSpPr/>
            <p:nvPr/>
          </p:nvSpPr>
          <p:spPr>
            <a:xfrm>
              <a:off x="0" y="0"/>
              <a:ext cx="6986778" cy="9163050"/>
            </a:xfrm>
            <a:custGeom>
              <a:avLst/>
              <a:gdLst/>
              <a:ahLst/>
              <a:cxnLst/>
              <a:rect l="l" t="t" r="r" b="b"/>
              <a:pathLst>
                <a:path w="6986778" h="9163050">
                  <a:moveTo>
                    <a:pt x="0" y="220091"/>
                  </a:moveTo>
                  <a:cubicBezTo>
                    <a:pt x="0" y="98552"/>
                    <a:pt x="98552" y="0"/>
                    <a:pt x="220091" y="0"/>
                  </a:cubicBezTo>
                  <a:lnTo>
                    <a:pt x="6766687" y="0"/>
                  </a:lnTo>
                  <a:cubicBezTo>
                    <a:pt x="6888226" y="0"/>
                    <a:pt x="6986778" y="98552"/>
                    <a:pt x="6986778" y="220091"/>
                  </a:cubicBezTo>
                  <a:lnTo>
                    <a:pt x="6986778" y="8942959"/>
                  </a:lnTo>
                  <a:cubicBezTo>
                    <a:pt x="6986778" y="9064498"/>
                    <a:pt x="6888226" y="9163050"/>
                    <a:pt x="6766687" y="9163050"/>
                  </a:cubicBezTo>
                  <a:lnTo>
                    <a:pt x="220091" y="9163050"/>
                  </a:lnTo>
                  <a:cubicBezTo>
                    <a:pt x="98552" y="9163050"/>
                    <a:pt x="0" y="9064498"/>
                    <a:pt x="0" y="8942959"/>
                  </a:cubicBezTo>
                  <a:close/>
                </a:path>
              </a:pathLst>
            </a:custGeom>
            <a:solidFill>
              <a:srgbClr val="FFFFFF"/>
            </a:solidFill>
            <a:ln w="14288" cap="sq">
              <a:solidFill>
                <a:srgbClr val="DCE6E0"/>
              </a:solidFill>
              <a:prstDash val="solid"/>
              <a:miter/>
            </a:ln>
          </p:spPr>
        </p:sp>
      </p:grpSp>
      <p:grpSp>
        <p:nvGrpSpPr>
          <p:cNvPr id="21" name="Group 21"/>
          <p:cNvGrpSpPr/>
          <p:nvPr/>
        </p:nvGrpSpPr>
        <p:grpSpPr>
          <a:xfrm>
            <a:off x="6766179" y="1942338"/>
            <a:ext cx="4751070" cy="1802130"/>
            <a:chOff x="0" y="0"/>
            <a:chExt cx="6334760" cy="2402840"/>
          </a:xfrm>
          <a:solidFill>
            <a:schemeClr val="accent3">
              <a:lumMod val="20000"/>
              <a:lumOff val="80000"/>
            </a:schemeClr>
          </a:solidFill>
        </p:grpSpPr>
        <p:sp>
          <p:nvSpPr>
            <p:cNvPr id="22" name="Freeform 22"/>
            <p:cNvSpPr/>
            <p:nvPr/>
          </p:nvSpPr>
          <p:spPr>
            <a:xfrm>
              <a:off x="0" y="0"/>
              <a:ext cx="6334760" cy="2402840"/>
            </a:xfrm>
            <a:custGeom>
              <a:avLst/>
              <a:gdLst/>
              <a:ahLst/>
              <a:cxnLst/>
              <a:rect l="l" t="t" r="r" b="b"/>
              <a:pathLst>
                <a:path w="6334760" h="2402840">
                  <a:moveTo>
                    <a:pt x="0" y="184785"/>
                  </a:moveTo>
                  <a:cubicBezTo>
                    <a:pt x="0" y="82804"/>
                    <a:pt x="82804" y="0"/>
                    <a:pt x="184785" y="0"/>
                  </a:cubicBezTo>
                  <a:lnTo>
                    <a:pt x="6149975" y="0"/>
                  </a:lnTo>
                  <a:cubicBezTo>
                    <a:pt x="6252083" y="0"/>
                    <a:pt x="6334760" y="82804"/>
                    <a:pt x="6334760" y="184785"/>
                  </a:cubicBezTo>
                  <a:lnTo>
                    <a:pt x="6334760" y="2218055"/>
                  </a:lnTo>
                  <a:cubicBezTo>
                    <a:pt x="6334760" y="2320163"/>
                    <a:pt x="6251956" y="2402840"/>
                    <a:pt x="6149975" y="2402840"/>
                  </a:cubicBezTo>
                  <a:lnTo>
                    <a:pt x="184785" y="2402840"/>
                  </a:lnTo>
                  <a:cubicBezTo>
                    <a:pt x="82804" y="2402840"/>
                    <a:pt x="0" y="2320036"/>
                    <a:pt x="0" y="2218055"/>
                  </a:cubicBezTo>
                  <a:close/>
                </a:path>
              </a:pathLst>
            </a:custGeom>
            <a:grpFill/>
            <a:ln w="19050" cap="sq">
              <a:solidFill>
                <a:srgbClr val="FFF1E5"/>
              </a:solidFill>
              <a:prstDash val="solid"/>
              <a:miter/>
            </a:ln>
          </p:spPr>
        </p:sp>
      </p:grpSp>
      <p:grpSp>
        <p:nvGrpSpPr>
          <p:cNvPr id="23" name="Group 23"/>
          <p:cNvGrpSpPr/>
          <p:nvPr/>
        </p:nvGrpSpPr>
        <p:grpSpPr>
          <a:xfrm>
            <a:off x="7040499" y="2216658"/>
            <a:ext cx="1253490" cy="1253490"/>
            <a:chOff x="0" y="0"/>
            <a:chExt cx="1671320" cy="1671320"/>
          </a:xfrm>
          <a:solidFill>
            <a:srgbClr val="3A8A65"/>
          </a:solidFill>
        </p:grpSpPr>
        <p:sp>
          <p:nvSpPr>
            <p:cNvPr id="24" name="Freeform 24"/>
            <p:cNvSpPr/>
            <p:nvPr/>
          </p:nvSpPr>
          <p:spPr>
            <a:xfrm>
              <a:off x="0" y="0"/>
              <a:ext cx="1671320" cy="1671320"/>
            </a:xfrm>
            <a:custGeom>
              <a:avLst/>
              <a:gdLst/>
              <a:ahLst/>
              <a:cxnLst/>
              <a:rect l="l" t="t" r="r" b="b"/>
              <a:pathLst>
                <a:path w="1671320" h="1671320">
                  <a:moveTo>
                    <a:pt x="0" y="835660"/>
                  </a:moveTo>
                  <a:cubicBezTo>
                    <a:pt x="0" y="374142"/>
                    <a:pt x="374142" y="0"/>
                    <a:pt x="835660" y="0"/>
                  </a:cubicBezTo>
                  <a:cubicBezTo>
                    <a:pt x="1297178" y="0"/>
                    <a:pt x="1671320" y="374142"/>
                    <a:pt x="1671320" y="835660"/>
                  </a:cubicBezTo>
                  <a:cubicBezTo>
                    <a:pt x="1671320" y="1297178"/>
                    <a:pt x="1297178" y="1671320"/>
                    <a:pt x="835660" y="1671320"/>
                  </a:cubicBezTo>
                  <a:cubicBezTo>
                    <a:pt x="374142" y="1671320"/>
                    <a:pt x="0" y="1297178"/>
                    <a:pt x="0" y="835660"/>
                  </a:cubicBezTo>
                  <a:close/>
                </a:path>
              </a:pathLst>
            </a:custGeom>
            <a:grpFill/>
            <a:ln w="19050" cap="sq">
              <a:noFill/>
              <a:prstDash val="solid"/>
              <a:miter/>
            </a:ln>
          </p:spPr>
        </p:sp>
      </p:grpSp>
      <p:grpSp>
        <p:nvGrpSpPr>
          <p:cNvPr id="25" name="Group 25"/>
          <p:cNvGrpSpPr/>
          <p:nvPr/>
        </p:nvGrpSpPr>
        <p:grpSpPr>
          <a:xfrm>
            <a:off x="7370978" y="2547137"/>
            <a:ext cx="592531" cy="592531"/>
            <a:chOff x="0" y="0"/>
            <a:chExt cx="790042" cy="790042"/>
          </a:xfrm>
        </p:grpSpPr>
        <p:sp>
          <p:nvSpPr>
            <p:cNvPr id="26" name="Freeform 26" descr="preencoded.png"/>
            <p:cNvSpPr/>
            <p:nvPr/>
          </p:nvSpPr>
          <p:spPr>
            <a:xfrm>
              <a:off x="0" y="0"/>
              <a:ext cx="790067" cy="790067"/>
            </a:xfrm>
            <a:custGeom>
              <a:avLst/>
              <a:gdLst/>
              <a:ahLst/>
              <a:cxnLst/>
              <a:rect l="l" t="t" r="r" b="b"/>
              <a:pathLst>
                <a:path w="790067" h="790067">
                  <a:moveTo>
                    <a:pt x="0" y="0"/>
                  </a:moveTo>
                  <a:lnTo>
                    <a:pt x="790067" y="0"/>
                  </a:lnTo>
                  <a:lnTo>
                    <a:pt x="790067" y="790067"/>
                  </a:lnTo>
                  <a:lnTo>
                    <a:pt x="0" y="790067"/>
                  </a:lnTo>
                  <a:lnTo>
                    <a:pt x="0" y="0"/>
                  </a:lnTo>
                  <a:close/>
                </a:path>
              </a:pathLst>
            </a:custGeom>
            <a:blipFill>
              <a:blip r:embed="rId5"/>
              <a:stretch>
                <a:fillRect r="3" b="3"/>
              </a:stretch>
            </a:blipFill>
          </p:spPr>
        </p:sp>
      </p:grpSp>
      <p:grpSp>
        <p:nvGrpSpPr>
          <p:cNvPr id="27" name="Group 27"/>
          <p:cNvGrpSpPr/>
          <p:nvPr/>
        </p:nvGrpSpPr>
        <p:grpSpPr>
          <a:xfrm>
            <a:off x="8517636" y="2116455"/>
            <a:ext cx="2825496" cy="1453896"/>
            <a:chOff x="0" y="0"/>
            <a:chExt cx="3767328" cy="1938528"/>
          </a:xfrm>
        </p:grpSpPr>
        <p:sp>
          <p:nvSpPr>
            <p:cNvPr id="28" name="Freeform 28"/>
            <p:cNvSpPr/>
            <p:nvPr/>
          </p:nvSpPr>
          <p:spPr>
            <a:xfrm>
              <a:off x="0" y="0"/>
              <a:ext cx="3767328" cy="1938528"/>
            </a:xfrm>
            <a:custGeom>
              <a:avLst/>
              <a:gdLst/>
              <a:ahLst/>
              <a:cxnLst/>
              <a:rect l="l" t="t" r="r" b="b"/>
              <a:pathLst>
                <a:path w="3767328" h="1938528">
                  <a:moveTo>
                    <a:pt x="0" y="0"/>
                  </a:moveTo>
                  <a:lnTo>
                    <a:pt x="3767328" y="0"/>
                  </a:lnTo>
                  <a:lnTo>
                    <a:pt x="3767328" y="1938528"/>
                  </a:lnTo>
                  <a:lnTo>
                    <a:pt x="0" y="1938528"/>
                  </a:lnTo>
                  <a:close/>
                </a:path>
              </a:pathLst>
            </a:custGeom>
            <a:blipFill>
              <a:blip r:embed="rId3">
                <a:alphaModFix amt="0"/>
              </a:blip>
              <a:stretch>
                <a:fillRect l="-16020" r="-16020"/>
              </a:stretch>
            </a:blipFill>
          </p:spPr>
        </p:sp>
        <p:sp>
          <p:nvSpPr>
            <p:cNvPr id="29" name="TextBox 29"/>
            <p:cNvSpPr txBox="1"/>
            <p:nvPr/>
          </p:nvSpPr>
          <p:spPr>
            <a:xfrm>
              <a:off x="0" y="0"/>
              <a:ext cx="3767328" cy="1938528"/>
            </a:xfrm>
            <a:prstGeom prst="rect">
              <a:avLst/>
            </a:prstGeom>
          </p:spPr>
          <p:txBody>
            <a:bodyPr lIns="0" tIns="0" rIns="0" bIns="0" rtlCol="0" anchor="ctr"/>
            <a:lstStyle/>
            <a:p>
              <a:pPr algn="l">
                <a:lnSpc>
                  <a:spcPts val="3060"/>
                </a:lnSpc>
              </a:pPr>
              <a:r>
                <a:rPr lang="en-US" sz="2550" b="1">
                  <a:solidFill>
                    <a:srgbClr val="1E2B25"/>
                  </a:solidFill>
                  <a:latin typeface="Montserrat Bold"/>
                  <a:ea typeface="Montserrat Bold"/>
                  <a:cs typeface="Montserrat Bold"/>
                  <a:sym typeface="Montserrat Bold"/>
                </a:rPr>
                <a:t>Không ai đủ thẩm quyền</a:t>
              </a:r>
            </a:p>
          </p:txBody>
        </p:sp>
      </p:grpSp>
      <p:sp>
        <p:nvSpPr>
          <p:cNvPr id="30" name="TextBox 30"/>
          <p:cNvSpPr txBox="1"/>
          <p:nvPr/>
        </p:nvSpPr>
        <p:spPr>
          <a:xfrm>
            <a:off x="7050024" y="6252210"/>
            <a:ext cx="4183380" cy="2809102"/>
          </a:xfrm>
          <a:prstGeom prst="rect">
            <a:avLst/>
          </a:prstGeom>
        </p:spPr>
        <p:txBody>
          <a:bodyPr lIns="0" tIns="0" rIns="0" bIns="0" rtlCol="0" anchor="t">
            <a:spAutoFit/>
          </a:bodyPr>
          <a:lstStyle/>
          <a:p>
            <a:pPr algn="just">
              <a:lnSpc>
                <a:spcPts val="3672"/>
              </a:lnSpc>
            </a:pPr>
            <a:r>
              <a:rPr lang="en-US" sz="2550" b="1">
                <a:solidFill>
                  <a:srgbClr val="3A8A65"/>
                </a:solidFill>
                <a:latin typeface="Montserrat Bold"/>
                <a:ea typeface="Montserrat Bold"/>
                <a:cs typeface="Montserrat Bold"/>
                <a:sym typeface="Montserrat Bold"/>
              </a:rPr>
              <a:t>Không ai có đủ thẩm quyền</a:t>
            </a:r>
            <a:r>
              <a:rPr lang="en-US" sz="2550">
                <a:solidFill>
                  <a:srgbClr val="3A8A65"/>
                </a:solidFill>
                <a:latin typeface="Montserrat"/>
                <a:ea typeface="Montserrat"/>
                <a:cs typeface="Montserrat"/>
                <a:sym typeface="Montserrat"/>
              </a:rPr>
              <a:t> </a:t>
            </a:r>
            <a:r>
              <a:rPr lang="en-US" sz="2550">
                <a:solidFill>
                  <a:srgbClr val="1E2B25"/>
                </a:solidFill>
                <a:latin typeface="Montserrat"/>
                <a:ea typeface="Montserrat"/>
                <a:cs typeface="Montserrat"/>
                <a:sym typeface="Montserrat"/>
              </a:rPr>
              <a:t>để nén tầng báo cáo hoặc thay đổi luồng thông tin xuyên phòng ban - dù ai cũng thấy cần thiết.</a:t>
            </a:r>
          </a:p>
        </p:txBody>
      </p:sp>
      <p:grpSp>
        <p:nvGrpSpPr>
          <p:cNvPr id="31" name="Group 31"/>
          <p:cNvGrpSpPr/>
          <p:nvPr/>
        </p:nvGrpSpPr>
        <p:grpSpPr>
          <a:xfrm>
            <a:off x="12227528" y="2324576"/>
            <a:ext cx="5240084" cy="6872288"/>
            <a:chOff x="0" y="0"/>
            <a:chExt cx="6986778" cy="9163050"/>
          </a:xfrm>
        </p:grpSpPr>
        <p:sp>
          <p:nvSpPr>
            <p:cNvPr id="32" name="Freeform 32"/>
            <p:cNvSpPr/>
            <p:nvPr/>
          </p:nvSpPr>
          <p:spPr>
            <a:xfrm>
              <a:off x="0" y="0"/>
              <a:ext cx="6986778" cy="9163050"/>
            </a:xfrm>
            <a:custGeom>
              <a:avLst/>
              <a:gdLst/>
              <a:ahLst/>
              <a:cxnLst/>
              <a:rect l="l" t="t" r="r" b="b"/>
              <a:pathLst>
                <a:path w="6986778" h="9163050">
                  <a:moveTo>
                    <a:pt x="0" y="220091"/>
                  </a:moveTo>
                  <a:cubicBezTo>
                    <a:pt x="0" y="98552"/>
                    <a:pt x="98552" y="0"/>
                    <a:pt x="220091" y="0"/>
                  </a:cubicBezTo>
                  <a:lnTo>
                    <a:pt x="6766687" y="0"/>
                  </a:lnTo>
                  <a:cubicBezTo>
                    <a:pt x="6888226" y="0"/>
                    <a:pt x="6986778" y="98552"/>
                    <a:pt x="6986778" y="220091"/>
                  </a:cubicBezTo>
                  <a:lnTo>
                    <a:pt x="6986778" y="8942959"/>
                  </a:lnTo>
                  <a:cubicBezTo>
                    <a:pt x="6986778" y="9064498"/>
                    <a:pt x="6888226" y="9163050"/>
                    <a:pt x="6766687" y="9163050"/>
                  </a:cubicBezTo>
                  <a:lnTo>
                    <a:pt x="220091" y="9163050"/>
                  </a:lnTo>
                  <a:cubicBezTo>
                    <a:pt x="98552" y="9163050"/>
                    <a:pt x="0" y="9064498"/>
                    <a:pt x="0" y="8942959"/>
                  </a:cubicBezTo>
                  <a:close/>
                </a:path>
              </a:pathLst>
            </a:custGeom>
            <a:solidFill>
              <a:srgbClr val="FFFFFF"/>
            </a:solidFill>
            <a:ln w="14288" cap="sq">
              <a:solidFill>
                <a:srgbClr val="DCE6E0"/>
              </a:solidFill>
              <a:prstDash val="solid"/>
              <a:miter/>
            </a:ln>
          </p:spPr>
        </p:sp>
      </p:grpSp>
      <p:grpSp>
        <p:nvGrpSpPr>
          <p:cNvPr id="33" name="Group 33"/>
          <p:cNvGrpSpPr/>
          <p:nvPr/>
        </p:nvGrpSpPr>
        <p:grpSpPr>
          <a:xfrm>
            <a:off x="12472035" y="1942338"/>
            <a:ext cx="4751070" cy="1802130"/>
            <a:chOff x="0" y="0"/>
            <a:chExt cx="6334760" cy="2402840"/>
          </a:xfrm>
          <a:solidFill>
            <a:schemeClr val="accent3">
              <a:lumMod val="20000"/>
              <a:lumOff val="80000"/>
            </a:schemeClr>
          </a:solidFill>
        </p:grpSpPr>
        <p:sp>
          <p:nvSpPr>
            <p:cNvPr id="34" name="Freeform 34"/>
            <p:cNvSpPr/>
            <p:nvPr/>
          </p:nvSpPr>
          <p:spPr>
            <a:xfrm>
              <a:off x="0" y="0"/>
              <a:ext cx="6334760" cy="2402840"/>
            </a:xfrm>
            <a:custGeom>
              <a:avLst/>
              <a:gdLst/>
              <a:ahLst/>
              <a:cxnLst/>
              <a:rect l="l" t="t" r="r" b="b"/>
              <a:pathLst>
                <a:path w="6334760" h="2402840">
                  <a:moveTo>
                    <a:pt x="0" y="184785"/>
                  </a:moveTo>
                  <a:cubicBezTo>
                    <a:pt x="0" y="82804"/>
                    <a:pt x="82804" y="0"/>
                    <a:pt x="184785" y="0"/>
                  </a:cubicBezTo>
                  <a:lnTo>
                    <a:pt x="6149975" y="0"/>
                  </a:lnTo>
                  <a:cubicBezTo>
                    <a:pt x="6252083" y="0"/>
                    <a:pt x="6334760" y="82804"/>
                    <a:pt x="6334760" y="184785"/>
                  </a:cubicBezTo>
                  <a:lnTo>
                    <a:pt x="6334760" y="2218055"/>
                  </a:lnTo>
                  <a:cubicBezTo>
                    <a:pt x="6334760" y="2320163"/>
                    <a:pt x="6251956" y="2402840"/>
                    <a:pt x="6149975" y="2402840"/>
                  </a:cubicBezTo>
                  <a:lnTo>
                    <a:pt x="184785" y="2402840"/>
                  </a:lnTo>
                  <a:cubicBezTo>
                    <a:pt x="82804" y="2402840"/>
                    <a:pt x="0" y="2320036"/>
                    <a:pt x="0" y="2218055"/>
                  </a:cubicBezTo>
                  <a:close/>
                </a:path>
              </a:pathLst>
            </a:custGeom>
            <a:grpFill/>
            <a:ln w="19050" cap="sq">
              <a:solidFill>
                <a:srgbClr val="FFF1E5"/>
              </a:solidFill>
              <a:prstDash val="solid"/>
              <a:miter/>
            </a:ln>
          </p:spPr>
        </p:sp>
      </p:grpSp>
      <p:grpSp>
        <p:nvGrpSpPr>
          <p:cNvPr id="35" name="Group 35"/>
          <p:cNvGrpSpPr/>
          <p:nvPr/>
        </p:nvGrpSpPr>
        <p:grpSpPr>
          <a:xfrm>
            <a:off x="12746355" y="2216658"/>
            <a:ext cx="1253490" cy="1253490"/>
            <a:chOff x="0" y="0"/>
            <a:chExt cx="1671320" cy="1671320"/>
          </a:xfrm>
          <a:solidFill>
            <a:srgbClr val="3A8A65"/>
          </a:solidFill>
        </p:grpSpPr>
        <p:sp>
          <p:nvSpPr>
            <p:cNvPr id="36" name="Freeform 36"/>
            <p:cNvSpPr/>
            <p:nvPr/>
          </p:nvSpPr>
          <p:spPr>
            <a:xfrm>
              <a:off x="0" y="0"/>
              <a:ext cx="1671320" cy="1671320"/>
            </a:xfrm>
            <a:custGeom>
              <a:avLst/>
              <a:gdLst/>
              <a:ahLst/>
              <a:cxnLst/>
              <a:rect l="l" t="t" r="r" b="b"/>
              <a:pathLst>
                <a:path w="1671320" h="1671320">
                  <a:moveTo>
                    <a:pt x="0" y="835660"/>
                  </a:moveTo>
                  <a:cubicBezTo>
                    <a:pt x="0" y="374142"/>
                    <a:pt x="374142" y="0"/>
                    <a:pt x="835660" y="0"/>
                  </a:cubicBezTo>
                  <a:cubicBezTo>
                    <a:pt x="1297178" y="0"/>
                    <a:pt x="1671320" y="374142"/>
                    <a:pt x="1671320" y="835660"/>
                  </a:cubicBezTo>
                  <a:cubicBezTo>
                    <a:pt x="1671320" y="1297178"/>
                    <a:pt x="1297178" y="1671320"/>
                    <a:pt x="835660" y="1671320"/>
                  </a:cubicBezTo>
                  <a:cubicBezTo>
                    <a:pt x="374142" y="1671320"/>
                    <a:pt x="0" y="1297178"/>
                    <a:pt x="0" y="835660"/>
                  </a:cubicBezTo>
                  <a:close/>
                </a:path>
              </a:pathLst>
            </a:custGeom>
            <a:grpFill/>
            <a:ln w="19050" cap="sq">
              <a:noFill/>
              <a:prstDash val="solid"/>
              <a:miter/>
            </a:ln>
          </p:spPr>
        </p:sp>
      </p:grpSp>
      <p:grpSp>
        <p:nvGrpSpPr>
          <p:cNvPr id="37" name="Group 37"/>
          <p:cNvGrpSpPr/>
          <p:nvPr/>
        </p:nvGrpSpPr>
        <p:grpSpPr>
          <a:xfrm>
            <a:off x="13076834" y="2547137"/>
            <a:ext cx="592531" cy="592531"/>
            <a:chOff x="0" y="0"/>
            <a:chExt cx="790042" cy="790042"/>
          </a:xfrm>
        </p:grpSpPr>
        <p:sp>
          <p:nvSpPr>
            <p:cNvPr id="38" name="Freeform 38" descr="preencoded.png"/>
            <p:cNvSpPr/>
            <p:nvPr/>
          </p:nvSpPr>
          <p:spPr>
            <a:xfrm>
              <a:off x="0" y="0"/>
              <a:ext cx="790067" cy="790067"/>
            </a:xfrm>
            <a:custGeom>
              <a:avLst/>
              <a:gdLst/>
              <a:ahLst/>
              <a:cxnLst/>
              <a:rect l="l" t="t" r="r" b="b"/>
              <a:pathLst>
                <a:path w="790067" h="790067">
                  <a:moveTo>
                    <a:pt x="0" y="0"/>
                  </a:moveTo>
                  <a:lnTo>
                    <a:pt x="790067" y="0"/>
                  </a:lnTo>
                  <a:lnTo>
                    <a:pt x="790067" y="790067"/>
                  </a:lnTo>
                  <a:lnTo>
                    <a:pt x="0" y="790067"/>
                  </a:lnTo>
                  <a:lnTo>
                    <a:pt x="0" y="0"/>
                  </a:lnTo>
                  <a:close/>
                </a:path>
              </a:pathLst>
            </a:custGeom>
            <a:blipFill>
              <a:blip r:embed="rId6"/>
              <a:stretch>
                <a:fillRect r="3" b="3"/>
              </a:stretch>
            </a:blipFill>
          </p:spPr>
        </p:sp>
      </p:grpSp>
      <p:grpSp>
        <p:nvGrpSpPr>
          <p:cNvPr id="39" name="Group 39"/>
          <p:cNvGrpSpPr/>
          <p:nvPr/>
        </p:nvGrpSpPr>
        <p:grpSpPr>
          <a:xfrm>
            <a:off x="14223492" y="2116455"/>
            <a:ext cx="2825496" cy="1453896"/>
            <a:chOff x="0" y="0"/>
            <a:chExt cx="3767328" cy="1938528"/>
          </a:xfrm>
        </p:grpSpPr>
        <p:sp>
          <p:nvSpPr>
            <p:cNvPr id="40" name="Freeform 40"/>
            <p:cNvSpPr/>
            <p:nvPr/>
          </p:nvSpPr>
          <p:spPr>
            <a:xfrm>
              <a:off x="0" y="0"/>
              <a:ext cx="3767328" cy="1938528"/>
            </a:xfrm>
            <a:custGeom>
              <a:avLst/>
              <a:gdLst/>
              <a:ahLst/>
              <a:cxnLst/>
              <a:rect l="l" t="t" r="r" b="b"/>
              <a:pathLst>
                <a:path w="3767328" h="1938528">
                  <a:moveTo>
                    <a:pt x="0" y="0"/>
                  </a:moveTo>
                  <a:lnTo>
                    <a:pt x="3767328" y="0"/>
                  </a:lnTo>
                  <a:lnTo>
                    <a:pt x="3767328" y="1938528"/>
                  </a:lnTo>
                  <a:lnTo>
                    <a:pt x="0" y="1938528"/>
                  </a:lnTo>
                  <a:close/>
                </a:path>
              </a:pathLst>
            </a:custGeom>
            <a:blipFill>
              <a:blip r:embed="rId3">
                <a:alphaModFix amt="0"/>
              </a:blip>
              <a:stretch>
                <a:fillRect l="-16020" r="-16020"/>
              </a:stretch>
            </a:blipFill>
          </p:spPr>
        </p:sp>
        <p:sp>
          <p:nvSpPr>
            <p:cNvPr id="41" name="TextBox 41"/>
            <p:cNvSpPr txBox="1"/>
            <p:nvPr/>
          </p:nvSpPr>
          <p:spPr>
            <a:xfrm>
              <a:off x="0" y="0"/>
              <a:ext cx="3767328" cy="1938528"/>
            </a:xfrm>
            <a:prstGeom prst="rect">
              <a:avLst/>
            </a:prstGeom>
          </p:spPr>
          <p:txBody>
            <a:bodyPr lIns="0" tIns="0" rIns="0" bIns="0" rtlCol="0" anchor="ctr"/>
            <a:lstStyle/>
            <a:p>
              <a:pPr algn="l">
                <a:lnSpc>
                  <a:spcPts val="3060"/>
                </a:lnSpc>
              </a:pPr>
              <a:r>
                <a:rPr lang="en-US" sz="2550" b="1">
                  <a:solidFill>
                    <a:srgbClr val="1E2B25"/>
                  </a:solidFill>
                  <a:latin typeface="Montserrat Bold"/>
                  <a:ea typeface="Montserrat Bold"/>
                  <a:cs typeface="Montserrat Bold"/>
                  <a:sym typeface="Montserrat Bold"/>
                </a:rPr>
                <a:t>Pilot mãi không scale</a:t>
              </a:r>
            </a:p>
          </p:txBody>
        </p:sp>
      </p:grpSp>
      <p:sp>
        <p:nvSpPr>
          <p:cNvPr id="42" name="TextBox 42"/>
          <p:cNvSpPr txBox="1"/>
          <p:nvPr/>
        </p:nvSpPr>
        <p:spPr>
          <a:xfrm>
            <a:off x="12755880" y="6252210"/>
            <a:ext cx="4183380" cy="2809102"/>
          </a:xfrm>
          <a:prstGeom prst="rect">
            <a:avLst/>
          </a:prstGeom>
        </p:spPr>
        <p:txBody>
          <a:bodyPr lIns="0" tIns="0" rIns="0" bIns="0" rtlCol="0" anchor="t">
            <a:spAutoFit/>
          </a:bodyPr>
          <a:lstStyle/>
          <a:p>
            <a:pPr algn="just">
              <a:lnSpc>
                <a:spcPts val="3672"/>
              </a:lnSpc>
            </a:pPr>
            <a:r>
              <a:rPr lang="en-US" sz="2550">
                <a:solidFill>
                  <a:srgbClr val="1E2B25"/>
                </a:solidFill>
                <a:latin typeface="Montserrat"/>
                <a:ea typeface="Montserrat"/>
                <a:cs typeface="Montserrat"/>
                <a:sym typeface="Montserrat"/>
              </a:rPr>
              <a:t>Sáng kiến AI </a:t>
            </a:r>
            <a:r>
              <a:rPr lang="en-US" sz="2550" b="1">
                <a:solidFill>
                  <a:srgbClr val="3A8A65"/>
                </a:solidFill>
                <a:latin typeface="Montserrat Bold"/>
                <a:ea typeface="Montserrat Bold"/>
                <a:cs typeface="Montserrat Bold"/>
                <a:sym typeface="Montserrat Bold"/>
              </a:rPr>
              <a:t>dừng lại ở cấp thử nghiệm (pilot)</a:t>
            </a:r>
            <a:r>
              <a:rPr lang="en-US" sz="2550">
                <a:solidFill>
                  <a:srgbClr val="1E2B25"/>
                </a:solidFill>
                <a:latin typeface="Montserrat"/>
                <a:ea typeface="Montserrat"/>
                <a:cs typeface="Montserrat"/>
                <a:sym typeface="Montserrat"/>
              </a:rPr>
              <a:t> vì thiếu người "sở hữu" bài toán ở cấp điều hành - không ai chịu trách nhiệm kết quả cuối cùng.</a:t>
            </a:r>
          </a:p>
        </p:txBody>
      </p:sp>
      <p:grpSp>
        <p:nvGrpSpPr>
          <p:cNvPr id="44" name="Group 44"/>
          <p:cNvGrpSpPr/>
          <p:nvPr/>
        </p:nvGrpSpPr>
        <p:grpSpPr>
          <a:xfrm>
            <a:off x="1094016" y="3570351"/>
            <a:ext cx="4683684" cy="2445749"/>
            <a:chOff x="0" y="0"/>
            <a:chExt cx="1489084" cy="777577"/>
          </a:xfrm>
        </p:grpSpPr>
        <p:sp>
          <p:nvSpPr>
            <p:cNvPr id="45" name="Freeform 45"/>
            <p:cNvSpPr/>
            <p:nvPr/>
          </p:nvSpPr>
          <p:spPr>
            <a:xfrm>
              <a:off x="0" y="0"/>
              <a:ext cx="1489084" cy="777577"/>
            </a:xfrm>
            <a:custGeom>
              <a:avLst/>
              <a:gdLst/>
              <a:ahLst/>
              <a:cxnLst/>
              <a:rect l="l" t="t" r="r" b="b"/>
              <a:pathLst>
                <a:path w="1489084" h="777577">
                  <a:moveTo>
                    <a:pt x="38018" y="0"/>
                  </a:moveTo>
                  <a:lnTo>
                    <a:pt x="1451066" y="0"/>
                  </a:lnTo>
                  <a:cubicBezTo>
                    <a:pt x="1461149" y="0"/>
                    <a:pt x="1470819" y="4005"/>
                    <a:pt x="1477948" y="11135"/>
                  </a:cubicBezTo>
                  <a:cubicBezTo>
                    <a:pt x="1485078" y="18265"/>
                    <a:pt x="1489084" y="27935"/>
                    <a:pt x="1489084" y="38018"/>
                  </a:cubicBezTo>
                  <a:lnTo>
                    <a:pt x="1489084" y="739559"/>
                  </a:lnTo>
                  <a:cubicBezTo>
                    <a:pt x="1489084" y="760556"/>
                    <a:pt x="1472062" y="777577"/>
                    <a:pt x="1451066" y="777577"/>
                  </a:cubicBezTo>
                  <a:lnTo>
                    <a:pt x="38018" y="777577"/>
                  </a:lnTo>
                  <a:cubicBezTo>
                    <a:pt x="17021" y="777577"/>
                    <a:pt x="0" y="760556"/>
                    <a:pt x="0" y="739559"/>
                  </a:cubicBezTo>
                  <a:lnTo>
                    <a:pt x="0" y="38018"/>
                  </a:lnTo>
                  <a:cubicBezTo>
                    <a:pt x="0" y="17021"/>
                    <a:pt x="17021" y="0"/>
                    <a:pt x="38018" y="0"/>
                  </a:cubicBezTo>
                  <a:close/>
                </a:path>
              </a:pathLst>
            </a:custGeom>
            <a:blipFill>
              <a:blip r:embed="rId7"/>
              <a:stretch>
                <a:fillRect t="-13674" b="-13674"/>
              </a:stretch>
            </a:blipFill>
          </p:spPr>
        </p:sp>
      </p:grpSp>
      <p:grpSp>
        <p:nvGrpSpPr>
          <p:cNvPr id="46" name="Group 46"/>
          <p:cNvGrpSpPr/>
          <p:nvPr/>
        </p:nvGrpSpPr>
        <p:grpSpPr>
          <a:xfrm>
            <a:off x="6833565" y="3570351"/>
            <a:ext cx="4683684" cy="2445749"/>
            <a:chOff x="0" y="0"/>
            <a:chExt cx="1489084" cy="777577"/>
          </a:xfrm>
        </p:grpSpPr>
        <p:sp>
          <p:nvSpPr>
            <p:cNvPr id="47" name="Freeform 47"/>
            <p:cNvSpPr/>
            <p:nvPr/>
          </p:nvSpPr>
          <p:spPr>
            <a:xfrm>
              <a:off x="0" y="0"/>
              <a:ext cx="1489084" cy="777577"/>
            </a:xfrm>
            <a:custGeom>
              <a:avLst/>
              <a:gdLst/>
              <a:ahLst/>
              <a:cxnLst/>
              <a:rect l="l" t="t" r="r" b="b"/>
              <a:pathLst>
                <a:path w="1489084" h="777577">
                  <a:moveTo>
                    <a:pt x="38018" y="0"/>
                  </a:moveTo>
                  <a:lnTo>
                    <a:pt x="1451066" y="0"/>
                  </a:lnTo>
                  <a:cubicBezTo>
                    <a:pt x="1461149" y="0"/>
                    <a:pt x="1470819" y="4005"/>
                    <a:pt x="1477948" y="11135"/>
                  </a:cubicBezTo>
                  <a:cubicBezTo>
                    <a:pt x="1485078" y="18265"/>
                    <a:pt x="1489084" y="27935"/>
                    <a:pt x="1489084" y="38018"/>
                  </a:cubicBezTo>
                  <a:lnTo>
                    <a:pt x="1489084" y="739559"/>
                  </a:lnTo>
                  <a:cubicBezTo>
                    <a:pt x="1489084" y="760556"/>
                    <a:pt x="1472062" y="777577"/>
                    <a:pt x="1451066" y="777577"/>
                  </a:cubicBezTo>
                  <a:lnTo>
                    <a:pt x="38018" y="777577"/>
                  </a:lnTo>
                  <a:cubicBezTo>
                    <a:pt x="17021" y="777577"/>
                    <a:pt x="0" y="760556"/>
                    <a:pt x="0" y="739559"/>
                  </a:cubicBezTo>
                  <a:lnTo>
                    <a:pt x="0" y="38018"/>
                  </a:lnTo>
                  <a:cubicBezTo>
                    <a:pt x="0" y="17021"/>
                    <a:pt x="17021" y="0"/>
                    <a:pt x="38018" y="0"/>
                  </a:cubicBezTo>
                  <a:close/>
                </a:path>
              </a:pathLst>
            </a:custGeom>
            <a:blipFill>
              <a:blip r:embed="rId8"/>
              <a:stretch>
                <a:fillRect t="-9365" b="-9365"/>
              </a:stretch>
            </a:blipFill>
          </p:spPr>
        </p:sp>
      </p:grpSp>
      <p:grpSp>
        <p:nvGrpSpPr>
          <p:cNvPr id="48" name="Group 48"/>
          <p:cNvGrpSpPr/>
          <p:nvPr/>
        </p:nvGrpSpPr>
        <p:grpSpPr>
          <a:xfrm>
            <a:off x="12539421" y="3570351"/>
            <a:ext cx="4683684" cy="2445749"/>
            <a:chOff x="0" y="0"/>
            <a:chExt cx="1489084" cy="777577"/>
          </a:xfrm>
        </p:grpSpPr>
        <p:sp>
          <p:nvSpPr>
            <p:cNvPr id="49" name="Freeform 49"/>
            <p:cNvSpPr/>
            <p:nvPr/>
          </p:nvSpPr>
          <p:spPr>
            <a:xfrm>
              <a:off x="0" y="0"/>
              <a:ext cx="1489084" cy="777577"/>
            </a:xfrm>
            <a:custGeom>
              <a:avLst/>
              <a:gdLst/>
              <a:ahLst/>
              <a:cxnLst/>
              <a:rect l="l" t="t" r="r" b="b"/>
              <a:pathLst>
                <a:path w="1489084" h="777577">
                  <a:moveTo>
                    <a:pt x="38018" y="0"/>
                  </a:moveTo>
                  <a:lnTo>
                    <a:pt x="1451066" y="0"/>
                  </a:lnTo>
                  <a:cubicBezTo>
                    <a:pt x="1461149" y="0"/>
                    <a:pt x="1470819" y="4005"/>
                    <a:pt x="1477948" y="11135"/>
                  </a:cubicBezTo>
                  <a:cubicBezTo>
                    <a:pt x="1485078" y="18265"/>
                    <a:pt x="1489084" y="27935"/>
                    <a:pt x="1489084" y="38018"/>
                  </a:cubicBezTo>
                  <a:lnTo>
                    <a:pt x="1489084" y="739559"/>
                  </a:lnTo>
                  <a:cubicBezTo>
                    <a:pt x="1489084" y="760556"/>
                    <a:pt x="1472062" y="777577"/>
                    <a:pt x="1451066" y="777577"/>
                  </a:cubicBezTo>
                  <a:lnTo>
                    <a:pt x="38018" y="777577"/>
                  </a:lnTo>
                  <a:cubicBezTo>
                    <a:pt x="17021" y="777577"/>
                    <a:pt x="0" y="760556"/>
                    <a:pt x="0" y="739559"/>
                  </a:cubicBezTo>
                  <a:lnTo>
                    <a:pt x="0" y="38018"/>
                  </a:lnTo>
                  <a:cubicBezTo>
                    <a:pt x="0" y="17021"/>
                    <a:pt x="17021" y="0"/>
                    <a:pt x="38018" y="0"/>
                  </a:cubicBezTo>
                  <a:close/>
                </a:path>
              </a:pathLst>
            </a:custGeom>
            <a:blipFill>
              <a:blip r:embed="rId9"/>
              <a:stretch>
                <a:fillRect t="-7929" b="-7929"/>
              </a:stretch>
            </a:blipFill>
          </p:spPr>
        </p:sp>
      </p:gr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4"/>
          <p:cNvGrpSpPr/>
          <p:nvPr/>
        </p:nvGrpSpPr>
        <p:grpSpPr>
          <a:xfrm>
            <a:off x="-9525" y="-9525"/>
            <a:ext cx="6328410" cy="10306050"/>
            <a:chOff x="0" y="0"/>
            <a:chExt cx="8437880" cy="13741400"/>
          </a:xfrm>
        </p:grpSpPr>
        <p:sp>
          <p:nvSpPr>
            <p:cNvPr id="5" name="Freeform 5"/>
            <p:cNvSpPr/>
            <p:nvPr/>
          </p:nvSpPr>
          <p:spPr>
            <a:xfrm>
              <a:off x="0" y="0"/>
              <a:ext cx="8437880" cy="13741400"/>
            </a:xfrm>
            <a:custGeom>
              <a:avLst/>
              <a:gdLst/>
              <a:ahLst/>
              <a:cxnLst/>
              <a:rect l="l" t="t" r="r" b="b"/>
              <a:pathLst>
                <a:path w="8437880" h="13741400">
                  <a:moveTo>
                    <a:pt x="0" y="0"/>
                  </a:moveTo>
                  <a:lnTo>
                    <a:pt x="8437880" y="0"/>
                  </a:lnTo>
                  <a:lnTo>
                    <a:pt x="8437880" y="13741400"/>
                  </a:lnTo>
                  <a:lnTo>
                    <a:pt x="0" y="13741400"/>
                  </a:lnTo>
                  <a:close/>
                </a:path>
              </a:pathLst>
            </a:custGeom>
            <a:solidFill>
              <a:srgbClr val="006838"/>
            </a:solidFill>
            <a:ln w="19050" cap="sq">
              <a:solidFill>
                <a:srgbClr val="006838"/>
              </a:solidFill>
              <a:prstDash val="solid"/>
              <a:miter/>
            </a:ln>
          </p:spPr>
        </p:sp>
      </p:grpSp>
      <p:grpSp>
        <p:nvGrpSpPr>
          <p:cNvPr id="6" name="Group 6"/>
          <p:cNvGrpSpPr/>
          <p:nvPr/>
        </p:nvGrpSpPr>
        <p:grpSpPr>
          <a:xfrm>
            <a:off x="1343025" y="3331845"/>
            <a:ext cx="3623310" cy="3623310"/>
            <a:chOff x="0" y="0"/>
            <a:chExt cx="4831080" cy="4831080"/>
          </a:xfrm>
        </p:grpSpPr>
        <p:sp>
          <p:nvSpPr>
            <p:cNvPr id="7" name="Freeform 7"/>
            <p:cNvSpPr/>
            <p:nvPr/>
          </p:nvSpPr>
          <p:spPr>
            <a:xfrm>
              <a:off x="0" y="0"/>
              <a:ext cx="4831080" cy="4831080"/>
            </a:xfrm>
            <a:custGeom>
              <a:avLst/>
              <a:gdLst/>
              <a:ahLst/>
              <a:cxnLst/>
              <a:rect l="l" t="t" r="r" b="b"/>
              <a:pathLst>
                <a:path w="4831080" h="4831080">
                  <a:moveTo>
                    <a:pt x="0" y="2415540"/>
                  </a:moveTo>
                  <a:cubicBezTo>
                    <a:pt x="0" y="1081532"/>
                    <a:pt x="1081532" y="0"/>
                    <a:pt x="2415540" y="0"/>
                  </a:cubicBezTo>
                  <a:cubicBezTo>
                    <a:pt x="3749548" y="0"/>
                    <a:pt x="4831080" y="1081532"/>
                    <a:pt x="4831080" y="2415540"/>
                  </a:cubicBezTo>
                  <a:cubicBezTo>
                    <a:pt x="4831080" y="3749548"/>
                    <a:pt x="3749548" y="4831080"/>
                    <a:pt x="2415540" y="4831080"/>
                  </a:cubicBezTo>
                  <a:cubicBezTo>
                    <a:pt x="1081532" y="4831080"/>
                    <a:pt x="0" y="3749548"/>
                    <a:pt x="0" y="2415540"/>
                  </a:cubicBezTo>
                  <a:close/>
                </a:path>
              </a:pathLst>
            </a:custGeom>
            <a:solidFill>
              <a:srgbClr val="004A28"/>
            </a:solidFill>
            <a:ln w="57150" cap="sq">
              <a:solidFill>
                <a:schemeClr val="bg1"/>
              </a:solidFill>
              <a:prstDash val="solid"/>
              <a:miter/>
            </a:ln>
          </p:spPr>
        </p:sp>
      </p:grpSp>
      <p:grpSp>
        <p:nvGrpSpPr>
          <p:cNvPr id="8" name="Group 8"/>
          <p:cNvGrpSpPr/>
          <p:nvPr/>
        </p:nvGrpSpPr>
        <p:grpSpPr>
          <a:xfrm>
            <a:off x="2263140" y="4251960"/>
            <a:ext cx="1783080" cy="1783080"/>
            <a:chOff x="0" y="0"/>
            <a:chExt cx="2377440" cy="2377440"/>
          </a:xfrm>
        </p:grpSpPr>
        <p:sp>
          <p:nvSpPr>
            <p:cNvPr id="9" name="Freeform 9" descr="preencoded.png"/>
            <p:cNvSpPr/>
            <p:nvPr/>
          </p:nvSpPr>
          <p:spPr>
            <a:xfrm>
              <a:off x="0" y="0"/>
              <a:ext cx="2377440" cy="2377440"/>
            </a:xfrm>
            <a:custGeom>
              <a:avLst/>
              <a:gdLst/>
              <a:ahLst/>
              <a:cxnLst/>
              <a:rect l="l" t="t" r="r" b="b"/>
              <a:pathLst>
                <a:path w="2377440" h="2377440">
                  <a:moveTo>
                    <a:pt x="0" y="0"/>
                  </a:moveTo>
                  <a:lnTo>
                    <a:pt x="2377440" y="0"/>
                  </a:lnTo>
                  <a:lnTo>
                    <a:pt x="2377440" y="2377440"/>
                  </a:lnTo>
                  <a:lnTo>
                    <a:pt x="0" y="2377440"/>
                  </a:lnTo>
                  <a:lnTo>
                    <a:pt x="0" y="0"/>
                  </a:lnTo>
                  <a:close/>
                </a:path>
              </a:pathLst>
            </a:custGeom>
            <a:blipFill>
              <a:blip r:embed="rId3"/>
              <a:stretch>
                <a:fillRect/>
              </a:stretch>
            </a:blipFill>
          </p:spPr>
        </p:sp>
      </p:grpSp>
      <p:grpSp>
        <p:nvGrpSpPr>
          <p:cNvPr id="10" name="Group 10"/>
          <p:cNvGrpSpPr/>
          <p:nvPr/>
        </p:nvGrpSpPr>
        <p:grpSpPr>
          <a:xfrm>
            <a:off x="7269480" y="2400300"/>
            <a:ext cx="10149840" cy="1645920"/>
            <a:chOff x="0" y="0"/>
            <a:chExt cx="13533120" cy="2194560"/>
          </a:xfrm>
        </p:grpSpPr>
        <p:sp>
          <p:nvSpPr>
            <p:cNvPr id="11" name="Freeform 11"/>
            <p:cNvSpPr/>
            <p:nvPr/>
          </p:nvSpPr>
          <p:spPr>
            <a:xfrm>
              <a:off x="0" y="0"/>
              <a:ext cx="13533120" cy="2194560"/>
            </a:xfrm>
            <a:custGeom>
              <a:avLst/>
              <a:gdLst/>
              <a:ahLst/>
              <a:cxnLst/>
              <a:rect l="l" t="t" r="r" b="b"/>
              <a:pathLst>
                <a:path w="13533120" h="2194560">
                  <a:moveTo>
                    <a:pt x="0" y="0"/>
                  </a:moveTo>
                  <a:lnTo>
                    <a:pt x="13533120" y="0"/>
                  </a:lnTo>
                  <a:lnTo>
                    <a:pt x="13533120" y="2194560"/>
                  </a:lnTo>
                  <a:lnTo>
                    <a:pt x="0" y="2194560"/>
                  </a:lnTo>
                  <a:close/>
                </a:path>
              </a:pathLst>
            </a:custGeom>
            <a:blipFill>
              <a:blip r:embed="rId4">
                <a:alphaModFix amt="0"/>
              </a:blip>
              <a:stretch>
                <a:fillRect t="-70157" b="-70157"/>
              </a:stretch>
            </a:blipFill>
          </p:spPr>
        </p:sp>
        <p:sp>
          <p:nvSpPr>
            <p:cNvPr id="12" name="TextBox 12"/>
            <p:cNvSpPr txBox="1"/>
            <p:nvPr/>
          </p:nvSpPr>
          <p:spPr>
            <a:xfrm>
              <a:off x="0" y="0"/>
              <a:ext cx="13533120" cy="2194560"/>
            </a:xfrm>
            <a:prstGeom prst="rect">
              <a:avLst/>
            </a:prstGeom>
          </p:spPr>
          <p:txBody>
            <a:bodyPr lIns="0" tIns="0" rIns="0" bIns="0" rtlCol="0" anchor="b"/>
            <a:lstStyle/>
            <a:p>
              <a:pPr algn="l">
                <a:lnSpc>
                  <a:spcPts val="9720"/>
                </a:lnSpc>
              </a:pPr>
              <a:r>
                <a:rPr lang="en-US" sz="8100" b="1">
                  <a:solidFill>
                    <a:srgbClr val="006838"/>
                  </a:solidFill>
                  <a:latin typeface="Montserrat Bold"/>
                  <a:ea typeface="Montserrat Bold"/>
                  <a:cs typeface="Montserrat Bold"/>
                  <a:sym typeface="Montserrat Bold"/>
                </a:rPr>
                <a:t>CULTURE</a:t>
              </a:r>
            </a:p>
          </p:txBody>
        </p:sp>
      </p:grpSp>
      <p:sp>
        <p:nvSpPr>
          <p:cNvPr id="13" name="TextBox 13"/>
          <p:cNvSpPr txBox="1"/>
          <p:nvPr/>
        </p:nvSpPr>
        <p:spPr>
          <a:xfrm>
            <a:off x="7269480" y="4114800"/>
            <a:ext cx="10149840" cy="960120"/>
          </a:xfrm>
          <a:prstGeom prst="rect">
            <a:avLst/>
          </a:prstGeom>
        </p:spPr>
        <p:txBody>
          <a:bodyPr lIns="0" tIns="0" rIns="0" bIns="0" rtlCol="0" anchor="t">
            <a:spAutoFit/>
          </a:bodyPr>
          <a:lstStyle/>
          <a:p>
            <a:pPr algn="l">
              <a:lnSpc>
                <a:spcPts val="5040"/>
              </a:lnSpc>
            </a:pPr>
            <a:r>
              <a:rPr lang="en-US" sz="4200" b="1">
                <a:solidFill>
                  <a:srgbClr val="FF7300"/>
                </a:solidFill>
                <a:latin typeface="Montserrat Bold"/>
                <a:ea typeface="Montserrat Bold"/>
                <a:cs typeface="Montserrat Bold"/>
                <a:sym typeface="Montserrat Bold"/>
              </a:rPr>
              <a:t>Văn hoá</a:t>
            </a:r>
          </a:p>
        </p:txBody>
      </p:sp>
      <p:sp>
        <p:nvSpPr>
          <p:cNvPr id="14" name="TextBox 14"/>
          <p:cNvSpPr txBox="1"/>
          <p:nvPr/>
        </p:nvSpPr>
        <p:spPr>
          <a:xfrm>
            <a:off x="7269480" y="5419725"/>
            <a:ext cx="9875520" cy="1611531"/>
          </a:xfrm>
          <a:prstGeom prst="rect">
            <a:avLst/>
          </a:prstGeom>
        </p:spPr>
        <p:txBody>
          <a:bodyPr lIns="0" tIns="0" rIns="0" bIns="0" rtlCol="0" anchor="t">
            <a:spAutoFit/>
          </a:bodyPr>
          <a:lstStyle/>
          <a:p>
            <a:pPr algn="just">
              <a:lnSpc>
                <a:spcPts val="4320"/>
              </a:lnSpc>
            </a:pPr>
            <a:r>
              <a:rPr lang="en-US" sz="3000" i="1">
                <a:solidFill>
                  <a:srgbClr val="1E2B25"/>
                </a:solidFill>
                <a:latin typeface="Montserrat Italics"/>
                <a:ea typeface="Montserrat Italics"/>
                <a:cs typeface="Montserrat Italics"/>
                <a:sym typeface="Montserrat Italics"/>
              </a:rPr>
              <a:t>Điều định hình hành vi khi không ai đang nhìn. Văn hoá không phải điều tổ chức nói - mà là điều tổ chức thực sự thưởng và phạt mỗi ngày.</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4"/>
          <p:cNvGrpSpPr/>
          <p:nvPr/>
        </p:nvGrpSpPr>
        <p:grpSpPr>
          <a:xfrm>
            <a:off x="822960" y="411480"/>
            <a:ext cx="15361920" cy="1371600"/>
            <a:chOff x="0" y="0"/>
            <a:chExt cx="20482560" cy="1828800"/>
          </a:xfrm>
        </p:grpSpPr>
        <p:sp>
          <p:nvSpPr>
            <p:cNvPr id="5" name="Freeform 5"/>
            <p:cNvSpPr/>
            <p:nvPr/>
          </p:nvSpPr>
          <p:spPr>
            <a:xfrm>
              <a:off x="0" y="0"/>
              <a:ext cx="20482561" cy="1828800"/>
            </a:xfrm>
            <a:custGeom>
              <a:avLst/>
              <a:gdLst/>
              <a:ahLst/>
              <a:cxnLst/>
              <a:rect l="l" t="t" r="r" b="b"/>
              <a:pathLst>
                <a:path w="20482561" h="1828800">
                  <a:moveTo>
                    <a:pt x="0" y="0"/>
                  </a:moveTo>
                  <a:lnTo>
                    <a:pt x="20482561" y="0"/>
                  </a:lnTo>
                  <a:lnTo>
                    <a:pt x="20482561" y="1828800"/>
                  </a:lnTo>
                  <a:lnTo>
                    <a:pt x="0" y="1828800"/>
                  </a:lnTo>
                  <a:close/>
                </a:path>
              </a:pathLst>
            </a:custGeom>
            <a:blipFill>
              <a:blip r:embed="rId3">
                <a:alphaModFix amt="0"/>
              </a:blip>
              <a:stretch>
                <a:fillRect t="-168232" b="-168232"/>
              </a:stretch>
            </a:blipFill>
          </p:spPr>
        </p:sp>
        <p:sp>
          <p:nvSpPr>
            <p:cNvPr id="6" name="TextBox 6"/>
            <p:cNvSpPr txBox="1"/>
            <p:nvPr/>
          </p:nvSpPr>
          <p:spPr>
            <a:xfrm>
              <a:off x="0" y="0"/>
              <a:ext cx="20482560" cy="1828800"/>
            </a:xfrm>
            <a:prstGeom prst="rect">
              <a:avLst/>
            </a:prstGeom>
          </p:spPr>
          <p:txBody>
            <a:bodyPr lIns="0" tIns="0" rIns="0" bIns="0" rtlCol="0" anchor="ctr"/>
            <a:lstStyle/>
            <a:p>
              <a:pPr algn="l">
                <a:lnSpc>
                  <a:spcPts val="4680"/>
                </a:lnSpc>
              </a:pPr>
              <a:r>
                <a:rPr lang="en-US" sz="3900" b="1">
                  <a:solidFill>
                    <a:srgbClr val="006838"/>
                  </a:solidFill>
                  <a:latin typeface="Montserrat Bold"/>
                  <a:ea typeface="Montserrat Bold"/>
                  <a:cs typeface="Montserrat Bold"/>
                  <a:sym typeface="Montserrat Bold"/>
                </a:rPr>
                <a:t>CONTEXT (BỐI CẢNH) THAY SOP VÀ KIỂM SOÁT (CONTROL)</a:t>
              </a:r>
            </a:p>
          </p:txBody>
        </p:sp>
      </p:grpSp>
      <p:grpSp>
        <p:nvGrpSpPr>
          <p:cNvPr id="7" name="Group 7"/>
          <p:cNvGrpSpPr/>
          <p:nvPr/>
        </p:nvGrpSpPr>
        <p:grpSpPr>
          <a:xfrm>
            <a:off x="815816" y="2187416"/>
            <a:ext cx="5912168" cy="4197668"/>
            <a:chOff x="0" y="0"/>
            <a:chExt cx="7882890" cy="5596890"/>
          </a:xfrm>
        </p:grpSpPr>
        <p:sp>
          <p:nvSpPr>
            <p:cNvPr id="8" name="Freeform 8"/>
            <p:cNvSpPr/>
            <p:nvPr/>
          </p:nvSpPr>
          <p:spPr>
            <a:xfrm>
              <a:off x="0" y="0"/>
              <a:ext cx="7882890" cy="5596890"/>
            </a:xfrm>
            <a:custGeom>
              <a:avLst/>
              <a:gdLst/>
              <a:ahLst/>
              <a:cxnLst/>
              <a:rect l="l" t="t" r="r" b="b"/>
              <a:pathLst>
                <a:path w="7882890" h="5596890">
                  <a:moveTo>
                    <a:pt x="0" y="220218"/>
                  </a:moveTo>
                  <a:cubicBezTo>
                    <a:pt x="0" y="98552"/>
                    <a:pt x="98552" y="0"/>
                    <a:pt x="220218" y="0"/>
                  </a:cubicBezTo>
                  <a:lnTo>
                    <a:pt x="7662672" y="0"/>
                  </a:lnTo>
                  <a:cubicBezTo>
                    <a:pt x="7784338" y="0"/>
                    <a:pt x="7882890" y="98552"/>
                    <a:pt x="7882890" y="220218"/>
                  </a:cubicBezTo>
                  <a:lnTo>
                    <a:pt x="7882890" y="5376672"/>
                  </a:lnTo>
                  <a:cubicBezTo>
                    <a:pt x="7882890" y="5498338"/>
                    <a:pt x="7784338" y="5596890"/>
                    <a:pt x="7662672" y="5596890"/>
                  </a:cubicBezTo>
                  <a:lnTo>
                    <a:pt x="220218" y="5596890"/>
                  </a:lnTo>
                  <a:cubicBezTo>
                    <a:pt x="98552" y="5596890"/>
                    <a:pt x="0" y="5498338"/>
                    <a:pt x="0" y="5376672"/>
                  </a:cubicBezTo>
                  <a:close/>
                </a:path>
              </a:pathLst>
            </a:custGeom>
            <a:solidFill>
              <a:srgbClr val="006838"/>
            </a:solidFill>
            <a:ln w="14288" cap="sq">
              <a:solidFill>
                <a:srgbClr val="006838"/>
              </a:solidFill>
              <a:prstDash val="solid"/>
              <a:miter/>
            </a:ln>
          </p:spPr>
        </p:sp>
      </p:grpSp>
      <p:grpSp>
        <p:nvGrpSpPr>
          <p:cNvPr id="9" name="Group 9"/>
          <p:cNvGrpSpPr/>
          <p:nvPr/>
        </p:nvGrpSpPr>
        <p:grpSpPr>
          <a:xfrm>
            <a:off x="1224915" y="2527935"/>
            <a:ext cx="1116330" cy="1116330"/>
            <a:chOff x="0" y="0"/>
            <a:chExt cx="1488440" cy="1488440"/>
          </a:xfrm>
        </p:grpSpPr>
        <p:sp>
          <p:nvSpPr>
            <p:cNvPr id="10" name="Freeform 10"/>
            <p:cNvSpPr/>
            <p:nvPr/>
          </p:nvSpPr>
          <p:spPr>
            <a:xfrm>
              <a:off x="0" y="0"/>
              <a:ext cx="1488440" cy="1488440"/>
            </a:xfrm>
            <a:custGeom>
              <a:avLst/>
              <a:gdLst/>
              <a:ahLst/>
              <a:cxnLst/>
              <a:rect l="l" t="t" r="r" b="b"/>
              <a:pathLst>
                <a:path w="1488440" h="1488440">
                  <a:moveTo>
                    <a:pt x="0" y="744220"/>
                  </a:moveTo>
                  <a:cubicBezTo>
                    <a:pt x="0" y="333248"/>
                    <a:pt x="333248" y="0"/>
                    <a:pt x="744220" y="0"/>
                  </a:cubicBezTo>
                  <a:cubicBezTo>
                    <a:pt x="1155192" y="0"/>
                    <a:pt x="1488440" y="333248"/>
                    <a:pt x="1488440" y="744220"/>
                  </a:cubicBezTo>
                  <a:cubicBezTo>
                    <a:pt x="1488440" y="1155192"/>
                    <a:pt x="1155192" y="1488440"/>
                    <a:pt x="744220" y="1488440"/>
                  </a:cubicBezTo>
                  <a:cubicBezTo>
                    <a:pt x="333248" y="1488440"/>
                    <a:pt x="0" y="1155192"/>
                    <a:pt x="0" y="744220"/>
                  </a:cubicBezTo>
                  <a:close/>
                </a:path>
              </a:pathLst>
            </a:custGeom>
            <a:solidFill>
              <a:srgbClr val="FFFFFF"/>
            </a:solidFill>
            <a:ln w="19050" cap="sq">
              <a:solidFill>
                <a:srgbClr val="FFFFFF"/>
              </a:solidFill>
              <a:prstDash val="solid"/>
              <a:miter/>
            </a:ln>
          </p:spPr>
        </p:sp>
      </p:grpSp>
      <p:grpSp>
        <p:nvGrpSpPr>
          <p:cNvPr id="11" name="Group 11"/>
          <p:cNvGrpSpPr/>
          <p:nvPr/>
        </p:nvGrpSpPr>
        <p:grpSpPr>
          <a:xfrm>
            <a:off x="1519733" y="2822753"/>
            <a:ext cx="526694" cy="526694"/>
            <a:chOff x="0" y="0"/>
            <a:chExt cx="702259" cy="702259"/>
          </a:xfrm>
        </p:grpSpPr>
        <p:sp>
          <p:nvSpPr>
            <p:cNvPr id="12" name="Freeform 12" descr="preencoded.png"/>
            <p:cNvSpPr/>
            <p:nvPr/>
          </p:nvSpPr>
          <p:spPr>
            <a:xfrm>
              <a:off x="0" y="0"/>
              <a:ext cx="702310" cy="702310"/>
            </a:xfrm>
            <a:custGeom>
              <a:avLst/>
              <a:gdLst/>
              <a:ahLst/>
              <a:cxnLst/>
              <a:rect l="l" t="t" r="r" b="b"/>
              <a:pathLst>
                <a:path w="702310" h="702310">
                  <a:moveTo>
                    <a:pt x="0" y="0"/>
                  </a:moveTo>
                  <a:lnTo>
                    <a:pt x="702310" y="0"/>
                  </a:lnTo>
                  <a:lnTo>
                    <a:pt x="702310" y="702310"/>
                  </a:lnTo>
                  <a:lnTo>
                    <a:pt x="0" y="702310"/>
                  </a:lnTo>
                  <a:lnTo>
                    <a:pt x="0" y="0"/>
                  </a:lnTo>
                  <a:close/>
                </a:path>
              </a:pathLst>
            </a:custGeom>
            <a:blipFill>
              <a:blip r:embed="rId4"/>
              <a:stretch>
                <a:fillRect r="7" b="7"/>
              </a:stretch>
            </a:blipFill>
          </p:spPr>
        </p:sp>
      </p:grpSp>
      <p:sp>
        <p:nvSpPr>
          <p:cNvPr id="13" name="TextBox 13"/>
          <p:cNvSpPr txBox="1"/>
          <p:nvPr/>
        </p:nvSpPr>
        <p:spPr>
          <a:xfrm>
            <a:off x="1234440" y="3811905"/>
            <a:ext cx="5074920" cy="1772152"/>
          </a:xfrm>
          <a:prstGeom prst="rect">
            <a:avLst/>
          </a:prstGeom>
        </p:spPr>
        <p:txBody>
          <a:bodyPr lIns="0" tIns="0" rIns="0" bIns="0" rtlCol="0" anchor="t">
            <a:spAutoFit/>
          </a:bodyPr>
          <a:lstStyle/>
          <a:p>
            <a:pPr algn="just">
              <a:lnSpc>
                <a:spcPts val="2822"/>
              </a:lnSpc>
            </a:pPr>
            <a:r>
              <a:rPr lang="en-US" sz="2100" b="1">
                <a:solidFill>
                  <a:srgbClr val="FFFFFF"/>
                </a:solidFill>
                <a:latin typeface="Montserrat Bold"/>
                <a:ea typeface="Montserrat Bold"/>
                <a:cs typeface="Montserrat Bold"/>
                <a:sym typeface="Montserrat Bold"/>
              </a:rPr>
              <a:t>SOP được tối ưu cho môi trường ổn định - nhưng AI tự tìm đường đi riêng. Người quản lý chỉ còn hai việc: đóng khung bài toán, và đánh giá kết quả.</a:t>
            </a:r>
          </a:p>
        </p:txBody>
      </p:sp>
      <p:grpSp>
        <p:nvGrpSpPr>
          <p:cNvPr id="14" name="Group 14"/>
          <p:cNvGrpSpPr/>
          <p:nvPr/>
        </p:nvGrpSpPr>
        <p:grpSpPr>
          <a:xfrm>
            <a:off x="815816" y="6713696"/>
            <a:ext cx="5912168" cy="2757488"/>
            <a:chOff x="0" y="0"/>
            <a:chExt cx="7882890" cy="3676650"/>
          </a:xfrm>
        </p:grpSpPr>
        <p:sp>
          <p:nvSpPr>
            <p:cNvPr id="15" name="Freeform 15"/>
            <p:cNvSpPr/>
            <p:nvPr/>
          </p:nvSpPr>
          <p:spPr>
            <a:xfrm>
              <a:off x="0" y="0"/>
              <a:ext cx="7882890" cy="3676650"/>
            </a:xfrm>
            <a:custGeom>
              <a:avLst/>
              <a:gdLst/>
              <a:ahLst/>
              <a:cxnLst/>
              <a:rect l="l" t="t" r="r" b="b"/>
              <a:pathLst>
                <a:path w="7882890" h="3676650">
                  <a:moveTo>
                    <a:pt x="0" y="220599"/>
                  </a:moveTo>
                  <a:cubicBezTo>
                    <a:pt x="0" y="98806"/>
                    <a:pt x="98806" y="0"/>
                    <a:pt x="220599" y="0"/>
                  </a:cubicBezTo>
                  <a:lnTo>
                    <a:pt x="7662291" y="0"/>
                  </a:lnTo>
                  <a:cubicBezTo>
                    <a:pt x="7784085" y="0"/>
                    <a:pt x="7882890" y="98806"/>
                    <a:pt x="7882890" y="220599"/>
                  </a:cubicBezTo>
                  <a:lnTo>
                    <a:pt x="7882890" y="3456051"/>
                  </a:lnTo>
                  <a:cubicBezTo>
                    <a:pt x="7882890" y="3577844"/>
                    <a:pt x="7784085" y="3676650"/>
                    <a:pt x="7662291" y="3676650"/>
                  </a:cubicBezTo>
                  <a:lnTo>
                    <a:pt x="220599" y="3676650"/>
                  </a:lnTo>
                  <a:cubicBezTo>
                    <a:pt x="98806" y="3676650"/>
                    <a:pt x="0" y="3577844"/>
                    <a:pt x="0" y="3456051"/>
                  </a:cubicBezTo>
                  <a:close/>
                </a:path>
              </a:pathLst>
            </a:custGeom>
            <a:solidFill>
              <a:srgbClr val="FFF1E5"/>
            </a:solidFill>
            <a:ln w="14288" cap="sq">
              <a:solidFill>
                <a:srgbClr val="FFF1E5"/>
              </a:solidFill>
              <a:prstDash val="solid"/>
              <a:miter/>
            </a:ln>
          </p:spPr>
        </p:sp>
      </p:grpSp>
      <p:sp>
        <p:nvSpPr>
          <p:cNvPr id="16" name="TextBox 16"/>
          <p:cNvSpPr txBox="1"/>
          <p:nvPr/>
        </p:nvSpPr>
        <p:spPr>
          <a:xfrm>
            <a:off x="1165860" y="6652260"/>
            <a:ext cx="1097280" cy="1097280"/>
          </a:xfrm>
          <a:prstGeom prst="rect">
            <a:avLst/>
          </a:prstGeom>
        </p:spPr>
        <p:txBody>
          <a:bodyPr lIns="0" tIns="0" rIns="0" bIns="0" rtlCol="0" anchor="t">
            <a:spAutoFit/>
          </a:bodyPr>
          <a:lstStyle/>
          <a:p>
            <a:pPr algn="l">
              <a:lnSpc>
                <a:spcPts val="9720"/>
              </a:lnSpc>
            </a:pPr>
            <a:r>
              <a:rPr lang="en-US" sz="8100" b="1">
                <a:solidFill>
                  <a:srgbClr val="FF7300"/>
                </a:solidFill>
                <a:latin typeface="Montserrat Bold"/>
                <a:ea typeface="Montserrat Bold"/>
                <a:cs typeface="Montserrat Bold"/>
                <a:sym typeface="Montserrat Bold"/>
              </a:rPr>
              <a:t>“</a:t>
            </a:r>
          </a:p>
        </p:txBody>
      </p:sp>
      <p:sp>
        <p:nvSpPr>
          <p:cNvPr id="17" name="TextBox 17"/>
          <p:cNvSpPr txBox="1"/>
          <p:nvPr/>
        </p:nvSpPr>
        <p:spPr>
          <a:xfrm>
            <a:off x="1234440" y="7515225"/>
            <a:ext cx="4937760" cy="970407"/>
          </a:xfrm>
          <a:prstGeom prst="rect">
            <a:avLst/>
          </a:prstGeom>
        </p:spPr>
        <p:txBody>
          <a:bodyPr wrap="square" lIns="0" tIns="0" rIns="0" bIns="0" rtlCol="0" anchor="t">
            <a:spAutoFit/>
          </a:bodyPr>
          <a:lstStyle/>
          <a:p>
            <a:pPr algn="just">
              <a:lnSpc>
                <a:spcPts val="2574"/>
              </a:lnSpc>
            </a:pPr>
            <a:r>
              <a:rPr lang="en-US" sz="1950" b="1">
                <a:solidFill>
                  <a:srgbClr val="7A3500"/>
                </a:solidFill>
                <a:latin typeface="Montserrat Bold"/>
                <a:ea typeface="Montserrat Bold"/>
                <a:cs typeface="Montserrat Bold"/>
                <a:sym typeface="Montserrat Bold"/>
              </a:rPr>
              <a:t>"Văn hoá hiệu suất cao": đo bằng kết quả và mức độ tự chủ, không phải bằng độ tuân thủ quy trình.</a:t>
            </a:r>
          </a:p>
        </p:txBody>
      </p:sp>
      <p:grpSp>
        <p:nvGrpSpPr>
          <p:cNvPr id="18" name="Group 18"/>
          <p:cNvGrpSpPr/>
          <p:nvPr/>
        </p:nvGrpSpPr>
        <p:grpSpPr>
          <a:xfrm>
            <a:off x="7193756" y="2187416"/>
            <a:ext cx="10273855" cy="3374708"/>
            <a:chOff x="0" y="0"/>
            <a:chExt cx="13698474" cy="4499610"/>
          </a:xfrm>
        </p:grpSpPr>
        <p:sp>
          <p:nvSpPr>
            <p:cNvPr id="19" name="Freeform 19"/>
            <p:cNvSpPr/>
            <p:nvPr/>
          </p:nvSpPr>
          <p:spPr>
            <a:xfrm>
              <a:off x="0" y="0"/>
              <a:ext cx="13698474" cy="4499610"/>
            </a:xfrm>
            <a:custGeom>
              <a:avLst/>
              <a:gdLst/>
              <a:ahLst/>
              <a:cxnLst/>
              <a:rect l="l" t="t" r="r" b="b"/>
              <a:pathLst>
                <a:path w="13698474" h="4499610">
                  <a:moveTo>
                    <a:pt x="0" y="220345"/>
                  </a:moveTo>
                  <a:cubicBezTo>
                    <a:pt x="0" y="98679"/>
                    <a:pt x="98679" y="0"/>
                    <a:pt x="220345" y="0"/>
                  </a:cubicBezTo>
                  <a:lnTo>
                    <a:pt x="13478129" y="0"/>
                  </a:lnTo>
                  <a:cubicBezTo>
                    <a:pt x="13599795" y="0"/>
                    <a:pt x="13698474" y="98679"/>
                    <a:pt x="13698474" y="220345"/>
                  </a:cubicBezTo>
                  <a:lnTo>
                    <a:pt x="13698474" y="4279265"/>
                  </a:lnTo>
                  <a:cubicBezTo>
                    <a:pt x="13698474" y="4400931"/>
                    <a:pt x="13599795" y="4499610"/>
                    <a:pt x="13478129" y="4499610"/>
                  </a:cubicBezTo>
                  <a:lnTo>
                    <a:pt x="220345" y="4499610"/>
                  </a:lnTo>
                  <a:cubicBezTo>
                    <a:pt x="98679" y="4499610"/>
                    <a:pt x="0" y="4400931"/>
                    <a:pt x="0" y="4279265"/>
                  </a:cubicBezTo>
                  <a:close/>
                </a:path>
              </a:pathLst>
            </a:custGeom>
            <a:solidFill>
              <a:srgbClr val="F5F8F6"/>
            </a:solidFill>
            <a:ln w="14288" cap="sq">
              <a:solidFill>
                <a:srgbClr val="DCE6E0"/>
              </a:solidFill>
              <a:prstDash val="solid"/>
              <a:miter/>
            </a:ln>
          </p:spPr>
        </p:sp>
      </p:grpSp>
      <p:grpSp>
        <p:nvGrpSpPr>
          <p:cNvPr id="20" name="Group 20"/>
          <p:cNvGrpSpPr/>
          <p:nvPr/>
        </p:nvGrpSpPr>
        <p:grpSpPr>
          <a:xfrm>
            <a:off x="7602855" y="2596515"/>
            <a:ext cx="1047750" cy="1047750"/>
            <a:chOff x="0" y="0"/>
            <a:chExt cx="1397000" cy="1397000"/>
          </a:xfrm>
        </p:grpSpPr>
        <p:sp>
          <p:nvSpPr>
            <p:cNvPr id="21" name="Freeform 21"/>
            <p:cNvSpPr/>
            <p:nvPr/>
          </p:nvSpPr>
          <p:spPr>
            <a:xfrm>
              <a:off x="0" y="0"/>
              <a:ext cx="1397000" cy="1397000"/>
            </a:xfrm>
            <a:custGeom>
              <a:avLst/>
              <a:gdLst/>
              <a:ahLst/>
              <a:cxnLst/>
              <a:rect l="l" t="t" r="r" b="b"/>
              <a:pathLst>
                <a:path w="1397000" h="1397000">
                  <a:moveTo>
                    <a:pt x="0" y="698500"/>
                  </a:moveTo>
                  <a:cubicBezTo>
                    <a:pt x="0" y="312674"/>
                    <a:pt x="312674" y="0"/>
                    <a:pt x="698500" y="0"/>
                  </a:cubicBezTo>
                  <a:cubicBezTo>
                    <a:pt x="1084326" y="0"/>
                    <a:pt x="1397000" y="312674"/>
                    <a:pt x="1397000" y="698500"/>
                  </a:cubicBezTo>
                  <a:cubicBezTo>
                    <a:pt x="1397000" y="1084326"/>
                    <a:pt x="1084326" y="1397000"/>
                    <a:pt x="698500" y="1397000"/>
                  </a:cubicBezTo>
                  <a:cubicBezTo>
                    <a:pt x="312674" y="1397000"/>
                    <a:pt x="0" y="1084326"/>
                    <a:pt x="0" y="698500"/>
                  </a:cubicBezTo>
                  <a:close/>
                </a:path>
              </a:pathLst>
            </a:custGeom>
            <a:solidFill>
              <a:srgbClr val="5A6A62"/>
            </a:solidFill>
            <a:ln w="19050" cap="sq">
              <a:solidFill>
                <a:srgbClr val="5A6A62"/>
              </a:solidFill>
              <a:prstDash val="solid"/>
              <a:miter/>
            </a:ln>
          </p:spPr>
        </p:sp>
      </p:grpSp>
      <p:grpSp>
        <p:nvGrpSpPr>
          <p:cNvPr id="22" name="Group 22"/>
          <p:cNvGrpSpPr/>
          <p:nvPr/>
        </p:nvGrpSpPr>
        <p:grpSpPr>
          <a:xfrm>
            <a:off x="7869555" y="2863215"/>
            <a:ext cx="514350" cy="514350"/>
            <a:chOff x="0" y="0"/>
            <a:chExt cx="685800" cy="685800"/>
          </a:xfrm>
        </p:grpSpPr>
        <p:sp>
          <p:nvSpPr>
            <p:cNvPr id="23" name="Freeform 23" descr="preencoded.png"/>
            <p:cNvSpPr/>
            <p:nvPr/>
          </p:nvSpPr>
          <p:spPr>
            <a:xfrm>
              <a:off x="0" y="0"/>
              <a:ext cx="685800" cy="685800"/>
            </a:xfrm>
            <a:custGeom>
              <a:avLst/>
              <a:gdLst/>
              <a:ahLst/>
              <a:cxnLst/>
              <a:rect l="l" t="t" r="r" b="b"/>
              <a:pathLst>
                <a:path w="685800" h="685800">
                  <a:moveTo>
                    <a:pt x="0" y="0"/>
                  </a:moveTo>
                  <a:lnTo>
                    <a:pt x="685800" y="0"/>
                  </a:lnTo>
                  <a:lnTo>
                    <a:pt x="685800" y="685800"/>
                  </a:lnTo>
                  <a:lnTo>
                    <a:pt x="0" y="685800"/>
                  </a:lnTo>
                  <a:lnTo>
                    <a:pt x="0" y="0"/>
                  </a:lnTo>
                  <a:close/>
                </a:path>
              </a:pathLst>
            </a:custGeom>
            <a:blipFill>
              <a:blip r:embed="rId5"/>
              <a:stretch>
                <a:fillRect/>
              </a:stretch>
            </a:blipFill>
          </p:spPr>
        </p:sp>
      </p:grpSp>
      <p:grpSp>
        <p:nvGrpSpPr>
          <p:cNvPr id="24" name="Group 24"/>
          <p:cNvGrpSpPr/>
          <p:nvPr/>
        </p:nvGrpSpPr>
        <p:grpSpPr>
          <a:xfrm>
            <a:off x="8915400" y="2606040"/>
            <a:ext cx="7955280" cy="1028700"/>
            <a:chOff x="0" y="0"/>
            <a:chExt cx="10607040" cy="1371600"/>
          </a:xfrm>
        </p:grpSpPr>
        <p:sp>
          <p:nvSpPr>
            <p:cNvPr id="25" name="Freeform 25"/>
            <p:cNvSpPr/>
            <p:nvPr/>
          </p:nvSpPr>
          <p:spPr>
            <a:xfrm>
              <a:off x="0" y="0"/>
              <a:ext cx="10607040" cy="1371600"/>
            </a:xfrm>
            <a:custGeom>
              <a:avLst/>
              <a:gdLst/>
              <a:ahLst/>
              <a:cxnLst/>
              <a:rect l="l" t="t" r="r" b="b"/>
              <a:pathLst>
                <a:path w="10607040" h="1371600">
                  <a:moveTo>
                    <a:pt x="0" y="0"/>
                  </a:moveTo>
                  <a:lnTo>
                    <a:pt x="10607040" y="0"/>
                  </a:lnTo>
                  <a:lnTo>
                    <a:pt x="10607040" y="1371600"/>
                  </a:lnTo>
                  <a:lnTo>
                    <a:pt x="0" y="1371600"/>
                  </a:lnTo>
                  <a:close/>
                </a:path>
              </a:pathLst>
            </a:custGeom>
            <a:blipFill>
              <a:blip r:embed="rId3">
                <a:alphaModFix amt="0"/>
              </a:blip>
              <a:stretch>
                <a:fillRect t="-100684" b="-100684"/>
              </a:stretch>
            </a:blipFill>
          </p:spPr>
        </p:sp>
        <p:sp>
          <p:nvSpPr>
            <p:cNvPr id="26" name="TextBox 26"/>
            <p:cNvSpPr txBox="1"/>
            <p:nvPr/>
          </p:nvSpPr>
          <p:spPr>
            <a:xfrm>
              <a:off x="0" y="0"/>
              <a:ext cx="10607040" cy="1371600"/>
            </a:xfrm>
            <a:prstGeom prst="rect">
              <a:avLst/>
            </a:prstGeom>
          </p:spPr>
          <p:txBody>
            <a:bodyPr lIns="0" tIns="0" rIns="0" bIns="0" rtlCol="0" anchor="ctr"/>
            <a:lstStyle/>
            <a:p>
              <a:pPr algn="l">
                <a:lnSpc>
                  <a:spcPts val="3419"/>
                </a:lnSpc>
              </a:pPr>
              <a:r>
                <a:rPr lang="en-US" sz="2850" b="1">
                  <a:solidFill>
                    <a:srgbClr val="5A6A62"/>
                  </a:solidFill>
                  <a:latin typeface="Montserrat Bold"/>
                  <a:ea typeface="Montserrat Bold"/>
                  <a:cs typeface="Montserrat Bold"/>
                  <a:sym typeface="Montserrat Bold"/>
                </a:rPr>
                <a:t>Kiểm soát (Control)</a:t>
              </a:r>
            </a:p>
          </p:txBody>
        </p:sp>
      </p:grpSp>
      <p:sp>
        <p:nvSpPr>
          <p:cNvPr id="27" name="TextBox 27"/>
          <p:cNvSpPr txBox="1"/>
          <p:nvPr/>
        </p:nvSpPr>
        <p:spPr>
          <a:xfrm>
            <a:off x="7680960" y="3840480"/>
            <a:ext cx="9395460" cy="1577340"/>
          </a:xfrm>
          <a:prstGeom prst="rect">
            <a:avLst/>
          </a:prstGeom>
        </p:spPr>
        <p:txBody>
          <a:bodyPr lIns="0" tIns="0" rIns="0" bIns="0" rtlCol="0" anchor="t">
            <a:spAutoFit/>
          </a:bodyPr>
          <a:lstStyle/>
          <a:p>
            <a:pPr marL="393621" lvl="1" indent="-196810" algn="l">
              <a:lnSpc>
                <a:spcPts val="2610"/>
              </a:lnSpc>
              <a:buFont typeface="Arial"/>
              <a:buChar char="•"/>
            </a:pPr>
            <a:r>
              <a:rPr lang="en-US" sz="2175">
                <a:solidFill>
                  <a:srgbClr val="1E2B25"/>
                </a:solidFill>
                <a:latin typeface="Montserrat"/>
                <a:ea typeface="Montserrat"/>
                <a:cs typeface="Montserrat"/>
                <a:sym typeface="Montserrat"/>
              </a:rPr>
              <a:t>Giao nhiệm vụ, chỉ dẫn, quy trình chi tiết</a:t>
            </a:r>
          </a:p>
          <a:p>
            <a:pPr marL="393621" lvl="1" indent="-196810" algn="l">
              <a:lnSpc>
                <a:spcPts val="2610"/>
              </a:lnSpc>
              <a:buFont typeface="Arial"/>
              <a:buChar char="•"/>
            </a:pPr>
            <a:r>
              <a:rPr lang="en-US" sz="2175">
                <a:solidFill>
                  <a:srgbClr val="1E2B25"/>
                </a:solidFill>
                <a:latin typeface="Montserrat"/>
                <a:ea typeface="Montserrat"/>
                <a:cs typeface="Montserrat"/>
                <a:sym typeface="Montserrat"/>
              </a:rPr>
              <a:t>Năng lực hình thành: thực thi hiệu quả, tuân thủ SOP</a:t>
            </a:r>
          </a:p>
          <a:p>
            <a:pPr marL="393621" lvl="1" indent="-196810" algn="l">
              <a:lnSpc>
                <a:spcPts val="2610"/>
              </a:lnSpc>
              <a:buFont typeface="Arial"/>
              <a:buChar char="•"/>
            </a:pPr>
            <a:r>
              <a:rPr lang="en-US" sz="2175">
                <a:solidFill>
                  <a:srgbClr val="1E2B25"/>
                </a:solidFill>
                <a:latin typeface="Montserrat"/>
                <a:ea typeface="Montserrat"/>
                <a:cs typeface="Montserrat"/>
                <a:sym typeface="Montserrat"/>
              </a:rPr>
              <a:t>Phù hợp môi trường ổn định, ít thay đổi</a:t>
            </a:r>
          </a:p>
        </p:txBody>
      </p:sp>
      <p:grpSp>
        <p:nvGrpSpPr>
          <p:cNvPr id="28" name="Group 28"/>
          <p:cNvGrpSpPr/>
          <p:nvPr/>
        </p:nvGrpSpPr>
        <p:grpSpPr>
          <a:xfrm>
            <a:off x="7193756" y="6096476"/>
            <a:ext cx="10273855" cy="3374708"/>
            <a:chOff x="0" y="0"/>
            <a:chExt cx="13698474" cy="4499610"/>
          </a:xfrm>
        </p:grpSpPr>
        <p:sp>
          <p:nvSpPr>
            <p:cNvPr id="29" name="Freeform 29"/>
            <p:cNvSpPr/>
            <p:nvPr/>
          </p:nvSpPr>
          <p:spPr>
            <a:xfrm>
              <a:off x="0" y="0"/>
              <a:ext cx="13698474" cy="4499610"/>
            </a:xfrm>
            <a:custGeom>
              <a:avLst/>
              <a:gdLst/>
              <a:ahLst/>
              <a:cxnLst/>
              <a:rect l="l" t="t" r="r" b="b"/>
              <a:pathLst>
                <a:path w="13698474" h="4499610">
                  <a:moveTo>
                    <a:pt x="0" y="220345"/>
                  </a:moveTo>
                  <a:cubicBezTo>
                    <a:pt x="0" y="98679"/>
                    <a:pt x="98679" y="0"/>
                    <a:pt x="220345" y="0"/>
                  </a:cubicBezTo>
                  <a:lnTo>
                    <a:pt x="13478129" y="0"/>
                  </a:lnTo>
                  <a:cubicBezTo>
                    <a:pt x="13599795" y="0"/>
                    <a:pt x="13698474" y="98679"/>
                    <a:pt x="13698474" y="220345"/>
                  </a:cubicBezTo>
                  <a:lnTo>
                    <a:pt x="13698474" y="4279265"/>
                  </a:lnTo>
                  <a:cubicBezTo>
                    <a:pt x="13698474" y="4400931"/>
                    <a:pt x="13599795" y="4499610"/>
                    <a:pt x="13478129" y="4499610"/>
                  </a:cubicBezTo>
                  <a:lnTo>
                    <a:pt x="220345" y="4499610"/>
                  </a:lnTo>
                  <a:cubicBezTo>
                    <a:pt x="98679" y="4499610"/>
                    <a:pt x="0" y="4400931"/>
                    <a:pt x="0" y="4279265"/>
                  </a:cubicBezTo>
                  <a:close/>
                </a:path>
              </a:pathLst>
            </a:custGeom>
            <a:solidFill>
              <a:srgbClr val="E8F3ED"/>
            </a:solidFill>
            <a:ln w="14288" cap="sq">
              <a:solidFill>
                <a:srgbClr val="CFE6D8"/>
              </a:solidFill>
              <a:prstDash val="solid"/>
              <a:miter/>
            </a:ln>
          </p:spPr>
        </p:sp>
      </p:grpSp>
      <p:grpSp>
        <p:nvGrpSpPr>
          <p:cNvPr id="30" name="Group 30"/>
          <p:cNvGrpSpPr/>
          <p:nvPr/>
        </p:nvGrpSpPr>
        <p:grpSpPr>
          <a:xfrm>
            <a:off x="7602855" y="6505575"/>
            <a:ext cx="1047750" cy="1047750"/>
            <a:chOff x="0" y="0"/>
            <a:chExt cx="1397000" cy="1397000"/>
          </a:xfrm>
        </p:grpSpPr>
        <p:sp>
          <p:nvSpPr>
            <p:cNvPr id="31" name="Freeform 31"/>
            <p:cNvSpPr/>
            <p:nvPr/>
          </p:nvSpPr>
          <p:spPr>
            <a:xfrm>
              <a:off x="0" y="0"/>
              <a:ext cx="1397000" cy="1397000"/>
            </a:xfrm>
            <a:custGeom>
              <a:avLst/>
              <a:gdLst/>
              <a:ahLst/>
              <a:cxnLst/>
              <a:rect l="l" t="t" r="r" b="b"/>
              <a:pathLst>
                <a:path w="1397000" h="1397000">
                  <a:moveTo>
                    <a:pt x="0" y="698500"/>
                  </a:moveTo>
                  <a:cubicBezTo>
                    <a:pt x="0" y="312674"/>
                    <a:pt x="312674" y="0"/>
                    <a:pt x="698500" y="0"/>
                  </a:cubicBezTo>
                  <a:cubicBezTo>
                    <a:pt x="1084326" y="0"/>
                    <a:pt x="1397000" y="312674"/>
                    <a:pt x="1397000" y="698500"/>
                  </a:cubicBezTo>
                  <a:cubicBezTo>
                    <a:pt x="1397000" y="1084326"/>
                    <a:pt x="1084326" y="1397000"/>
                    <a:pt x="698500" y="1397000"/>
                  </a:cubicBezTo>
                  <a:cubicBezTo>
                    <a:pt x="312674" y="1397000"/>
                    <a:pt x="0" y="1084326"/>
                    <a:pt x="0" y="698500"/>
                  </a:cubicBezTo>
                  <a:close/>
                </a:path>
              </a:pathLst>
            </a:custGeom>
            <a:solidFill>
              <a:srgbClr val="006838"/>
            </a:solidFill>
            <a:ln w="19050" cap="sq">
              <a:solidFill>
                <a:srgbClr val="006838"/>
              </a:solidFill>
              <a:prstDash val="solid"/>
              <a:miter/>
            </a:ln>
          </p:spPr>
        </p:sp>
      </p:grpSp>
      <p:grpSp>
        <p:nvGrpSpPr>
          <p:cNvPr id="32" name="Group 32"/>
          <p:cNvGrpSpPr/>
          <p:nvPr/>
        </p:nvGrpSpPr>
        <p:grpSpPr>
          <a:xfrm>
            <a:off x="7869555" y="6772275"/>
            <a:ext cx="514350" cy="514350"/>
            <a:chOff x="0" y="0"/>
            <a:chExt cx="685800" cy="685800"/>
          </a:xfrm>
        </p:grpSpPr>
        <p:sp>
          <p:nvSpPr>
            <p:cNvPr id="33" name="Freeform 33" descr="preencoded.png"/>
            <p:cNvSpPr/>
            <p:nvPr/>
          </p:nvSpPr>
          <p:spPr>
            <a:xfrm>
              <a:off x="0" y="0"/>
              <a:ext cx="685800" cy="685800"/>
            </a:xfrm>
            <a:custGeom>
              <a:avLst/>
              <a:gdLst/>
              <a:ahLst/>
              <a:cxnLst/>
              <a:rect l="l" t="t" r="r" b="b"/>
              <a:pathLst>
                <a:path w="685800" h="685800">
                  <a:moveTo>
                    <a:pt x="0" y="0"/>
                  </a:moveTo>
                  <a:lnTo>
                    <a:pt x="685800" y="0"/>
                  </a:lnTo>
                  <a:lnTo>
                    <a:pt x="685800" y="685800"/>
                  </a:lnTo>
                  <a:lnTo>
                    <a:pt x="0" y="685800"/>
                  </a:lnTo>
                  <a:lnTo>
                    <a:pt x="0" y="0"/>
                  </a:lnTo>
                  <a:close/>
                </a:path>
              </a:pathLst>
            </a:custGeom>
            <a:blipFill>
              <a:blip r:embed="rId6"/>
              <a:stretch>
                <a:fillRect/>
              </a:stretch>
            </a:blipFill>
          </p:spPr>
        </p:sp>
      </p:grpSp>
      <p:grpSp>
        <p:nvGrpSpPr>
          <p:cNvPr id="34" name="Group 34"/>
          <p:cNvGrpSpPr/>
          <p:nvPr/>
        </p:nvGrpSpPr>
        <p:grpSpPr>
          <a:xfrm>
            <a:off x="8915400" y="6515100"/>
            <a:ext cx="7955280" cy="1028700"/>
            <a:chOff x="0" y="0"/>
            <a:chExt cx="10607040" cy="1371600"/>
          </a:xfrm>
        </p:grpSpPr>
        <p:sp>
          <p:nvSpPr>
            <p:cNvPr id="35" name="Freeform 35"/>
            <p:cNvSpPr/>
            <p:nvPr/>
          </p:nvSpPr>
          <p:spPr>
            <a:xfrm>
              <a:off x="0" y="0"/>
              <a:ext cx="10607040" cy="1371600"/>
            </a:xfrm>
            <a:custGeom>
              <a:avLst/>
              <a:gdLst/>
              <a:ahLst/>
              <a:cxnLst/>
              <a:rect l="l" t="t" r="r" b="b"/>
              <a:pathLst>
                <a:path w="10607040" h="1371600">
                  <a:moveTo>
                    <a:pt x="0" y="0"/>
                  </a:moveTo>
                  <a:lnTo>
                    <a:pt x="10607040" y="0"/>
                  </a:lnTo>
                  <a:lnTo>
                    <a:pt x="10607040" y="1371600"/>
                  </a:lnTo>
                  <a:lnTo>
                    <a:pt x="0" y="1371600"/>
                  </a:lnTo>
                  <a:close/>
                </a:path>
              </a:pathLst>
            </a:custGeom>
            <a:blipFill>
              <a:blip r:embed="rId3">
                <a:alphaModFix amt="0"/>
              </a:blip>
              <a:stretch>
                <a:fillRect t="-100684" b="-100684"/>
              </a:stretch>
            </a:blipFill>
          </p:spPr>
        </p:sp>
        <p:sp>
          <p:nvSpPr>
            <p:cNvPr id="36" name="TextBox 36"/>
            <p:cNvSpPr txBox="1"/>
            <p:nvPr/>
          </p:nvSpPr>
          <p:spPr>
            <a:xfrm>
              <a:off x="0" y="0"/>
              <a:ext cx="10607040" cy="1371600"/>
            </a:xfrm>
            <a:prstGeom prst="rect">
              <a:avLst/>
            </a:prstGeom>
          </p:spPr>
          <p:txBody>
            <a:bodyPr lIns="0" tIns="0" rIns="0" bIns="0" rtlCol="0" anchor="ctr"/>
            <a:lstStyle/>
            <a:p>
              <a:pPr algn="l">
                <a:lnSpc>
                  <a:spcPts val="3419"/>
                </a:lnSpc>
              </a:pPr>
              <a:r>
                <a:rPr lang="en-US" sz="2850" b="1">
                  <a:solidFill>
                    <a:srgbClr val="006838"/>
                  </a:solidFill>
                  <a:latin typeface="Montserrat Bold"/>
                  <a:ea typeface="Montserrat Bold"/>
                  <a:cs typeface="Montserrat Bold"/>
                  <a:sym typeface="Montserrat Bold"/>
                </a:rPr>
                <a:t>Bối cảnh (Context)</a:t>
              </a:r>
            </a:p>
          </p:txBody>
        </p:sp>
      </p:grpSp>
      <p:sp>
        <p:nvSpPr>
          <p:cNvPr id="37" name="TextBox 37"/>
          <p:cNvSpPr txBox="1"/>
          <p:nvPr/>
        </p:nvSpPr>
        <p:spPr>
          <a:xfrm>
            <a:off x="7680960" y="7749540"/>
            <a:ext cx="9395460" cy="1333698"/>
          </a:xfrm>
          <a:prstGeom prst="rect">
            <a:avLst/>
          </a:prstGeom>
        </p:spPr>
        <p:txBody>
          <a:bodyPr lIns="0" tIns="0" rIns="0" bIns="0" rtlCol="0" anchor="t">
            <a:spAutoFit/>
          </a:bodyPr>
          <a:lstStyle/>
          <a:p>
            <a:pPr marL="393621" lvl="1" indent="-196810" algn="just">
              <a:lnSpc>
                <a:spcPts val="2610"/>
              </a:lnSpc>
              <a:buFont typeface="Arial"/>
              <a:buChar char="•"/>
            </a:pPr>
            <a:r>
              <a:rPr lang="en-US" sz="2175">
                <a:solidFill>
                  <a:srgbClr val="1E2B25"/>
                </a:solidFill>
                <a:latin typeface="Montserrat"/>
                <a:ea typeface="Montserrat"/>
                <a:cs typeface="Montserrat"/>
                <a:sym typeface="Montserrat"/>
              </a:rPr>
              <a:t>Chia sẻ sứ mệnh, ranh giới, nguyên tắc ra quyết định</a:t>
            </a:r>
          </a:p>
          <a:p>
            <a:pPr marL="393621" lvl="1" indent="-196810" algn="l">
              <a:lnSpc>
                <a:spcPts val="2610"/>
              </a:lnSpc>
              <a:buFont typeface="Arial"/>
              <a:buChar char="•"/>
            </a:pPr>
            <a:r>
              <a:rPr lang="en-US" sz="2175">
                <a:solidFill>
                  <a:srgbClr val="1E2B25"/>
                </a:solidFill>
                <a:latin typeface="Montserrat"/>
                <a:ea typeface="Montserrat"/>
                <a:cs typeface="Montserrat"/>
                <a:sym typeface="Montserrat"/>
              </a:rPr>
              <a:t>Năng lực hình thành: xác định vấn đề, phán đoán, ra quyết định tự chủ</a:t>
            </a:r>
          </a:p>
          <a:p>
            <a:pPr marL="393621" lvl="1" indent="-196810" algn="l">
              <a:lnSpc>
                <a:spcPts val="2610"/>
              </a:lnSpc>
              <a:buFont typeface="Arial"/>
              <a:buChar char="•"/>
            </a:pPr>
            <a:r>
              <a:rPr lang="en-US" sz="2175">
                <a:solidFill>
                  <a:srgbClr val="1E2B25"/>
                </a:solidFill>
                <a:latin typeface="Montserrat"/>
                <a:ea typeface="Montserrat"/>
                <a:cs typeface="Montserrat"/>
                <a:sym typeface="Montserrat"/>
              </a:rPr>
              <a:t>Phù hợp môi trường AI-Native, cần tốc độ và sáng tạo</a:t>
            </a:r>
          </a:p>
        </p:txBody>
      </p:sp>
      <p:grpSp>
        <p:nvGrpSpPr>
          <p:cNvPr id="38" name="Group 38"/>
          <p:cNvGrpSpPr/>
          <p:nvPr/>
        </p:nvGrpSpPr>
        <p:grpSpPr>
          <a:xfrm>
            <a:off x="11882247" y="5449443"/>
            <a:ext cx="773430" cy="773430"/>
            <a:chOff x="0" y="0"/>
            <a:chExt cx="1031240" cy="1031240"/>
          </a:xfrm>
        </p:grpSpPr>
        <p:sp>
          <p:nvSpPr>
            <p:cNvPr id="39" name="Freeform 39"/>
            <p:cNvSpPr/>
            <p:nvPr/>
          </p:nvSpPr>
          <p:spPr>
            <a:xfrm>
              <a:off x="0" y="0"/>
              <a:ext cx="1031240" cy="1031240"/>
            </a:xfrm>
            <a:custGeom>
              <a:avLst/>
              <a:gdLst/>
              <a:ahLst/>
              <a:cxnLst/>
              <a:rect l="l" t="t" r="r" b="b"/>
              <a:pathLst>
                <a:path w="1031240" h="1031240">
                  <a:moveTo>
                    <a:pt x="0" y="515620"/>
                  </a:moveTo>
                  <a:cubicBezTo>
                    <a:pt x="0" y="230886"/>
                    <a:pt x="230886" y="0"/>
                    <a:pt x="515620" y="0"/>
                  </a:cubicBezTo>
                  <a:cubicBezTo>
                    <a:pt x="800354" y="0"/>
                    <a:pt x="1031240" y="230886"/>
                    <a:pt x="1031240" y="515620"/>
                  </a:cubicBezTo>
                  <a:cubicBezTo>
                    <a:pt x="1031240" y="800354"/>
                    <a:pt x="800354" y="1031240"/>
                    <a:pt x="515620" y="1031240"/>
                  </a:cubicBezTo>
                  <a:cubicBezTo>
                    <a:pt x="230886" y="1031240"/>
                    <a:pt x="0" y="800354"/>
                    <a:pt x="0" y="515620"/>
                  </a:cubicBezTo>
                  <a:close/>
                </a:path>
              </a:pathLst>
            </a:custGeom>
            <a:solidFill>
              <a:srgbClr val="FF7300"/>
            </a:solidFill>
            <a:ln w="19050" cap="sq">
              <a:solidFill>
                <a:srgbClr val="FF7300"/>
              </a:solidFill>
              <a:prstDash val="solid"/>
              <a:miter/>
            </a:ln>
          </p:spPr>
        </p:sp>
      </p:grpSp>
      <p:grpSp>
        <p:nvGrpSpPr>
          <p:cNvPr id="40" name="Group 40"/>
          <p:cNvGrpSpPr/>
          <p:nvPr/>
        </p:nvGrpSpPr>
        <p:grpSpPr>
          <a:xfrm>
            <a:off x="12095455" y="5662651"/>
            <a:ext cx="347015" cy="347015"/>
            <a:chOff x="0" y="0"/>
            <a:chExt cx="462686" cy="462686"/>
          </a:xfrm>
        </p:grpSpPr>
        <p:sp>
          <p:nvSpPr>
            <p:cNvPr id="41" name="Freeform 41" descr="preencoded.png"/>
            <p:cNvSpPr/>
            <p:nvPr/>
          </p:nvSpPr>
          <p:spPr>
            <a:xfrm>
              <a:off x="0" y="0"/>
              <a:ext cx="462661" cy="462661"/>
            </a:xfrm>
            <a:custGeom>
              <a:avLst/>
              <a:gdLst/>
              <a:ahLst/>
              <a:cxnLst/>
              <a:rect l="l" t="t" r="r" b="b"/>
              <a:pathLst>
                <a:path w="462661" h="462661">
                  <a:moveTo>
                    <a:pt x="0" y="0"/>
                  </a:moveTo>
                  <a:lnTo>
                    <a:pt x="462661" y="0"/>
                  </a:lnTo>
                  <a:lnTo>
                    <a:pt x="462661" y="462661"/>
                  </a:lnTo>
                  <a:lnTo>
                    <a:pt x="0" y="462661"/>
                  </a:lnTo>
                  <a:lnTo>
                    <a:pt x="0" y="0"/>
                  </a:lnTo>
                  <a:close/>
                </a:path>
              </a:pathLst>
            </a:custGeom>
            <a:blipFill>
              <a:blip r:embed="rId7"/>
              <a:stretch>
                <a:fillRect r="-5" b="-5"/>
              </a:stretch>
            </a:blipFill>
          </p:spPr>
        </p:sp>
      </p:gr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4"/>
          <p:cNvGrpSpPr/>
          <p:nvPr/>
        </p:nvGrpSpPr>
        <p:grpSpPr>
          <a:xfrm>
            <a:off x="822960" y="411480"/>
            <a:ext cx="15361920" cy="1371600"/>
            <a:chOff x="0" y="0"/>
            <a:chExt cx="20482560" cy="1828800"/>
          </a:xfrm>
        </p:grpSpPr>
        <p:sp>
          <p:nvSpPr>
            <p:cNvPr id="5" name="Freeform 5"/>
            <p:cNvSpPr/>
            <p:nvPr/>
          </p:nvSpPr>
          <p:spPr>
            <a:xfrm>
              <a:off x="0" y="0"/>
              <a:ext cx="20482561" cy="1828800"/>
            </a:xfrm>
            <a:custGeom>
              <a:avLst/>
              <a:gdLst/>
              <a:ahLst/>
              <a:cxnLst/>
              <a:rect l="l" t="t" r="r" b="b"/>
              <a:pathLst>
                <a:path w="20482561" h="1828800">
                  <a:moveTo>
                    <a:pt x="0" y="0"/>
                  </a:moveTo>
                  <a:lnTo>
                    <a:pt x="20482561" y="0"/>
                  </a:lnTo>
                  <a:lnTo>
                    <a:pt x="20482561" y="1828800"/>
                  </a:lnTo>
                  <a:lnTo>
                    <a:pt x="0" y="1828800"/>
                  </a:lnTo>
                  <a:close/>
                </a:path>
              </a:pathLst>
            </a:custGeom>
            <a:blipFill>
              <a:blip r:embed="rId3">
                <a:alphaModFix amt="0"/>
              </a:blip>
              <a:stretch>
                <a:fillRect t="-168232" b="-168232"/>
              </a:stretch>
            </a:blipFill>
          </p:spPr>
        </p:sp>
        <p:sp>
          <p:nvSpPr>
            <p:cNvPr id="6" name="TextBox 6"/>
            <p:cNvSpPr txBox="1"/>
            <p:nvPr/>
          </p:nvSpPr>
          <p:spPr>
            <a:xfrm>
              <a:off x="0" y="0"/>
              <a:ext cx="20482560" cy="1828800"/>
            </a:xfrm>
            <a:prstGeom prst="rect">
              <a:avLst/>
            </a:prstGeom>
          </p:spPr>
          <p:txBody>
            <a:bodyPr lIns="0" tIns="0" rIns="0" bIns="0" rtlCol="0" anchor="ctr"/>
            <a:lstStyle/>
            <a:p>
              <a:pPr algn="l">
                <a:lnSpc>
                  <a:spcPts val="4680"/>
                </a:lnSpc>
              </a:pPr>
              <a:r>
                <a:rPr lang="en-US" sz="3900" b="1">
                  <a:solidFill>
                    <a:srgbClr val="006838"/>
                  </a:solidFill>
                  <a:latin typeface="Montserrat Bold"/>
                  <a:ea typeface="Montserrat Bold"/>
                  <a:cs typeface="Montserrat Bold"/>
                  <a:sym typeface="Montserrat Bold"/>
                </a:rPr>
                <a:t>03 NĂNG LỰC CẦN CÓ KHI SỬ DỤNG AI</a:t>
              </a:r>
            </a:p>
          </p:txBody>
        </p:sp>
      </p:grpSp>
      <p:grpSp>
        <p:nvGrpSpPr>
          <p:cNvPr id="7" name="Group 7"/>
          <p:cNvGrpSpPr/>
          <p:nvPr/>
        </p:nvGrpSpPr>
        <p:grpSpPr>
          <a:xfrm>
            <a:off x="815816" y="2255996"/>
            <a:ext cx="5912168" cy="7146607"/>
            <a:chOff x="0" y="0"/>
            <a:chExt cx="7882890" cy="9528810"/>
          </a:xfrm>
        </p:grpSpPr>
        <p:sp>
          <p:nvSpPr>
            <p:cNvPr id="8" name="Freeform 8"/>
            <p:cNvSpPr/>
            <p:nvPr/>
          </p:nvSpPr>
          <p:spPr>
            <a:xfrm>
              <a:off x="0" y="0"/>
              <a:ext cx="7882890" cy="9528810"/>
            </a:xfrm>
            <a:custGeom>
              <a:avLst/>
              <a:gdLst/>
              <a:ahLst/>
              <a:cxnLst/>
              <a:rect l="l" t="t" r="r" b="b"/>
              <a:pathLst>
                <a:path w="7882890" h="9528810">
                  <a:moveTo>
                    <a:pt x="0" y="219964"/>
                  </a:moveTo>
                  <a:cubicBezTo>
                    <a:pt x="0" y="98552"/>
                    <a:pt x="98552" y="0"/>
                    <a:pt x="219964" y="0"/>
                  </a:cubicBezTo>
                  <a:lnTo>
                    <a:pt x="7662926" y="0"/>
                  </a:lnTo>
                  <a:cubicBezTo>
                    <a:pt x="7784465" y="0"/>
                    <a:pt x="7882890" y="98552"/>
                    <a:pt x="7882890" y="219964"/>
                  </a:cubicBezTo>
                  <a:lnTo>
                    <a:pt x="7882890" y="9308846"/>
                  </a:lnTo>
                  <a:cubicBezTo>
                    <a:pt x="7882890" y="9430385"/>
                    <a:pt x="7784338" y="9528810"/>
                    <a:pt x="7662926" y="9528810"/>
                  </a:cubicBezTo>
                  <a:lnTo>
                    <a:pt x="219964" y="9528810"/>
                  </a:lnTo>
                  <a:cubicBezTo>
                    <a:pt x="98552" y="9528810"/>
                    <a:pt x="0" y="9430258"/>
                    <a:pt x="0" y="9308846"/>
                  </a:cubicBezTo>
                  <a:close/>
                </a:path>
              </a:pathLst>
            </a:custGeom>
            <a:solidFill>
              <a:srgbClr val="006838"/>
            </a:solidFill>
            <a:ln w="14288" cap="sq">
              <a:solidFill>
                <a:srgbClr val="006838"/>
              </a:solidFill>
              <a:prstDash val="solid"/>
              <a:miter/>
            </a:ln>
          </p:spPr>
        </p:sp>
      </p:grpSp>
      <p:grpSp>
        <p:nvGrpSpPr>
          <p:cNvPr id="9" name="Group 9"/>
          <p:cNvGrpSpPr/>
          <p:nvPr/>
        </p:nvGrpSpPr>
        <p:grpSpPr>
          <a:xfrm>
            <a:off x="1293495" y="2733675"/>
            <a:ext cx="1390650" cy="1390650"/>
            <a:chOff x="0" y="0"/>
            <a:chExt cx="1854200" cy="1854200"/>
          </a:xfrm>
        </p:grpSpPr>
        <p:sp>
          <p:nvSpPr>
            <p:cNvPr id="10" name="Freeform 10"/>
            <p:cNvSpPr/>
            <p:nvPr/>
          </p:nvSpPr>
          <p:spPr>
            <a:xfrm>
              <a:off x="0" y="0"/>
              <a:ext cx="1854200" cy="1854200"/>
            </a:xfrm>
            <a:custGeom>
              <a:avLst/>
              <a:gdLst/>
              <a:ahLst/>
              <a:cxnLst/>
              <a:rect l="l" t="t" r="r" b="b"/>
              <a:pathLst>
                <a:path w="1854200" h="1854200">
                  <a:moveTo>
                    <a:pt x="0" y="927100"/>
                  </a:moveTo>
                  <a:cubicBezTo>
                    <a:pt x="0" y="415036"/>
                    <a:pt x="415036" y="0"/>
                    <a:pt x="927100" y="0"/>
                  </a:cubicBezTo>
                  <a:cubicBezTo>
                    <a:pt x="1439164" y="0"/>
                    <a:pt x="1854200" y="415036"/>
                    <a:pt x="1854200" y="927100"/>
                  </a:cubicBezTo>
                  <a:cubicBezTo>
                    <a:pt x="1854200" y="1439164"/>
                    <a:pt x="1439164" y="1854200"/>
                    <a:pt x="927100" y="1854200"/>
                  </a:cubicBezTo>
                  <a:cubicBezTo>
                    <a:pt x="415036" y="1854200"/>
                    <a:pt x="0" y="1439164"/>
                    <a:pt x="0" y="927100"/>
                  </a:cubicBezTo>
                  <a:close/>
                </a:path>
              </a:pathLst>
            </a:custGeom>
            <a:solidFill>
              <a:srgbClr val="FF7300"/>
            </a:solidFill>
            <a:ln w="19050" cap="sq">
              <a:solidFill>
                <a:srgbClr val="FF7300"/>
              </a:solidFill>
              <a:prstDash val="solid"/>
              <a:miter/>
            </a:ln>
          </p:spPr>
        </p:sp>
      </p:grpSp>
      <p:grpSp>
        <p:nvGrpSpPr>
          <p:cNvPr id="11" name="Group 11"/>
          <p:cNvGrpSpPr/>
          <p:nvPr/>
        </p:nvGrpSpPr>
        <p:grpSpPr>
          <a:xfrm>
            <a:off x="1687068" y="3127248"/>
            <a:ext cx="603504" cy="603504"/>
            <a:chOff x="0" y="0"/>
            <a:chExt cx="804672" cy="804672"/>
          </a:xfrm>
        </p:grpSpPr>
        <p:sp>
          <p:nvSpPr>
            <p:cNvPr id="12" name="Freeform 12" descr="preencoded.png"/>
            <p:cNvSpPr/>
            <p:nvPr/>
          </p:nvSpPr>
          <p:spPr>
            <a:xfrm>
              <a:off x="0" y="0"/>
              <a:ext cx="804672" cy="804672"/>
            </a:xfrm>
            <a:custGeom>
              <a:avLst/>
              <a:gdLst/>
              <a:ahLst/>
              <a:cxnLst/>
              <a:rect l="l" t="t" r="r" b="b"/>
              <a:pathLst>
                <a:path w="804672" h="804672">
                  <a:moveTo>
                    <a:pt x="0" y="0"/>
                  </a:moveTo>
                  <a:lnTo>
                    <a:pt x="804672" y="0"/>
                  </a:lnTo>
                  <a:lnTo>
                    <a:pt x="804672" y="804672"/>
                  </a:lnTo>
                  <a:lnTo>
                    <a:pt x="0" y="804672"/>
                  </a:lnTo>
                  <a:lnTo>
                    <a:pt x="0" y="0"/>
                  </a:lnTo>
                  <a:close/>
                </a:path>
              </a:pathLst>
            </a:custGeom>
            <a:blipFill>
              <a:blip r:embed="rId4"/>
              <a:stretch>
                <a:fillRect/>
              </a:stretch>
            </a:blipFill>
          </p:spPr>
        </p:sp>
      </p:grpSp>
      <p:sp>
        <p:nvSpPr>
          <p:cNvPr id="13" name="TextBox 13"/>
          <p:cNvSpPr txBox="1"/>
          <p:nvPr/>
        </p:nvSpPr>
        <p:spPr>
          <a:xfrm>
            <a:off x="1303020" y="4457700"/>
            <a:ext cx="4937760" cy="1165860"/>
          </a:xfrm>
          <a:prstGeom prst="rect">
            <a:avLst/>
          </a:prstGeom>
        </p:spPr>
        <p:txBody>
          <a:bodyPr lIns="0" tIns="0" rIns="0" bIns="0" rtlCol="0" anchor="t">
            <a:spAutoFit/>
          </a:bodyPr>
          <a:lstStyle/>
          <a:p>
            <a:pPr algn="l">
              <a:lnSpc>
                <a:spcPts val="3060"/>
              </a:lnSpc>
            </a:pPr>
            <a:r>
              <a:rPr lang="en-US" sz="2550" b="1">
                <a:solidFill>
                  <a:srgbClr val="FFFFFF"/>
                </a:solidFill>
                <a:latin typeface="Montserrat Bold"/>
                <a:ea typeface="Montserrat Bold"/>
                <a:cs typeface="Montserrat Bold"/>
                <a:sym typeface="Montserrat Bold"/>
              </a:rPr>
              <a:t>Câu hỏi cho Khung năng lực của bạn:</a:t>
            </a:r>
          </a:p>
        </p:txBody>
      </p:sp>
      <p:sp>
        <p:nvSpPr>
          <p:cNvPr id="14" name="TextBox 14"/>
          <p:cNvSpPr txBox="1"/>
          <p:nvPr/>
        </p:nvSpPr>
        <p:spPr>
          <a:xfrm>
            <a:off x="1303020" y="5644515"/>
            <a:ext cx="4937760" cy="1167765"/>
          </a:xfrm>
          <a:prstGeom prst="rect">
            <a:avLst/>
          </a:prstGeom>
        </p:spPr>
        <p:txBody>
          <a:bodyPr lIns="0" tIns="0" rIns="0" bIns="0" rtlCol="0" anchor="t">
            <a:spAutoFit/>
          </a:bodyPr>
          <a:lstStyle/>
          <a:p>
            <a:pPr algn="just">
              <a:lnSpc>
                <a:spcPts val="3104"/>
              </a:lnSpc>
            </a:pPr>
            <a:r>
              <a:rPr lang="en-US" sz="2250">
                <a:solidFill>
                  <a:srgbClr val="E6F2EB"/>
                </a:solidFill>
                <a:latin typeface="Montserrat"/>
                <a:ea typeface="Montserrat"/>
                <a:cs typeface="Montserrat"/>
                <a:sym typeface="Montserrat"/>
              </a:rPr>
              <a:t>Competency Framework hiện tại của tổ chức bạn có đang đánh giá chính thức 3 năng lực này chưa?</a:t>
            </a:r>
          </a:p>
        </p:txBody>
      </p:sp>
      <p:grpSp>
        <p:nvGrpSpPr>
          <p:cNvPr id="15" name="Group 15"/>
          <p:cNvGrpSpPr/>
          <p:nvPr/>
        </p:nvGrpSpPr>
        <p:grpSpPr>
          <a:xfrm>
            <a:off x="7193756" y="2255996"/>
            <a:ext cx="10273855" cy="2140267"/>
            <a:chOff x="0" y="0"/>
            <a:chExt cx="13698474" cy="2853690"/>
          </a:xfrm>
        </p:grpSpPr>
        <p:sp>
          <p:nvSpPr>
            <p:cNvPr id="16" name="Freeform 16"/>
            <p:cNvSpPr/>
            <p:nvPr/>
          </p:nvSpPr>
          <p:spPr>
            <a:xfrm>
              <a:off x="0" y="0"/>
              <a:ext cx="13698474" cy="2853690"/>
            </a:xfrm>
            <a:custGeom>
              <a:avLst/>
              <a:gdLst/>
              <a:ahLst/>
              <a:cxnLst/>
              <a:rect l="l" t="t" r="r" b="b"/>
              <a:pathLst>
                <a:path w="13698474" h="2853690">
                  <a:moveTo>
                    <a:pt x="0" y="220980"/>
                  </a:moveTo>
                  <a:cubicBezTo>
                    <a:pt x="0" y="98933"/>
                    <a:pt x="98933" y="0"/>
                    <a:pt x="220980" y="0"/>
                  </a:cubicBezTo>
                  <a:lnTo>
                    <a:pt x="13477494" y="0"/>
                  </a:lnTo>
                  <a:cubicBezTo>
                    <a:pt x="13599540" y="0"/>
                    <a:pt x="13698474" y="98933"/>
                    <a:pt x="13698474" y="220980"/>
                  </a:cubicBezTo>
                  <a:lnTo>
                    <a:pt x="13698474" y="2632710"/>
                  </a:lnTo>
                  <a:cubicBezTo>
                    <a:pt x="13698474" y="2754757"/>
                    <a:pt x="13599540" y="2853690"/>
                    <a:pt x="13477494" y="2853690"/>
                  </a:cubicBezTo>
                  <a:lnTo>
                    <a:pt x="220980" y="2853690"/>
                  </a:lnTo>
                  <a:cubicBezTo>
                    <a:pt x="98933" y="2853690"/>
                    <a:pt x="0" y="2754757"/>
                    <a:pt x="0" y="2632710"/>
                  </a:cubicBezTo>
                  <a:close/>
                </a:path>
              </a:pathLst>
            </a:custGeom>
            <a:solidFill>
              <a:srgbClr val="FFFFFF"/>
            </a:solidFill>
            <a:ln w="14288" cap="sq">
              <a:solidFill>
                <a:srgbClr val="DCE6E0"/>
              </a:solidFill>
              <a:prstDash val="solid"/>
              <a:miter/>
            </a:ln>
          </p:spPr>
        </p:sp>
      </p:grpSp>
      <p:grpSp>
        <p:nvGrpSpPr>
          <p:cNvPr id="17" name="Group 17"/>
          <p:cNvGrpSpPr/>
          <p:nvPr/>
        </p:nvGrpSpPr>
        <p:grpSpPr>
          <a:xfrm>
            <a:off x="7602855" y="2706243"/>
            <a:ext cx="1253490" cy="1253490"/>
            <a:chOff x="0" y="0"/>
            <a:chExt cx="1671320" cy="1671320"/>
          </a:xfrm>
        </p:grpSpPr>
        <p:sp>
          <p:nvSpPr>
            <p:cNvPr id="18" name="Freeform 18"/>
            <p:cNvSpPr/>
            <p:nvPr/>
          </p:nvSpPr>
          <p:spPr>
            <a:xfrm>
              <a:off x="0" y="0"/>
              <a:ext cx="1671320" cy="1671320"/>
            </a:xfrm>
            <a:custGeom>
              <a:avLst/>
              <a:gdLst/>
              <a:ahLst/>
              <a:cxnLst/>
              <a:rect l="l" t="t" r="r" b="b"/>
              <a:pathLst>
                <a:path w="1671320" h="1671320">
                  <a:moveTo>
                    <a:pt x="0" y="835660"/>
                  </a:moveTo>
                  <a:cubicBezTo>
                    <a:pt x="0" y="374142"/>
                    <a:pt x="374142" y="0"/>
                    <a:pt x="835660" y="0"/>
                  </a:cubicBezTo>
                  <a:cubicBezTo>
                    <a:pt x="1297178" y="0"/>
                    <a:pt x="1671320" y="374142"/>
                    <a:pt x="1671320" y="835660"/>
                  </a:cubicBezTo>
                  <a:cubicBezTo>
                    <a:pt x="1671320" y="1297178"/>
                    <a:pt x="1297178" y="1671320"/>
                    <a:pt x="835660" y="1671320"/>
                  </a:cubicBezTo>
                  <a:cubicBezTo>
                    <a:pt x="374142" y="1671320"/>
                    <a:pt x="0" y="1297178"/>
                    <a:pt x="0" y="835660"/>
                  </a:cubicBezTo>
                  <a:close/>
                </a:path>
              </a:pathLst>
            </a:custGeom>
            <a:solidFill>
              <a:srgbClr val="FF7300"/>
            </a:solidFill>
            <a:ln w="19050" cap="sq">
              <a:solidFill>
                <a:srgbClr val="FF7300"/>
              </a:solidFill>
              <a:prstDash val="solid"/>
              <a:miter/>
            </a:ln>
          </p:spPr>
        </p:sp>
      </p:grpSp>
      <p:grpSp>
        <p:nvGrpSpPr>
          <p:cNvPr id="19" name="Group 19"/>
          <p:cNvGrpSpPr/>
          <p:nvPr/>
        </p:nvGrpSpPr>
        <p:grpSpPr>
          <a:xfrm>
            <a:off x="7612380" y="2715768"/>
            <a:ext cx="1234440" cy="1234440"/>
            <a:chOff x="0" y="0"/>
            <a:chExt cx="1645920" cy="1645920"/>
          </a:xfrm>
        </p:grpSpPr>
        <p:sp>
          <p:nvSpPr>
            <p:cNvPr id="20" name="Freeform 20"/>
            <p:cNvSpPr/>
            <p:nvPr/>
          </p:nvSpPr>
          <p:spPr>
            <a:xfrm>
              <a:off x="0" y="0"/>
              <a:ext cx="1645920" cy="1645920"/>
            </a:xfrm>
            <a:custGeom>
              <a:avLst/>
              <a:gdLst/>
              <a:ahLst/>
              <a:cxnLst/>
              <a:rect l="l" t="t" r="r" b="b"/>
              <a:pathLst>
                <a:path w="1645920" h="1645920">
                  <a:moveTo>
                    <a:pt x="0" y="0"/>
                  </a:moveTo>
                  <a:lnTo>
                    <a:pt x="1645920" y="0"/>
                  </a:lnTo>
                  <a:lnTo>
                    <a:pt x="1645920" y="1645920"/>
                  </a:lnTo>
                  <a:lnTo>
                    <a:pt x="0" y="1645920"/>
                  </a:lnTo>
                  <a:close/>
                </a:path>
              </a:pathLst>
            </a:custGeom>
            <a:blipFill>
              <a:blip r:embed="rId3">
                <a:alphaModFix amt="0"/>
              </a:blip>
              <a:stretch>
                <a:fillRect l="-78303" r="-78303"/>
              </a:stretch>
            </a:blipFill>
          </p:spPr>
        </p:sp>
        <p:sp>
          <p:nvSpPr>
            <p:cNvPr id="21" name="TextBox 21"/>
            <p:cNvSpPr txBox="1"/>
            <p:nvPr/>
          </p:nvSpPr>
          <p:spPr>
            <a:xfrm>
              <a:off x="0" y="0"/>
              <a:ext cx="1645920" cy="1645920"/>
            </a:xfrm>
            <a:prstGeom prst="rect">
              <a:avLst/>
            </a:prstGeom>
          </p:spPr>
          <p:txBody>
            <a:bodyPr lIns="0" tIns="0" rIns="0" bIns="0" rtlCol="0" anchor="ctr"/>
            <a:lstStyle/>
            <a:p>
              <a:pPr algn="ctr">
                <a:lnSpc>
                  <a:spcPts val="4680"/>
                </a:lnSpc>
              </a:pPr>
              <a:r>
                <a:rPr lang="en-US" sz="3900" b="1">
                  <a:solidFill>
                    <a:srgbClr val="FFFFFF"/>
                  </a:solidFill>
                  <a:latin typeface="Montserrat Bold"/>
                  <a:ea typeface="Montserrat Bold"/>
                  <a:cs typeface="Montserrat Bold"/>
                  <a:sym typeface="Montserrat Bold"/>
                </a:rPr>
                <a:t>1</a:t>
              </a:r>
            </a:p>
          </p:txBody>
        </p:sp>
      </p:grpSp>
      <p:grpSp>
        <p:nvGrpSpPr>
          <p:cNvPr id="22" name="Group 22"/>
          <p:cNvGrpSpPr/>
          <p:nvPr/>
        </p:nvGrpSpPr>
        <p:grpSpPr>
          <a:xfrm>
            <a:off x="9189720" y="2510028"/>
            <a:ext cx="7955280" cy="576072"/>
            <a:chOff x="0" y="0"/>
            <a:chExt cx="10607040" cy="768096"/>
          </a:xfrm>
        </p:grpSpPr>
        <p:sp>
          <p:nvSpPr>
            <p:cNvPr id="23" name="Freeform 23"/>
            <p:cNvSpPr/>
            <p:nvPr/>
          </p:nvSpPr>
          <p:spPr>
            <a:xfrm>
              <a:off x="0" y="0"/>
              <a:ext cx="10607040" cy="768096"/>
            </a:xfrm>
            <a:custGeom>
              <a:avLst/>
              <a:gdLst/>
              <a:ahLst/>
              <a:cxnLst/>
              <a:rect l="l" t="t" r="r" b="b"/>
              <a:pathLst>
                <a:path w="10607040" h="768096">
                  <a:moveTo>
                    <a:pt x="0" y="0"/>
                  </a:moveTo>
                  <a:lnTo>
                    <a:pt x="10607040" y="0"/>
                  </a:lnTo>
                  <a:lnTo>
                    <a:pt x="10607040" y="768096"/>
                  </a:lnTo>
                  <a:lnTo>
                    <a:pt x="0" y="768096"/>
                  </a:lnTo>
                  <a:close/>
                </a:path>
              </a:pathLst>
            </a:custGeom>
            <a:blipFill>
              <a:blip r:embed="rId3">
                <a:alphaModFix amt="0"/>
              </a:blip>
              <a:stretch>
                <a:fillRect t="-219079" b="-219079"/>
              </a:stretch>
            </a:blipFill>
          </p:spPr>
        </p:sp>
        <p:sp>
          <p:nvSpPr>
            <p:cNvPr id="24" name="TextBox 24"/>
            <p:cNvSpPr txBox="1"/>
            <p:nvPr/>
          </p:nvSpPr>
          <p:spPr>
            <a:xfrm>
              <a:off x="0" y="0"/>
              <a:ext cx="10607040" cy="768096"/>
            </a:xfrm>
            <a:prstGeom prst="rect">
              <a:avLst/>
            </a:prstGeom>
          </p:spPr>
          <p:txBody>
            <a:bodyPr lIns="0" tIns="0" rIns="0" bIns="0" rtlCol="0" anchor="ctr"/>
            <a:lstStyle/>
            <a:p>
              <a:pPr algn="l">
                <a:lnSpc>
                  <a:spcPts val="3060"/>
                </a:lnSpc>
              </a:pPr>
              <a:r>
                <a:rPr lang="en-US" sz="2550" b="1">
                  <a:solidFill>
                    <a:srgbClr val="006838"/>
                  </a:solidFill>
                  <a:latin typeface="Montserrat Bold"/>
                  <a:ea typeface="Montserrat Bold"/>
                  <a:cs typeface="Montserrat Bold"/>
                  <a:sym typeface="Montserrat Bold"/>
                </a:rPr>
                <a:t>Xác định vấn đề</a:t>
              </a:r>
            </a:p>
          </p:txBody>
        </p:sp>
      </p:grpSp>
      <p:sp>
        <p:nvSpPr>
          <p:cNvPr id="25" name="TextBox 25"/>
          <p:cNvSpPr txBox="1"/>
          <p:nvPr/>
        </p:nvSpPr>
        <p:spPr>
          <a:xfrm>
            <a:off x="9189720" y="3104007"/>
            <a:ext cx="8023860" cy="981102"/>
          </a:xfrm>
          <a:prstGeom prst="rect">
            <a:avLst/>
          </a:prstGeom>
        </p:spPr>
        <p:txBody>
          <a:bodyPr lIns="0" tIns="0" rIns="0" bIns="0" rtlCol="0" anchor="t">
            <a:spAutoFit/>
          </a:bodyPr>
          <a:lstStyle/>
          <a:p>
            <a:pPr algn="just">
              <a:lnSpc>
                <a:spcPts val="2551"/>
              </a:lnSpc>
            </a:pPr>
            <a:r>
              <a:rPr lang="en-US" sz="2025">
                <a:solidFill>
                  <a:srgbClr val="1E2B25"/>
                </a:solidFill>
                <a:latin typeface="Montserrat"/>
                <a:ea typeface="Montserrat"/>
                <a:cs typeface="Montserrat"/>
                <a:sym typeface="Montserrat"/>
              </a:rPr>
              <a:t>Quyết định điều gì thực sự đáng giải quyết, trước khi giao việc cho AI. Không có năng lực này, AI chỉ giải quyết câu hỏi sai nhanh hơn.</a:t>
            </a:r>
          </a:p>
        </p:txBody>
      </p:sp>
      <p:grpSp>
        <p:nvGrpSpPr>
          <p:cNvPr id="26" name="Group 26"/>
          <p:cNvGrpSpPr/>
          <p:nvPr/>
        </p:nvGrpSpPr>
        <p:grpSpPr>
          <a:xfrm>
            <a:off x="7193756" y="4724876"/>
            <a:ext cx="10273855" cy="2140267"/>
            <a:chOff x="0" y="0"/>
            <a:chExt cx="13698474" cy="2853690"/>
          </a:xfrm>
        </p:grpSpPr>
        <p:sp>
          <p:nvSpPr>
            <p:cNvPr id="27" name="Freeform 27"/>
            <p:cNvSpPr/>
            <p:nvPr/>
          </p:nvSpPr>
          <p:spPr>
            <a:xfrm>
              <a:off x="0" y="0"/>
              <a:ext cx="13698474" cy="2853690"/>
            </a:xfrm>
            <a:custGeom>
              <a:avLst/>
              <a:gdLst/>
              <a:ahLst/>
              <a:cxnLst/>
              <a:rect l="l" t="t" r="r" b="b"/>
              <a:pathLst>
                <a:path w="13698474" h="2853690">
                  <a:moveTo>
                    <a:pt x="0" y="220980"/>
                  </a:moveTo>
                  <a:cubicBezTo>
                    <a:pt x="0" y="98933"/>
                    <a:pt x="98933" y="0"/>
                    <a:pt x="220980" y="0"/>
                  </a:cubicBezTo>
                  <a:lnTo>
                    <a:pt x="13477494" y="0"/>
                  </a:lnTo>
                  <a:cubicBezTo>
                    <a:pt x="13599540" y="0"/>
                    <a:pt x="13698474" y="98933"/>
                    <a:pt x="13698474" y="220980"/>
                  </a:cubicBezTo>
                  <a:lnTo>
                    <a:pt x="13698474" y="2632710"/>
                  </a:lnTo>
                  <a:cubicBezTo>
                    <a:pt x="13698474" y="2754757"/>
                    <a:pt x="13599540" y="2853690"/>
                    <a:pt x="13477494" y="2853690"/>
                  </a:cubicBezTo>
                  <a:lnTo>
                    <a:pt x="220980" y="2853690"/>
                  </a:lnTo>
                  <a:cubicBezTo>
                    <a:pt x="98933" y="2853690"/>
                    <a:pt x="0" y="2754757"/>
                    <a:pt x="0" y="2632710"/>
                  </a:cubicBezTo>
                  <a:close/>
                </a:path>
              </a:pathLst>
            </a:custGeom>
            <a:solidFill>
              <a:srgbClr val="FFFFFF"/>
            </a:solidFill>
            <a:ln w="14288" cap="sq">
              <a:solidFill>
                <a:srgbClr val="DCE6E0"/>
              </a:solidFill>
              <a:prstDash val="solid"/>
              <a:miter/>
            </a:ln>
          </p:spPr>
        </p:sp>
      </p:grpSp>
      <p:grpSp>
        <p:nvGrpSpPr>
          <p:cNvPr id="28" name="Group 28"/>
          <p:cNvGrpSpPr/>
          <p:nvPr/>
        </p:nvGrpSpPr>
        <p:grpSpPr>
          <a:xfrm>
            <a:off x="7602855" y="5175123"/>
            <a:ext cx="1253490" cy="1253490"/>
            <a:chOff x="0" y="0"/>
            <a:chExt cx="1671320" cy="1671320"/>
          </a:xfrm>
        </p:grpSpPr>
        <p:sp>
          <p:nvSpPr>
            <p:cNvPr id="29" name="Freeform 29"/>
            <p:cNvSpPr/>
            <p:nvPr/>
          </p:nvSpPr>
          <p:spPr>
            <a:xfrm>
              <a:off x="0" y="0"/>
              <a:ext cx="1671320" cy="1671320"/>
            </a:xfrm>
            <a:custGeom>
              <a:avLst/>
              <a:gdLst/>
              <a:ahLst/>
              <a:cxnLst/>
              <a:rect l="l" t="t" r="r" b="b"/>
              <a:pathLst>
                <a:path w="1671320" h="1671320">
                  <a:moveTo>
                    <a:pt x="0" y="835660"/>
                  </a:moveTo>
                  <a:cubicBezTo>
                    <a:pt x="0" y="374142"/>
                    <a:pt x="374142" y="0"/>
                    <a:pt x="835660" y="0"/>
                  </a:cubicBezTo>
                  <a:cubicBezTo>
                    <a:pt x="1297178" y="0"/>
                    <a:pt x="1671320" y="374142"/>
                    <a:pt x="1671320" y="835660"/>
                  </a:cubicBezTo>
                  <a:cubicBezTo>
                    <a:pt x="1671320" y="1297178"/>
                    <a:pt x="1297178" y="1671320"/>
                    <a:pt x="835660" y="1671320"/>
                  </a:cubicBezTo>
                  <a:cubicBezTo>
                    <a:pt x="374142" y="1671320"/>
                    <a:pt x="0" y="1297178"/>
                    <a:pt x="0" y="835660"/>
                  </a:cubicBezTo>
                  <a:close/>
                </a:path>
              </a:pathLst>
            </a:custGeom>
            <a:solidFill>
              <a:srgbClr val="FF7300"/>
            </a:solidFill>
            <a:ln w="19050" cap="sq">
              <a:solidFill>
                <a:srgbClr val="FF7300"/>
              </a:solidFill>
              <a:prstDash val="solid"/>
              <a:miter/>
            </a:ln>
          </p:spPr>
        </p:sp>
      </p:grpSp>
      <p:grpSp>
        <p:nvGrpSpPr>
          <p:cNvPr id="30" name="Group 30"/>
          <p:cNvGrpSpPr/>
          <p:nvPr/>
        </p:nvGrpSpPr>
        <p:grpSpPr>
          <a:xfrm>
            <a:off x="7612380" y="5184648"/>
            <a:ext cx="1234440" cy="1234440"/>
            <a:chOff x="0" y="0"/>
            <a:chExt cx="1645920" cy="1645920"/>
          </a:xfrm>
        </p:grpSpPr>
        <p:sp>
          <p:nvSpPr>
            <p:cNvPr id="31" name="Freeform 31"/>
            <p:cNvSpPr/>
            <p:nvPr/>
          </p:nvSpPr>
          <p:spPr>
            <a:xfrm>
              <a:off x="0" y="0"/>
              <a:ext cx="1645920" cy="1645920"/>
            </a:xfrm>
            <a:custGeom>
              <a:avLst/>
              <a:gdLst/>
              <a:ahLst/>
              <a:cxnLst/>
              <a:rect l="l" t="t" r="r" b="b"/>
              <a:pathLst>
                <a:path w="1645920" h="1645920">
                  <a:moveTo>
                    <a:pt x="0" y="0"/>
                  </a:moveTo>
                  <a:lnTo>
                    <a:pt x="1645920" y="0"/>
                  </a:lnTo>
                  <a:lnTo>
                    <a:pt x="1645920" y="1645920"/>
                  </a:lnTo>
                  <a:lnTo>
                    <a:pt x="0" y="1645920"/>
                  </a:lnTo>
                  <a:close/>
                </a:path>
              </a:pathLst>
            </a:custGeom>
            <a:blipFill>
              <a:blip r:embed="rId3">
                <a:alphaModFix amt="0"/>
              </a:blip>
              <a:stretch>
                <a:fillRect l="-78303" r="-78303"/>
              </a:stretch>
            </a:blipFill>
          </p:spPr>
        </p:sp>
        <p:sp>
          <p:nvSpPr>
            <p:cNvPr id="32" name="TextBox 32"/>
            <p:cNvSpPr txBox="1"/>
            <p:nvPr/>
          </p:nvSpPr>
          <p:spPr>
            <a:xfrm>
              <a:off x="0" y="0"/>
              <a:ext cx="1645920" cy="1645920"/>
            </a:xfrm>
            <a:prstGeom prst="rect">
              <a:avLst/>
            </a:prstGeom>
          </p:spPr>
          <p:txBody>
            <a:bodyPr lIns="0" tIns="0" rIns="0" bIns="0" rtlCol="0" anchor="ctr"/>
            <a:lstStyle/>
            <a:p>
              <a:pPr algn="ctr">
                <a:lnSpc>
                  <a:spcPts val="4680"/>
                </a:lnSpc>
              </a:pPr>
              <a:r>
                <a:rPr lang="en-US" sz="3900" b="1">
                  <a:solidFill>
                    <a:srgbClr val="FFFFFF"/>
                  </a:solidFill>
                  <a:latin typeface="Montserrat Bold"/>
                  <a:ea typeface="Montserrat Bold"/>
                  <a:cs typeface="Montserrat Bold"/>
                  <a:sym typeface="Montserrat Bold"/>
                </a:rPr>
                <a:t>2</a:t>
              </a:r>
            </a:p>
          </p:txBody>
        </p:sp>
      </p:grpSp>
      <p:grpSp>
        <p:nvGrpSpPr>
          <p:cNvPr id="33" name="Group 33"/>
          <p:cNvGrpSpPr/>
          <p:nvPr/>
        </p:nvGrpSpPr>
        <p:grpSpPr>
          <a:xfrm>
            <a:off x="9189720" y="4978908"/>
            <a:ext cx="7955280" cy="576072"/>
            <a:chOff x="0" y="0"/>
            <a:chExt cx="10607040" cy="768096"/>
          </a:xfrm>
        </p:grpSpPr>
        <p:sp>
          <p:nvSpPr>
            <p:cNvPr id="34" name="Freeform 34"/>
            <p:cNvSpPr/>
            <p:nvPr/>
          </p:nvSpPr>
          <p:spPr>
            <a:xfrm>
              <a:off x="0" y="0"/>
              <a:ext cx="10607040" cy="768096"/>
            </a:xfrm>
            <a:custGeom>
              <a:avLst/>
              <a:gdLst/>
              <a:ahLst/>
              <a:cxnLst/>
              <a:rect l="l" t="t" r="r" b="b"/>
              <a:pathLst>
                <a:path w="10607040" h="768096">
                  <a:moveTo>
                    <a:pt x="0" y="0"/>
                  </a:moveTo>
                  <a:lnTo>
                    <a:pt x="10607040" y="0"/>
                  </a:lnTo>
                  <a:lnTo>
                    <a:pt x="10607040" y="768096"/>
                  </a:lnTo>
                  <a:lnTo>
                    <a:pt x="0" y="768096"/>
                  </a:lnTo>
                  <a:close/>
                </a:path>
              </a:pathLst>
            </a:custGeom>
            <a:blipFill>
              <a:blip r:embed="rId3">
                <a:alphaModFix amt="0"/>
              </a:blip>
              <a:stretch>
                <a:fillRect t="-219079" b="-219079"/>
              </a:stretch>
            </a:blipFill>
          </p:spPr>
        </p:sp>
        <p:sp>
          <p:nvSpPr>
            <p:cNvPr id="35" name="TextBox 35"/>
            <p:cNvSpPr txBox="1"/>
            <p:nvPr/>
          </p:nvSpPr>
          <p:spPr>
            <a:xfrm>
              <a:off x="0" y="0"/>
              <a:ext cx="10607040" cy="768096"/>
            </a:xfrm>
            <a:prstGeom prst="rect">
              <a:avLst/>
            </a:prstGeom>
          </p:spPr>
          <p:txBody>
            <a:bodyPr lIns="0" tIns="0" rIns="0" bIns="0" rtlCol="0" anchor="ctr"/>
            <a:lstStyle/>
            <a:p>
              <a:pPr algn="l">
                <a:lnSpc>
                  <a:spcPts val="3060"/>
                </a:lnSpc>
              </a:pPr>
              <a:r>
                <a:rPr lang="en-US" sz="2550" b="1">
                  <a:solidFill>
                    <a:srgbClr val="006838"/>
                  </a:solidFill>
                  <a:latin typeface="Montserrat Bold"/>
                  <a:ea typeface="Montserrat Bold"/>
                  <a:cs typeface="Montserrat Bold"/>
                  <a:sym typeface="Montserrat Bold"/>
                </a:rPr>
                <a:t>Xây dựng bối cảnh</a:t>
              </a:r>
            </a:p>
          </p:txBody>
        </p:sp>
      </p:grpSp>
      <p:sp>
        <p:nvSpPr>
          <p:cNvPr id="36" name="TextBox 36"/>
          <p:cNvSpPr txBox="1"/>
          <p:nvPr/>
        </p:nvSpPr>
        <p:spPr>
          <a:xfrm>
            <a:off x="9189720" y="5572887"/>
            <a:ext cx="8023860" cy="981102"/>
          </a:xfrm>
          <a:prstGeom prst="rect">
            <a:avLst/>
          </a:prstGeom>
        </p:spPr>
        <p:txBody>
          <a:bodyPr lIns="0" tIns="0" rIns="0" bIns="0" rtlCol="0" anchor="t">
            <a:spAutoFit/>
          </a:bodyPr>
          <a:lstStyle/>
          <a:p>
            <a:pPr algn="just">
              <a:lnSpc>
                <a:spcPts val="2551"/>
              </a:lnSpc>
            </a:pPr>
            <a:r>
              <a:rPr lang="en-US" sz="2025">
                <a:solidFill>
                  <a:srgbClr val="1E2B25"/>
                </a:solidFill>
                <a:latin typeface="Montserrat"/>
                <a:ea typeface="Montserrat"/>
                <a:cs typeface="Montserrat"/>
                <a:sym typeface="Montserrat"/>
              </a:rPr>
              <a:t>Cung cấp lịch sử, thị trường, tiêu chuẩn của một kết quả tốt - thay vì chỉ giao nhiệm vụ trần. Bối cảnh càng giàu, kết quả AI càng chính xác.</a:t>
            </a:r>
          </a:p>
        </p:txBody>
      </p:sp>
      <p:grpSp>
        <p:nvGrpSpPr>
          <p:cNvPr id="37" name="Group 37"/>
          <p:cNvGrpSpPr/>
          <p:nvPr/>
        </p:nvGrpSpPr>
        <p:grpSpPr>
          <a:xfrm>
            <a:off x="7193756" y="7193756"/>
            <a:ext cx="10273855" cy="2140267"/>
            <a:chOff x="0" y="0"/>
            <a:chExt cx="13698474" cy="2853690"/>
          </a:xfrm>
        </p:grpSpPr>
        <p:sp>
          <p:nvSpPr>
            <p:cNvPr id="38" name="Freeform 38"/>
            <p:cNvSpPr/>
            <p:nvPr/>
          </p:nvSpPr>
          <p:spPr>
            <a:xfrm>
              <a:off x="0" y="0"/>
              <a:ext cx="13698474" cy="2853690"/>
            </a:xfrm>
            <a:custGeom>
              <a:avLst/>
              <a:gdLst/>
              <a:ahLst/>
              <a:cxnLst/>
              <a:rect l="l" t="t" r="r" b="b"/>
              <a:pathLst>
                <a:path w="13698474" h="2853690">
                  <a:moveTo>
                    <a:pt x="0" y="220980"/>
                  </a:moveTo>
                  <a:cubicBezTo>
                    <a:pt x="0" y="98933"/>
                    <a:pt x="98933" y="0"/>
                    <a:pt x="220980" y="0"/>
                  </a:cubicBezTo>
                  <a:lnTo>
                    <a:pt x="13477494" y="0"/>
                  </a:lnTo>
                  <a:cubicBezTo>
                    <a:pt x="13599540" y="0"/>
                    <a:pt x="13698474" y="98933"/>
                    <a:pt x="13698474" y="220980"/>
                  </a:cubicBezTo>
                  <a:lnTo>
                    <a:pt x="13698474" y="2632710"/>
                  </a:lnTo>
                  <a:cubicBezTo>
                    <a:pt x="13698474" y="2754757"/>
                    <a:pt x="13599540" y="2853690"/>
                    <a:pt x="13477494" y="2853690"/>
                  </a:cubicBezTo>
                  <a:lnTo>
                    <a:pt x="220980" y="2853690"/>
                  </a:lnTo>
                  <a:cubicBezTo>
                    <a:pt x="98933" y="2853690"/>
                    <a:pt x="0" y="2754757"/>
                    <a:pt x="0" y="2632710"/>
                  </a:cubicBezTo>
                  <a:close/>
                </a:path>
              </a:pathLst>
            </a:custGeom>
            <a:solidFill>
              <a:srgbClr val="FFFFFF"/>
            </a:solidFill>
            <a:ln w="14288" cap="sq">
              <a:solidFill>
                <a:srgbClr val="DCE6E0"/>
              </a:solidFill>
              <a:prstDash val="solid"/>
              <a:miter/>
            </a:ln>
          </p:spPr>
        </p:sp>
      </p:grpSp>
      <p:grpSp>
        <p:nvGrpSpPr>
          <p:cNvPr id="39" name="Group 39"/>
          <p:cNvGrpSpPr/>
          <p:nvPr/>
        </p:nvGrpSpPr>
        <p:grpSpPr>
          <a:xfrm>
            <a:off x="7602855" y="7644003"/>
            <a:ext cx="1253490" cy="1253490"/>
            <a:chOff x="0" y="0"/>
            <a:chExt cx="1671320" cy="1671320"/>
          </a:xfrm>
        </p:grpSpPr>
        <p:sp>
          <p:nvSpPr>
            <p:cNvPr id="40" name="Freeform 40"/>
            <p:cNvSpPr/>
            <p:nvPr/>
          </p:nvSpPr>
          <p:spPr>
            <a:xfrm>
              <a:off x="0" y="0"/>
              <a:ext cx="1671320" cy="1671320"/>
            </a:xfrm>
            <a:custGeom>
              <a:avLst/>
              <a:gdLst/>
              <a:ahLst/>
              <a:cxnLst/>
              <a:rect l="l" t="t" r="r" b="b"/>
              <a:pathLst>
                <a:path w="1671320" h="1671320">
                  <a:moveTo>
                    <a:pt x="0" y="835660"/>
                  </a:moveTo>
                  <a:cubicBezTo>
                    <a:pt x="0" y="374142"/>
                    <a:pt x="374142" y="0"/>
                    <a:pt x="835660" y="0"/>
                  </a:cubicBezTo>
                  <a:cubicBezTo>
                    <a:pt x="1297178" y="0"/>
                    <a:pt x="1671320" y="374142"/>
                    <a:pt x="1671320" y="835660"/>
                  </a:cubicBezTo>
                  <a:cubicBezTo>
                    <a:pt x="1671320" y="1297178"/>
                    <a:pt x="1297178" y="1671320"/>
                    <a:pt x="835660" y="1671320"/>
                  </a:cubicBezTo>
                  <a:cubicBezTo>
                    <a:pt x="374142" y="1671320"/>
                    <a:pt x="0" y="1297178"/>
                    <a:pt x="0" y="835660"/>
                  </a:cubicBezTo>
                  <a:close/>
                </a:path>
              </a:pathLst>
            </a:custGeom>
            <a:solidFill>
              <a:srgbClr val="FF7300"/>
            </a:solidFill>
            <a:ln w="19050" cap="sq">
              <a:solidFill>
                <a:srgbClr val="FF7300"/>
              </a:solidFill>
              <a:prstDash val="solid"/>
              <a:miter/>
            </a:ln>
          </p:spPr>
        </p:sp>
      </p:grpSp>
      <p:grpSp>
        <p:nvGrpSpPr>
          <p:cNvPr id="41" name="Group 41"/>
          <p:cNvGrpSpPr/>
          <p:nvPr/>
        </p:nvGrpSpPr>
        <p:grpSpPr>
          <a:xfrm>
            <a:off x="7612380" y="7653528"/>
            <a:ext cx="1234440" cy="1234440"/>
            <a:chOff x="0" y="0"/>
            <a:chExt cx="1645920" cy="1645920"/>
          </a:xfrm>
        </p:grpSpPr>
        <p:sp>
          <p:nvSpPr>
            <p:cNvPr id="42" name="Freeform 42"/>
            <p:cNvSpPr/>
            <p:nvPr/>
          </p:nvSpPr>
          <p:spPr>
            <a:xfrm>
              <a:off x="0" y="0"/>
              <a:ext cx="1645920" cy="1645920"/>
            </a:xfrm>
            <a:custGeom>
              <a:avLst/>
              <a:gdLst/>
              <a:ahLst/>
              <a:cxnLst/>
              <a:rect l="l" t="t" r="r" b="b"/>
              <a:pathLst>
                <a:path w="1645920" h="1645920">
                  <a:moveTo>
                    <a:pt x="0" y="0"/>
                  </a:moveTo>
                  <a:lnTo>
                    <a:pt x="1645920" y="0"/>
                  </a:lnTo>
                  <a:lnTo>
                    <a:pt x="1645920" y="1645920"/>
                  </a:lnTo>
                  <a:lnTo>
                    <a:pt x="0" y="1645920"/>
                  </a:lnTo>
                  <a:close/>
                </a:path>
              </a:pathLst>
            </a:custGeom>
            <a:blipFill>
              <a:blip r:embed="rId3">
                <a:alphaModFix amt="0"/>
              </a:blip>
              <a:stretch>
                <a:fillRect l="-78303" r="-78303"/>
              </a:stretch>
            </a:blipFill>
          </p:spPr>
        </p:sp>
        <p:sp>
          <p:nvSpPr>
            <p:cNvPr id="43" name="TextBox 43"/>
            <p:cNvSpPr txBox="1"/>
            <p:nvPr/>
          </p:nvSpPr>
          <p:spPr>
            <a:xfrm>
              <a:off x="0" y="0"/>
              <a:ext cx="1645920" cy="1645920"/>
            </a:xfrm>
            <a:prstGeom prst="rect">
              <a:avLst/>
            </a:prstGeom>
          </p:spPr>
          <p:txBody>
            <a:bodyPr lIns="0" tIns="0" rIns="0" bIns="0" rtlCol="0" anchor="ctr"/>
            <a:lstStyle/>
            <a:p>
              <a:pPr algn="ctr">
                <a:lnSpc>
                  <a:spcPts val="4680"/>
                </a:lnSpc>
              </a:pPr>
              <a:r>
                <a:rPr lang="en-US" sz="3900" b="1">
                  <a:solidFill>
                    <a:srgbClr val="FFFFFF"/>
                  </a:solidFill>
                  <a:latin typeface="Montserrat Bold"/>
                  <a:ea typeface="Montserrat Bold"/>
                  <a:cs typeface="Montserrat Bold"/>
                  <a:sym typeface="Montserrat Bold"/>
                </a:rPr>
                <a:t>3</a:t>
              </a:r>
            </a:p>
          </p:txBody>
        </p:sp>
      </p:grpSp>
      <p:grpSp>
        <p:nvGrpSpPr>
          <p:cNvPr id="44" name="Group 44"/>
          <p:cNvGrpSpPr/>
          <p:nvPr/>
        </p:nvGrpSpPr>
        <p:grpSpPr>
          <a:xfrm>
            <a:off x="9189720" y="7447788"/>
            <a:ext cx="7955280" cy="576072"/>
            <a:chOff x="0" y="0"/>
            <a:chExt cx="10607040" cy="768096"/>
          </a:xfrm>
        </p:grpSpPr>
        <p:sp>
          <p:nvSpPr>
            <p:cNvPr id="45" name="Freeform 45"/>
            <p:cNvSpPr/>
            <p:nvPr/>
          </p:nvSpPr>
          <p:spPr>
            <a:xfrm>
              <a:off x="0" y="0"/>
              <a:ext cx="10607040" cy="768096"/>
            </a:xfrm>
            <a:custGeom>
              <a:avLst/>
              <a:gdLst/>
              <a:ahLst/>
              <a:cxnLst/>
              <a:rect l="l" t="t" r="r" b="b"/>
              <a:pathLst>
                <a:path w="10607040" h="768096">
                  <a:moveTo>
                    <a:pt x="0" y="0"/>
                  </a:moveTo>
                  <a:lnTo>
                    <a:pt x="10607040" y="0"/>
                  </a:lnTo>
                  <a:lnTo>
                    <a:pt x="10607040" y="768096"/>
                  </a:lnTo>
                  <a:lnTo>
                    <a:pt x="0" y="768096"/>
                  </a:lnTo>
                  <a:close/>
                </a:path>
              </a:pathLst>
            </a:custGeom>
            <a:blipFill>
              <a:blip r:embed="rId3">
                <a:alphaModFix amt="0"/>
              </a:blip>
              <a:stretch>
                <a:fillRect t="-219079" b="-219079"/>
              </a:stretch>
            </a:blipFill>
          </p:spPr>
        </p:sp>
        <p:sp>
          <p:nvSpPr>
            <p:cNvPr id="46" name="TextBox 46"/>
            <p:cNvSpPr txBox="1"/>
            <p:nvPr/>
          </p:nvSpPr>
          <p:spPr>
            <a:xfrm>
              <a:off x="0" y="0"/>
              <a:ext cx="10607040" cy="768096"/>
            </a:xfrm>
            <a:prstGeom prst="rect">
              <a:avLst/>
            </a:prstGeom>
          </p:spPr>
          <p:txBody>
            <a:bodyPr lIns="0" tIns="0" rIns="0" bIns="0" rtlCol="0" anchor="ctr"/>
            <a:lstStyle/>
            <a:p>
              <a:pPr algn="l">
                <a:lnSpc>
                  <a:spcPts val="3060"/>
                </a:lnSpc>
              </a:pPr>
              <a:r>
                <a:rPr lang="en-US" sz="2550" b="1">
                  <a:solidFill>
                    <a:srgbClr val="006838"/>
                  </a:solidFill>
                  <a:latin typeface="Montserrat Bold"/>
                  <a:ea typeface="Montserrat Bold"/>
                  <a:cs typeface="Montserrat Bold"/>
                  <a:sym typeface="Montserrat Bold"/>
                </a:rPr>
                <a:t>Đánh giá kết quả</a:t>
              </a:r>
            </a:p>
          </p:txBody>
        </p:sp>
      </p:grpSp>
      <p:sp>
        <p:nvSpPr>
          <p:cNvPr id="47" name="TextBox 47"/>
          <p:cNvSpPr txBox="1"/>
          <p:nvPr/>
        </p:nvSpPr>
        <p:spPr>
          <a:xfrm>
            <a:off x="9189720" y="8041767"/>
            <a:ext cx="8023860" cy="981102"/>
          </a:xfrm>
          <a:prstGeom prst="rect">
            <a:avLst/>
          </a:prstGeom>
        </p:spPr>
        <p:txBody>
          <a:bodyPr lIns="0" tIns="0" rIns="0" bIns="0" rtlCol="0" anchor="t">
            <a:spAutoFit/>
          </a:bodyPr>
          <a:lstStyle/>
          <a:p>
            <a:pPr algn="just">
              <a:lnSpc>
                <a:spcPts val="2551"/>
              </a:lnSpc>
            </a:pPr>
            <a:r>
              <a:rPr lang="en-US" sz="2025">
                <a:solidFill>
                  <a:srgbClr val="1E2B25"/>
                </a:solidFill>
                <a:latin typeface="Montserrat"/>
                <a:ea typeface="Montserrat"/>
                <a:cs typeface="Montserrat"/>
                <a:sym typeface="Montserrat"/>
              </a:rPr>
              <a:t>Quyết định sản phẩm AI tạo ra đã đủ chính xác, hữu ích, sẵn sàng triển khai hay chưa - năng lực phán đoán cuối cùng không thể ủy thác.</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006838"/>
        </a:solidFill>
        <a:effectLst/>
      </p:bgPr>
    </p:bg>
    <p:spTree>
      <p:nvGrpSpPr>
        <p:cNvPr id="1" name=""/>
        <p:cNvGrpSpPr/>
        <p:nvPr/>
      </p:nvGrpSpPr>
      <p:grpSpPr>
        <a:xfrm>
          <a:off x="0" y="0"/>
          <a:ext cx="0" cy="0"/>
          <a:chOff x="0" y="0"/>
          <a:chExt cx="0" cy="0"/>
        </a:xfrm>
      </p:grpSpPr>
      <p:grpSp>
        <p:nvGrpSpPr>
          <p:cNvPr id="2" name="Group 2"/>
          <p:cNvGrpSpPr/>
          <p:nvPr/>
        </p:nvGrpSpPr>
        <p:grpSpPr>
          <a:xfrm>
            <a:off x="11786235" y="-9525"/>
            <a:ext cx="6510833" cy="10306050"/>
            <a:chOff x="0" y="0"/>
            <a:chExt cx="8681110" cy="13741400"/>
          </a:xfrm>
        </p:grpSpPr>
        <p:sp>
          <p:nvSpPr>
            <p:cNvPr id="3" name="Freeform 3"/>
            <p:cNvSpPr/>
            <p:nvPr/>
          </p:nvSpPr>
          <p:spPr>
            <a:xfrm>
              <a:off x="0" y="0"/>
              <a:ext cx="8681085" cy="13741400"/>
            </a:xfrm>
            <a:custGeom>
              <a:avLst/>
              <a:gdLst/>
              <a:ahLst/>
              <a:cxnLst/>
              <a:rect l="l" t="t" r="r" b="b"/>
              <a:pathLst>
                <a:path w="8681085" h="13741400">
                  <a:moveTo>
                    <a:pt x="0" y="0"/>
                  </a:moveTo>
                  <a:lnTo>
                    <a:pt x="8681085" y="0"/>
                  </a:lnTo>
                  <a:lnTo>
                    <a:pt x="8681085" y="13741400"/>
                  </a:lnTo>
                  <a:lnTo>
                    <a:pt x="0" y="13741400"/>
                  </a:lnTo>
                  <a:close/>
                </a:path>
              </a:pathLst>
            </a:custGeom>
            <a:solidFill>
              <a:srgbClr val="004A28"/>
            </a:solidFill>
            <a:ln w="19050" cap="sq">
              <a:solidFill>
                <a:srgbClr val="004A28"/>
              </a:solidFill>
              <a:prstDash val="solid"/>
              <a:miter/>
            </a:ln>
          </p:spPr>
        </p:sp>
      </p:grpSp>
      <p:grpSp>
        <p:nvGrpSpPr>
          <p:cNvPr id="4" name="Group 4"/>
          <p:cNvGrpSpPr/>
          <p:nvPr/>
        </p:nvGrpSpPr>
        <p:grpSpPr>
          <a:xfrm>
            <a:off x="960120" y="822960"/>
            <a:ext cx="1371600" cy="1028700"/>
            <a:chOff x="0" y="0"/>
            <a:chExt cx="1828800" cy="1371600"/>
          </a:xfrm>
        </p:grpSpPr>
        <p:sp>
          <p:nvSpPr>
            <p:cNvPr id="5" name="Freeform 5" descr="/tmp/claude-0/-home-claude/f2393a9e-ecac-5976-acd4-5fd24e92a8fe/scratchpad/assets/logo.jpg"/>
            <p:cNvSpPr/>
            <p:nvPr/>
          </p:nvSpPr>
          <p:spPr>
            <a:xfrm>
              <a:off x="0" y="0"/>
              <a:ext cx="1828800" cy="1371600"/>
            </a:xfrm>
            <a:custGeom>
              <a:avLst/>
              <a:gdLst/>
              <a:ahLst/>
              <a:cxnLst/>
              <a:rect l="l" t="t" r="r" b="b"/>
              <a:pathLst>
                <a:path w="1828800" h="1371600">
                  <a:moveTo>
                    <a:pt x="0" y="0"/>
                  </a:moveTo>
                  <a:lnTo>
                    <a:pt x="1828800" y="0"/>
                  </a:lnTo>
                  <a:lnTo>
                    <a:pt x="1828800" y="1371600"/>
                  </a:lnTo>
                  <a:lnTo>
                    <a:pt x="0" y="1371600"/>
                  </a:lnTo>
                  <a:lnTo>
                    <a:pt x="0" y="0"/>
                  </a:lnTo>
                  <a:close/>
                </a:path>
              </a:pathLst>
            </a:custGeom>
            <a:blipFill>
              <a:blip r:embed="rId3"/>
              <a:stretch>
                <a:fillRect/>
              </a:stretch>
            </a:blipFill>
          </p:spPr>
        </p:sp>
      </p:grpSp>
      <p:grpSp>
        <p:nvGrpSpPr>
          <p:cNvPr id="6" name="Group 6"/>
          <p:cNvGrpSpPr/>
          <p:nvPr/>
        </p:nvGrpSpPr>
        <p:grpSpPr>
          <a:xfrm>
            <a:off x="11795760" y="2606040"/>
            <a:ext cx="6491783" cy="4389120"/>
            <a:chOff x="0" y="0"/>
            <a:chExt cx="8655710" cy="5852160"/>
          </a:xfrm>
        </p:grpSpPr>
        <p:sp>
          <p:nvSpPr>
            <p:cNvPr id="7" name="Freeform 7"/>
            <p:cNvSpPr/>
            <p:nvPr/>
          </p:nvSpPr>
          <p:spPr>
            <a:xfrm>
              <a:off x="0" y="0"/>
              <a:ext cx="8655710" cy="5852160"/>
            </a:xfrm>
            <a:custGeom>
              <a:avLst/>
              <a:gdLst/>
              <a:ahLst/>
              <a:cxnLst/>
              <a:rect l="l" t="t" r="r" b="b"/>
              <a:pathLst>
                <a:path w="8655710" h="5852160">
                  <a:moveTo>
                    <a:pt x="0" y="0"/>
                  </a:moveTo>
                  <a:lnTo>
                    <a:pt x="8655710" y="0"/>
                  </a:lnTo>
                  <a:lnTo>
                    <a:pt x="8655710" y="5852160"/>
                  </a:lnTo>
                  <a:lnTo>
                    <a:pt x="0" y="5852160"/>
                  </a:lnTo>
                  <a:close/>
                </a:path>
              </a:pathLst>
            </a:custGeom>
            <a:blipFill>
              <a:blip r:embed="rId4">
                <a:alphaModFix amt="0"/>
              </a:blip>
              <a:stretch>
                <a:fillRect l="-36746" r="-36746"/>
              </a:stretch>
            </a:blipFill>
          </p:spPr>
        </p:sp>
        <p:sp>
          <p:nvSpPr>
            <p:cNvPr id="8" name="TextBox 8"/>
            <p:cNvSpPr txBox="1"/>
            <p:nvPr/>
          </p:nvSpPr>
          <p:spPr>
            <a:xfrm>
              <a:off x="0" y="-9525"/>
              <a:ext cx="8655710" cy="5861685"/>
            </a:xfrm>
            <a:prstGeom prst="rect">
              <a:avLst/>
            </a:prstGeom>
          </p:spPr>
          <p:txBody>
            <a:bodyPr lIns="0" tIns="0" rIns="0" bIns="0" rtlCol="0" anchor="ctr"/>
            <a:lstStyle/>
            <a:p>
              <a:pPr algn="ctr">
                <a:lnSpc>
                  <a:spcPts val="32400"/>
                </a:lnSpc>
              </a:pPr>
              <a:r>
                <a:rPr lang="en-US" sz="27000" b="1">
                  <a:solidFill>
                    <a:srgbClr val="FF7300"/>
                  </a:solidFill>
                  <a:latin typeface="Montserrat Bold"/>
                  <a:ea typeface="Montserrat Bold"/>
                  <a:cs typeface="Montserrat Bold"/>
                  <a:sym typeface="Montserrat Bold"/>
                </a:rPr>
                <a:t>02</a:t>
              </a:r>
            </a:p>
          </p:txBody>
        </p:sp>
      </p:grpSp>
      <p:grpSp>
        <p:nvGrpSpPr>
          <p:cNvPr id="9" name="Group 9"/>
          <p:cNvGrpSpPr/>
          <p:nvPr/>
        </p:nvGrpSpPr>
        <p:grpSpPr>
          <a:xfrm>
            <a:off x="960120" y="3291840"/>
            <a:ext cx="10287000" cy="3566160"/>
            <a:chOff x="0" y="0"/>
            <a:chExt cx="13716000" cy="4754880"/>
          </a:xfrm>
        </p:grpSpPr>
        <p:sp>
          <p:nvSpPr>
            <p:cNvPr id="10" name="Freeform 10"/>
            <p:cNvSpPr/>
            <p:nvPr/>
          </p:nvSpPr>
          <p:spPr>
            <a:xfrm>
              <a:off x="0" y="0"/>
              <a:ext cx="13716000" cy="4754880"/>
            </a:xfrm>
            <a:custGeom>
              <a:avLst/>
              <a:gdLst/>
              <a:ahLst/>
              <a:cxnLst/>
              <a:rect l="l" t="t" r="r" b="b"/>
              <a:pathLst>
                <a:path w="13716000" h="4754880">
                  <a:moveTo>
                    <a:pt x="0" y="0"/>
                  </a:moveTo>
                  <a:lnTo>
                    <a:pt x="13716000" y="0"/>
                  </a:lnTo>
                  <a:lnTo>
                    <a:pt x="13716000" y="4754880"/>
                  </a:lnTo>
                  <a:lnTo>
                    <a:pt x="0" y="4754880"/>
                  </a:lnTo>
                  <a:close/>
                </a:path>
              </a:pathLst>
            </a:custGeom>
            <a:blipFill>
              <a:blip r:embed="rId4">
                <a:alphaModFix amt="0"/>
              </a:blip>
              <a:stretch>
                <a:fillRect t="-6206" b="-6206"/>
              </a:stretch>
            </a:blipFill>
          </p:spPr>
        </p:sp>
        <p:sp>
          <p:nvSpPr>
            <p:cNvPr id="11" name="TextBox 11"/>
            <p:cNvSpPr txBox="1"/>
            <p:nvPr/>
          </p:nvSpPr>
          <p:spPr>
            <a:xfrm>
              <a:off x="0" y="0"/>
              <a:ext cx="13716000" cy="4754880"/>
            </a:xfrm>
            <a:prstGeom prst="rect">
              <a:avLst/>
            </a:prstGeom>
          </p:spPr>
          <p:txBody>
            <a:bodyPr lIns="0" tIns="0" rIns="0" bIns="0" rtlCol="0" anchor="ctr"/>
            <a:lstStyle/>
            <a:p>
              <a:pPr algn="l">
                <a:lnSpc>
                  <a:spcPts val="7200"/>
                </a:lnSpc>
              </a:pPr>
              <a:r>
                <a:rPr lang="en-US" sz="6000" b="1">
                  <a:solidFill>
                    <a:srgbClr val="FFFFFF"/>
                  </a:solidFill>
                  <a:latin typeface="Montserrat Bold"/>
                  <a:ea typeface="Montserrat Bold"/>
                  <a:cs typeface="Montserrat Bold"/>
                  <a:sym typeface="Montserrat Bold"/>
                </a:rPr>
                <a:t>NĂNG LỰC CỐT LÕI &amp;</a:t>
              </a:r>
            </a:p>
            <a:p>
              <a:pPr algn="l">
                <a:lnSpc>
                  <a:spcPts val="7200"/>
                </a:lnSpc>
              </a:pPr>
              <a:r>
                <a:rPr lang="en-US" sz="6000" b="1">
                  <a:solidFill>
                    <a:srgbClr val="FFFFFF"/>
                  </a:solidFill>
                  <a:latin typeface="Montserrat Bold"/>
                  <a:ea typeface="Montserrat Bold"/>
                  <a:cs typeface="Montserrat Bold"/>
                  <a:sym typeface="Montserrat Bold"/>
                </a:rPr>
                <a:t>CHU TRÌNH AI</a:t>
              </a:r>
            </a:p>
          </p:txBody>
        </p:sp>
      </p:gr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4"/>
          <p:cNvGrpSpPr/>
          <p:nvPr/>
        </p:nvGrpSpPr>
        <p:grpSpPr>
          <a:xfrm>
            <a:off x="822960" y="411480"/>
            <a:ext cx="15361920" cy="1371600"/>
            <a:chOff x="0" y="0"/>
            <a:chExt cx="20482560" cy="1828800"/>
          </a:xfrm>
        </p:grpSpPr>
        <p:sp>
          <p:nvSpPr>
            <p:cNvPr id="5" name="Freeform 5"/>
            <p:cNvSpPr/>
            <p:nvPr/>
          </p:nvSpPr>
          <p:spPr>
            <a:xfrm>
              <a:off x="0" y="0"/>
              <a:ext cx="20482561" cy="1828800"/>
            </a:xfrm>
            <a:custGeom>
              <a:avLst/>
              <a:gdLst/>
              <a:ahLst/>
              <a:cxnLst/>
              <a:rect l="l" t="t" r="r" b="b"/>
              <a:pathLst>
                <a:path w="20482561" h="1828800">
                  <a:moveTo>
                    <a:pt x="0" y="0"/>
                  </a:moveTo>
                  <a:lnTo>
                    <a:pt x="20482561" y="0"/>
                  </a:lnTo>
                  <a:lnTo>
                    <a:pt x="20482561" y="1828800"/>
                  </a:lnTo>
                  <a:lnTo>
                    <a:pt x="0" y="1828800"/>
                  </a:lnTo>
                  <a:close/>
                </a:path>
              </a:pathLst>
            </a:custGeom>
            <a:blipFill>
              <a:blip r:embed="rId3">
                <a:alphaModFix amt="0"/>
              </a:blip>
              <a:stretch>
                <a:fillRect t="-168232" b="-168232"/>
              </a:stretch>
            </a:blipFill>
          </p:spPr>
        </p:sp>
        <p:sp>
          <p:nvSpPr>
            <p:cNvPr id="6" name="TextBox 6"/>
            <p:cNvSpPr txBox="1"/>
            <p:nvPr/>
          </p:nvSpPr>
          <p:spPr>
            <a:xfrm>
              <a:off x="0" y="0"/>
              <a:ext cx="20482560" cy="1828800"/>
            </a:xfrm>
            <a:prstGeom prst="rect">
              <a:avLst/>
            </a:prstGeom>
          </p:spPr>
          <p:txBody>
            <a:bodyPr lIns="0" tIns="0" rIns="0" bIns="0" rtlCol="0" anchor="ctr"/>
            <a:lstStyle/>
            <a:p>
              <a:pPr algn="l">
                <a:lnSpc>
                  <a:spcPts val="4680"/>
                </a:lnSpc>
              </a:pPr>
              <a:r>
                <a:rPr lang="en-US" sz="3900" b="1">
                  <a:solidFill>
                    <a:srgbClr val="006838"/>
                  </a:solidFill>
                  <a:latin typeface="Montserrat Bold"/>
                  <a:ea typeface="Montserrat Bold"/>
                  <a:cs typeface="Montserrat Bold"/>
                  <a:sym typeface="Montserrat Bold"/>
                </a:rPr>
                <a:t>03 NĂNG LỰC AI KHÔNG THỂ THAY THẾ</a:t>
              </a:r>
            </a:p>
          </p:txBody>
        </p:sp>
      </p:grpSp>
      <p:grpSp>
        <p:nvGrpSpPr>
          <p:cNvPr id="7" name="Group 7"/>
          <p:cNvGrpSpPr/>
          <p:nvPr/>
        </p:nvGrpSpPr>
        <p:grpSpPr>
          <a:xfrm>
            <a:off x="-9525" y="5614035"/>
            <a:ext cx="18306593" cy="4682490"/>
            <a:chOff x="0" y="0"/>
            <a:chExt cx="24408790" cy="6243320"/>
          </a:xfrm>
        </p:grpSpPr>
        <p:sp>
          <p:nvSpPr>
            <p:cNvPr id="8" name="Freeform 8"/>
            <p:cNvSpPr/>
            <p:nvPr/>
          </p:nvSpPr>
          <p:spPr>
            <a:xfrm>
              <a:off x="0" y="0"/>
              <a:ext cx="24408764" cy="6243320"/>
            </a:xfrm>
            <a:custGeom>
              <a:avLst/>
              <a:gdLst/>
              <a:ahLst/>
              <a:cxnLst/>
              <a:rect l="l" t="t" r="r" b="b"/>
              <a:pathLst>
                <a:path w="24408764" h="6243320">
                  <a:moveTo>
                    <a:pt x="0" y="0"/>
                  </a:moveTo>
                  <a:lnTo>
                    <a:pt x="24408764" y="0"/>
                  </a:lnTo>
                  <a:lnTo>
                    <a:pt x="24408764" y="6243320"/>
                  </a:lnTo>
                  <a:lnTo>
                    <a:pt x="0" y="6243320"/>
                  </a:lnTo>
                  <a:close/>
                </a:path>
              </a:pathLst>
            </a:custGeom>
            <a:solidFill>
              <a:srgbClr val="E8F3ED"/>
            </a:solidFill>
            <a:ln w="19050" cap="sq">
              <a:solidFill>
                <a:srgbClr val="E8F3ED"/>
              </a:solidFill>
              <a:prstDash val="solid"/>
              <a:miter/>
            </a:ln>
          </p:spPr>
        </p:sp>
      </p:grpSp>
      <p:grpSp>
        <p:nvGrpSpPr>
          <p:cNvPr id="9" name="Group 9"/>
          <p:cNvGrpSpPr/>
          <p:nvPr/>
        </p:nvGrpSpPr>
        <p:grpSpPr>
          <a:xfrm>
            <a:off x="815816" y="2324576"/>
            <a:ext cx="5240084" cy="6735128"/>
            <a:chOff x="0" y="0"/>
            <a:chExt cx="6986778" cy="8980170"/>
          </a:xfrm>
        </p:grpSpPr>
        <p:sp>
          <p:nvSpPr>
            <p:cNvPr id="10" name="Freeform 10"/>
            <p:cNvSpPr/>
            <p:nvPr/>
          </p:nvSpPr>
          <p:spPr>
            <a:xfrm>
              <a:off x="0" y="0"/>
              <a:ext cx="6986778" cy="8980170"/>
            </a:xfrm>
            <a:custGeom>
              <a:avLst/>
              <a:gdLst/>
              <a:ahLst/>
              <a:cxnLst/>
              <a:rect l="l" t="t" r="r" b="b"/>
              <a:pathLst>
                <a:path w="6986778" h="8980170">
                  <a:moveTo>
                    <a:pt x="0" y="220091"/>
                  </a:moveTo>
                  <a:cubicBezTo>
                    <a:pt x="0" y="98552"/>
                    <a:pt x="98552" y="0"/>
                    <a:pt x="220091" y="0"/>
                  </a:cubicBezTo>
                  <a:lnTo>
                    <a:pt x="6766687" y="0"/>
                  </a:lnTo>
                  <a:cubicBezTo>
                    <a:pt x="6888226" y="0"/>
                    <a:pt x="6986778" y="98552"/>
                    <a:pt x="6986778" y="220091"/>
                  </a:cubicBezTo>
                  <a:lnTo>
                    <a:pt x="6986778" y="8760079"/>
                  </a:lnTo>
                  <a:cubicBezTo>
                    <a:pt x="6986778" y="8881618"/>
                    <a:pt x="6888226" y="8980170"/>
                    <a:pt x="6766687" y="8980170"/>
                  </a:cubicBezTo>
                  <a:lnTo>
                    <a:pt x="220091" y="8980170"/>
                  </a:lnTo>
                  <a:cubicBezTo>
                    <a:pt x="98552" y="8980170"/>
                    <a:pt x="0" y="8881618"/>
                    <a:pt x="0" y="8760079"/>
                  </a:cubicBezTo>
                  <a:close/>
                </a:path>
              </a:pathLst>
            </a:custGeom>
            <a:solidFill>
              <a:srgbClr val="FFFFFF"/>
            </a:solidFill>
            <a:ln w="14288" cap="sq">
              <a:solidFill>
                <a:srgbClr val="DCE6E0"/>
              </a:solidFill>
              <a:prstDash val="solid"/>
              <a:miter/>
            </a:ln>
          </p:spPr>
        </p:sp>
      </p:grpSp>
      <p:grpSp>
        <p:nvGrpSpPr>
          <p:cNvPr id="11" name="Group 11"/>
          <p:cNvGrpSpPr/>
          <p:nvPr/>
        </p:nvGrpSpPr>
        <p:grpSpPr>
          <a:xfrm>
            <a:off x="4655210" y="3132734"/>
            <a:ext cx="592531" cy="592531"/>
            <a:chOff x="0" y="0"/>
            <a:chExt cx="790042" cy="790042"/>
          </a:xfrm>
        </p:grpSpPr>
        <p:sp>
          <p:nvSpPr>
            <p:cNvPr id="12" name="Freeform 12" descr="preencoded.png"/>
            <p:cNvSpPr/>
            <p:nvPr/>
          </p:nvSpPr>
          <p:spPr>
            <a:xfrm>
              <a:off x="0" y="0"/>
              <a:ext cx="790067" cy="790067"/>
            </a:xfrm>
            <a:custGeom>
              <a:avLst/>
              <a:gdLst/>
              <a:ahLst/>
              <a:cxnLst/>
              <a:rect l="l" t="t" r="r" b="b"/>
              <a:pathLst>
                <a:path w="790067" h="790067">
                  <a:moveTo>
                    <a:pt x="0" y="0"/>
                  </a:moveTo>
                  <a:lnTo>
                    <a:pt x="790067" y="0"/>
                  </a:lnTo>
                  <a:lnTo>
                    <a:pt x="790067" y="790067"/>
                  </a:lnTo>
                  <a:lnTo>
                    <a:pt x="0" y="790067"/>
                  </a:lnTo>
                  <a:lnTo>
                    <a:pt x="0" y="0"/>
                  </a:lnTo>
                  <a:close/>
                </a:path>
              </a:pathLst>
            </a:custGeom>
            <a:blipFill>
              <a:blip r:embed="rId4"/>
              <a:stretch>
                <a:fillRect r="3" b="3"/>
              </a:stretch>
            </a:blipFill>
          </p:spPr>
        </p:sp>
      </p:grpSp>
      <p:grpSp>
        <p:nvGrpSpPr>
          <p:cNvPr id="13" name="Group 13"/>
          <p:cNvGrpSpPr/>
          <p:nvPr/>
        </p:nvGrpSpPr>
        <p:grpSpPr>
          <a:xfrm>
            <a:off x="6521672" y="2324576"/>
            <a:ext cx="5240084" cy="6735128"/>
            <a:chOff x="0" y="0"/>
            <a:chExt cx="6986778" cy="8980170"/>
          </a:xfrm>
        </p:grpSpPr>
        <p:sp>
          <p:nvSpPr>
            <p:cNvPr id="14" name="Freeform 14"/>
            <p:cNvSpPr/>
            <p:nvPr/>
          </p:nvSpPr>
          <p:spPr>
            <a:xfrm>
              <a:off x="0" y="0"/>
              <a:ext cx="6986778" cy="8980170"/>
            </a:xfrm>
            <a:custGeom>
              <a:avLst/>
              <a:gdLst/>
              <a:ahLst/>
              <a:cxnLst/>
              <a:rect l="l" t="t" r="r" b="b"/>
              <a:pathLst>
                <a:path w="6986778" h="8980170">
                  <a:moveTo>
                    <a:pt x="0" y="220091"/>
                  </a:moveTo>
                  <a:cubicBezTo>
                    <a:pt x="0" y="98552"/>
                    <a:pt x="98552" y="0"/>
                    <a:pt x="220091" y="0"/>
                  </a:cubicBezTo>
                  <a:lnTo>
                    <a:pt x="6766687" y="0"/>
                  </a:lnTo>
                  <a:cubicBezTo>
                    <a:pt x="6888226" y="0"/>
                    <a:pt x="6986778" y="98552"/>
                    <a:pt x="6986778" y="220091"/>
                  </a:cubicBezTo>
                  <a:lnTo>
                    <a:pt x="6986778" y="8760079"/>
                  </a:lnTo>
                  <a:cubicBezTo>
                    <a:pt x="6986778" y="8881618"/>
                    <a:pt x="6888226" y="8980170"/>
                    <a:pt x="6766687" y="8980170"/>
                  </a:cubicBezTo>
                  <a:lnTo>
                    <a:pt x="220091" y="8980170"/>
                  </a:lnTo>
                  <a:cubicBezTo>
                    <a:pt x="98552" y="8980170"/>
                    <a:pt x="0" y="8881618"/>
                    <a:pt x="0" y="8760079"/>
                  </a:cubicBezTo>
                  <a:close/>
                </a:path>
              </a:pathLst>
            </a:custGeom>
            <a:solidFill>
              <a:srgbClr val="FFFFFF"/>
            </a:solidFill>
            <a:ln w="14288" cap="sq">
              <a:solidFill>
                <a:srgbClr val="DCE6E0"/>
              </a:solidFill>
              <a:prstDash val="solid"/>
              <a:miter/>
            </a:ln>
          </p:spPr>
        </p:sp>
      </p:grpSp>
      <p:grpSp>
        <p:nvGrpSpPr>
          <p:cNvPr id="15" name="Group 15"/>
          <p:cNvGrpSpPr/>
          <p:nvPr/>
        </p:nvGrpSpPr>
        <p:grpSpPr>
          <a:xfrm>
            <a:off x="10361066" y="3132734"/>
            <a:ext cx="592531" cy="592531"/>
            <a:chOff x="0" y="0"/>
            <a:chExt cx="790042" cy="790042"/>
          </a:xfrm>
        </p:grpSpPr>
        <p:sp>
          <p:nvSpPr>
            <p:cNvPr id="16" name="Freeform 16" descr="preencoded.png"/>
            <p:cNvSpPr/>
            <p:nvPr/>
          </p:nvSpPr>
          <p:spPr>
            <a:xfrm>
              <a:off x="0" y="0"/>
              <a:ext cx="790067" cy="790067"/>
            </a:xfrm>
            <a:custGeom>
              <a:avLst/>
              <a:gdLst/>
              <a:ahLst/>
              <a:cxnLst/>
              <a:rect l="l" t="t" r="r" b="b"/>
              <a:pathLst>
                <a:path w="790067" h="790067">
                  <a:moveTo>
                    <a:pt x="0" y="0"/>
                  </a:moveTo>
                  <a:lnTo>
                    <a:pt x="790067" y="0"/>
                  </a:lnTo>
                  <a:lnTo>
                    <a:pt x="790067" y="790067"/>
                  </a:lnTo>
                  <a:lnTo>
                    <a:pt x="0" y="790067"/>
                  </a:lnTo>
                  <a:lnTo>
                    <a:pt x="0" y="0"/>
                  </a:lnTo>
                  <a:close/>
                </a:path>
              </a:pathLst>
            </a:custGeom>
            <a:blipFill>
              <a:blip r:embed="rId5"/>
              <a:stretch>
                <a:fillRect r="3" b="3"/>
              </a:stretch>
            </a:blipFill>
          </p:spPr>
        </p:sp>
      </p:grpSp>
      <p:grpSp>
        <p:nvGrpSpPr>
          <p:cNvPr id="17" name="Group 17"/>
          <p:cNvGrpSpPr/>
          <p:nvPr/>
        </p:nvGrpSpPr>
        <p:grpSpPr>
          <a:xfrm>
            <a:off x="12227528" y="2324576"/>
            <a:ext cx="5240084" cy="6735128"/>
            <a:chOff x="0" y="0"/>
            <a:chExt cx="6986778" cy="8980170"/>
          </a:xfrm>
        </p:grpSpPr>
        <p:sp>
          <p:nvSpPr>
            <p:cNvPr id="18" name="Freeform 18"/>
            <p:cNvSpPr/>
            <p:nvPr/>
          </p:nvSpPr>
          <p:spPr>
            <a:xfrm>
              <a:off x="0" y="0"/>
              <a:ext cx="6986778" cy="8980170"/>
            </a:xfrm>
            <a:custGeom>
              <a:avLst/>
              <a:gdLst/>
              <a:ahLst/>
              <a:cxnLst/>
              <a:rect l="l" t="t" r="r" b="b"/>
              <a:pathLst>
                <a:path w="6986778" h="8980170">
                  <a:moveTo>
                    <a:pt x="0" y="220091"/>
                  </a:moveTo>
                  <a:cubicBezTo>
                    <a:pt x="0" y="98552"/>
                    <a:pt x="98552" y="0"/>
                    <a:pt x="220091" y="0"/>
                  </a:cubicBezTo>
                  <a:lnTo>
                    <a:pt x="6766687" y="0"/>
                  </a:lnTo>
                  <a:cubicBezTo>
                    <a:pt x="6888226" y="0"/>
                    <a:pt x="6986778" y="98552"/>
                    <a:pt x="6986778" y="220091"/>
                  </a:cubicBezTo>
                  <a:lnTo>
                    <a:pt x="6986778" y="8760079"/>
                  </a:lnTo>
                  <a:cubicBezTo>
                    <a:pt x="6986778" y="8881618"/>
                    <a:pt x="6888226" y="8980170"/>
                    <a:pt x="6766687" y="8980170"/>
                  </a:cubicBezTo>
                  <a:lnTo>
                    <a:pt x="220091" y="8980170"/>
                  </a:lnTo>
                  <a:cubicBezTo>
                    <a:pt x="98552" y="8980170"/>
                    <a:pt x="0" y="8881618"/>
                    <a:pt x="0" y="8760079"/>
                  </a:cubicBezTo>
                  <a:close/>
                </a:path>
              </a:pathLst>
            </a:custGeom>
            <a:solidFill>
              <a:srgbClr val="FFFFFF"/>
            </a:solidFill>
            <a:ln w="14288" cap="sq">
              <a:solidFill>
                <a:srgbClr val="DCE6E0"/>
              </a:solidFill>
              <a:prstDash val="solid"/>
              <a:miter/>
            </a:ln>
          </p:spPr>
        </p:sp>
      </p:grpSp>
      <p:grpSp>
        <p:nvGrpSpPr>
          <p:cNvPr id="19" name="Group 19"/>
          <p:cNvGrpSpPr/>
          <p:nvPr/>
        </p:nvGrpSpPr>
        <p:grpSpPr>
          <a:xfrm>
            <a:off x="934542" y="2785751"/>
            <a:ext cx="4964533" cy="2592404"/>
            <a:chOff x="0" y="0"/>
            <a:chExt cx="1489084" cy="777577"/>
          </a:xfrm>
        </p:grpSpPr>
        <p:sp>
          <p:nvSpPr>
            <p:cNvPr id="20" name="Freeform 20"/>
            <p:cNvSpPr/>
            <p:nvPr/>
          </p:nvSpPr>
          <p:spPr>
            <a:xfrm>
              <a:off x="0" y="0"/>
              <a:ext cx="1489084" cy="777577"/>
            </a:xfrm>
            <a:custGeom>
              <a:avLst/>
              <a:gdLst/>
              <a:ahLst/>
              <a:cxnLst/>
              <a:rect l="l" t="t" r="r" b="b"/>
              <a:pathLst>
                <a:path w="1489084" h="777577">
                  <a:moveTo>
                    <a:pt x="35867" y="0"/>
                  </a:moveTo>
                  <a:lnTo>
                    <a:pt x="1453216" y="0"/>
                  </a:lnTo>
                  <a:cubicBezTo>
                    <a:pt x="1462729" y="0"/>
                    <a:pt x="1471852" y="3779"/>
                    <a:pt x="1478578" y="10505"/>
                  </a:cubicBezTo>
                  <a:cubicBezTo>
                    <a:pt x="1485305" y="17232"/>
                    <a:pt x="1489084" y="26355"/>
                    <a:pt x="1489084" y="35867"/>
                  </a:cubicBezTo>
                  <a:lnTo>
                    <a:pt x="1489084" y="741710"/>
                  </a:lnTo>
                  <a:cubicBezTo>
                    <a:pt x="1489084" y="751222"/>
                    <a:pt x="1485305" y="760345"/>
                    <a:pt x="1478578" y="767072"/>
                  </a:cubicBezTo>
                  <a:cubicBezTo>
                    <a:pt x="1471852" y="773798"/>
                    <a:pt x="1462729" y="777577"/>
                    <a:pt x="1453216" y="777577"/>
                  </a:cubicBezTo>
                  <a:lnTo>
                    <a:pt x="35867" y="777577"/>
                  </a:lnTo>
                  <a:cubicBezTo>
                    <a:pt x="26355" y="777577"/>
                    <a:pt x="17232" y="773798"/>
                    <a:pt x="10505" y="767072"/>
                  </a:cubicBezTo>
                  <a:cubicBezTo>
                    <a:pt x="3779" y="760345"/>
                    <a:pt x="0" y="751222"/>
                    <a:pt x="0" y="741710"/>
                  </a:cubicBezTo>
                  <a:lnTo>
                    <a:pt x="0" y="35867"/>
                  </a:lnTo>
                  <a:cubicBezTo>
                    <a:pt x="0" y="26355"/>
                    <a:pt x="3779" y="17232"/>
                    <a:pt x="10505" y="10505"/>
                  </a:cubicBezTo>
                  <a:cubicBezTo>
                    <a:pt x="17232" y="3779"/>
                    <a:pt x="26355" y="0"/>
                    <a:pt x="35867" y="0"/>
                  </a:cubicBezTo>
                  <a:close/>
                </a:path>
              </a:pathLst>
            </a:custGeom>
            <a:blipFill>
              <a:blip r:embed="rId6"/>
              <a:stretch>
                <a:fillRect l="-8020" r="-8020"/>
              </a:stretch>
            </a:blipFill>
          </p:spPr>
        </p:sp>
      </p:grpSp>
      <p:grpSp>
        <p:nvGrpSpPr>
          <p:cNvPr id="21" name="Group 21"/>
          <p:cNvGrpSpPr/>
          <p:nvPr/>
        </p:nvGrpSpPr>
        <p:grpSpPr>
          <a:xfrm>
            <a:off x="6659448" y="2785751"/>
            <a:ext cx="4964533" cy="2592404"/>
            <a:chOff x="0" y="0"/>
            <a:chExt cx="1489084" cy="777577"/>
          </a:xfrm>
        </p:grpSpPr>
        <p:sp>
          <p:nvSpPr>
            <p:cNvPr id="22" name="Freeform 22"/>
            <p:cNvSpPr/>
            <p:nvPr/>
          </p:nvSpPr>
          <p:spPr>
            <a:xfrm>
              <a:off x="0" y="0"/>
              <a:ext cx="1489084" cy="777577"/>
            </a:xfrm>
            <a:custGeom>
              <a:avLst/>
              <a:gdLst/>
              <a:ahLst/>
              <a:cxnLst/>
              <a:rect l="l" t="t" r="r" b="b"/>
              <a:pathLst>
                <a:path w="1489084" h="777577">
                  <a:moveTo>
                    <a:pt x="35867" y="0"/>
                  </a:moveTo>
                  <a:lnTo>
                    <a:pt x="1453216" y="0"/>
                  </a:lnTo>
                  <a:cubicBezTo>
                    <a:pt x="1462729" y="0"/>
                    <a:pt x="1471852" y="3779"/>
                    <a:pt x="1478578" y="10505"/>
                  </a:cubicBezTo>
                  <a:cubicBezTo>
                    <a:pt x="1485305" y="17232"/>
                    <a:pt x="1489084" y="26355"/>
                    <a:pt x="1489084" y="35867"/>
                  </a:cubicBezTo>
                  <a:lnTo>
                    <a:pt x="1489084" y="741710"/>
                  </a:lnTo>
                  <a:cubicBezTo>
                    <a:pt x="1489084" y="751222"/>
                    <a:pt x="1485305" y="760345"/>
                    <a:pt x="1478578" y="767072"/>
                  </a:cubicBezTo>
                  <a:cubicBezTo>
                    <a:pt x="1471852" y="773798"/>
                    <a:pt x="1462729" y="777577"/>
                    <a:pt x="1453216" y="777577"/>
                  </a:cubicBezTo>
                  <a:lnTo>
                    <a:pt x="35867" y="777577"/>
                  </a:lnTo>
                  <a:cubicBezTo>
                    <a:pt x="26355" y="777577"/>
                    <a:pt x="17232" y="773798"/>
                    <a:pt x="10505" y="767072"/>
                  </a:cubicBezTo>
                  <a:cubicBezTo>
                    <a:pt x="3779" y="760345"/>
                    <a:pt x="0" y="751222"/>
                    <a:pt x="0" y="741710"/>
                  </a:cubicBezTo>
                  <a:lnTo>
                    <a:pt x="0" y="35867"/>
                  </a:lnTo>
                  <a:cubicBezTo>
                    <a:pt x="0" y="26355"/>
                    <a:pt x="3779" y="17232"/>
                    <a:pt x="10505" y="10505"/>
                  </a:cubicBezTo>
                  <a:cubicBezTo>
                    <a:pt x="17232" y="3779"/>
                    <a:pt x="26355" y="0"/>
                    <a:pt x="35867" y="0"/>
                  </a:cubicBezTo>
                  <a:close/>
                </a:path>
              </a:pathLst>
            </a:custGeom>
            <a:blipFill>
              <a:blip r:embed="rId7"/>
              <a:stretch>
                <a:fillRect t="-13674" b="-13674"/>
              </a:stretch>
            </a:blipFill>
          </p:spPr>
        </p:sp>
      </p:grpSp>
      <p:grpSp>
        <p:nvGrpSpPr>
          <p:cNvPr id="23" name="Group 23"/>
          <p:cNvGrpSpPr/>
          <p:nvPr/>
        </p:nvGrpSpPr>
        <p:grpSpPr>
          <a:xfrm>
            <a:off x="12361831" y="2785751"/>
            <a:ext cx="4964533" cy="2592404"/>
            <a:chOff x="0" y="0"/>
            <a:chExt cx="1489084" cy="777577"/>
          </a:xfrm>
        </p:grpSpPr>
        <p:sp>
          <p:nvSpPr>
            <p:cNvPr id="24" name="Freeform 24"/>
            <p:cNvSpPr/>
            <p:nvPr/>
          </p:nvSpPr>
          <p:spPr>
            <a:xfrm>
              <a:off x="0" y="0"/>
              <a:ext cx="1489084" cy="777577"/>
            </a:xfrm>
            <a:custGeom>
              <a:avLst/>
              <a:gdLst/>
              <a:ahLst/>
              <a:cxnLst/>
              <a:rect l="l" t="t" r="r" b="b"/>
              <a:pathLst>
                <a:path w="1489084" h="777577">
                  <a:moveTo>
                    <a:pt x="35867" y="0"/>
                  </a:moveTo>
                  <a:lnTo>
                    <a:pt x="1453216" y="0"/>
                  </a:lnTo>
                  <a:cubicBezTo>
                    <a:pt x="1462729" y="0"/>
                    <a:pt x="1471852" y="3779"/>
                    <a:pt x="1478578" y="10505"/>
                  </a:cubicBezTo>
                  <a:cubicBezTo>
                    <a:pt x="1485305" y="17232"/>
                    <a:pt x="1489084" y="26355"/>
                    <a:pt x="1489084" y="35867"/>
                  </a:cubicBezTo>
                  <a:lnTo>
                    <a:pt x="1489084" y="741710"/>
                  </a:lnTo>
                  <a:cubicBezTo>
                    <a:pt x="1489084" y="751222"/>
                    <a:pt x="1485305" y="760345"/>
                    <a:pt x="1478578" y="767072"/>
                  </a:cubicBezTo>
                  <a:cubicBezTo>
                    <a:pt x="1471852" y="773798"/>
                    <a:pt x="1462729" y="777577"/>
                    <a:pt x="1453216" y="777577"/>
                  </a:cubicBezTo>
                  <a:lnTo>
                    <a:pt x="35867" y="777577"/>
                  </a:lnTo>
                  <a:cubicBezTo>
                    <a:pt x="26355" y="777577"/>
                    <a:pt x="17232" y="773798"/>
                    <a:pt x="10505" y="767072"/>
                  </a:cubicBezTo>
                  <a:cubicBezTo>
                    <a:pt x="3779" y="760345"/>
                    <a:pt x="0" y="751222"/>
                    <a:pt x="0" y="741710"/>
                  </a:cubicBezTo>
                  <a:lnTo>
                    <a:pt x="0" y="35867"/>
                  </a:lnTo>
                  <a:cubicBezTo>
                    <a:pt x="0" y="26355"/>
                    <a:pt x="3779" y="17232"/>
                    <a:pt x="10505" y="10505"/>
                  </a:cubicBezTo>
                  <a:cubicBezTo>
                    <a:pt x="17232" y="3779"/>
                    <a:pt x="26355" y="0"/>
                    <a:pt x="35867" y="0"/>
                  </a:cubicBezTo>
                  <a:close/>
                </a:path>
              </a:pathLst>
            </a:custGeom>
            <a:blipFill>
              <a:blip r:embed="rId8"/>
              <a:stretch>
                <a:fillRect t="-13674" b="-13674"/>
              </a:stretch>
            </a:blipFill>
          </p:spPr>
        </p:sp>
      </p:grpSp>
      <p:sp>
        <p:nvSpPr>
          <p:cNvPr id="25" name="TextBox 25"/>
          <p:cNvSpPr txBox="1"/>
          <p:nvPr/>
        </p:nvSpPr>
        <p:spPr>
          <a:xfrm>
            <a:off x="1241298" y="1783080"/>
            <a:ext cx="2194560" cy="1371600"/>
          </a:xfrm>
          <a:prstGeom prst="rect">
            <a:avLst/>
          </a:prstGeom>
        </p:spPr>
        <p:txBody>
          <a:bodyPr lIns="0" tIns="0" rIns="0" bIns="0" rtlCol="0" anchor="t">
            <a:spAutoFit/>
          </a:bodyPr>
          <a:lstStyle/>
          <a:p>
            <a:pPr algn="l">
              <a:lnSpc>
                <a:spcPts val="8640"/>
              </a:lnSpc>
            </a:pPr>
            <a:r>
              <a:rPr lang="en-US" sz="7200" b="1">
                <a:solidFill>
                  <a:srgbClr val="FF7300"/>
                </a:solidFill>
                <a:latin typeface="Montserrat Bold"/>
                <a:ea typeface="Montserrat Bold"/>
                <a:cs typeface="Montserrat Bold"/>
                <a:sym typeface="Montserrat Bold"/>
              </a:rPr>
              <a:t>01</a:t>
            </a:r>
          </a:p>
        </p:txBody>
      </p:sp>
      <p:sp>
        <p:nvSpPr>
          <p:cNvPr id="26" name="TextBox 26"/>
          <p:cNvSpPr txBox="1"/>
          <p:nvPr/>
        </p:nvSpPr>
        <p:spPr>
          <a:xfrm>
            <a:off x="1303020" y="5600700"/>
            <a:ext cx="4265676" cy="1371600"/>
          </a:xfrm>
          <a:prstGeom prst="rect">
            <a:avLst/>
          </a:prstGeom>
        </p:spPr>
        <p:txBody>
          <a:bodyPr lIns="0" tIns="0" rIns="0" bIns="0" rtlCol="0" anchor="t">
            <a:spAutoFit/>
          </a:bodyPr>
          <a:lstStyle/>
          <a:p>
            <a:pPr algn="l">
              <a:lnSpc>
                <a:spcPts val="3960"/>
              </a:lnSpc>
            </a:pPr>
            <a:r>
              <a:rPr lang="en-US" sz="3300" b="1">
                <a:solidFill>
                  <a:srgbClr val="006838"/>
                </a:solidFill>
                <a:latin typeface="Montserrat Bold"/>
                <a:ea typeface="Montserrat Bold"/>
                <a:cs typeface="Montserrat Bold"/>
                <a:sym typeface="Montserrat Bold"/>
              </a:rPr>
              <a:t>Tư duy phản biện </a:t>
            </a:r>
          </a:p>
          <a:p>
            <a:pPr algn="l">
              <a:lnSpc>
                <a:spcPts val="2520"/>
              </a:lnSpc>
            </a:pPr>
            <a:r>
              <a:rPr lang="en-US" sz="2100">
                <a:solidFill>
                  <a:srgbClr val="5A6A62"/>
                </a:solidFill>
                <a:latin typeface="Montserrat"/>
                <a:ea typeface="Montserrat"/>
                <a:cs typeface="Montserrat"/>
                <a:sym typeface="Montserrat"/>
              </a:rPr>
              <a:t>(Critical Thinking)</a:t>
            </a:r>
          </a:p>
        </p:txBody>
      </p:sp>
      <p:sp>
        <p:nvSpPr>
          <p:cNvPr id="27" name="TextBox 27"/>
          <p:cNvSpPr txBox="1"/>
          <p:nvPr/>
        </p:nvSpPr>
        <p:spPr>
          <a:xfrm>
            <a:off x="1303020" y="7258050"/>
            <a:ext cx="4265676" cy="960776"/>
          </a:xfrm>
          <a:prstGeom prst="rect">
            <a:avLst/>
          </a:prstGeom>
        </p:spPr>
        <p:txBody>
          <a:bodyPr lIns="0" tIns="0" rIns="0" bIns="0" rtlCol="0" anchor="t">
            <a:spAutoFit/>
          </a:bodyPr>
          <a:lstStyle/>
          <a:p>
            <a:pPr algn="just">
              <a:lnSpc>
                <a:spcPts val="3887"/>
              </a:lnSpc>
            </a:pPr>
            <a:r>
              <a:rPr lang="en-US" sz="2700">
                <a:solidFill>
                  <a:srgbClr val="1E2B25"/>
                </a:solidFill>
                <a:latin typeface="Montserrat"/>
                <a:ea typeface="Montserrat"/>
                <a:cs typeface="Montserrat"/>
                <a:sym typeface="Montserrat"/>
              </a:rPr>
              <a:t>Đặt đúng câu hỏi và thẩm định câu trả lời.</a:t>
            </a:r>
          </a:p>
        </p:txBody>
      </p:sp>
      <p:sp>
        <p:nvSpPr>
          <p:cNvPr id="28" name="TextBox 28"/>
          <p:cNvSpPr txBox="1"/>
          <p:nvPr/>
        </p:nvSpPr>
        <p:spPr>
          <a:xfrm>
            <a:off x="6947154" y="1783080"/>
            <a:ext cx="2194560" cy="1371600"/>
          </a:xfrm>
          <a:prstGeom prst="rect">
            <a:avLst/>
          </a:prstGeom>
        </p:spPr>
        <p:txBody>
          <a:bodyPr lIns="0" tIns="0" rIns="0" bIns="0" rtlCol="0" anchor="t">
            <a:spAutoFit/>
          </a:bodyPr>
          <a:lstStyle/>
          <a:p>
            <a:pPr algn="l">
              <a:lnSpc>
                <a:spcPts val="8640"/>
              </a:lnSpc>
            </a:pPr>
            <a:r>
              <a:rPr lang="en-US" sz="7200" b="1">
                <a:solidFill>
                  <a:srgbClr val="FF7300"/>
                </a:solidFill>
                <a:latin typeface="Montserrat Bold"/>
                <a:ea typeface="Montserrat Bold"/>
                <a:cs typeface="Montserrat Bold"/>
                <a:sym typeface="Montserrat Bold"/>
              </a:rPr>
              <a:t>02</a:t>
            </a:r>
          </a:p>
        </p:txBody>
      </p:sp>
      <p:sp>
        <p:nvSpPr>
          <p:cNvPr id="29" name="TextBox 29"/>
          <p:cNvSpPr txBox="1"/>
          <p:nvPr/>
        </p:nvSpPr>
        <p:spPr>
          <a:xfrm>
            <a:off x="7008876" y="5600700"/>
            <a:ext cx="4265676" cy="1371600"/>
          </a:xfrm>
          <a:prstGeom prst="rect">
            <a:avLst/>
          </a:prstGeom>
        </p:spPr>
        <p:txBody>
          <a:bodyPr lIns="0" tIns="0" rIns="0" bIns="0" rtlCol="0" anchor="t">
            <a:spAutoFit/>
          </a:bodyPr>
          <a:lstStyle/>
          <a:p>
            <a:pPr algn="l">
              <a:lnSpc>
                <a:spcPts val="3960"/>
              </a:lnSpc>
            </a:pPr>
            <a:r>
              <a:rPr lang="en-US" sz="3300" b="1">
                <a:solidFill>
                  <a:srgbClr val="006838"/>
                </a:solidFill>
                <a:latin typeface="Montserrat Bold"/>
                <a:ea typeface="Montserrat Bold"/>
                <a:cs typeface="Montserrat Bold"/>
                <a:sym typeface="Montserrat Bold"/>
              </a:rPr>
              <a:t>Trí tuệ cảm xúc </a:t>
            </a:r>
          </a:p>
          <a:p>
            <a:pPr algn="l">
              <a:lnSpc>
                <a:spcPts val="2520"/>
              </a:lnSpc>
            </a:pPr>
            <a:r>
              <a:rPr lang="en-US" sz="2100">
                <a:solidFill>
                  <a:srgbClr val="5A6A62"/>
                </a:solidFill>
                <a:latin typeface="Montserrat"/>
                <a:ea typeface="Montserrat"/>
                <a:cs typeface="Montserrat"/>
                <a:sym typeface="Montserrat"/>
              </a:rPr>
              <a:t>(Empathy)</a:t>
            </a:r>
          </a:p>
        </p:txBody>
      </p:sp>
      <p:sp>
        <p:nvSpPr>
          <p:cNvPr id="30" name="TextBox 30"/>
          <p:cNvSpPr txBox="1"/>
          <p:nvPr/>
        </p:nvSpPr>
        <p:spPr>
          <a:xfrm>
            <a:off x="7008876" y="7258050"/>
            <a:ext cx="4265676" cy="1460913"/>
          </a:xfrm>
          <a:prstGeom prst="rect">
            <a:avLst/>
          </a:prstGeom>
        </p:spPr>
        <p:txBody>
          <a:bodyPr lIns="0" tIns="0" rIns="0" bIns="0" rtlCol="0" anchor="t">
            <a:spAutoFit/>
          </a:bodyPr>
          <a:lstStyle/>
          <a:p>
            <a:pPr algn="just">
              <a:lnSpc>
                <a:spcPts val="3887"/>
              </a:lnSpc>
            </a:pPr>
            <a:r>
              <a:rPr lang="en-US" sz="2700">
                <a:solidFill>
                  <a:srgbClr val="1E2B25"/>
                </a:solidFill>
                <a:latin typeface="Montserrat"/>
                <a:ea typeface="Montserrat"/>
                <a:cs typeface="Montserrat"/>
                <a:sym typeface="Montserrat"/>
              </a:rPr>
              <a:t>Kết nối con người, đàm phán và thấu cảm khách hàng.</a:t>
            </a:r>
          </a:p>
        </p:txBody>
      </p:sp>
      <p:sp>
        <p:nvSpPr>
          <p:cNvPr id="31" name="TextBox 31"/>
          <p:cNvSpPr txBox="1"/>
          <p:nvPr/>
        </p:nvSpPr>
        <p:spPr>
          <a:xfrm>
            <a:off x="12653010" y="1783080"/>
            <a:ext cx="2194560" cy="1371600"/>
          </a:xfrm>
          <a:prstGeom prst="rect">
            <a:avLst/>
          </a:prstGeom>
        </p:spPr>
        <p:txBody>
          <a:bodyPr lIns="0" tIns="0" rIns="0" bIns="0" rtlCol="0" anchor="t">
            <a:spAutoFit/>
          </a:bodyPr>
          <a:lstStyle/>
          <a:p>
            <a:pPr algn="l">
              <a:lnSpc>
                <a:spcPts val="8640"/>
              </a:lnSpc>
            </a:pPr>
            <a:r>
              <a:rPr lang="en-US" sz="7200" b="1">
                <a:solidFill>
                  <a:srgbClr val="FF7300"/>
                </a:solidFill>
                <a:latin typeface="Montserrat Bold"/>
                <a:ea typeface="Montserrat Bold"/>
                <a:cs typeface="Montserrat Bold"/>
                <a:sym typeface="Montserrat Bold"/>
              </a:rPr>
              <a:t>03</a:t>
            </a:r>
          </a:p>
        </p:txBody>
      </p:sp>
      <p:sp>
        <p:nvSpPr>
          <p:cNvPr id="32" name="TextBox 32"/>
          <p:cNvSpPr txBox="1"/>
          <p:nvPr/>
        </p:nvSpPr>
        <p:spPr>
          <a:xfrm>
            <a:off x="12714732" y="5614035"/>
            <a:ext cx="4265676" cy="1371600"/>
          </a:xfrm>
          <a:prstGeom prst="rect">
            <a:avLst/>
          </a:prstGeom>
        </p:spPr>
        <p:txBody>
          <a:bodyPr lIns="0" tIns="0" rIns="0" bIns="0" rtlCol="0" anchor="t">
            <a:spAutoFit/>
          </a:bodyPr>
          <a:lstStyle/>
          <a:p>
            <a:pPr algn="l">
              <a:lnSpc>
                <a:spcPts val="3960"/>
              </a:lnSpc>
            </a:pPr>
            <a:r>
              <a:rPr lang="en-US" sz="3300" b="1">
                <a:solidFill>
                  <a:srgbClr val="006838"/>
                </a:solidFill>
                <a:latin typeface="Montserrat Bold"/>
                <a:ea typeface="Montserrat Bold"/>
                <a:cs typeface="Montserrat Bold"/>
                <a:sym typeface="Montserrat Bold"/>
              </a:rPr>
              <a:t>Đánh giá chiến lược </a:t>
            </a:r>
          </a:p>
          <a:p>
            <a:pPr algn="l">
              <a:lnSpc>
                <a:spcPts val="2520"/>
              </a:lnSpc>
            </a:pPr>
            <a:r>
              <a:rPr lang="en-US" sz="2100">
                <a:solidFill>
                  <a:srgbClr val="5A6A62"/>
                </a:solidFill>
                <a:latin typeface="Montserrat"/>
                <a:ea typeface="Montserrat"/>
                <a:cs typeface="Montserrat"/>
                <a:sym typeface="Montserrat"/>
              </a:rPr>
              <a:t>(Strategic Judgement)</a:t>
            </a:r>
          </a:p>
        </p:txBody>
      </p:sp>
      <p:sp>
        <p:nvSpPr>
          <p:cNvPr id="33" name="TextBox 33"/>
          <p:cNvSpPr txBox="1"/>
          <p:nvPr/>
        </p:nvSpPr>
        <p:spPr>
          <a:xfrm>
            <a:off x="12714732" y="7271385"/>
            <a:ext cx="4265676" cy="1460913"/>
          </a:xfrm>
          <a:prstGeom prst="rect">
            <a:avLst/>
          </a:prstGeom>
        </p:spPr>
        <p:txBody>
          <a:bodyPr lIns="0" tIns="0" rIns="0" bIns="0" rtlCol="0" anchor="t">
            <a:spAutoFit/>
          </a:bodyPr>
          <a:lstStyle/>
          <a:p>
            <a:pPr algn="just">
              <a:lnSpc>
                <a:spcPts val="3887"/>
              </a:lnSpc>
            </a:pPr>
            <a:r>
              <a:rPr lang="en-US" sz="2700">
                <a:solidFill>
                  <a:srgbClr val="1E2B25"/>
                </a:solidFill>
                <a:latin typeface="Montserrat"/>
                <a:ea typeface="Montserrat"/>
                <a:cs typeface="Montserrat"/>
                <a:sym typeface="Montserrat"/>
              </a:rPr>
              <a:t>Ra quyết định trong môi trường thiếu dữ liệu hoặc rủi ro cao.</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4"/>
          <p:cNvGrpSpPr/>
          <p:nvPr/>
        </p:nvGrpSpPr>
        <p:grpSpPr>
          <a:xfrm>
            <a:off x="822960" y="411480"/>
            <a:ext cx="15361920" cy="1371600"/>
            <a:chOff x="0" y="0"/>
            <a:chExt cx="20482560" cy="1828800"/>
          </a:xfrm>
        </p:grpSpPr>
        <p:sp>
          <p:nvSpPr>
            <p:cNvPr id="5" name="Freeform 5"/>
            <p:cNvSpPr/>
            <p:nvPr/>
          </p:nvSpPr>
          <p:spPr>
            <a:xfrm>
              <a:off x="0" y="0"/>
              <a:ext cx="20482561" cy="1828800"/>
            </a:xfrm>
            <a:custGeom>
              <a:avLst/>
              <a:gdLst/>
              <a:ahLst/>
              <a:cxnLst/>
              <a:rect l="l" t="t" r="r" b="b"/>
              <a:pathLst>
                <a:path w="20482561" h="1828800">
                  <a:moveTo>
                    <a:pt x="0" y="0"/>
                  </a:moveTo>
                  <a:lnTo>
                    <a:pt x="20482561" y="0"/>
                  </a:lnTo>
                  <a:lnTo>
                    <a:pt x="20482561" y="1828800"/>
                  </a:lnTo>
                  <a:lnTo>
                    <a:pt x="0" y="1828800"/>
                  </a:lnTo>
                  <a:close/>
                </a:path>
              </a:pathLst>
            </a:custGeom>
            <a:blipFill>
              <a:blip r:embed="rId3">
                <a:alphaModFix amt="0"/>
              </a:blip>
              <a:stretch>
                <a:fillRect t="-168232" b="-168232"/>
              </a:stretch>
            </a:blipFill>
          </p:spPr>
        </p:sp>
        <p:sp>
          <p:nvSpPr>
            <p:cNvPr id="6" name="TextBox 6"/>
            <p:cNvSpPr txBox="1"/>
            <p:nvPr/>
          </p:nvSpPr>
          <p:spPr>
            <a:xfrm>
              <a:off x="0" y="0"/>
              <a:ext cx="20482560" cy="1828800"/>
            </a:xfrm>
            <a:prstGeom prst="rect">
              <a:avLst/>
            </a:prstGeom>
          </p:spPr>
          <p:txBody>
            <a:bodyPr lIns="0" tIns="0" rIns="0" bIns="0" rtlCol="0" anchor="ctr"/>
            <a:lstStyle/>
            <a:p>
              <a:pPr algn="l">
                <a:lnSpc>
                  <a:spcPts val="4680"/>
                </a:lnSpc>
              </a:pPr>
              <a:r>
                <a:rPr lang="en-US" sz="3900" b="1">
                  <a:solidFill>
                    <a:srgbClr val="006838"/>
                  </a:solidFill>
                  <a:latin typeface="Montserrat Bold"/>
                  <a:ea typeface="Montserrat Bold"/>
                  <a:cs typeface="Montserrat Bold"/>
                  <a:sym typeface="Montserrat Bold"/>
                </a:rPr>
                <a:t>03 CẤP ĐỘ LÀM VIỆC CÙNG AI</a:t>
              </a:r>
            </a:p>
          </p:txBody>
        </p:sp>
      </p:grpSp>
      <p:grpSp>
        <p:nvGrpSpPr>
          <p:cNvPr id="7" name="Group 7"/>
          <p:cNvGrpSpPr/>
          <p:nvPr/>
        </p:nvGrpSpPr>
        <p:grpSpPr>
          <a:xfrm>
            <a:off x="815816" y="2050256"/>
            <a:ext cx="5240084" cy="7489507"/>
            <a:chOff x="0" y="0"/>
            <a:chExt cx="6986778" cy="9986010"/>
          </a:xfrm>
        </p:grpSpPr>
        <p:sp>
          <p:nvSpPr>
            <p:cNvPr id="8" name="Freeform 8"/>
            <p:cNvSpPr/>
            <p:nvPr/>
          </p:nvSpPr>
          <p:spPr>
            <a:xfrm>
              <a:off x="0" y="0"/>
              <a:ext cx="6986778" cy="9986010"/>
            </a:xfrm>
            <a:custGeom>
              <a:avLst/>
              <a:gdLst/>
              <a:ahLst/>
              <a:cxnLst/>
              <a:rect l="l" t="t" r="r" b="b"/>
              <a:pathLst>
                <a:path w="6986778" h="9986010">
                  <a:moveTo>
                    <a:pt x="0" y="220091"/>
                  </a:moveTo>
                  <a:cubicBezTo>
                    <a:pt x="0" y="98552"/>
                    <a:pt x="98552" y="0"/>
                    <a:pt x="220091" y="0"/>
                  </a:cubicBezTo>
                  <a:lnTo>
                    <a:pt x="6766687" y="0"/>
                  </a:lnTo>
                  <a:cubicBezTo>
                    <a:pt x="6888226" y="0"/>
                    <a:pt x="6986778" y="98552"/>
                    <a:pt x="6986778" y="220091"/>
                  </a:cubicBezTo>
                  <a:lnTo>
                    <a:pt x="6986778" y="9765919"/>
                  </a:lnTo>
                  <a:cubicBezTo>
                    <a:pt x="6986778" y="9887458"/>
                    <a:pt x="6888226" y="9986010"/>
                    <a:pt x="6766687" y="9986010"/>
                  </a:cubicBezTo>
                  <a:lnTo>
                    <a:pt x="220091" y="9986010"/>
                  </a:lnTo>
                  <a:cubicBezTo>
                    <a:pt x="98552" y="9986010"/>
                    <a:pt x="0" y="9887458"/>
                    <a:pt x="0" y="9765919"/>
                  </a:cubicBezTo>
                  <a:close/>
                </a:path>
              </a:pathLst>
            </a:custGeom>
            <a:solidFill>
              <a:srgbClr val="F5F8F6"/>
            </a:solidFill>
            <a:ln w="14288" cap="sq">
              <a:solidFill>
                <a:srgbClr val="DCE6E0"/>
              </a:solidFill>
              <a:prstDash val="solid"/>
              <a:miter/>
            </a:ln>
          </p:spPr>
        </p:sp>
      </p:grpSp>
      <p:grpSp>
        <p:nvGrpSpPr>
          <p:cNvPr id="9" name="Group 9"/>
          <p:cNvGrpSpPr/>
          <p:nvPr/>
        </p:nvGrpSpPr>
        <p:grpSpPr>
          <a:xfrm>
            <a:off x="813435" y="2047875"/>
            <a:ext cx="5244846" cy="1459230"/>
            <a:chOff x="0" y="0"/>
            <a:chExt cx="6993128" cy="1945640"/>
          </a:xfrm>
        </p:grpSpPr>
        <p:sp>
          <p:nvSpPr>
            <p:cNvPr id="10" name="Freeform 10"/>
            <p:cNvSpPr/>
            <p:nvPr/>
          </p:nvSpPr>
          <p:spPr>
            <a:xfrm>
              <a:off x="0" y="0"/>
              <a:ext cx="6993128" cy="1945640"/>
            </a:xfrm>
            <a:custGeom>
              <a:avLst/>
              <a:gdLst/>
              <a:ahLst/>
              <a:cxnLst/>
              <a:rect l="l" t="t" r="r" b="b"/>
              <a:pathLst>
                <a:path w="6993128" h="1945640">
                  <a:moveTo>
                    <a:pt x="0" y="222377"/>
                  </a:moveTo>
                  <a:cubicBezTo>
                    <a:pt x="0" y="99568"/>
                    <a:pt x="99568" y="0"/>
                    <a:pt x="222377" y="0"/>
                  </a:cubicBezTo>
                  <a:lnTo>
                    <a:pt x="6770751" y="0"/>
                  </a:lnTo>
                  <a:cubicBezTo>
                    <a:pt x="6893560" y="0"/>
                    <a:pt x="6993128" y="99568"/>
                    <a:pt x="6993128" y="222377"/>
                  </a:cubicBezTo>
                  <a:lnTo>
                    <a:pt x="6993128" y="1723263"/>
                  </a:lnTo>
                  <a:cubicBezTo>
                    <a:pt x="6993128" y="1846072"/>
                    <a:pt x="6893560" y="1945640"/>
                    <a:pt x="6770751" y="1945640"/>
                  </a:cubicBezTo>
                  <a:lnTo>
                    <a:pt x="222377" y="1945640"/>
                  </a:lnTo>
                  <a:cubicBezTo>
                    <a:pt x="99568" y="1945640"/>
                    <a:pt x="0" y="1846072"/>
                    <a:pt x="0" y="1723263"/>
                  </a:cubicBezTo>
                  <a:close/>
                </a:path>
              </a:pathLst>
            </a:custGeom>
            <a:solidFill>
              <a:srgbClr val="3D8F63"/>
            </a:solidFill>
            <a:ln w="19050" cap="sq">
              <a:solidFill>
                <a:srgbClr val="3D8F63"/>
              </a:solidFill>
              <a:prstDash val="solid"/>
              <a:miter/>
            </a:ln>
          </p:spPr>
        </p:sp>
      </p:grpSp>
      <p:grpSp>
        <p:nvGrpSpPr>
          <p:cNvPr id="11" name="Group 11"/>
          <p:cNvGrpSpPr/>
          <p:nvPr/>
        </p:nvGrpSpPr>
        <p:grpSpPr>
          <a:xfrm>
            <a:off x="813435" y="3145155"/>
            <a:ext cx="5244846" cy="361950"/>
            <a:chOff x="0" y="0"/>
            <a:chExt cx="6993128" cy="482600"/>
          </a:xfrm>
        </p:grpSpPr>
        <p:sp>
          <p:nvSpPr>
            <p:cNvPr id="12" name="Freeform 12"/>
            <p:cNvSpPr/>
            <p:nvPr/>
          </p:nvSpPr>
          <p:spPr>
            <a:xfrm>
              <a:off x="0" y="0"/>
              <a:ext cx="6993128" cy="482600"/>
            </a:xfrm>
            <a:custGeom>
              <a:avLst/>
              <a:gdLst/>
              <a:ahLst/>
              <a:cxnLst/>
              <a:rect l="l" t="t" r="r" b="b"/>
              <a:pathLst>
                <a:path w="6993128" h="482600">
                  <a:moveTo>
                    <a:pt x="0" y="0"/>
                  </a:moveTo>
                  <a:lnTo>
                    <a:pt x="6993128" y="0"/>
                  </a:lnTo>
                  <a:lnTo>
                    <a:pt x="6993128" y="482600"/>
                  </a:lnTo>
                  <a:lnTo>
                    <a:pt x="0" y="482600"/>
                  </a:lnTo>
                  <a:close/>
                </a:path>
              </a:pathLst>
            </a:custGeom>
            <a:solidFill>
              <a:srgbClr val="3D8F63"/>
            </a:solidFill>
            <a:ln w="19050" cap="sq">
              <a:solidFill>
                <a:srgbClr val="3D8F63"/>
              </a:solidFill>
              <a:prstDash val="solid"/>
              <a:miter/>
            </a:ln>
          </p:spPr>
        </p:sp>
      </p:grpSp>
      <p:grpSp>
        <p:nvGrpSpPr>
          <p:cNvPr id="13" name="Group 13"/>
          <p:cNvGrpSpPr/>
          <p:nvPr/>
        </p:nvGrpSpPr>
        <p:grpSpPr>
          <a:xfrm>
            <a:off x="1234440" y="2221992"/>
            <a:ext cx="4402836" cy="1124712"/>
            <a:chOff x="0" y="0"/>
            <a:chExt cx="5870448" cy="1499616"/>
          </a:xfrm>
        </p:grpSpPr>
        <p:sp>
          <p:nvSpPr>
            <p:cNvPr id="14" name="Freeform 14"/>
            <p:cNvSpPr/>
            <p:nvPr/>
          </p:nvSpPr>
          <p:spPr>
            <a:xfrm>
              <a:off x="0" y="0"/>
              <a:ext cx="5870448" cy="1499616"/>
            </a:xfrm>
            <a:custGeom>
              <a:avLst/>
              <a:gdLst/>
              <a:ahLst/>
              <a:cxnLst/>
              <a:rect l="l" t="t" r="r" b="b"/>
              <a:pathLst>
                <a:path w="5870448" h="1499616">
                  <a:moveTo>
                    <a:pt x="0" y="0"/>
                  </a:moveTo>
                  <a:lnTo>
                    <a:pt x="5870448" y="0"/>
                  </a:lnTo>
                  <a:lnTo>
                    <a:pt x="5870448" y="1499616"/>
                  </a:lnTo>
                  <a:lnTo>
                    <a:pt x="0" y="1499616"/>
                  </a:lnTo>
                  <a:close/>
                </a:path>
              </a:pathLst>
            </a:custGeom>
            <a:blipFill>
              <a:blip r:embed="rId3">
                <a:alphaModFix amt="0"/>
              </a:blip>
              <a:stretch>
                <a:fillRect t="-26276" b="-26276"/>
              </a:stretch>
            </a:blipFill>
          </p:spPr>
        </p:sp>
        <p:sp>
          <p:nvSpPr>
            <p:cNvPr id="15" name="TextBox 15"/>
            <p:cNvSpPr txBox="1"/>
            <p:nvPr/>
          </p:nvSpPr>
          <p:spPr>
            <a:xfrm>
              <a:off x="0" y="0"/>
              <a:ext cx="5870448" cy="1499616"/>
            </a:xfrm>
            <a:prstGeom prst="rect">
              <a:avLst/>
            </a:prstGeom>
          </p:spPr>
          <p:txBody>
            <a:bodyPr lIns="0" tIns="0" rIns="0" bIns="0" rtlCol="0" anchor="ctr"/>
            <a:lstStyle/>
            <a:p>
              <a:pPr algn="l">
                <a:lnSpc>
                  <a:spcPts val="3060"/>
                </a:lnSpc>
              </a:pPr>
              <a:r>
                <a:rPr lang="en-US" sz="2550" b="1">
                  <a:solidFill>
                    <a:srgbClr val="FFFFFF"/>
                  </a:solidFill>
                  <a:latin typeface="Montserrat Bold"/>
                  <a:ea typeface="Montserrat Bold"/>
                  <a:cs typeface="Montserrat Bold"/>
                  <a:sym typeface="Montserrat Bold"/>
                </a:rPr>
                <a:t>01 — AI ASSISTANT</a:t>
              </a:r>
            </a:p>
            <a:p>
              <a:pPr algn="l">
                <a:lnSpc>
                  <a:spcPts val="1889"/>
                </a:lnSpc>
              </a:pPr>
              <a:r>
                <a:rPr lang="en-US" sz="1575">
                  <a:solidFill>
                    <a:srgbClr val="DFF0E6"/>
                  </a:solidFill>
                  <a:latin typeface="Montserrat"/>
                  <a:ea typeface="Montserrat"/>
                  <a:cs typeface="Montserrat"/>
                  <a:sym typeface="Montserrat"/>
                </a:rPr>
                <a:t>TÔI LÀM – AI HỖ TRỢ</a:t>
              </a:r>
            </a:p>
          </p:txBody>
        </p:sp>
      </p:grpSp>
      <p:sp>
        <p:nvSpPr>
          <p:cNvPr id="16" name="TextBox 16"/>
          <p:cNvSpPr txBox="1"/>
          <p:nvPr/>
        </p:nvSpPr>
        <p:spPr>
          <a:xfrm>
            <a:off x="1234440" y="3811905"/>
            <a:ext cx="4402836" cy="3003258"/>
          </a:xfrm>
          <a:prstGeom prst="rect">
            <a:avLst/>
          </a:prstGeom>
        </p:spPr>
        <p:txBody>
          <a:bodyPr lIns="0" tIns="0" rIns="0" bIns="0" rtlCol="0" anchor="t">
            <a:spAutoFit/>
          </a:bodyPr>
          <a:lstStyle/>
          <a:p>
            <a:pPr algn="just">
              <a:lnSpc>
                <a:spcPts val="2822"/>
              </a:lnSpc>
            </a:pPr>
            <a:r>
              <a:rPr lang="en-US" sz="2100" b="1">
                <a:solidFill>
                  <a:srgbClr val="1E2B25"/>
                </a:solidFill>
                <a:latin typeface="Montserrat Bold"/>
                <a:ea typeface="Montserrat Bold"/>
                <a:cs typeface="Montserrat Bold"/>
                <a:sym typeface="Montserrat Bold"/>
              </a:rPr>
              <a:t>Quyết định từng việc cần làm</a:t>
            </a:r>
          </a:p>
          <a:p>
            <a:pPr algn="just">
              <a:lnSpc>
                <a:spcPts val="2822"/>
              </a:lnSpc>
            </a:pPr>
            <a:r>
              <a:rPr lang="en-US" sz="2100">
                <a:solidFill>
                  <a:srgbClr val="1E2B25"/>
                </a:solidFill>
                <a:latin typeface="Montserrat"/>
                <a:ea typeface="Montserrat"/>
                <a:cs typeface="Montserrat"/>
                <a:sym typeface="Montserrat"/>
              </a:rPr>
              <a:t>AI thực hiện theo yêu cầu</a:t>
            </a:r>
          </a:p>
          <a:p>
            <a:pPr algn="just">
              <a:lnSpc>
                <a:spcPts val="1209"/>
              </a:lnSpc>
            </a:pPr>
            <a:r>
              <a:rPr lang="en-US" sz="900">
                <a:solidFill>
                  <a:srgbClr val="1E2B25"/>
                </a:solidFill>
                <a:latin typeface="Montserrat"/>
                <a:ea typeface="Montserrat"/>
                <a:cs typeface="Montserrat"/>
                <a:sym typeface="Montserrat"/>
              </a:rPr>
              <a:t> </a:t>
            </a:r>
          </a:p>
          <a:p>
            <a:pPr algn="just">
              <a:lnSpc>
                <a:spcPts val="2822"/>
              </a:lnSpc>
            </a:pPr>
            <a:r>
              <a:rPr lang="en-US" sz="2100" b="1">
                <a:solidFill>
                  <a:srgbClr val="006838"/>
                </a:solidFill>
                <a:latin typeface="Montserrat Bold"/>
                <a:ea typeface="Montserrat Bold"/>
                <a:cs typeface="Montserrat Bold"/>
                <a:sym typeface="Montserrat Bold"/>
              </a:rPr>
              <a:t>Ví dụ:</a:t>
            </a:r>
          </a:p>
          <a:p>
            <a:pPr marL="380048" lvl="1" indent="-190024" algn="just">
              <a:lnSpc>
                <a:spcPts val="2822"/>
              </a:lnSpc>
              <a:buFont typeface="Arial"/>
              <a:buChar char="•"/>
            </a:pPr>
            <a:r>
              <a:rPr lang="en-US" sz="2100" i="1">
                <a:solidFill>
                  <a:srgbClr val="1E2B25"/>
                </a:solidFill>
                <a:latin typeface="Montserrat Italics"/>
                <a:ea typeface="Montserrat Italics"/>
                <a:cs typeface="Montserrat Italics"/>
                <a:sym typeface="Montserrat Italics"/>
              </a:rPr>
              <a:t>“Viết JD cho vị trí HRBP” → AI viết</a:t>
            </a:r>
          </a:p>
          <a:p>
            <a:pPr marL="380048" lvl="1" indent="-190024" algn="just">
              <a:lnSpc>
                <a:spcPts val="2822"/>
              </a:lnSpc>
              <a:buFont typeface="Arial"/>
              <a:buChar char="•"/>
            </a:pPr>
            <a:r>
              <a:rPr lang="en-US" sz="2100" i="1">
                <a:solidFill>
                  <a:srgbClr val="1E2B25"/>
                </a:solidFill>
                <a:latin typeface="Montserrat Italics"/>
                <a:ea typeface="Montserrat Italics"/>
                <a:cs typeface="Montserrat Italics"/>
                <a:sym typeface="Montserrat Italics"/>
              </a:rPr>
              <a:t>“Rút gọn còn 500 từ” → AI sửa</a:t>
            </a:r>
          </a:p>
          <a:p>
            <a:pPr marL="380048" lvl="1" indent="-190024" algn="just">
              <a:lnSpc>
                <a:spcPts val="2822"/>
              </a:lnSpc>
              <a:buFont typeface="Arial"/>
              <a:buChar char="•"/>
            </a:pPr>
            <a:r>
              <a:rPr lang="en-US" sz="2100" i="1">
                <a:solidFill>
                  <a:srgbClr val="1E2B25"/>
                </a:solidFill>
                <a:latin typeface="Montserrat Italics"/>
                <a:ea typeface="Montserrat Italics"/>
                <a:cs typeface="Montserrat Italics"/>
                <a:sym typeface="Montserrat Italics"/>
              </a:rPr>
              <a:t>“Viết lại hấp dẫn hơn” → AI sửa tiếp</a:t>
            </a:r>
          </a:p>
        </p:txBody>
      </p:sp>
      <p:grpSp>
        <p:nvGrpSpPr>
          <p:cNvPr id="17" name="Group 17"/>
          <p:cNvGrpSpPr/>
          <p:nvPr/>
        </p:nvGrpSpPr>
        <p:grpSpPr>
          <a:xfrm>
            <a:off x="1087755" y="8220075"/>
            <a:ext cx="4696206" cy="1047750"/>
            <a:chOff x="0" y="0"/>
            <a:chExt cx="6261608" cy="1397000"/>
          </a:xfrm>
        </p:grpSpPr>
        <p:sp>
          <p:nvSpPr>
            <p:cNvPr id="18" name="Freeform 18"/>
            <p:cNvSpPr/>
            <p:nvPr/>
          </p:nvSpPr>
          <p:spPr>
            <a:xfrm>
              <a:off x="0" y="0"/>
              <a:ext cx="6261608" cy="1397000"/>
            </a:xfrm>
            <a:custGeom>
              <a:avLst/>
              <a:gdLst/>
              <a:ahLst/>
              <a:cxnLst/>
              <a:rect l="l" t="t" r="r" b="b"/>
              <a:pathLst>
                <a:path w="6261608" h="1397000">
                  <a:moveTo>
                    <a:pt x="0" y="148971"/>
                  </a:moveTo>
                  <a:cubicBezTo>
                    <a:pt x="0" y="66675"/>
                    <a:pt x="66675" y="0"/>
                    <a:pt x="148971" y="0"/>
                  </a:cubicBezTo>
                  <a:lnTo>
                    <a:pt x="6112637" y="0"/>
                  </a:lnTo>
                  <a:cubicBezTo>
                    <a:pt x="6194933" y="0"/>
                    <a:pt x="6261608" y="66675"/>
                    <a:pt x="6261608" y="148971"/>
                  </a:cubicBezTo>
                  <a:lnTo>
                    <a:pt x="6261608" y="1248029"/>
                  </a:lnTo>
                  <a:cubicBezTo>
                    <a:pt x="6261608" y="1330325"/>
                    <a:pt x="6194933" y="1397000"/>
                    <a:pt x="6112637" y="1397000"/>
                  </a:cubicBezTo>
                  <a:lnTo>
                    <a:pt x="148971" y="1397000"/>
                  </a:lnTo>
                  <a:cubicBezTo>
                    <a:pt x="66675" y="1397000"/>
                    <a:pt x="0" y="1330325"/>
                    <a:pt x="0" y="1248029"/>
                  </a:cubicBezTo>
                  <a:close/>
                </a:path>
              </a:pathLst>
            </a:custGeom>
            <a:solidFill>
              <a:srgbClr val="FFF1E5"/>
            </a:solidFill>
            <a:ln w="19050" cap="sq">
              <a:solidFill>
                <a:srgbClr val="FFF1E5"/>
              </a:solidFill>
              <a:prstDash val="solid"/>
              <a:miter/>
            </a:ln>
          </p:spPr>
        </p:sp>
      </p:grpSp>
      <p:grpSp>
        <p:nvGrpSpPr>
          <p:cNvPr id="19" name="Group 19"/>
          <p:cNvGrpSpPr/>
          <p:nvPr/>
        </p:nvGrpSpPr>
        <p:grpSpPr>
          <a:xfrm>
            <a:off x="1303020" y="8229600"/>
            <a:ext cx="4265676" cy="1028700"/>
            <a:chOff x="0" y="0"/>
            <a:chExt cx="5687568" cy="1371600"/>
          </a:xfrm>
        </p:grpSpPr>
        <p:sp>
          <p:nvSpPr>
            <p:cNvPr id="20" name="Freeform 20"/>
            <p:cNvSpPr/>
            <p:nvPr/>
          </p:nvSpPr>
          <p:spPr>
            <a:xfrm>
              <a:off x="0" y="0"/>
              <a:ext cx="5687568" cy="1371600"/>
            </a:xfrm>
            <a:custGeom>
              <a:avLst/>
              <a:gdLst/>
              <a:ahLst/>
              <a:cxnLst/>
              <a:rect l="l" t="t" r="r" b="b"/>
              <a:pathLst>
                <a:path w="5687568" h="1371600">
                  <a:moveTo>
                    <a:pt x="0" y="0"/>
                  </a:moveTo>
                  <a:lnTo>
                    <a:pt x="5687568" y="0"/>
                  </a:lnTo>
                  <a:lnTo>
                    <a:pt x="5687568" y="1371600"/>
                  </a:lnTo>
                  <a:lnTo>
                    <a:pt x="0" y="1371600"/>
                  </a:lnTo>
                  <a:close/>
                </a:path>
              </a:pathLst>
            </a:custGeom>
            <a:blipFill>
              <a:blip r:embed="rId3">
                <a:alphaModFix amt="0"/>
              </a:blip>
              <a:stretch>
                <a:fillRect t="-30797" b="-30797"/>
              </a:stretch>
            </a:blipFill>
          </p:spPr>
        </p:sp>
        <p:sp>
          <p:nvSpPr>
            <p:cNvPr id="21" name="TextBox 21"/>
            <p:cNvSpPr txBox="1"/>
            <p:nvPr/>
          </p:nvSpPr>
          <p:spPr>
            <a:xfrm>
              <a:off x="0" y="0"/>
              <a:ext cx="5687568" cy="1371600"/>
            </a:xfrm>
            <a:prstGeom prst="rect">
              <a:avLst/>
            </a:prstGeom>
          </p:spPr>
          <p:txBody>
            <a:bodyPr lIns="0" tIns="0" rIns="0" bIns="0" rtlCol="0" anchor="ctr"/>
            <a:lstStyle/>
            <a:p>
              <a:pPr algn="l">
                <a:lnSpc>
                  <a:spcPts val="2430"/>
                </a:lnSpc>
              </a:pPr>
              <a:r>
                <a:rPr lang="en-US" sz="2025" b="1">
                  <a:solidFill>
                    <a:srgbClr val="C25700"/>
                  </a:solidFill>
                  <a:latin typeface="Montserrat Bold"/>
                  <a:ea typeface="Montserrat Bold"/>
                  <a:cs typeface="Montserrat Bold"/>
                  <a:sym typeface="Montserrat Bold"/>
                </a:rPr>
                <a:t>⇒ Điều khiển từng bước.</a:t>
              </a:r>
            </a:p>
          </p:txBody>
        </p:sp>
      </p:grpSp>
      <p:grpSp>
        <p:nvGrpSpPr>
          <p:cNvPr id="22" name="Group 22"/>
          <p:cNvGrpSpPr/>
          <p:nvPr/>
        </p:nvGrpSpPr>
        <p:grpSpPr>
          <a:xfrm>
            <a:off x="6521672" y="2050256"/>
            <a:ext cx="5240084" cy="7489507"/>
            <a:chOff x="0" y="0"/>
            <a:chExt cx="6986778" cy="9986010"/>
          </a:xfrm>
        </p:grpSpPr>
        <p:sp>
          <p:nvSpPr>
            <p:cNvPr id="23" name="Freeform 23"/>
            <p:cNvSpPr/>
            <p:nvPr/>
          </p:nvSpPr>
          <p:spPr>
            <a:xfrm>
              <a:off x="0" y="0"/>
              <a:ext cx="6986778" cy="9986010"/>
            </a:xfrm>
            <a:custGeom>
              <a:avLst/>
              <a:gdLst/>
              <a:ahLst/>
              <a:cxnLst/>
              <a:rect l="l" t="t" r="r" b="b"/>
              <a:pathLst>
                <a:path w="6986778" h="9986010">
                  <a:moveTo>
                    <a:pt x="0" y="220091"/>
                  </a:moveTo>
                  <a:cubicBezTo>
                    <a:pt x="0" y="98552"/>
                    <a:pt x="98552" y="0"/>
                    <a:pt x="220091" y="0"/>
                  </a:cubicBezTo>
                  <a:lnTo>
                    <a:pt x="6766687" y="0"/>
                  </a:lnTo>
                  <a:cubicBezTo>
                    <a:pt x="6888226" y="0"/>
                    <a:pt x="6986778" y="98552"/>
                    <a:pt x="6986778" y="220091"/>
                  </a:cubicBezTo>
                  <a:lnTo>
                    <a:pt x="6986778" y="9765919"/>
                  </a:lnTo>
                  <a:cubicBezTo>
                    <a:pt x="6986778" y="9887458"/>
                    <a:pt x="6888226" y="9986010"/>
                    <a:pt x="6766687" y="9986010"/>
                  </a:cubicBezTo>
                  <a:lnTo>
                    <a:pt x="220091" y="9986010"/>
                  </a:lnTo>
                  <a:cubicBezTo>
                    <a:pt x="98552" y="9986010"/>
                    <a:pt x="0" y="9887458"/>
                    <a:pt x="0" y="9765919"/>
                  </a:cubicBezTo>
                  <a:close/>
                </a:path>
              </a:pathLst>
            </a:custGeom>
            <a:solidFill>
              <a:srgbClr val="F5F8F6"/>
            </a:solidFill>
            <a:ln w="14288" cap="sq">
              <a:solidFill>
                <a:srgbClr val="DCE6E0"/>
              </a:solidFill>
              <a:prstDash val="solid"/>
              <a:miter/>
            </a:ln>
          </p:spPr>
        </p:sp>
      </p:grpSp>
      <p:grpSp>
        <p:nvGrpSpPr>
          <p:cNvPr id="24" name="Group 24"/>
          <p:cNvGrpSpPr/>
          <p:nvPr/>
        </p:nvGrpSpPr>
        <p:grpSpPr>
          <a:xfrm>
            <a:off x="6519291" y="2047875"/>
            <a:ext cx="5244846" cy="1459230"/>
            <a:chOff x="0" y="0"/>
            <a:chExt cx="6993128" cy="1945640"/>
          </a:xfrm>
        </p:grpSpPr>
        <p:sp>
          <p:nvSpPr>
            <p:cNvPr id="25" name="Freeform 25"/>
            <p:cNvSpPr/>
            <p:nvPr/>
          </p:nvSpPr>
          <p:spPr>
            <a:xfrm>
              <a:off x="0" y="0"/>
              <a:ext cx="6993128" cy="1945640"/>
            </a:xfrm>
            <a:custGeom>
              <a:avLst/>
              <a:gdLst/>
              <a:ahLst/>
              <a:cxnLst/>
              <a:rect l="l" t="t" r="r" b="b"/>
              <a:pathLst>
                <a:path w="6993128" h="1945640">
                  <a:moveTo>
                    <a:pt x="0" y="222377"/>
                  </a:moveTo>
                  <a:cubicBezTo>
                    <a:pt x="0" y="99568"/>
                    <a:pt x="99568" y="0"/>
                    <a:pt x="222377" y="0"/>
                  </a:cubicBezTo>
                  <a:lnTo>
                    <a:pt x="6770751" y="0"/>
                  </a:lnTo>
                  <a:cubicBezTo>
                    <a:pt x="6893560" y="0"/>
                    <a:pt x="6993128" y="99568"/>
                    <a:pt x="6993128" y="222377"/>
                  </a:cubicBezTo>
                  <a:lnTo>
                    <a:pt x="6993128" y="1723263"/>
                  </a:lnTo>
                  <a:cubicBezTo>
                    <a:pt x="6993128" y="1846072"/>
                    <a:pt x="6893560" y="1945640"/>
                    <a:pt x="6770751" y="1945640"/>
                  </a:cubicBezTo>
                  <a:lnTo>
                    <a:pt x="222377" y="1945640"/>
                  </a:lnTo>
                  <a:cubicBezTo>
                    <a:pt x="99568" y="1945640"/>
                    <a:pt x="0" y="1846072"/>
                    <a:pt x="0" y="1723263"/>
                  </a:cubicBezTo>
                  <a:close/>
                </a:path>
              </a:pathLst>
            </a:custGeom>
            <a:solidFill>
              <a:srgbClr val="1F7A4A"/>
            </a:solidFill>
            <a:ln w="19050" cap="sq">
              <a:solidFill>
                <a:srgbClr val="1F7A4A"/>
              </a:solidFill>
              <a:prstDash val="solid"/>
              <a:miter/>
            </a:ln>
          </p:spPr>
        </p:sp>
      </p:grpSp>
      <p:grpSp>
        <p:nvGrpSpPr>
          <p:cNvPr id="26" name="Group 26"/>
          <p:cNvGrpSpPr/>
          <p:nvPr/>
        </p:nvGrpSpPr>
        <p:grpSpPr>
          <a:xfrm>
            <a:off x="6519291" y="3145155"/>
            <a:ext cx="5244846" cy="361950"/>
            <a:chOff x="0" y="0"/>
            <a:chExt cx="6993128" cy="482600"/>
          </a:xfrm>
        </p:grpSpPr>
        <p:sp>
          <p:nvSpPr>
            <p:cNvPr id="27" name="Freeform 27"/>
            <p:cNvSpPr/>
            <p:nvPr/>
          </p:nvSpPr>
          <p:spPr>
            <a:xfrm>
              <a:off x="0" y="0"/>
              <a:ext cx="6993128" cy="482600"/>
            </a:xfrm>
            <a:custGeom>
              <a:avLst/>
              <a:gdLst/>
              <a:ahLst/>
              <a:cxnLst/>
              <a:rect l="l" t="t" r="r" b="b"/>
              <a:pathLst>
                <a:path w="6993128" h="482600">
                  <a:moveTo>
                    <a:pt x="0" y="0"/>
                  </a:moveTo>
                  <a:lnTo>
                    <a:pt x="6993128" y="0"/>
                  </a:lnTo>
                  <a:lnTo>
                    <a:pt x="6993128" y="482600"/>
                  </a:lnTo>
                  <a:lnTo>
                    <a:pt x="0" y="482600"/>
                  </a:lnTo>
                  <a:close/>
                </a:path>
              </a:pathLst>
            </a:custGeom>
            <a:solidFill>
              <a:srgbClr val="1F7A4A"/>
            </a:solidFill>
            <a:ln w="19050" cap="sq">
              <a:solidFill>
                <a:srgbClr val="1F7A4A"/>
              </a:solidFill>
              <a:prstDash val="solid"/>
              <a:miter/>
            </a:ln>
          </p:spPr>
        </p:sp>
      </p:grpSp>
      <p:grpSp>
        <p:nvGrpSpPr>
          <p:cNvPr id="28" name="Group 28"/>
          <p:cNvGrpSpPr/>
          <p:nvPr/>
        </p:nvGrpSpPr>
        <p:grpSpPr>
          <a:xfrm>
            <a:off x="6940296" y="2221992"/>
            <a:ext cx="4402836" cy="1124712"/>
            <a:chOff x="0" y="0"/>
            <a:chExt cx="5870448" cy="1499616"/>
          </a:xfrm>
        </p:grpSpPr>
        <p:sp>
          <p:nvSpPr>
            <p:cNvPr id="29" name="Freeform 29"/>
            <p:cNvSpPr/>
            <p:nvPr/>
          </p:nvSpPr>
          <p:spPr>
            <a:xfrm>
              <a:off x="0" y="0"/>
              <a:ext cx="5870448" cy="1499616"/>
            </a:xfrm>
            <a:custGeom>
              <a:avLst/>
              <a:gdLst/>
              <a:ahLst/>
              <a:cxnLst/>
              <a:rect l="l" t="t" r="r" b="b"/>
              <a:pathLst>
                <a:path w="5870448" h="1499616">
                  <a:moveTo>
                    <a:pt x="0" y="0"/>
                  </a:moveTo>
                  <a:lnTo>
                    <a:pt x="5870448" y="0"/>
                  </a:lnTo>
                  <a:lnTo>
                    <a:pt x="5870448" y="1499616"/>
                  </a:lnTo>
                  <a:lnTo>
                    <a:pt x="0" y="1499616"/>
                  </a:lnTo>
                  <a:close/>
                </a:path>
              </a:pathLst>
            </a:custGeom>
            <a:blipFill>
              <a:blip r:embed="rId3">
                <a:alphaModFix amt="0"/>
              </a:blip>
              <a:stretch>
                <a:fillRect t="-26276" b="-26276"/>
              </a:stretch>
            </a:blipFill>
          </p:spPr>
        </p:sp>
        <p:sp>
          <p:nvSpPr>
            <p:cNvPr id="30" name="TextBox 30"/>
            <p:cNvSpPr txBox="1"/>
            <p:nvPr/>
          </p:nvSpPr>
          <p:spPr>
            <a:xfrm>
              <a:off x="0" y="0"/>
              <a:ext cx="5870448" cy="1499616"/>
            </a:xfrm>
            <a:prstGeom prst="rect">
              <a:avLst/>
            </a:prstGeom>
          </p:spPr>
          <p:txBody>
            <a:bodyPr lIns="0" tIns="0" rIns="0" bIns="0" rtlCol="0" anchor="ctr"/>
            <a:lstStyle/>
            <a:p>
              <a:pPr algn="l">
                <a:lnSpc>
                  <a:spcPts val="3060"/>
                </a:lnSpc>
              </a:pPr>
              <a:r>
                <a:rPr lang="en-US" sz="2550" b="1">
                  <a:solidFill>
                    <a:srgbClr val="FFFFFF"/>
                  </a:solidFill>
                  <a:latin typeface="Montserrat Bold"/>
                  <a:ea typeface="Montserrat Bold"/>
                  <a:cs typeface="Montserrat Bold"/>
                  <a:sym typeface="Montserrat Bold"/>
                </a:rPr>
                <a:t>02 — AI WORKFLOW</a:t>
              </a:r>
            </a:p>
            <a:p>
              <a:pPr algn="l">
                <a:lnSpc>
                  <a:spcPts val="1889"/>
                </a:lnSpc>
              </a:pPr>
              <a:r>
                <a:rPr lang="en-US" sz="1575">
                  <a:solidFill>
                    <a:srgbClr val="DFF0E6"/>
                  </a:solidFill>
                  <a:latin typeface="Montserrat"/>
                  <a:ea typeface="Montserrat"/>
                  <a:cs typeface="Montserrat"/>
                  <a:sym typeface="Montserrat"/>
                </a:rPr>
                <a:t>TÔI THIẾT KẾ – AI THỰC HIỆN</a:t>
              </a:r>
            </a:p>
          </p:txBody>
        </p:sp>
      </p:grpSp>
      <p:sp>
        <p:nvSpPr>
          <p:cNvPr id="31" name="TextBox 31"/>
          <p:cNvSpPr txBox="1"/>
          <p:nvPr/>
        </p:nvSpPr>
        <p:spPr>
          <a:xfrm>
            <a:off x="6940296" y="3811905"/>
            <a:ext cx="4402836" cy="2644185"/>
          </a:xfrm>
          <a:prstGeom prst="rect">
            <a:avLst/>
          </a:prstGeom>
        </p:spPr>
        <p:txBody>
          <a:bodyPr lIns="0" tIns="0" rIns="0" bIns="0" rtlCol="0" anchor="t">
            <a:spAutoFit/>
          </a:bodyPr>
          <a:lstStyle/>
          <a:p>
            <a:pPr algn="l">
              <a:lnSpc>
                <a:spcPts val="2822"/>
              </a:lnSpc>
            </a:pPr>
            <a:r>
              <a:rPr lang="en-US" sz="2100" b="1">
                <a:solidFill>
                  <a:srgbClr val="1E2B25"/>
                </a:solidFill>
                <a:latin typeface="Montserrat Bold"/>
                <a:ea typeface="Montserrat Bold"/>
                <a:cs typeface="Montserrat Bold"/>
                <a:sym typeface="Montserrat Bold"/>
              </a:rPr>
              <a:t>Thiết kế trước chuỗi công việc.</a:t>
            </a:r>
          </a:p>
          <a:p>
            <a:pPr algn="just">
              <a:lnSpc>
                <a:spcPts val="2822"/>
              </a:lnSpc>
            </a:pPr>
            <a:r>
              <a:rPr lang="en-US" sz="2100">
                <a:solidFill>
                  <a:srgbClr val="1E2B25"/>
                </a:solidFill>
                <a:latin typeface="Montserrat"/>
                <a:ea typeface="Montserrat"/>
                <a:cs typeface="Montserrat"/>
                <a:sym typeface="Montserrat"/>
              </a:rPr>
              <a:t>AI thực hiện theo quy trình đó.</a:t>
            </a:r>
          </a:p>
          <a:p>
            <a:pPr algn="just">
              <a:lnSpc>
                <a:spcPts val="1209"/>
              </a:lnSpc>
            </a:pPr>
            <a:r>
              <a:rPr lang="en-US" sz="900">
                <a:solidFill>
                  <a:srgbClr val="1E2B25"/>
                </a:solidFill>
                <a:latin typeface="Montserrat"/>
                <a:ea typeface="Montserrat"/>
                <a:cs typeface="Montserrat"/>
                <a:sym typeface="Montserrat"/>
              </a:rPr>
              <a:t> </a:t>
            </a:r>
          </a:p>
          <a:p>
            <a:pPr algn="just">
              <a:lnSpc>
                <a:spcPts val="2822"/>
              </a:lnSpc>
            </a:pPr>
            <a:r>
              <a:rPr lang="en-US" sz="2100" b="1">
                <a:solidFill>
                  <a:srgbClr val="006838"/>
                </a:solidFill>
                <a:latin typeface="Montserrat Bold"/>
                <a:ea typeface="Montserrat Bold"/>
                <a:cs typeface="Montserrat Bold"/>
                <a:sym typeface="Montserrat Bold"/>
              </a:rPr>
              <a:t>Ví dụ: HR Monthly Report</a:t>
            </a:r>
          </a:p>
          <a:p>
            <a:pPr algn="just">
              <a:lnSpc>
                <a:spcPts val="2822"/>
              </a:lnSpc>
            </a:pPr>
            <a:r>
              <a:rPr lang="en-US" sz="2100">
                <a:solidFill>
                  <a:srgbClr val="1E2B25"/>
                </a:solidFill>
                <a:latin typeface="Montserrat"/>
                <a:ea typeface="Montserrat"/>
                <a:cs typeface="Montserrat"/>
                <a:sym typeface="Montserrat"/>
              </a:rPr>
              <a:t>Data → Check &amp; Clean → Calculate KPI → Analyze → Insight → Dashboard → Executive Summary</a:t>
            </a:r>
          </a:p>
        </p:txBody>
      </p:sp>
      <p:grpSp>
        <p:nvGrpSpPr>
          <p:cNvPr id="32" name="Group 32"/>
          <p:cNvGrpSpPr/>
          <p:nvPr/>
        </p:nvGrpSpPr>
        <p:grpSpPr>
          <a:xfrm>
            <a:off x="6793611" y="8220075"/>
            <a:ext cx="4696206" cy="1047750"/>
            <a:chOff x="0" y="0"/>
            <a:chExt cx="6261608" cy="1397000"/>
          </a:xfrm>
        </p:grpSpPr>
        <p:sp>
          <p:nvSpPr>
            <p:cNvPr id="33" name="Freeform 33"/>
            <p:cNvSpPr/>
            <p:nvPr/>
          </p:nvSpPr>
          <p:spPr>
            <a:xfrm>
              <a:off x="0" y="0"/>
              <a:ext cx="6261608" cy="1397000"/>
            </a:xfrm>
            <a:custGeom>
              <a:avLst/>
              <a:gdLst/>
              <a:ahLst/>
              <a:cxnLst/>
              <a:rect l="l" t="t" r="r" b="b"/>
              <a:pathLst>
                <a:path w="6261608" h="1397000">
                  <a:moveTo>
                    <a:pt x="0" y="148971"/>
                  </a:moveTo>
                  <a:cubicBezTo>
                    <a:pt x="0" y="66675"/>
                    <a:pt x="66675" y="0"/>
                    <a:pt x="148971" y="0"/>
                  </a:cubicBezTo>
                  <a:lnTo>
                    <a:pt x="6112637" y="0"/>
                  </a:lnTo>
                  <a:cubicBezTo>
                    <a:pt x="6194933" y="0"/>
                    <a:pt x="6261608" y="66675"/>
                    <a:pt x="6261608" y="148971"/>
                  </a:cubicBezTo>
                  <a:lnTo>
                    <a:pt x="6261608" y="1248029"/>
                  </a:lnTo>
                  <a:cubicBezTo>
                    <a:pt x="6261608" y="1330325"/>
                    <a:pt x="6194933" y="1397000"/>
                    <a:pt x="6112637" y="1397000"/>
                  </a:cubicBezTo>
                  <a:lnTo>
                    <a:pt x="148971" y="1397000"/>
                  </a:lnTo>
                  <a:cubicBezTo>
                    <a:pt x="66675" y="1397000"/>
                    <a:pt x="0" y="1330325"/>
                    <a:pt x="0" y="1248029"/>
                  </a:cubicBezTo>
                  <a:close/>
                </a:path>
              </a:pathLst>
            </a:custGeom>
            <a:solidFill>
              <a:srgbClr val="FFF1E5"/>
            </a:solidFill>
            <a:ln w="19050" cap="sq">
              <a:solidFill>
                <a:srgbClr val="FFF1E5"/>
              </a:solidFill>
              <a:prstDash val="solid"/>
              <a:miter/>
            </a:ln>
          </p:spPr>
        </p:sp>
      </p:grpSp>
      <p:grpSp>
        <p:nvGrpSpPr>
          <p:cNvPr id="34" name="Group 34"/>
          <p:cNvGrpSpPr/>
          <p:nvPr/>
        </p:nvGrpSpPr>
        <p:grpSpPr>
          <a:xfrm>
            <a:off x="7008876" y="8229600"/>
            <a:ext cx="4265676" cy="1028700"/>
            <a:chOff x="0" y="0"/>
            <a:chExt cx="5687568" cy="1371600"/>
          </a:xfrm>
        </p:grpSpPr>
        <p:sp>
          <p:nvSpPr>
            <p:cNvPr id="35" name="Freeform 35"/>
            <p:cNvSpPr/>
            <p:nvPr/>
          </p:nvSpPr>
          <p:spPr>
            <a:xfrm>
              <a:off x="0" y="0"/>
              <a:ext cx="5687568" cy="1371600"/>
            </a:xfrm>
            <a:custGeom>
              <a:avLst/>
              <a:gdLst/>
              <a:ahLst/>
              <a:cxnLst/>
              <a:rect l="l" t="t" r="r" b="b"/>
              <a:pathLst>
                <a:path w="5687568" h="1371600">
                  <a:moveTo>
                    <a:pt x="0" y="0"/>
                  </a:moveTo>
                  <a:lnTo>
                    <a:pt x="5687568" y="0"/>
                  </a:lnTo>
                  <a:lnTo>
                    <a:pt x="5687568" y="1371600"/>
                  </a:lnTo>
                  <a:lnTo>
                    <a:pt x="0" y="1371600"/>
                  </a:lnTo>
                  <a:close/>
                </a:path>
              </a:pathLst>
            </a:custGeom>
            <a:blipFill>
              <a:blip r:embed="rId3">
                <a:alphaModFix amt="0"/>
              </a:blip>
              <a:stretch>
                <a:fillRect t="-30797" b="-30797"/>
              </a:stretch>
            </a:blipFill>
          </p:spPr>
        </p:sp>
        <p:sp>
          <p:nvSpPr>
            <p:cNvPr id="36" name="TextBox 36"/>
            <p:cNvSpPr txBox="1"/>
            <p:nvPr/>
          </p:nvSpPr>
          <p:spPr>
            <a:xfrm>
              <a:off x="0" y="0"/>
              <a:ext cx="5687568" cy="1371600"/>
            </a:xfrm>
            <a:prstGeom prst="rect">
              <a:avLst/>
            </a:prstGeom>
          </p:spPr>
          <p:txBody>
            <a:bodyPr lIns="0" tIns="0" rIns="0" bIns="0" rtlCol="0" anchor="ctr"/>
            <a:lstStyle/>
            <a:p>
              <a:pPr algn="just">
                <a:lnSpc>
                  <a:spcPts val="2430"/>
                </a:lnSpc>
              </a:pPr>
              <a:r>
                <a:rPr lang="en-US" sz="2025" b="1">
                  <a:solidFill>
                    <a:srgbClr val="C25700"/>
                  </a:solidFill>
                  <a:latin typeface="Montserrat Bold"/>
                  <a:ea typeface="Montserrat Bold"/>
                  <a:cs typeface="Montserrat Bold"/>
                  <a:sym typeface="Montserrat Bold"/>
                </a:rPr>
                <a:t>⇒ Một quy trình – có thể sử dụng lặp lại.</a:t>
              </a:r>
            </a:p>
          </p:txBody>
        </p:sp>
      </p:grpSp>
      <p:grpSp>
        <p:nvGrpSpPr>
          <p:cNvPr id="37" name="Group 37"/>
          <p:cNvGrpSpPr/>
          <p:nvPr/>
        </p:nvGrpSpPr>
        <p:grpSpPr>
          <a:xfrm>
            <a:off x="12227528" y="2050256"/>
            <a:ext cx="5240084" cy="7489507"/>
            <a:chOff x="0" y="0"/>
            <a:chExt cx="6986778" cy="9986010"/>
          </a:xfrm>
        </p:grpSpPr>
        <p:sp>
          <p:nvSpPr>
            <p:cNvPr id="38" name="Freeform 38"/>
            <p:cNvSpPr/>
            <p:nvPr/>
          </p:nvSpPr>
          <p:spPr>
            <a:xfrm>
              <a:off x="0" y="0"/>
              <a:ext cx="6986778" cy="9986010"/>
            </a:xfrm>
            <a:custGeom>
              <a:avLst/>
              <a:gdLst/>
              <a:ahLst/>
              <a:cxnLst/>
              <a:rect l="l" t="t" r="r" b="b"/>
              <a:pathLst>
                <a:path w="6986778" h="9986010">
                  <a:moveTo>
                    <a:pt x="0" y="220091"/>
                  </a:moveTo>
                  <a:cubicBezTo>
                    <a:pt x="0" y="98552"/>
                    <a:pt x="98552" y="0"/>
                    <a:pt x="220091" y="0"/>
                  </a:cubicBezTo>
                  <a:lnTo>
                    <a:pt x="6766687" y="0"/>
                  </a:lnTo>
                  <a:cubicBezTo>
                    <a:pt x="6888226" y="0"/>
                    <a:pt x="6986778" y="98552"/>
                    <a:pt x="6986778" y="220091"/>
                  </a:cubicBezTo>
                  <a:lnTo>
                    <a:pt x="6986778" y="9765919"/>
                  </a:lnTo>
                  <a:cubicBezTo>
                    <a:pt x="6986778" y="9887458"/>
                    <a:pt x="6888226" y="9986010"/>
                    <a:pt x="6766687" y="9986010"/>
                  </a:cubicBezTo>
                  <a:lnTo>
                    <a:pt x="220091" y="9986010"/>
                  </a:lnTo>
                  <a:cubicBezTo>
                    <a:pt x="98552" y="9986010"/>
                    <a:pt x="0" y="9887458"/>
                    <a:pt x="0" y="9765919"/>
                  </a:cubicBezTo>
                  <a:close/>
                </a:path>
              </a:pathLst>
            </a:custGeom>
            <a:solidFill>
              <a:srgbClr val="F5F8F6"/>
            </a:solidFill>
            <a:ln w="14288" cap="sq">
              <a:solidFill>
                <a:srgbClr val="DCE6E0"/>
              </a:solidFill>
              <a:prstDash val="solid"/>
              <a:miter/>
            </a:ln>
          </p:spPr>
        </p:sp>
      </p:grpSp>
      <p:grpSp>
        <p:nvGrpSpPr>
          <p:cNvPr id="39" name="Group 39"/>
          <p:cNvGrpSpPr/>
          <p:nvPr/>
        </p:nvGrpSpPr>
        <p:grpSpPr>
          <a:xfrm>
            <a:off x="12225147" y="2047875"/>
            <a:ext cx="5244846" cy="1459230"/>
            <a:chOff x="0" y="0"/>
            <a:chExt cx="6993128" cy="1945640"/>
          </a:xfrm>
        </p:grpSpPr>
        <p:sp>
          <p:nvSpPr>
            <p:cNvPr id="40" name="Freeform 40"/>
            <p:cNvSpPr/>
            <p:nvPr/>
          </p:nvSpPr>
          <p:spPr>
            <a:xfrm>
              <a:off x="0" y="0"/>
              <a:ext cx="6993128" cy="1945640"/>
            </a:xfrm>
            <a:custGeom>
              <a:avLst/>
              <a:gdLst/>
              <a:ahLst/>
              <a:cxnLst/>
              <a:rect l="l" t="t" r="r" b="b"/>
              <a:pathLst>
                <a:path w="6993128" h="1945640">
                  <a:moveTo>
                    <a:pt x="0" y="222377"/>
                  </a:moveTo>
                  <a:cubicBezTo>
                    <a:pt x="0" y="99568"/>
                    <a:pt x="99568" y="0"/>
                    <a:pt x="222377" y="0"/>
                  </a:cubicBezTo>
                  <a:lnTo>
                    <a:pt x="6770751" y="0"/>
                  </a:lnTo>
                  <a:cubicBezTo>
                    <a:pt x="6893560" y="0"/>
                    <a:pt x="6993128" y="99568"/>
                    <a:pt x="6993128" y="222377"/>
                  </a:cubicBezTo>
                  <a:lnTo>
                    <a:pt x="6993128" y="1723263"/>
                  </a:lnTo>
                  <a:cubicBezTo>
                    <a:pt x="6993128" y="1846072"/>
                    <a:pt x="6893560" y="1945640"/>
                    <a:pt x="6770751" y="1945640"/>
                  </a:cubicBezTo>
                  <a:lnTo>
                    <a:pt x="222377" y="1945640"/>
                  </a:lnTo>
                  <a:cubicBezTo>
                    <a:pt x="99568" y="1945640"/>
                    <a:pt x="0" y="1846072"/>
                    <a:pt x="0" y="1723263"/>
                  </a:cubicBezTo>
                  <a:close/>
                </a:path>
              </a:pathLst>
            </a:custGeom>
            <a:solidFill>
              <a:srgbClr val="006838"/>
            </a:solidFill>
            <a:ln w="19050" cap="sq">
              <a:solidFill>
                <a:srgbClr val="006838"/>
              </a:solidFill>
              <a:prstDash val="solid"/>
              <a:miter/>
            </a:ln>
          </p:spPr>
        </p:sp>
      </p:grpSp>
      <p:grpSp>
        <p:nvGrpSpPr>
          <p:cNvPr id="41" name="Group 41"/>
          <p:cNvGrpSpPr/>
          <p:nvPr/>
        </p:nvGrpSpPr>
        <p:grpSpPr>
          <a:xfrm>
            <a:off x="12225147" y="3145155"/>
            <a:ext cx="5244846" cy="361950"/>
            <a:chOff x="0" y="0"/>
            <a:chExt cx="6993128" cy="482600"/>
          </a:xfrm>
        </p:grpSpPr>
        <p:sp>
          <p:nvSpPr>
            <p:cNvPr id="42" name="Freeform 42"/>
            <p:cNvSpPr/>
            <p:nvPr/>
          </p:nvSpPr>
          <p:spPr>
            <a:xfrm>
              <a:off x="0" y="0"/>
              <a:ext cx="6993128" cy="482600"/>
            </a:xfrm>
            <a:custGeom>
              <a:avLst/>
              <a:gdLst/>
              <a:ahLst/>
              <a:cxnLst/>
              <a:rect l="l" t="t" r="r" b="b"/>
              <a:pathLst>
                <a:path w="6993128" h="482600">
                  <a:moveTo>
                    <a:pt x="0" y="0"/>
                  </a:moveTo>
                  <a:lnTo>
                    <a:pt x="6993128" y="0"/>
                  </a:lnTo>
                  <a:lnTo>
                    <a:pt x="6993128" y="482600"/>
                  </a:lnTo>
                  <a:lnTo>
                    <a:pt x="0" y="482600"/>
                  </a:lnTo>
                  <a:close/>
                </a:path>
              </a:pathLst>
            </a:custGeom>
            <a:solidFill>
              <a:srgbClr val="006838"/>
            </a:solidFill>
            <a:ln w="19050" cap="sq">
              <a:solidFill>
                <a:srgbClr val="006838"/>
              </a:solidFill>
              <a:prstDash val="solid"/>
              <a:miter/>
            </a:ln>
          </p:spPr>
        </p:sp>
      </p:grpSp>
      <p:grpSp>
        <p:nvGrpSpPr>
          <p:cNvPr id="43" name="Group 43"/>
          <p:cNvGrpSpPr/>
          <p:nvPr/>
        </p:nvGrpSpPr>
        <p:grpSpPr>
          <a:xfrm>
            <a:off x="12646152" y="2221992"/>
            <a:ext cx="4402836" cy="1124712"/>
            <a:chOff x="0" y="0"/>
            <a:chExt cx="5870448" cy="1499616"/>
          </a:xfrm>
        </p:grpSpPr>
        <p:sp>
          <p:nvSpPr>
            <p:cNvPr id="44" name="Freeform 44"/>
            <p:cNvSpPr/>
            <p:nvPr/>
          </p:nvSpPr>
          <p:spPr>
            <a:xfrm>
              <a:off x="0" y="0"/>
              <a:ext cx="5870448" cy="1499616"/>
            </a:xfrm>
            <a:custGeom>
              <a:avLst/>
              <a:gdLst/>
              <a:ahLst/>
              <a:cxnLst/>
              <a:rect l="l" t="t" r="r" b="b"/>
              <a:pathLst>
                <a:path w="5870448" h="1499616">
                  <a:moveTo>
                    <a:pt x="0" y="0"/>
                  </a:moveTo>
                  <a:lnTo>
                    <a:pt x="5870448" y="0"/>
                  </a:lnTo>
                  <a:lnTo>
                    <a:pt x="5870448" y="1499616"/>
                  </a:lnTo>
                  <a:lnTo>
                    <a:pt x="0" y="1499616"/>
                  </a:lnTo>
                  <a:close/>
                </a:path>
              </a:pathLst>
            </a:custGeom>
            <a:blipFill>
              <a:blip r:embed="rId3">
                <a:alphaModFix amt="0"/>
              </a:blip>
              <a:stretch>
                <a:fillRect t="-26276" b="-26276"/>
              </a:stretch>
            </a:blipFill>
          </p:spPr>
        </p:sp>
        <p:sp>
          <p:nvSpPr>
            <p:cNvPr id="45" name="TextBox 45"/>
            <p:cNvSpPr txBox="1"/>
            <p:nvPr/>
          </p:nvSpPr>
          <p:spPr>
            <a:xfrm>
              <a:off x="0" y="0"/>
              <a:ext cx="5870448" cy="1499616"/>
            </a:xfrm>
            <a:prstGeom prst="rect">
              <a:avLst/>
            </a:prstGeom>
          </p:spPr>
          <p:txBody>
            <a:bodyPr lIns="0" tIns="0" rIns="0" bIns="0" rtlCol="0" anchor="ctr"/>
            <a:lstStyle/>
            <a:p>
              <a:pPr algn="l">
                <a:lnSpc>
                  <a:spcPts val="3060"/>
                </a:lnSpc>
              </a:pPr>
              <a:r>
                <a:rPr lang="en-US" sz="2550" b="1">
                  <a:solidFill>
                    <a:srgbClr val="FFFFFF"/>
                  </a:solidFill>
                  <a:latin typeface="Montserrat Bold"/>
                  <a:ea typeface="Montserrat Bold"/>
                  <a:cs typeface="Montserrat Bold"/>
                  <a:sym typeface="Montserrat Bold"/>
                </a:rPr>
                <a:t>03 — AI AGENT</a:t>
              </a:r>
            </a:p>
            <a:p>
              <a:pPr algn="l">
                <a:lnSpc>
                  <a:spcPts val="1889"/>
                </a:lnSpc>
              </a:pPr>
              <a:r>
                <a:rPr lang="en-US" sz="1575">
                  <a:solidFill>
                    <a:srgbClr val="DFF0E6"/>
                  </a:solidFill>
                  <a:latin typeface="Montserrat"/>
                  <a:ea typeface="Montserrat"/>
                  <a:cs typeface="Montserrat"/>
                  <a:sym typeface="Montserrat"/>
                </a:rPr>
                <a:t>TÔI GIAO MỤC TIÊU – AI TỰ TRIỂN KHAI</a:t>
              </a:r>
            </a:p>
          </p:txBody>
        </p:sp>
      </p:grpSp>
      <p:sp>
        <p:nvSpPr>
          <p:cNvPr id="46" name="TextBox 46"/>
          <p:cNvSpPr txBox="1"/>
          <p:nvPr/>
        </p:nvSpPr>
        <p:spPr>
          <a:xfrm>
            <a:off x="12646152" y="3811905"/>
            <a:ext cx="4402836" cy="3875292"/>
          </a:xfrm>
          <a:prstGeom prst="rect">
            <a:avLst/>
          </a:prstGeom>
        </p:spPr>
        <p:txBody>
          <a:bodyPr lIns="0" tIns="0" rIns="0" bIns="0" rtlCol="0" anchor="t">
            <a:spAutoFit/>
          </a:bodyPr>
          <a:lstStyle/>
          <a:p>
            <a:pPr algn="l">
              <a:lnSpc>
                <a:spcPts val="2822"/>
              </a:lnSpc>
            </a:pPr>
            <a:r>
              <a:rPr lang="en-US" sz="2100" b="1">
                <a:solidFill>
                  <a:srgbClr val="1E2B25"/>
                </a:solidFill>
                <a:latin typeface="Montserrat Bold"/>
                <a:ea typeface="Montserrat Bold"/>
                <a:cs typeface="Montserrat Bold"/>
                <a:sym typeface="Montserrat Bold"/>
              </a:rPr>
              <a:t>Nói kết quả cần đạt</a:t>
            </a:r>
          </a:p>
          <a:p>
            <a:pPr algn="just">
              <a:lnSpc>
                <a:spcPts val="2822"/>
              </a:lnSpc>
            </a:pPr>
            <a:r>
              <a:rPr lang="en-US" sz="2100">
                <a:solidFill>
                  <a:srgbClr val="1E2B25"/>
                </a:solidFill>
                <a:latin typeface="Montserrat"/>
                <a:ea typeface="Montserrat"/>
                <a:cs typeface="Montserrat"/>
                <a:sym typeface="Montserrat"/>
              </a:rPr>
              <a:t>→ AI chủ động quyết định nhiều hơn về cách thực hiện</a:t>
            </a:r>
          </a:p>
          <a:p>
            <a:pPr algn="just">
              <a:lnSpc>
                <a:spcPts val="1209"/>
              </a:lnSpc>
            </a:pPr>
            <a:r>
              <a:rPr lang="en-US" sz="900">
                <a:solidFill>
                  <a:srgbClr val="1E2B25"/>
                </a:solidFill>
                <a:latin typeface="Montserrat"/>
                <a:ea typeface="Montserrat"/>
                <a:cs typeface="Montserrat"/>
                <a:sym typeface="Montserrat"/>
              </a:rPr>
              <a:t> </a:t>
            </a:r>
          </a:p>
          <a:p>
            <a:pPr algn="just">
              <a:lnSpc>
                <a:spcPts val="2822"/>
              </a:lnSpc>
            </a:pPr>
            <a:r>
              <a:rPr lang="en-US" sz="2100" b="1">
                <a:solidFill>
                  <a:srgbClr val="006838"/>
                </a:solidFill>
                <a:latin typeface="Montserrat Bold"/>
                <a:ea typeface="Montserrat Bold"/>
                <a:cs typeface="Montserrat Bold"/>
                <a:sym typeface="Montserrat Bold"/>
              </a:rPr>
              <a:t>Ví dụ:</a:t>
            </a:r>
          </a:p>
          <a:p>
            <a:pPr algn="just">
              <a:lnSpc>
                <a:spcPts val="2822"/>
              </a:lnSpc>
            </a:pPr>
            <a:r>
              <a:rPr lang="en-US" sz="2100" i="1">
                <a:solidFill>
                  <a:srgbClr val="1E2B25"/>
                </a:solidFill>
                <a:latin typeface="Montserrat Italics"/>
                <a:ea typeface="Montserrat Italics"/>
                <a:cs typeface="Montserrat Italics"/>
                <a:sym typeface="Montserrat Italics"/>
              </a:rPr>
              <a:t>“Theo dõi tình hình tuyển dụng và cảnh báo những vị trí có nguy cơ không đạt SLA.”</a:t>
            </a:r>
          </a:p>
          <a:p>
            <a:pPr algn="just">
              <a:lnSpc>
                <a:spcPts val="1209"/>
              </a:lnSpc>
            </a:pPr>
            <a:r>
              <a:rPr lang="en-US" sz="900">
                <a:solidFill>
                  <a:srgbClr val="1E2B25"/>
                </a:solidFill>
                <a:latin typeface="Montserrat"/>
                <a:ea typeface="Montserrat"/>
                <a:cs typeface="Montserrat"/>
                <a:sym typeface="Montserrat"/>
              </a:rPr>
              <a:t> </a:t>
            </a:r>
          </a:p>
          <a:p>
            <a:pPr algn="just">
              <a:lnSpc>
                <a:spcPts val="2822"/>
              </a:lnSpc>
            </a:pPr>
            <a:r>
              <a:rPr lang="en-US" sz="2100">
                <a:solidFill>
                  <a:srgbClr val="1E2B25"/>
                </a:solidFill>
                <a:latin typeface="Montserrat"/>
                <a:ea typeface="Montserrat"/>
                <a:cs typeface="Montserrat"/>
                <a:sym typeface="Montserrat"/>
              </a:rPr>
              <a:t>Agent có thể:</a:t>
            </a:r>
          </a:p>
          <a:p>
            <a:pPr algn="just">
              <a:lnSpc>
                <a:spcPts val="2822"/>
              </a:lnSpc>
            </a:pPr>
            <a:r>
              <a:rPr lang="en-US" sz="2100" b="1">
                <a:solidFill>
                  <a:srgbClr val="1E2B25"/>
                </a:solidFill>
                <a:latin typeface="Montserrat Bold"/>
                <a:ea typeface="Montserrat Bold"/>
                <a:cs typeface="Montserrat Bold"/>
                <a:sym typeface="Montserrat Bold"/>
              </a:rPr>
              <a:t>Giám sát → Phát hiện → Điều tra → Đề xuất → Cảnh báo</a:t>
            </a:r>
          </a:p>
        </p:txBody>
      </p:sp>
      <p:grpSp>
        <p:nvGrpSpPr>
          <p:cNvPr id="47" name="Group 47"/>
          <p:cNvGrpSpPr/>
          <p:nvPr/>
        </p:nvGrpSpPr>
        <p:grpSpPr>
          <a:xfrm>
            <a:off x="12499467" y="8220075"/>
            <a:ext cx="4696206" cy="1047750"/>
            <a:chOff x="0" y="0"/>
            <a:chExt cx="6261608" cy="1397000"/>
          </a:xfrm>
        </p:grpSpPr>
        <p:sp>
          <p:nvSpPr>
            <p:cNvPr id="48" name="Freeform 48"/>
            <p:cNvSpPr/>
            <p:nvPr/>
          </p:nvSpPr>
          <p:spPr>
            <a:xfrm>
              <a:off x="0" y="0"/>
              <a:ext cx="6261608" cy="1397000"/>
            </a:xfrm>
            <a:custGeom>
              <a:avLst/>
              <a:gdLst/>
              <a:ahLst/>
              <a:cxnLst/>
              <a:rect l="l" t="t" r="r" b="b"/>
              <a:pathLst>
                <a:path w="6261608" h="1397000">
                  <a:moveTo>
                    <a:pt x="0" y="148971"/>
                  </a:moveTo>
                  <a:cubicBezTo>
                    <a:pt x="0" y="66675"/>
                    <a:pt x="66675" y="0"/>
                    <a:pt x="148971" y="0"/>
                  </a:cubicBezTo>
                  <a:lnTo>
                    <a:pt x="6112637" y="0"/>
                  </a:lnTo>
                  <a:cubicBezTo>
                    <a:pt x="6194933" y="0"/>
                    <a:pt x="6261608" y="66675"/>
                    <a:pt x="6261608" y="148971"/>
                  </a:cubicBezTo>
                  <a:lnTo>
                    <a:pt x="6261608" y="1248029"/>
                  </a:lnTo>
                  <a:cubicBezTo>
                    <a:pt x="6261608" y="1330325"/>
                    <a:pt x="6194933" y="1397000"/>
                    <a:pt x="6112637" y="1397000"/>
                  </a:cubicBezTo>
                  <a:lnTo>
                    <a:pt x="148971" y="1397000"/>
                  </a:lnTo>
                  <a:cubicBezTo>
                    <a:pt x="66675" y="1397000"/>
                    <a:pt x="0" y="1330325"/>
                    <a:pt x="0" y="1248029"/>
                  </a:cubicBezTo>
                  <a:close/>
                </a:path>
              </a:pathLst>
            </a:custGeom>
            <a:solidFill>
              <a:srgbClr val="FFF1E5"/>
            </a:solidFill>
            <a:ln w="19050" cap="sq">
              <a:solidFill>
                <a:srgbClr val="FFF1E5"/>
              </a:solidFill>
              <a:prstDash val="solid"/>
              <a:miter/>
            </a:ln>
          </p:spPr>
        </p:sp>
      </p:grpSp>
      <p:grpSp>
        <p:nvGrpSpPr>
          <p:cNvPr id="49" name="Group 49"/>
          <p:cNvGrpSpPr/>
          <p:nvPr/>
        </p:nvGrpSpPr>
        <p:grpSpPr>
          <a:xfrm>
            <a:off x="12573000" y="8229600"/>
            <a:ext cx="4696205" cy="1028700"/>
            <a:chOff x="0" y="0"/>
            <a:chExt cx="5687568" cy="1371600"/>
          </a:xfrm>
        </p:grpSpPr>
        <p:sp>
          <p:nvSpPr>
            <p:cNvPr id="50" name="Freeform 50"/>
            <p:cNvSpPr/>
            <p:nvPr/>
          </p:nvSpPr>
          <p:spPr>
            <a:xfrm>
              <a:off x="0" y="0"/>
              <a:ext cx="5687568" cy="1371600"/>
            </a:xfrm>
            <a:custGeom>
              <a:avLst/>
              <a:gdLst/>
              <a:ahLst/>
              <a:cxnLst/>
              <a:rect l="l" t="t" r="r" b="b"/>
              <a:pathLst>
                <a:path w="5687568" h="1371600">
                  <a:moveTo>
                    <a:pt x="0" y="0"/>
                  </a:moveTo>
                  <a:lnTo>
                    <a:pt x="5687568" y="0"/>
                  </a:lnTo>
                  <a:lnTo>
                    <a:pt x="5687568" y="1371600"/>
                  </a:lnTo>
                  <a:lnTo>
                    <a:pt x="0" y="1371600"/>
                  </a:lnTo>
                  <a:close/>
                </a:path>
              </a:pathLst>
            </a:custGeom>
            <a:blipFill>
              <a:blip r:embed="rId3">
                <a:alphaModFix amt="0"/>
              </a:blip>
              <a:stretch>
                <a:fillRect t="-30797" b="-30797"/>
              </a:stretch>
            </a:blipFill>
          </p:spPr>
        </p:sp>
        <p:sp>
          <p:nvSpPr>
            <p:cNvPr id="51" name="TextBox 51"/>
            <p:cNvSpPr txBox="1"/>
            <p:nvPr/>
          </p:nvSpPr>
          <p:spPr>
            <a:xfrm>
              <a:off x="0" y="0"/>
              <a:ext cx="5687568" cy="1371600"/>
            </a:xfrm>
            <a:prstGeom prst="rect">
              <a:avLst/>
            </a:prstGeom>
          </p:spPr>
          <p:txBody>
            <a:bodyPr lIns="0" tIns="0" rIns="0" bIns="0" rtlCol="0" anchor="ctr"/>
            <a:lstStyle/>
            <a:p>
              <a:pPr algn="l">
                <a:lnSpc>
                  <a:spcPts val="2430"/>
                </a:lnSpc>
              </a:pPr>
              <a:r>
                <a:rPr lang="en-US" sz="2025" b="1">
                  <a:solidFill>
                    <a:srgbClr val="C25700"/>
                  </a:solidFill>
                  <a:latin typeface="Montserrat Bold"/>
                  <a:ea typeface="Montserrat Bold"/>
                  <a:cs typeface="Montserrat Bold"/>
                  <a:sym typeface="Montserrat Bold"/>
                </a:rPr>
                <a:t>⇒ Giao ĐÍCH đến – AI tìm ĐƯỜNG.</a:t>
              </a:r>
            </a:p>
          </p:txBody>
        </p:sp>
      </p:gr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4"/>
          <p:cNvGrpSpPr/>
          <p:nvPr/>
        </p:nvGrpSpPr>
        <p:grpSpPr>
          <a:xfrm>
            <a:off x="822960" y="411480"/>
            <a:ext cx="15361920" cy="1371600"/>
            <a:chOff x="0" y="0"/>
            <a:chExt cx="20482560" cy="1828800"/>
          </a:xfrm>
        </p:grpSpPr>
        <p:sp>
          <p:nvSpPr>
            <p:cNvPr id="5" name="Freeform 5"/>
            <p:cNvSpPr/>
            <p:nvPr/>
          </p:nvSpPr>
          <p:spPr>
            <a:xfrm>
              <a:off x="0" y="0"/>
              <a:ext cx="20482561" cy="1828800"/>
            </a:xfrm>
            <a:custGeom>
              <a:avLst/>
              <a:gdLst/>
              <a:ahLst/>
              <a:cxnLst/>
              <a:rect l="l" t="t" r="r" b="b"/>
              <a:pathLst>
                <a:path w="20482561" h="1828800">
                  <a:moveTo>
                    <a:pt x="0" y="0"/>
                  </a:moveTo>
                  <a:lnTo>
                    <a:pt x="20482561" y="0"/>
                  </a:lnTo>
                  <a:lnTo>
                    <a:pt x="20482561" y="1828800"/>
                  </a:lnTo>
                  <a:lnTo>
                    <a:pt x="0" y="1828800"/>
                  </a:lnTo>
                  <a:close/>
                </a:path>
              </a:pathLst>
            </a:custGeom>
            <a:blipFill>
              <a:blip r:embed="rId3">
                <a:alphaModFix amt="0"/>
              </a:blip>
              <a:stretch>
                <a:fillRect t="-168232" b="-168232"/>
              </a:stretch>
            </a:blipFill>
          </p:spPr>
        </p:sp>
        <p:sp>
          <p:nvSpPr>
            <p:cNvPr id="6" name="TextBox 6"/>
            <p:cNvSpPr txBox="1"/>
            <p:nvPr/>
          </p:nvSpPr>
          <p:spPr>
            <a:xfrm>
              <a:off x="0" y="0"/>
              <a:ext cx="20482560" cy="1828800"/>
            </a:xfrm>
            <a:prstGeom prst="rect">
              <a:avLst/>
            </a:prstGeom>
          </p:spPr>
          <p:txBody>
            <a:bodyPr lIns="0" tIns="0" rIns="0" bIns="0" rtlCol="0" anchor="ctr"/>
            <a:lstStyle/>
            <a:p>
              <a:pPr algn="l">
                <a:lnSpc>
                  <a:spcPts val="4680"/>
                </a:lnSpc>
              </a:pPr>
              <a:r>
                <a:rPr lang="en-US" sz="3900" b="1">
                  <a:solidFill>
                    <a:srgbClr val="006838"/>
                  </a:solidFill>
                  <a:latin typeface="Montserrat Bold"/>
                  <a:ea typeface="Montserrat Bold"/>
                  <a:cs typeface="Montserrat Bold"/>
                  <a:sym typeface="Montserrat Bold"/>
                </a:rPr>
                <a:t>CHU TRÌNH LÀM VIỆC CÙNG AI – AI WORKFLOW</a:t>
              </a:r>
            </a:p>
          </p:txBody>
        </p:sp>
      </p:grpSp>
      <p:grpSp>
        <p:nvGrpSpPr>
          <p:cNvPr id="7" name="Group 7"/>
          <p:cNvGrpSpPr/>
          <p:nvPr/>
        </p:nvGrpSpPr>
        <p:grpSpPr>
          <a:xfrm>
            <a:off x="815816" y="5616416"/>
            <a:ext cx="5157788" cy="3854767"/>
            <a:chOff x="0" y="0"/>
            <a:chExt cx="6877050" cy="5139690"/>
          </a:xfrm>
        </p:grpSpPr>
        <p:sp>
          <p:nvSpPr>
            <p:cNvPr id="8" name="Freeform 8"/>
            <p:cNvSpPr/>
            <p:nvPr/>
          </p:nvSpPr>
          <p:spPr>
            <a:xfrm>
              <a:off x="0" y="0"/>
              <a:ext cx="6877050" cy="5139690"/>
            </a:xfrm>
            <a:custGeom>
              <a:avLst/>
              <a:gdLst/>
              <a:ahLst/>
              <a:cxnLst/>
              <a:rect l="l" t="t" r="r" b="b"/>
              <a:pathLst>
                <a:path w="6877050" h="5139690">
                  <a:moveTo>
                    <a:pt x="0" y="220345"/>
                  </a:moveTo>
                  <a:cubicBezTo>
                    <a:pt x="0" y="98679"/>
                    <a:pt x="98679" y="0"/>
                    <a:pt x="220345" y="0"/>
                  </a:cubicBezTo>
                  <a:lnTo>
                    <a:pt x="6656705" y="0"/>
                  </a:lnTo>
                  <a:cubicBezTo>
                    <a:pt x="6778372" y="0"/>
                    <a:pt x="6877050" y="98679"/>
                    <a:pt x="6877050" y="220345"/>
                  </a:cubicBezTo>
                  <a:lnTo>
                    <a:pt x="6877050" y="4919345"/>
                  </a:lnTo>
                  <a:cubicBezTo>
                    <a:pt x="6877050" y="5041011"/>
                    <a:pt x="6778372" y="5139690"/>
                    <a:pt x="6656705" y="5139690"/>
                  </a:cubicBezTo>
                  <a:lnTo>
                    <a:pt x="220345" y="5139690"/>
                  </a:lnTo>
                  <a:cubicBezTo>
                    <a:pt x="98679" y="5139690"/>
                    <a:pt x="0" y="5041011"/>
                    <a:pt x="0" y="4919345"/>
                  </a:cubicBezTo>
                  <a:close/>
                </a:path>
              </a:pathLst>
            </a:custGeom>
            <a:solidFill>
              <a:srgbClr val="E8F3ED"/>
            </a:solidFill>
            <a:ln w="14288" cap="sq">
              <a:solidFill>
                <a:srgbClr val="E8F3ED"/>
              </a:solidFill>
              <a:prstDash val="solid"/>
              <a:miter/>
            </a:ln>
          </p:spPr>
        </p:sp>
      </p:grpSp>
      <p:grpSp>
        <p:nvGrpSpPr>
          <p:cNvPr id="9" name="Group 9"/>
          <p:cNvGrpSpPr/>
          <p:nvPr/>
        </p:nvGrpSpPr>
        <p:grpSpPr>
          <a:xfrm>
            <a:off x="1293495" y="6094095"/>
            <a:ext cx="1253490" cy="1253490"/>
            <a:chOff x="0" y="0"/>
            <a:chExt cx="1671320" cy="1671320"/>
          </a:xfrm>
        </p:grpSpPr>
        <p:sp>
          <p:nvSpPr>
            <p:cNvPr id="10" name="Freeform 10"/>
            <p:cNvSpPr/>
            <p:nvPr/>
          </p:nvSpPr>
          <p:spPr>
            <a:xfrm>
              <a:off x="0" y="0"/>
              <a:ext cx="1671320" cy="1671320"/>
            </a:xfrm>
            <a:custGeom>
              <a:avLst/>
              <a:gdLst/>
              <a:ahLst/>
              <a:cxnLst/>
              <a:rect l="l" t="t" r="r" b="b"/>
              <a:pathLst>
                <a:path w="1671320" h="1671320">
                  <a:moveTo>
                    <a:pt x="0" y="835660"/>
                  </a:moveTo>
                  <a:cubicBezTo>
                    <a:pt x="0" y="374142"/>
                    <a:pt x="374142" y="0"/>
                    <a:pt x="835660" y="0"/>
                  </a:cubicBezTo>
                  <a:cubicBezTo>
                    <a:pt x="1297178" y="0"/>
                    <a:pt x="1671320" y="374142"/>
                    <a:pt x="1671320" y="835660"/>
                  </a:cubicBezTo>
                  <a:cubicBezTo>
                    <a:pt x="1671320" y="1297178"/>
                    <a:pt x="1297178" y="1671320"/>
                    <a:pt x="835660" y="1671320"/>
                  </a:cubicBezTo>
                  <a:cubicBezTo>
                    <a:pt x="374142" y="1671320"/>
                    <a:pt x="0" y="1297178"/>
                    <a:pt x="0" y="835660"/>
                  </a:cubicBezTo>
                  <a:close/>
                </a:path>
              </a:pathLst>
            </a:custGeom>
            <a:solidFill>
              <a:srgbClr val="006838"/>
            </a:solidFill>
            <a:ln w="19050" cap="sq">
              <a:solidFill>
                <a:srgbClr val="006838"/>
              </a:solidFill>
              <a:prstDash val="solid"/>
              <a:miter/>
            </a:ln>
          </p:spPr>
        </p:sp>
      </p:grpSp>
      <p:grpSp>
        <p:nvGrpSpPr>
          <p:cNvPr id="11" name="Group 11"/>
          <p:cNvGrpSpPr/>
          <p:nvPr/>
        </p:nvGrpSpPr>
        <p:grpSpPr>
          <a:xfrm>
            <a:off x="1623974" y="6424574"/>
            <a:ext cx="592531" cy="592531"/>
            <a:chOff x="0" y="0"/>
            <a:chExt cx="790042" cy="790042"/>
          </a:xfrm>
        </p:grpSpPr>
        <p:sp>
          <p:nvSpPr>
            <p:cNvPr id="12" name="Freeform 12" descr="preencoded.png"/>
            <p:cNvSpPr/>
            <p:nvPr/>
          </p:nvSpPr>
          <p:spPr>
            <a:xfrm>
              <a:off x="0" y="0"/>
              <a:ext cx="790067" cy="790067"/>
            </a:xfrm>
            <a:custGeom>
              <a:avLst/>
              <a:gdLst/>
              <a:ahLst/>
              <a:cxnLst/>
              <a:rect l="l" t="t" r="r" b="b"/>
              <a:pathLst>
                <a:path w="790067" h="790067">
                  <a:moveTo>
                    <a:pt x="0" y="0"/>
                  </a:moveTo>
                  <a:lnTo>
                    <a:pt x="790067" y="0"/>
                  </a:lnTo>
                  <a:lnTo>
                    <a:pt x="790067" y="790067"/>
                  </a:lnTo>
                  <a:lnTo>
                    <a:pt x="0" y="790067"/>
                  </a:lnTo>
                  <a:lnTo>
                    <a:pt x="0" y="0"/>
                  </a:lnTo>
                  <a:close/>
                </a:path>
              </a:pathLst>
            </a:custGeom>
            <a:blipFill>
              <a:blip r:embed="rId4"/>
              <a:stretch>
                <a:fillRect r="3" b="3"/>
              </a:stretch>
            </a:blipFill>
          </p:spPr>
        </p:sp>
      </p:grpSp>
      <p:grpSp>
        <p:nvGrpSpPr>
          <p:cNvPr id="13" name="Group 13"/>
          <p:cNvGrpSpPr/>
          <p:nvPr/>
        </p:nvGrpSpPr>
        <p:grpSpPr>
          <a:xfrm>
            <a:off x="4114800" y="6103620"/>
            <a:ext cx="1371600" cy="1234440"/>
            <a:chOff x="0" y="0"/>
            <a:chExt cx="1828800" cy="1645920"/>
          </a:xfrm>
        </p:grpSpPr>
        <p:sp>
          <p:nvSpPr>
            <p:cNvPr id="14" name="Freeform 14"/>
            <p:cNvSpPr/>
            <p:nvPr/>
          </p:nvSpPr>
          <p:spPr>
            <a:xfrm>
              <a:off x="0" y="0"/>
              <a:ext cx="1828800" cy="1645920"/>
            </a:xfrm>
            <a:custGeom>
              <a:avLst/>
              <a:gdLst/>
              <a:ahLst/>
              <a:cxnLst/>
              <a:rect l="l" t="t" r="r" b="b"/>
              <a:pathLst>
                <a:path w="1828800" h="1645920">
                  <a:moveTo>
                    <a:pt x="0" y="0"/>
                  </a:moveTo>
                  <a:lnTo>
                    <a:pt x="1828800" y="0"/>
                  </a:lnTo>
                  <a:lnTo>
                    <a:pt x="1828800" y="1645920"/>
                  </a:lnTo>
                  <a:lnTo>
                    <a:pt x="0" y="1645920"/>
                  </a:lnTo>
                  <a:close/>
                </a:path>
              </a:pathLst>
            </a:custGeom>
            <a:blipFill>
              <a:blip r:embed="rId3">
                <a:alphaModFix amt="0"/>
              </a:blip>
              <a:stretch>
                <a:fillRect l="-65473" r="-65473"/>
              </a:stretch>
            </a:blipFill>
          </p:spPr>
        </p:sp>
        <p:sp>
          <p:nvSpPr>
            <p:cNvPr id="15" name="TextBox 15"/>
            <p:cNvSpPr txBox="1"/>
            <p:nvPr/>
          </p:nvSpPr>
          <p:spPr>
            <a:xfrm>
              <a:off x="0" y="0"/>
              <a:ext cx="1828800" cy="1645920"/>
            </a:xfrm>
            <a:prstGeom prst="rect">
              <a:avLst/>
            </a:prstGeom>
          </p:spPr>
          <p:txBody>
            <a:bodyPr lIns="0" tIns="0" rIns="0" bIns="0" rtlCol="0" anchor="ctr"/>
            <a:lstStyle/>
            <a:p>
              <a:pPr algn="r">
                <a:lnSpc>
                  <a:spcPts val="6480"/>
                </a:lnSpc>
              </a:pPr>
              <a:r>
                <a:rPr lang="en-US" sz="5400" b="1">
                  <a:solidFill>
                    <a:srgbClr val="FF7300"/>
                  </a:solidFill>
                  <a:latin typeface="Montserrat Bold"/>
                  <a:ea typeface="Montserrat Bold"/>
                  <a:cs typeface="Montserrat Bold"/>
                  <a:sym typeface="Montserrat Bold"/>
                </a:rPr>
                <a:t>01</a:t>
              </a:r>
            </a:p>
          </p:txBody>
        </p:sp>
      </p:grpSp>
      <p:sp>
        <p:nvSpPr>
          <p:cNvPr id="16" name="TextBox 16"/>
          <p:cNvSpPr txBox="1"/>
          <p:nvPr/>
        </p:nvSpPr>
        <p:spPr>
          <a:xfrm>
            <a:off x="1303020" y="7612380"/>
            <a:ext cx="4183380" cy="822960"/>
          </a:xfrm>
          <a:prstGeom prst="rect">
            <a:avLst/>
          </a:prstGeom>
        </p:spPr>
        <p:txBody>
          <a:bodyPr lIns="0" tIns="0" rIns="0" bIns="0" rtlCol="0" anchor="t">
            <a:spAutoFit/>
          </a:bodyPr>
          <a:lstStyle/>
          <a:p>
            <a:pPr algn="l">
              <a:lnSpc>
                <a:spcPts val="4680"/>
              </a:lnSpc>
            </a:pPr>
            <a:r>
              <a:rPr lang="en-US" sz="3900" b="1">
                <a:solidFill>
                  <a:srgbClr val="006838"/>
                </a:solidFill>
                <a:latin typeface="Montserrat Bold"/>
                <a:ea typeface="Montserrat Bold"/>
                <a:cs typeface="Montserrat Bold"/>
                <a:sym typeface="Montserrat Bold"/>
              </a:rPr>
              <a:t>ASSISTANT</a:t>
            </a:r>
          </a:p>
        </p:txBody>
      </p:sp>
      <p:sp>
        <p:nvSpPr>
          <p:cNvPr id="17" name="TextBox 17"/>
          <p:cNvSpPr txBox="1"/>
          <p:nvPr/>
        </p:nvSpPr>
        <p:spPr>
          <a:xfrm>
            <a:off x="1303020" y="8503920"/>
            <a:ext cx="4183380" cy="409575"/>
          </a:xfrm>
          <a:prstGeom prst="rect">
            <a:avLst/>
          </a:prstGeom>
        </p:spPr>
        <p:txBody>
          <a:bodyPr lIns="0" tIns="0" rIns="0" bIns="0" rtlCol="0" anchor="t">
            <a:spAutoFit/>
          </a:bodyPr>
          <a:lstStyle/>
          <a:p>
            <a:pPr algn="l">
              <a:lnSpc>
                <a:spcPts val="3240"/>
              </a:lnSpc>
            </a:pPr>
            <a:r>
              <a:rPr lang="en-US" sz="2700">
                <a:solidFill>
                  <a:srgbClr val="1E2B25"/>
                </a:solidFill>
                <a:latin typeface="Montserrat"/>
                <a:ea typeface="Montserrat"/>
                <a:cs typeface="Montserrat"/>
                <a:sym typeface="Montserrat"/>
              </a:rPr>
              <a:t>Giao </a:t>
            </a:r>
            <a:r>
              <a:rPr lang="en-US" sz="2700" b="1">
                <a:solidFill>
                  <a:srgbClr val="FF7300"/>
                </a:solidFill>
                <a:latin typeface="Montserrat Bold"/>
                <a:ea typeface="Montserrat Bold"/>
                <a:cs typeface="Montserrat Bold"/>
                <a:sym typeface="Montserrat Bold"/>
              </a:rPr>
              <a:t>TASK</a:t>
            </a:r>
          </a:p>
        </p:txBody>
      </p:sp>
      <p:grpSp>
        <p:nvGrpSpPr>
          <p:cNvPr id="18" name="Group 18"/>
          <p:cNvGrpSpPr/>
          <p:nvPr/>
        </p:nvGrpSpPr>
        <p:grpSpPr>
          <a:xfrm>
            <a:off x="6562820" y="4039076"/>
            <a:ext cx="5157788" cy="5432108"/>
            <a:chOff x="0" y="0"/>
            <a:chExt cx="6877050" cy="7242810"/>
          </a:xfrm>
        </p:grpSpPr>
        <p:sp>
          <p:nvSpPr>
            <p:cNvPr id="19" name="Freeform 19"/>
            <p:cNvSpPr/>
            <p:nvPr/>
          </p:nvSpPr>
          <p:spPr>
            <a:xfrm>
              <a:off x="0" y="0"/>
              <a:ext cx="6877050" cy="7242810"/>
            </a:xfrm>
            <a:custGeom>
              <a:avLst/>
              <a:gdLst/>
              <a:ahLst/>
              <a:cxnLst/>
              <a:rect l="l" t="t" r="r" b="b"/>
              <a:pathLst>
                <a:path w="6877050" h="7242810">
                  <a:moveTo>
                    <a:pt x="0" y="220091"/>
                  </a:moveTo>
                  <a:cubicBezTo>
                    <a:pt x="0" y="98552"/>
                    <a:pt x="98552" y="0"/>
                    <a:pt x="220091" y="0"/>
                  </a:cubicBezTo>
                  <a:lnTo>
                    <a:pt x="6656959" y="0"/>
                  </a:lnTo>
                  <a:cubicBezTo>
                    <a:pt x="6778498" y="0"/>
                    <a:pt x="6877050" y="98552"/>
                    <a:pt x="6877050" y="220091"/>
                  </a:cubicBezTo>
                  <a:lnTo>
                    <a:pt x="6877050" y="7022719"/>
                  </a:lnTo>
                  <a:cubicBezTo>
                    <a:pt x="6877050" y="7144258"/>
                    <a:pt x="6778498" y="7242810"/>
                    <a:pt x="6656959" y="7242810"/>
                  </a:cubicBezTo>
                  <a:lnTo>
                    <a:pt x="220091" y="7242810"/>
                  </a:lnTo>
                  <a:cubicBezTo>
                    <a:pt x="98552" y="7242810"/>
                    <a:pt x="0" y="7144258"/>
                    <a:pt x="0" y="7022719"/>
                  </a:cubicBezTo>
                  <a:close/>
                </a:path>
              </a:pathLst>
            </a:custGeom>
            <a:solidFill>
              <a:srgbClr val="3D8F63"/>
            </a:solidFill>
            <a:ln w="14288" cap="sq">
              <a:solidFill>
                <a:srgbClr val="3D8F63"/>
              </a:solidFill>
              <a:prstDash val="solid"/>
              <a:miter/>
            </a:ln>
          </p:spPr>
        </p:sp>
      </p:grpSp>
      <p:grpSp>
        <p:nvGrpSpPr>
          <p:cNvPr id="20" name="Group 20"/>
          <p:cNvGrpSpPr/>
          <p:nvPr/>
        </p:nvGrpSpPr>
        <p:grpSpPr>
          <a:xfrm>
            <a:off x="7040499" y="4516755"/>
            <a:ext cx="1253490" cy="1253490"/>
            <a:chOff x="0" y="0"/>
            <a:chExt cx="1671320" cy="1671320"/>
          </a:xfrm>
        </p:grpSpPr>
        <p:sp>
          <p:nvSpPr>
            <p:cNvPr id="21" name="Freeform 21"/>
            <p:cNvSpPr/>
            <p:nvPr/>
          </p:nvSpPr>
          <p:spPr>
            <a:xfrm>
              <a:off x="0" y="0"/>
              <a:ext cx="1671320" cy="1671320"/>
            </a:xfrm>
            <a:custGeom>
              <a:avLst/>
              <a:gdLst/>
              <a:ahLst/>
              <a:cxnLst/>
              <a:rect l="l" t="t" r="r" b="b"/>
              <a:pathLst>
                <a:path w="1671320" h="1671320">
                  <a:moveTo>
                    <a:pt x="0" y="835660"/>
                  </a:moveTo>
                  <a:cubicBezTo>
                    <a:pt x="0" y="374142"/>
                    <a:pt x="374142" y="0"/>
                    <a:pt x="835660" y="0"/>
                  </a:cubicBezTo>
                  <a:cubicBezTo>
                    <a:pt x="1297178" y="0"/>
                    <a:pt x="1671320" y="374142"/>
                    <a:pt x="1671320" y="835660"/>
                  </a:cubicBezTo>
                  <a:cubicBezTo>
                    <a:pt x="1671320" y="1297178"/>
                    <a:pt x="1297178" y="1671320"/>
                    <a:pt x="835660" y="1671320"/>
                  </a:cubicBezTo>
                  <a:cubicBezTo>
                    <a:pt x="374142" y="1671320"/>
                    <a:pt x="0" y="1297178"/>
                    <a:pt x="0" y="835660"/>
                  </a:cubicBezTo>
                  <a:close/>
                </a:path>
              </a:pathLst>
            </a:custGeom>
            <a:solidFill>
              <a:srgbClr val="FFFFFF"/>
            </a:solidFill>
            <a:ln w="19050" cap="sq">
              <a:solidFill>
                <a:srgbClr val="FFFFFF"/>
              </a:solidFill>
              <a:prstDash val="solid"/>
              <a:miter/>
            </a:ln>
          </p:spPr>
        </p:sp>
      </p:grpSp>
      <p:grpSp>
        <p:nvGrpSpPr>
          <p:cNvPr id="22" name="Group 22"/>
          <p:cNvGrpSpPr/>
          <p:nvPr/>
        </p:nvGrpSpPr>
        <p:grpSpPr>
          <a:xfrm>
            <a:off x="7370978" y="4847234"/>
            <a:ext cx="592531" cy="592531"/>
            <a:chOff x="0" y="0"/>
            <a:chExt cx="790042" cy="790042"/>
          </a:xfrm>
        </p:grpSpPr>
        <p:sp>
          <p:nvSpPr>
            <p:cNvPr id="23" name="Freeform 23" descr="preencoded.png"/>
            <p:cNvSpPr/>
            <p:nvPr/>
          </p:nvSpPr>
          <p:spPr>
            <a:xfrm>
              <a:off x="0" y="0"/>
              <a:ext cx="790067" cy="790067"/>
            </a:xfrm>
            <a:custGeom>
              <a:avLst/>
              <a:gdLst/>
              <a:ahLst/>
              <a:cxnLst/>
              <a:rect l="l" t="t" r="r" b="b"/>
              <a:pathLst>
                <a:path w="790067" h="790067">
                  <a:moveTo>
                    <a:pt x="0" y="0"/>
                  </a:moveTo>
                  <a:lnTo>
                    <a:pt x="790067" y="0"/>
                  </a:lnTo>
                  <a:lnTo>
                    <a:pt x="790067" y="790067"/>
                  </a:lnTo>
                  <a:lnTo>
                    <a:pt x="0" y="790067"/>
                  </a:lnTo>
                  <a:lnTo>
                    <a:pt x="0" y="0"/>
                  </a:lnTo>
                  <a:close/>
                </a:path>
              </a:pathLst>
            </a:custGeom>
            <a:blipFill>
              <a:blip r:embed="rId5"/>
              <a:stretch>
                <a:fillRect r="3" b="3"/>
              </a:stretch>
            </a:blipFill>
          </p:spPr>
        </p:sp>
      </p:grpSp>
      <p:grpSp>
        <p:nvGrpSpPr>
          <p:cNvPr id="24" name="Group 24"/>
          <p:cNvGrpSpPr/>
          <p:nvPr/>
        </p:nvGrpSpPr>
        <p:grpSpPr>
          <a:xfrm>
            <a:off x="9861804" y="4526280"/>
            <a:ext cx="1371600" cy="1234440"/>
            <a:chOff x="0" y="0"/>
            <a:chExt cx="1828800" cy="1645920"/>
          </a:xfrm>
        </p:grpSpPr>
        <p:sp>
          <p:nvSpPr>
            <p:cNvPr id="25" name="Freeform 25"/>
            <p:cNvSpPr/>
            <p:nvPr/>
          </p:nvSpPr>
          <p:spPr>
            <a:xfrm>
              <a:off x="0" y="0"/>
              <a:ext cx="1828800" cy="1645920"/>
            </a:xfrm>
            <a:custGeom>
              <a:avLst/>
              <a:gdLst/>
              <a:ahLst/>
              <a:cxnLst/>
              <a:rect l="l" t="t" r="r" b="b"/>
              <a:pathLst>
                <a:path w="1828800" h="1645920">
                  <a:moveTo>
                    <a:pt x="0" y="0"/>
                  </a:moveTo>
                  <a:lnTo>
                    <a:pt x="1828800" y="0"/>
                  </a:lnTo>
                  <a:lnTo>
                    <a:pt x="1828800" y="1645920"/>
                  </a:lnTo>
                  <a:lnTo>
                    <a:pt x="0" y="1645920"/>
                  </a:lnTo>
                  <a:close/>
                </a:path>
              </a:pathLst>
            </a:custGeom>
            <a:blipFill>
              <a:blip r:embed="rId3">
                <a:alphaModFix amt="0"/>
              </a:blip>
              <a:stretch>
                <a:fillRect l="-65473" r="-65473"/>
              </a:stretch>
            </a:blipFill>
          </p:spPr>
        </p:sp>
        <p:sp>
          <p:nvSpPr>
            <p:cNvPr id="26" name="TextBox 26"/>
            <p:cNvSpPr txBox="1"/>
            <p:nvPr/>
          </p:nvSpPr>
          <p:spPr>
            <a:xfrm>
              <a:off x="0" y="0"/>
              <a:ext cx="1828800" cy="1645920"/>
            </a:xfrm>
            <a:prstGeom prst="rect">
              <a:avLst/>
            </a:prstGeom>
          </p:spPr>
          <p:txBody>
            <a:bodyPr lIns="0" tIns="0" rIns="0" bIns="0" rtlCol="0" anchor="ctr"/>
            <a:lstStyle/>
            <a:p>
              <a:pPr algn="r">
                <a:lnSpc>
                  <a:spcPts val="6480"/>
                </a:lnSpc>
              </a:pPr>
              <a:r>
                <a:rPr lang="en-US" sz="5400" b="1">
                  <a:solidFill>
                    <a:srgbClr val="FF7300"/>
                  </a:solidFill>
                  <a:latin typeface="Montserrat Bold"/>
                  <a:ea typeface="Montserrat Bold"/>
                  <a:cs typeface="Montserrat Bold"/>
                  <a:sym typeface="Montserrat Bold"/>
                </a:rPr>
                <a:t>02</a:t>
              </a:r>
            </a:p>
          </p:txBody>
        </p:sp>
      </p:grpSp>
      <p:sp>
        <p:nvSpPr>
          <p:cNvPr id="27" name="TextBox 27"/>
          <p:cNvSpPr txBox="1"/>
          <p:nvPr/>
        </p:nvSpPr>
        <p:spPr>
          <a:xfrm>
            <a:off x="7050024" y="6035040"/>
            <a:ext cx="4183380" cy="822960"/>
          </a:xfrm>
          <a:prstGeom prst="rect">
            <a:avLst/>
          </a:prstGeom>
        </p:spPr>
        <p:txBody>
          <a:bodyPr lIns="0" tIns="0" rIns="0" bIns="0" rtlCol="0" anchor="t">
            <a:spAutoFit/>
          </a:bodyPr>
          <a:lstStyle/>
          <a:p>
            <a:pPr algn="l">
              <a:lnSpc>
                <a:spcPts val="4680"/>
              </a:lnSpc>
            </a:pPr>
            <a:r>
              <a:rPr lang="en-US" sz="3900" b="1">
                <a:solidFill>
                  <a:srgbClr val="FFFFFF"/>
                </a:solidFill>
                <a:latin typeface="Montserrat Bold"/>
                <a:ea typeface="Montserrat Bold"/>
                <a:cs typeface="Montserrat Bold"/>
                <a:sym typeface="Montserrat Bold"/>
              </a:rPr>
              <a:t>WORKFLOW</a:t>
            </a:r>
          </a:p>
        </p:txBody>
      </p:sp>
      <p:sp>
        <p:nvSpPr>
          <p:cNvPr id="28" name="TextBox 28"/>
          <p:cNvSpPr txBox="1"/>
          <p:nvPr/>
        </p:nvSpPr>
        <p:spPr>
          <a:xfrm>
            <a:off x="7050024" y="6926580"/>
            <a:ext cx="4183380" cy="409575"/>
          </a:xfrm>
          <a:prstGeom prst="rect">
            <a:avLst/>
          </a:prstGeom>
          <a:noFill/>
        </p:spPr>
        <p:txBody>
          <a:bodyPr lIns="0" tIns="0" rIns="0" bIns="0" rtlCol="0" anchor="t">
            <a:spAutoFit/>
          </a:bodyPr>
          <a:lstStyle/>
          <a:p>
            <a:pPr algn="l">
              <a:lnSpc>
                <a:spcPts val="3240"/>
              </a:lnSpc>
            </a:pPr>
            <a:r>
              <a:rPr lang="en-US" sz="2700">
                <a:solidFill>
                  <a:srgbClr val="FFFFFF"/>
                </a:solidFill>
                <a:latin typeface="Montserrat"/>
                <a:ea typeface="Montserrat"/>
                <a:cs typeface="Montserrat"/>
                <a:sym typeface="Montserrat"/>
              </a:rPr>
              <a:t>Thiết kế </a:t>
            </a:r>
            <a:r>
              <a:rPr lang="en-US" sz="2700" b="1">
                <a:solidFill>
                  <a:schemeClr val="accent6"/>
                </a:solidFill>
                <a:latin typeface="Montserrat Bold"/>
                <a:ea typeface="Montserrat Bold"/>
                <a:cs typeface="Montserrat Bold"/>
                <a:sym typeface="Montserrat Bold"/>
              </a:rPr>
              <a:t>PROCESS</a:t>
            </a:r>
          </a:p>
        </p:txBody>
      </p:sp>
      <p:grpSp>
        <p:nvGrpSpPr>
          <p:cNvPr id="29" name="Group 29"/>
          <p:cNvGrpSpPr/>
          <p:nvPr/>
        </p:nvGrpSpPr>
        <p:grpSpPr>
          <a:xfrm>
            <a:off x="12309824" y="2461736"/>
            <a:ext cx="5157788" cy="7009447"/>
            <a:chOff x="0" y="0"/>
            <a:chExt cx="6877050" cy="9345930"/>
          </a:xfrm>
        </p:grpSpPr>
        <p:sp>
          <p:nvSpPr>
            <p:cNvPr id="30" name="Freeform 30"/>
            <p:cNvSpPr/>
            <p:nvPr/>
          </p:nvSpPr>
          <p:spPr>
            <a:xfrm>
              <a:off x="0" y="0"/>
              <a:ext cx="6877050" cy="9345930"/>
            </a:xfrm>
            <a:custGeom>
              <a:avLst/>
              <a:gdLst/>
              <a:ahLst/>
              <a:cxnLst/>
              <a:rect l="l" t="t" r="r" b="b"/>
              <a:pathLst>
                <a:path w="6877050" h="9345930">
                  <a:moveTo>
                    <a:pt x="0" y="220091"/>
                  </a:moveTo>
                  <a:cubicBezTo>
                    <a:pt x="0" y="98552"/>
                    <a:pt x="98552" y="0"/>
                    <a:pt x="220091" y="0"/>
                  </a:cubicBezTo>
                  <a:lnTo>
                    <a:pt x="6656959" y="0"/>
                  </a:lnTo>
                  <a:cubicBezTo>
                    <a:pt x="6778498" y="0"/>
                    <a:pt x="6877050" y="98552"/>
                    <a:pt x="6877050" y="220091"/>
                  </a:cubicBezTo>
                  <a:lnTo>
                    <a:pt x="6877050" y="9125839"/>
                  </a:lnTo>
                  <a:cubicBezTo>
                    <a:pt x="6877050" y="9247378"/>
                    <a:pt x="6778498" y="9345930"/>
                    <a:pt x="6656959" y="9345930"/>
                  </a:cubicBezTo>
                  <a:lnTo>
                    <a:pt x="220091" y="9345930"/>
                  </a:lnTo>
                  <a:cubicBezTo>
                    <a:pt x="98552" y="9345930"/>
                    <a:pt x="0" y="9247378"/>
                    <a:pt x="0" y="9125839"/>
                  </a:cubicBezTo>
                  <a:close/>
                </a:path>
              </a:pathLst>
            </a:custGeom>
            <a:solidFill>
              <a:srgbClr val="006838"/>
            </a:solidFill>
            <a:ln w="14288" cap="sq">
              <a:solidFill>
                <a:srgbClr val="006838"/>
              </a:solidFill>
              <a:prstDash val="solid"/>
              <a:miter/>
            </a:ln>
          </p:spPr>
        </p:sp>
      </p:grpSp>
      <p:grpSp>
        <p:nvGrpSpPr>
          <p:cNvPr id="31" name="Group 31"/>
          <p:cNvGrpSpPr/>
          <p:nvPr/>
        </p:nvGrpSpPr>
        <p:grpSpPr>
          <a:xfrm>
            <a:off x="12787503" y="2939415"/>
            <a:ext cx="1253490" cy="1253490"/>
            <a:chOff x="0" y="0"/>
            <a:chExt cx="1671320" cy="1671320"/>
          </a:xfrm>
        </p:grpSpPr>
        <p:sp>
          <p:nvSpPr>
            <p:cNvPr id="32" name="Freeform 32"/>
            <p:cNvSpPr/>
            <p:nvPr/>
          </p:nvSpPr>
          <p:spPr>
            <a:xfrm>
              <a:off x="0" y="0"/>
              <a:ext cx="1671320" cy="1671320"/>
            </a:xfrm>
            <a:custGeom>
              <a:avLst/>
              <a:gdLst/>
              <a:ahLst/>
              <a:cxnLst/>
              <a:rect l="l" t="t" r="r" b="b"/>
              <a:pathLst>
                <a:path w="1671320" h="1671320">
                  <a:moveTo>
                    <a:pt x="0" y="835660"/>
                  </a:moveTo>
                  <a:cubicBezTo>
                    <a:pt x="0" y="374142"/>
                    <a:pt x="374142" y="0"/>
                    <a:pt x="835660" y="0"/>
                  </a:cubicBezTo>
                  <a:cubicBezTo>
                    <a:pt x="1297178" y="0"/>
                    <a:pt x="1671320" y="374142"/>
                    <a:pt x="1671320" y="835660"/>
                  </a:cubicBezTo>
                  <a:cubicBezTo>
                    <a:pt x="1671320" y="1297178"/>
                    <a:pt x="1297178" y="1671320"/>
                    <a:pt x="835660" y="1671320"/>
                  </a:cubicBezTo>
                  <a:cubicBezTo>
                    <a:pt x="374142" y="1671320"/>
                    <a:pt x="0" y="1297178"/>
                    <a:pt x="0" y="835660"/>
                  </a:cubicBezTo>
                  <a:close/>
                </a:path>
              </a:pathLst>
            </a:custGeom>
            <a:solidFill>
              <a:srgbClr val="FFFFFF"/>
            </a:solidFill>
            <a:ln w="19050" cap="sq">
              <a:solidFill>
                <a:srgbClr val="FFFFFF"/>
              </a:solidFill>
              <a:prstDash val="solid"/>
              <a:miter/>
            </a:ln>
          </p:spPr>
        </p:sp>
      </p:grpSp>
      <p:grpSp>
        <p:nvGrpSpPr>
          <p:cNvPr id="33" name="Group 33"/>
          <p:cNvGrpSpPr/>
          <p:nvPr/>
        </p:nvGrpSpPr>
        <p:grpSpPr>
          <a:xfrm>
            <a:off x="13117982" y="3269894"/>
            <a:ext cx="592531" cy="592531"/>
            <a:chOff x="0" y="0"/>
            <a:chExt cx="790042" cy="790042"/>
          </a:xfrm>
        </p:grpSpPr>
        <p:sp>
          <p:nvSpPr>
            <p:cNvPr id="34" name="Freeform 34" descr="preencoded.png"/>
            <p:cNvSpPr/>
            <p:nvPr/>
          </p:nvSpPr>
          <p:spPr>
            <a:xfrm>
              <a:off x="0" y="0"/>
              <a:ext cx="790067" cy="790067"/>
            </a:xfrm>
            <a:custGeom>
              <a:avLst/>
              <a:gdLst/>
              <a:ahLst/>
              <a:cxnLst/>
              <a:rect l="l" t="t" r="r" b="b"/>
              <a:pathLst>
                <a:path w="790067" h="790067">
                  <a:moveTo>
                    <a:pt x="0" y="0"/>
                  </a:moveTo>
                  <a:lnTo>
                    <a:pt x="790067" y="0"/>
                  </a:lnTo>
                  <a:lnTo>
                    <a:pt x="790067" y="790067"/>
                  </a:lnTo>
                  <a:lnTo>
                    <a:pt x="0" y="790067"/>
                  </a:lnTo>
                  <a:lnTo>
                    <a:pt x="0" y="0"/>
                  </a:lnTo>
                  <a:close/>
                </a:path>
              </a:pathLst>
            </a:custGeom>
            <a:blipFill>
              <a:blip r:embed="rId6"/>
              <a:stretch>
                <a:fillRect r="3" b="3"/>
              </a:stretch>
            </a:blipFill>
          </p:spPr>
        </p:sp>
      </p:grpSp>
      <p:grpSp>
        <p:nvGrpSpPr>
          <p:cNvPr id="35" name="Group 35"/>
          <p:cNvGrpSpPr/>
          <p:nvPr/>
        </p:nvGrpSpPr>
        <p:grpSpPr>
          <a:xfrm>
            <a:off x="15608808" y="2948940"/>
            <a:ext cx="1371600" cy="1234440"/>
            <a:chOff x="0" y="0"/>
            <a:chExt cx="1828800" cy="1645920"/>
          </a:xfrm>
        </p:grpSpPr>
        <p:sp>
          <p:nvSpPr>
            <p:cNvPr id="36" name="Freeform 36"/>
            <p:cNvSpPr/>
            <p:nvPr/>
          </p:nvSpPr>
          <p:spPr>
            <a:xfrm>
              <a:off x="0" y="0"/>
              <a:ext cx="1828800" cy="1645920"/>
            </a:xfrm>
            <a:custGeom>
              <a:avLst/>
              <a:gdLst/>
              <a:ahLst/>
              <a:cxnLst/>
              <a:rect l="l" t="t" r="r" b="b"/>
              <a:pathLst>
                <a:path w="1828800" h="1645920">
                  <a:moveTo>
                    <a:pt x="0" y="0"/>
                  </a:moveTo>
                  <a:lnTo>
                    <a:pt x="1828800" y="0"/>
                  </a:lnTo>
                  <a:lnTo>
                    <a:pt x="1828800" y="1645920"/>
                  </a:lnTo>
                  <a:lnTo>
                    <a:pt x="0" y="1645920"/>
                  </a:lnTo>
                  <a:close/>
                </a:path>
              </a:pathLst>
            </a:custGeom>
            <a:blipFill>
              <a:blip r:embed="rId3">
                <a:alphaModFix amt="0"/>
              </a:blip>
              <a:stretch>
                <a:fillRect l="-65473" r="-65473"/>
              </a:stretch>
            </a:blipFill>
          </p:spPr>
        </p:sp>
        <p:sp>
          <p:nvSpPr>
            <p:cNvPr id="37" name="TextBox 37"/>
            <p:cNvSpPr txBox="1"/>
            <p:nvPr/>
          </p:nvSpPr>
          <p:spPr>
            <a:xfrm>
              <a:off x="0" y="0"/>
              <a:ext cx="1828800" cy="1645920"/>
            </a:xfrm>
            <a:prstGeom prst="rect">
              <a:avLst/>
            </a:prstGeom>
          </p:spPr>
          <p:txBody>
            <a:bodyPr lIns="0" tIns="0" rIns="0" bIns="0" rtlCol="0" anchor="ctr"/>
            <a:lstStyle/>
            <a:p>
              <a:pPr algn="r">
                <a:lnSpc>
                  <a:spcPts val="6480"/>
                </a:lnSpc>
              </a:pPr>
              <a:r>
                <a:rPr lang="en-US" sz="5400" b="1">
                  <a:solidFill>
                    <a:srgbClr val="FF7300"/>
                  </a:solidFill>
                  <a:latin typeface="Montserrat Bold"/>
                  <a:ea typeface="Montserrat Bold"/>
                  <a:cs typeface="Montserrat Bold"/>
                  <a:sym typeface="Montserrat Bold"/>
                </a:rPr>
                <a:t>03</a:t>
              </a:r>
            </a:p>
          </p:txBody>
        </p:sp>
      </p:grpSp>
      <p:sp>
        <p:nvSpPr>
          <p:cNvPr id="38" name="TextBox 38"/>
          <p:cNvSpPr txBox="1"/>
          <p:nvPr/>
        </p:nvSpPr>
        <p:spPr>
          <a:xfrm>
            <a:off x="12797028" y="4457700"/>
            <a:ext cx="4183380" cy="822960"/>
          </a:xfrm>
          <a:prstGeom prst="rect">
            <a:avLst/>
          </a:prstGeom>
        </p:spPr>
        <p:txBody>
          <a:bodyPr lIns="0" tIns="0" rIns="0" bIns="0" rtlCol="0" anchor="t">
            <a:spAutoFit/>
          </a:bodyPr>
          <a:lstStyle/>
          <a:p>
            <a:pPr algn="l">
              <a:lnSpc>
                <a:spcPts val="4680"/>
              </a:lnSpc>
            </a:pPr>
            <a:r>
              <a:rPr lang="en-US" sz="3900" b="1">
                <a:solidFill>
                  <a:srgbClr val="FFFFFF"/>
                </a:solidFill>
                <a:latin typeface="Montserrat Bold"/>
                <a:ea typeface="Montserrat Bold"/>
                <a:cs typeface="Montserrat Bold"/>
                <a:sym typeface="Montserrat Bold"/>
              </a:rPr>
              <a:t>AGENT</a:t>
            </a:r>
          </a:p>
        </p:txBody>
      </p:sp>
      <p:sp>
        <p:nvSpPr>
          <p:cNvPr id="39" name="TextBox 39"/>
          <p:cNvSpPr txBox="1"/>
          <p:nvPr/>
        </p:nvSpPr>
        <p:spPr>
          <a:xfrm>
            <a:off x="12797028" y="5349240"/>
            <a:ext cx="4183380" cy="409575"/>
          </a:xfrm>
          <a:prstGeom prst="rect">
            <a:avLst/>
          </a:prstGeom>
        </p:spPr>
        <p:txBody>
          <a:bodyPr lIns="0" tIns="0" rIns="0" bIns="0" rtlCol="0" anchor="t">
            <a:spAutoFit/>
          </a:bodyPr>
          <a:lstStyle/>
          <a:p>
            <a:pPr algn="l">
              <a:lnSpc>
                <a:spcPts val="3240"/>
              </a:lnSpc>
            </a:pPr>
            <a:r>
              <a:rPr lang="en-US" sz="2700">
                <a:solidFill>
                  <a:srgbClr val="FFFFFF"/>
                </a:solidFill>
                <a:latin typeface="Montserrat"/>
                <a:ea typeface="Montserrat"/>
                <a:cs typeface="Montserrat"/>
                <a:sym typeface="Montserrat"/>
              </a:rPr>
              <a:t>Giao </a:t>
            </a:r>
            <a:r>
              <a:rPr lang="en-US" sz="2700" b="1">
                <a:solidFill>
                  <a:schemeClr val="accent6"/>
                </a:solidFill>
                <a:latin typeface="Montserrat Bold"/>
                <a:ea typeface="Montserrat Bold"/>
                <a:cs typeface="Montserrat Bold"/>
                <a:sym typeface="Montserrat Bold"/>
              </a:rPr>
              <a:t>GOAL</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reeform 3"/>
          <p:cNvSpPr/>
          <p:nvPr/>
        </p:nvSpPr>
        <p:spPr>
          <a:xfrm>
            <a:off x="0" y="0"/>
            <a:ext cx="6096000" cy="3429000"/>
          </a:xfrm>
          <a:custGeom>
            <a:avLst/>
            <a:gdLst/>
            <a:ahLst/>
            <a:cxnLst/>
            <a:rect l="l" t="t" r="r" b="b"/>
            <a:pathLst>
              <a:path w="6096000" h="3429000">
                <a:moveTo>
                  <a:pt x="0" y="0"/>
                </a:moveTo>
                <a:lnTo>
                  <a:pt x="6096000" y="0"/>
                </a:lnTo>
                <a:lnTo>
                  <a:pt x="6096000" y="3429000"/>
                </a:lnTo>
                <a:lnTo>
                  <a:pt x="0" y="3429000"/>
                </a:lnTo>
                <a:lnTo>
                  <a:pt x="0" y="0"/>
                </a:lnTo>
                <a:close/>
              </a:path>
            </a:pathLst>
          </a:custGeom>
          <a:blipFill>
            <a:blip r:embed="rId3"/>
            <a:stretch>
              <a:fillRect/>
            </a:stretch>
          </a:blipFill>
        </p:spPr>
      </p:sp>
      <p:sp>
        <p:nvSpPr>
          <p:cNvPr id="4" name="Freeform 4"/>
          <p:cNvSpPr/>
          <p:nvPr/>
        </p:nvSpPr>
        <p:spPr>
          <a:xfrm>
            <a:off x="1085850" y="857250"/>
            <a:ext cx="1095375" cy="857250"/>
          </a:xfrm>
          <a:custGeom>
            <a:avLst/>
            <a:gdLst/>
            <a:ahLst/>
            <a:cxnLst/>
            <a:rect l="l" t="t" r="r" b="b"/>
            <a:pathLst>
              <a:path w="1095375" h="857250">
                <a:moveTo>
                  <a:pt x="0" y="0"/>
                </a:moveTo>
                <a:lnTo>
                  <a:pt x="1095375" y="0"/>
                </a:lnTo>
                <a:lnTo>
                  <a:pt x="1095375" y="857250"/>
                </a:lnTo>
                <a:lnTo>
                  <a:pt x="0" y="857250"/>
                </a:lnTo>
                <a:lnTo>
                  <a:pt x="0" y="0"/>
                </a:lnTo>
                <a:close/>
              </a:path>
            </a:pathLst>
          </a:custGeom>
          <a:blipFill>
            <a:blip r:embed="rId4"/>
            <a:stretch>
              <a:fillRect/>
            </a:stretch>
          </a:blipFill>
        </p:spPr>
      </p:sp>
      <p:sp>
        <p:nvSpPr>
          <p:cNvPr id="5" name="Freeform 5"/>
          <p:cNvSpPr/>
          <p:nvPr/>
        </p:nvSpPr>
        <p:spPr>
          <a:xfrm>
            <a:off x="0" y="3209925"/>
            <a:ext cx="1743075" cy="1724025"/>
          </a:xfrm>
          <a:custGeom>
            <a:avLst/>
            <a:gdLst/>
            <a:ahLst/>
            <a:cxnLst/>
            <a:rect l="l" t="t" r="r" b="b"/>
            <a:pathLst>
              <a:path w="1743075" h="1724025">
                <a:moveTo>
                  <a:pt x="0" y="0"/>
                </a:moveTo>
                <a:lnTo>
                  <a:pt x="1743075" y="0"/>
                </a:lnTo>
                <a:lnTo>
                  <a:pt x="1743075" y="1724025"/>
                </a:lnTo>
                <a:lnTo>
                  <a:pt x="0" y="1724025"/>
                </a:lnTo>
                <a:lnTo>
                  <a:pt x="0" y="0"/>
                </a:lnTo>
                <a:close/>
              </a:path>
            </a:pathLst>
          </a:custGeom>
          <a:blipFill>
            <a:blip r:embed="rId5"/>
            <a:stretch>
              <a:fillRect/>
            </a:stretch>
          </a:blipFill>
        </p:spPr>
      </p:sp>
      <p:sp>
        <p:nvSpPr>
          <p:cNvPr id="6" name="Freeform 6"/>
          <p:cNvSpPr/>
          <p:nvPr/>
        </p:nvSpPr>
        <p:spPr>
          <a:xfrm>
            <a:off x="1952625" y="3209925"/>
            <a:ext cx="1971675" cy="4505325"/>
          </a:xfrm>
          <a:custGeom>
            <a:avLst/>
            <a:gdLst/>
            <a:ahLst/>
            <a:cxnLst/>
            <a:rect l="l" t="t" r="r" b="b"/>
            <a:pathLst>
              <a:path w="1971675" h="4505325">
                <a:moveTo>
                  <a:pt x="0" y="0"/>
                </a:moveTo>
                <a:lnTo>
                  <a:pt x="1971675" y="0"/>
                </a:lnTo>
                <a:lnTo>
                  <a:pt x="1971675" y="4505325"/>
                </a:lnTo>
                <a:lnTo>
                  <a:pt x="0" y="4505325"/>
                </a:lnTo>
                <a:lnTo>
                  <a:pt x="0" y="0"/>
                </a:lnTo>
                <a:close/>
              </a:path>
            </a:pathLst>
          </a:custGeom>
          <a:blipFill>
            <a:blip r:embed="rId6"/>
            <a:stretch>
              <a:fillRect/>
            </a:stretch>
          </a:blipFill>
        </p:spPr>
      </p:sp>
      <p:sp>
        <p:nvSpPr>
          <p:cNvPr id="7" name="Freeform 7"/>
          <p:cNvSpPr/>
          <p:nvPr/>
        </p:nvSpPr>
        <p:spPr>
          <a:xfrm>
            <a:off x="0" y="4286250"/>
            <a:ext cx="18288000" cy="6000750"/>
          </a:xfrm>
          <a:custGeom>
            <a:avLst/>
            <a:gdLst/>
            <a:ahLst/>
            <a:cxnLst/>
            <a:rect l="l" t="t" r="r" b="b"/>
            <a:pathLst>
              <a:path w="18288000" h="6000750">
                <a:moveTo>
                  <a:pt x="0" y="0"/>
                </a:moveTo>
                <a:lnTo>
                  <a:pt x="18288000" y="0"/>
                </a:lnTo>
                <a:lnTo>
                  <a:pt x="18288000" y="6000750"/>
                </a:lnTo>
                <a:lnTo>
                  <a:pt x="0" y="6000750"/>
                </a:lnTo>
                <a:lnTo>
                  <a:pt x="0" y="0"/>
                </a:lnTo>
                <a:close/>
              </a:path>
            </a:pathLst>
          </a:custGeom>
          <a:blipFill>
            <a:blip r:embed="rId7"/>
            <a:stretch>
              <a:fillRect/>
            </a:stretch>
          </a:blipFill>
        </p:spPr>
      </p:sp>
      <p:sp>
        <p:nvSpPr>
          <p:cNvPr id="8" name="TextBox 8"/>
          <p:cNvSpPr txBox="1"/>
          <p:nvPr/>
        </p:nvSpPr>
        <p:spPr>
          <a:xfrm>
            <a:off x="4133850" y="3507581"/>
            <a:ext cx="12769596" cy="3416320"/>
          </a:xfrm>
          <a:prstGeom prst="rect">
            <a:avLst/>
          </a:prstGeom>
        </p:spPr>
        <p:txBody>
          <a:bodyPr lIns="0" tIns="0" rIns="0" bIns="0" rtlCol="0" anchor="t">
            <a:spAutoFit/>
          </a:bodyPr>
          <a:lstStyle/>
          <a:p>
            <a:pPr algn="ctr">
              <a:spcBef>
                <a:spcPts val="600"/>
              </a:spcBef>
              <a:spcAft>
                <a:spcPts val="600"/>
              </a:spcAft>
            </a:pPr>
            <a:r>
              <a:rPr lang="en-US" sz="4800" b="1" spc="-131">
                <a:solidFill>
                  <a:srgbClr val="206846"/>
                </a:solidFill>
                <a:latin typeface="Montserrat" panose="020B0604020202020204" charset="0"/>
                <a:ea typeface="Asap Semi-Bold"/>
                <a:cs typeface="Asap Semi-Bold"/>
                <a:sym typeface="Asap Semi-Bold"/>
              </a:rPr>
              <a:t>Thực hành:</a:t>
            </a:r>
          </a:p>
          <a:p>
            <a:pPr algn="ctr">
              <a:spcBef>
                <a:spcPts val="600"/>
              </a:spcBef>
              <a:spcAft>
                <a:spcPts val="600"/>
              </a:spcAft>
            </a:pPr>
            <a:r>
              <a:rPr lang="en-US" sz="4800">
                <a:latin typeface="Montserrat" panose="020B0604020202020204" charset="0"/>
              </a:rPr>
              <a:t>Viết prompt “Xử lý báo cáo tháng” </a:t>
            </a:r>
          </a:p>
          <a:p>
            <a:pPr algn="ctr">
              <a:spcBef>
                <a:spcPts val="600"/>
              </a:spcBef>
              <a:spcAft>
                <a:spcPts val="600"/>
              </a:spcAft>
            </a:pPr>
            <a:r>
              <a:rPr lang="en-US" sz="4800">
                <a:latin typeface="Montserrat" panose="020B0604020202020204" charset="0"/>
              </a:rPr>
              <a:t>theo 3 cấp độ: </a:t>
            </a:r>
          </a:p>
          <a:p>
            <a:pPr algn="ctr">
              <a:spcBef>
                <a:spcPts val="600"/>
              </a:spcBef>
              <a:spcAft>
                <a:spcPts val="600"/>
              </a:spcAft>
            </a:pPr>
            <a:r>
              <a:rPr lang="en-US" sz="4800" b="1">
                <a:latin typeface="Montserrat" panose="020B0604020202020204" charset="0"/>
              </a:rPr>
              <a:t>TASK – PROCESS - GOAL </a:t>
            </a:r>
            <a:endParaRPr lang="en-US" sz="4800" b="1" spc="-131">
              <a:solidFill>
                <a:srgbClr val="206846"/>
              </a:solidFill>
              <a:latin typeface="Montserrat" panose="020B0604020202020204" charset="0"/>
              <a:ea typeface="Asap Semi-Bold"/>
              <a:cs typeface="Asap Semi-Bold"/>
              <a:sym typeface="Asap Semi-Bold"/>
            </a:endParaRPr>
          </a:p>
        </p:txBody>
      </p:sp>
    </p:spTree>
  </p:cSld>
  <p:clrMapOvr>
    <a:masterClrMapping/>
  </p:clrMapOvr>
  <p:transition>
    <p:fade/>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4"/>
          <p:cNvGrpSpPr/>
          <p:nvPr/>
        </p:nvGrpSpPr>
        <p:grpSpPr>
          <a:xfrm>
            <a:off x="822960" y="411480"/>
            <a:ext cx="15361920" cy="1371600"/>
            <a:chOff x="0" y="0"/>
            <a:chExt cx="20482560" cy="1828800"/>
          </a:xfrm>
        </p:grpSpPr>
        <p:sp>
          <p:nvSpPr>
            <p:cNvPr id="5" name="Freeform 5"/>
            <p:cNvSpPr/>
            <p:nvPr/>
          </p:nvSpPr>
          <p:spPr>
            <a:xfrm>
              <a:off x="0" y="0"/>
              <a:ext cx="20482561" cy="1828800"/>
            </a:xfrm>
            <a:custGeom>
              <a:avLst/>
              <a:gdLst/>
              <a:ahLst/>
              <a:cxnLst/>
              <a:rect l="l" t="t" r="r" b="b"/>
              <a:pathLst>
                <a:path w="20482561" h="1828800">
                  <a:moveTo>
                    <a:pt x="0" y="0"/>
                  </a:moveTo>
                  <a:lnTo>
                    <a:pt x="20482561" y="0"/>
                  </a:lnTo>
                  <a:lnTo>
                    <a:pt x="20482561" y="1828800"/>
                  </a:lnTo>
                  <a:lnTo>
                    <a:pt x="0" y="1828800"/>
                  </a:lnTo>
                  <a:close/>
                </a:path>
              </a:pathLst>
            </a:custGeom>
            <a:blipFill>
              <a:blip r:embed="rId3">
                <a:alphaModFix amt="0"/>
              </a:blip>
              <a:stretch>
                <a:fillRect t="-168232" b="-168232"/>
              </a:stretch>
            </a:blipFill>
          </p:spPr>
        </p:sp>
        <p:sp>
          <p:nvSpPr>
            <p:cNvPr id="6" name="TextBox 6"/>
            <p:cNvSpPr txBox="1"/>
            <p:nvPr/>
          </p:nvSpPr>
          <p:spPr>
            <a:xfrm>
              <a:off x="0" y="0"/>
              <a:ext cx="20482560" cy="1828800"/>
            </a:xfrm>
            <a:prstGeom prst="rect">
              <a:avLst/>
            </a:prstGeom>
          </p:spPr>
          <p:txBody>
            <a:bodyPr lIns="0" tIns="0" rIns="0" bIns="0" rtlCol="0" anchor="ctr"/>
            <a:lstStyle/>
            <a:p>
              <a:pPr algn="l">
                <a:lnSpc>
                  <a:spcPts val="4680"/>
                </a:lnSpc>
              </a:pPr>
              <a:r>
                <a:rPr lang="en-US" sz="3900" b="1">
                  <a:solidFill>
                    <a:srgbClr val="006838"/>
                  </a:solidFill>
                  <a:latin typeface="Montserrat Bold"/>
                  <a:ea typeface="Montserrat Bold"/>
                  <a:cs typeface="Montserrat Bold"/>
                  <a:sym typeface="Montserrat Bold"/>
                </a:rPr>
                <a:t>03 CẤP ĐỘ LÀM VIỆC CÙNG AI</a:t>
              </a:r>
            </a:p>
          </p:txBody>
        </p:sp>
      </p:grpSp>
      <p:grpSp>
        <p:nvGrpSpPr>
          <p:cNvPr id="7" name="Group 7"/>
          <p:cNvGrpSpPr/>
          <p:nvPr/>
        </p:nvGrpSpPr>
        <p:grpSpPr>
          <a:xfrm>
            <a:off x="815816" y="2050256"/>
            <a:ext cx="5240084" cy="7489507"/>
            <a:chOff x="0" y="0"/>
            <a:chExt cx="6986778" cy="9986010"/>
          </a:xfrm>
        </p:grpSpPr>
        <p:sp>
          <p:nvSpPr>
            <p:cNvPr id="8" name="Freeform 8"/>
            <p:cNvSpPr/>
            <p:nvPr/>
          </p:nvSpPr>
          <p:spPr>
            <a:xfrm>
              <a:off x="0" y="0"/>
              <a:ext cx="6986778" cy="9986010"/>
            </a:xfrm>
            <a:custGeom>
              <a:avLst/>
              <a:gdLst/>
              <a:ahLst/>
              <a:cxnLst/>
              <a:rect l="l" t="t" r="r" b="b"/>
              <a:pathLst>
                <a:path w="6986778" h="9986010">
                  <a:moveTo>
                    <a:pt x="0" y="220091"/>
                  </a:moveTo>
                  <a:cubicBezTo>
                    <a:pt x="0" y="98552"/>
                    <a:pt x="98552" y="0"/>
                    <a:pt x="220091" y="0"/>
                  </a:cubicBezTo>
                  <a:lnTo>
                    <a:pt x="6766687" y="0"/>
                  </a:lnTo>
                  <a:cubicBezTo>
                    <a:pt x="6888226" y="0"/>
                    <a:pt x="6986778" y="98552"/>
                    <a:pt x="6986778" y="220091"/>
                  </a:cubicBezTo>
                  <a:lnTo>
                    <a:pt x="6986778" y="9765919"/>
                  </a:lnTo>
                  <a:cubicBezTo>
                    <a:pt x="6986778" y="9887458"/>
                    <a:pt x="6888226" y="9986010"/>
                    <a:pt x="6766687" y="9986010"/>
                  </a:cubicBezTo>
                  <a:lnTo>
                    <a:pt x="220091" y="9986010"/>
                  </a:lnTo>
                  <a:cubicBezTo>
                    <a:pt x="98552" y="9986010"/>
                    <a:pt x="0" y="9887458"/>
                    <a:pt x="0" y="9765919"/>
                  </a:cubicBezTo>
                  <a:close/>
                </a:path>
              </a:pathLst>
            </a:custGeom>
            <a:solidFill>
              <a:srgbClr val="F5F8F6"/>
            </a:solidFill>
            <a:ln w="14288" cap="sq">
              <a:solidFill>
                <a:srgbClr val="DCE6E0"/>
              </a:solidFill>
              <a:prstDash val="solid"/>
              <a:miter/>
            </a:ln>
          </p:spPr>
        </p:sp>
      </p:grpSp>
      <p:grpSp>
        <p:nvGrpSpPr>
          <p:cNvPr id="9" name="Group 9"/>
          <p:cNvGrpSpPr/>
          <p:nvPr/>
        </p:nvGrpSpPr>
        <p:grpSpPr>
          <a:xfrm>
            <a:off x="813435" y="2047875"/>
            <a:ext cx="5244846" cy="1459230"/>
            <a:chOff x="0" y="0"/>
            <a:chExt cx="6993128" cy="1945640"/>
          </a:xfrm>
        </p:grpSpPr>
        <p:sp>
          <p:nvSpPr>
            <p:cNvPr id="10" name="Freeform 10"/>
            <p:cNvSpPr/>
            <p:nvPr/>
          </p:nvSpPr>
          <p:spPr>
            <a:xfrm>
              <a:off x="0" y="0"/>
              <a:ext cx="6993128" cy="1945640"/>
            </a:xfrm>
            <a:custGeom>
              <a:avLst/>
              <a:gdLst/>
              <a:ahLst/>
              <a:cxnLst/>
              <a:rect l="l" t="t" r="r" b="b"/>
              <a:pathLst>
                <a:path w="6993128" h="1945640">
                  <a:moveTo>
                    <a:pt x="0" y="222377"/>
                  </a:moveTo>
                  <a:cubicBezTo>
                    <a:pt x="0" y="99568"/>
                    <a:pt x="99568" y="0"/>
                    <a:pt x="222377" y="0"/>
                  </a:cubicBezTo>
                  <a:lnTo>
                    <a:pt x="6770751" y="0"/>
                  </a:lnTo>
                  <a:cubicBezTo>
                    <a:pt x="6893560" y="0"/>
                    <a:pt x="6993128" y="99568"/>
                    <a:pt x="6993128" y="222377"/>
                  </a:cubicBezTo>
                  <a:lnTo>
                    <a:pt x="6993128" y="1723263"/>
                  </a:lnTo>
                  <a:cubicBezTo>
                    <a:pt x="6993128" y="1846072"/>
                    <a:pt x="6893560" y="1945640"/>
                    <a:pt x="6770751" y="1945640"/>
                  </a:cubicBezTo>
                  <a:lnTo>
                    <a:pt x="222377" y="1945640"/>
                  </a:lnTo>
                  <a:cubicBezTo>
                    <a:pt x="99568" y="1945640"/>
                    <a:pt x="0" y="1846072"/>
                    <a:pt x="0" y="1723263"/>
                  </a:cubicBezTo>
                  <a:close/>
                </a:path>
              </a:pathLst>
            </a:custGeom>
            <a:solidFill>
              <a:srgbClr val="3D8F63"/>
            </a:solidFill>
            <a:ln w="19050" cap="sq">
              <a:solidFill>
                <a:srgbClr val="3D8F63"/>
              </a:solidFill>
              <a:prstDash val="solid"/>
              <a:miter/>
            </a:ln>
          </p:spPr>
        </p:sp>
      </p:grpSp>
      <p:grpSp>
        <p:nvGrpSpPr>
          <p:cNvPr id="11" name="Group 11"/>
          <p:cNvGrpSpPr/>
          <p:nvPr/>
        </p:nvGrpSpPr>
        <p:grpSpPr>
          <a:xfrm>
            <a:off x="813435" y="3145155"/>
            <a:ext cx="5244846" cy="361950"/>
            <a:chOff x="0" y="0"/>
            <a:chExt cx="6993128" cy="482600"/>
          </a:xfrm>
        </p:grpSpPr>
        <p:sp>
          <p:nvSpPr>
            <p:cNvPr id="12" name="Freeform 12"/>
            <p:cNvSpPr/>
            <p:nvPr/>
          </p:nvSpPr>
          <p:spPr>
            <a:xfrm>
              <a:off x="0" y="0"/>
              <a:ext cx="6993128" cy="482600"/>
            </a:xfrm>
            <a:custGeom>
              <a:avLst/>
              <a:gdLst/>
              <a:ahLst/>
              <a:cxnLst/>
              <a:rect l="l" t="t" r="r" b="b"/>
              <a:pathLst>
                <a:path w="6993128" h="482600">
                  <a:moveTo>
                    <a:pt x="0" y="0"/>
                  </a:moveTo>
                  <a:lnTo>
                    <a:pt x="6993128" y="0"/>
                  </a:lnTo>
                  <a:lnTo>
                    <a:pt x="6993128" y="482600"/>
                  </a:lnTo>
                  <a:lnTo>
                    <a:pt x="0" y="482600"/>
                  </a:lnTo>
                  <a:close/>
                </a:path>
              </a:pathLst>
            </a:custGeom>
            <a:solidFill>
              <a:srgbClr val="3D8F63"/>
            </a:solidFill>
            <a:ln w="19050" cap="sq">
              <a:solidFill>
                <a:srgbClr val="3D8F63"/>
              </a:solidFill>
              <a:prstDash val="solid"/>
              <a:miter/>
            </a:ln>
          </p:spPr>
        </p:sp>
      </p:grpSp>
      <p:grpSp>
        <p:nvGrpSpPr>
          <p:cNvPr id="13" name="Group 13"/>
          <p:cNvGrpSpPr/>
          <p:nvPr/>
        </p:nvGrpSpPr>
        <p:grpSpPr>
          <a:xfrm>
            <a:off x="1234440" y="2221992"/>
            <a:ext cx="4402836" cy="1124712"/>
            <a:chOff x="0" y="0"/>
            <a:chExt cx="5870448" cy="1499616"/>
          </a:xfrm>
        </p:grpSpPr>
        <p:sp>
          <p:nvSpPr>
            <p:cNvPr id="14" name="Freeform 14"/>
            <p:cNvSpPr/>
            <p:nvPr/>
          </p:nvSpPr>
          <p:spPr>
            <a:xfrm>
              <a:off x="0" y="0"/>
              <a:ext cx="5870448" cy="1499616"/>
            </a:xfrm>
            <a:custGeom>
              <a:avLst/>
              <a:gdLst/>
              <a:ahLst/>
              <a:cxnLst/>
              <a:rect l="l" t="t" r="r" b="b"/>
              <a:pathLst>
                <a:path w="5870448" h="1499616">
                  <a:moveTo>
                    <a:pt x="0" y="0"/>
                  </a:moveTo>
                  <a:lnTo>
                    <a:pt x="5870448" y="0"/>
                  </a:lnTo>
                  <a:lnTo>
                    <a:pt x="5870448" y="1499616"/>
                  </a:lnTo>
                  <a:lnTo>
                    <a:pt x="0" y="1499616"/>
                  </a:lnTo>
                  <a:close/>
                </a:path>
              </a:pathLst>
            </a:custGeom>
            <a:blipFill>
              <a:blip r:embed="rId3">
                <a:alphaModFix amt="0"/>
              </a:blip>
              <a:stretch>
                <a:fillRect t="-26276" b="-26276"/>
              </a:stretch>
            </a:blipFill>
          </p:spPr>
        </p:sp>
        <p:sp>
          <p:nvSpPr>
            <p:cNvPr id="15" name="TextBox 15"/>
            <p:cNvSpPr txBox="1"/>
            <p:nvPr/>
          </p:nvSpPr>
          <p:spPr>
            <a:xfrm>
              <a:off x="0" y="0"/>
              <a:ext cx="5870448" cy="1499616"/>
            </a:xfrm>
            <a:prstGeom prst="rect">
              <a:avLst/>
            </a:prstGeom>
          </p:spPr>
          <p:txBody>
            <a:bodyPr lIns="0" tIns="0" rIns="0" bIns="0" rtlCol="0" anchor="ctr"/>
            <a:lstStyle/>
            <a:p>
              <a:pPr algn="l">
                <a:lnSpc>
                  <a:spcPts val="3060"/>
                </a:lnSpc>
              </a:pPr>
              <a:r>
                <a:rPr lang="en-US" sz="2550" b="1">
                  <a:solidFill>
                    <a:srgbClr val="FFFFFF"/>
                  </a:solidFill>
                  <a:latin typeface="Montserrat Bold"/>
                  <a:ea typeface="Montserrat Bold"/>
                  <a:cs typeface="Montserrat Bold"/>
                  <a:sym typeface="Montserrat Bold"/>
                </a:rPr>
                <a:t>01 — AI ASSISTANT</a:t>
              </a:r>
            </a:p>
            <a:p>
              <a:pPr algn="l">
                <a:lnSpc>
                  <a:spcPts val="1889"/>
                </a:lnSpc>
              </a:pPr>
              <a:r>
                <a:rPr lang="en-US" sz="1575">
                  <a:solidFill>
                    <a:srgbClr val="DFF0E6"/>
                  </a:solidFill>
                  <a:latin typeface="Montserrat"/>
                  <a:ea typeface="Montserrat"/>
                  <a:cs typeface="Montserrat"/>
                  <a:sym typeface="Montserrat"/>
                </a:rPr>
                <a:t>TÔI LÀM – AI HỖ TRỢ</a:t>
              </a:r>
            </a:p>
          </p:txBody>
        </p:sp>
      </p:grpSp>
      <p:sp>
        <p:nvSpPr>
          <p:cNvPr id="16" name="TextBox 16"/>
          <p:cNvSpPr txBox="1"/>
          <p:nvPr/>
        </p:nvSpPr>
        <p:spPr>
          <a:xfrm>
            <a:off x="1234440" y="3811905"/>
            <a:ext cx="4402836" cy="2462213"/>
          </a:xfrm>
          <a:prstGeom prst="rect">
            <a:avLst/>
          </a:prstGeom>
        </p:spPr>
        <p:txBody>
          <a:bodyPr lIns="0" tIns="0" rIns="0" bIns="0" rtlCol="0" anchor="t">
            <a:spAutoFit/>
          </a:bodyPr>
          <a:lstStyle/>
          <a:p>
            <a:pPr marL="285750" indent="-285750" algn="just">
              <a:spcBef>
                <a:spcPts val="600"/>
              </a:spcBef>
              <a:spcAft>
                <a:spcPts val="600"/>
              </a:spcAft>
              <a:buFont typeface="Arial" panose="020B0604020202020204" pitchFamily="34" charset="0"/>
              <a:buChar char="•"/>
            </a:pPr>
            <a:r>
              <a:rPr lang="en-US" sz="2000">
                <a:latin typeface="Montserrat" panose="020B0604020202020204" charset="0"/>
              </a:rPr>
              <a:t>Vẽ cho tôi cái biểu đồ hình tròn từ bảng số liệu này.</a:t>
            </a:r>
          </a:p>
          <a:p>
            <a:pPr marL="285750" indent="-285750" algn="just">
              <a:spcBef>
                <a:spcPts val="600"/>
              </a:spcBef>
              <a:spcAft>
                <a:spcPts val="600"/>
              </a:spcAft>
              <a:buFont typeface="Arial" panose="020B0604020202020204" pitchFamily="34" charset="0"/>
              <a:buChar char="•"/>
            </a:pPr>
            <a:r>
              <a:rPr lang="en-US" sz="2000">
                <a:latin typeface="Montserrat" panose="020B0604020202020204" charset="0"/>
              </a:rPr>
              <a:t>Tóm tắt cho tôi 3 trang báo cáo của phòng Sales thành 1 đoạn văn ngắn.</a:t>
            </a:r>
          </a:p>
          <a:p>
            <a:pPr marL="285750" indent="-285750" algn="just">
              <a:spcBef>
                <a:spcPts val="600"/>
              </a:spcBef>
              <a:spcAft>
                <a:spcPts val="600"/>
              </a:spcAft>
              <a:buFont typeface="Arial" panose="020B0604020202020204" pitchFamily="34" charset="0"/>
              <a:buChar char="•"/>
            </a:pPr>
            <a:r>
              <a:rPr lang="en-US" sz="2000">
                <a:latin typeface="Montserrat" panose="020B0604020202020204" charset="0"/>
              </a:rPr>
              <a:t>Dịch đoạn nhận xét này sang tiếng Anh để tôi gửi sếp.</a:t>
            </a:r>
          </a:p>
        </p:txBody>
      </p:sp>
      <p:grpSp>
        <p:nvGrpSpPr>
          <p:cNvPr id="22" name="Group 22"/>
          <p:cNvGrpSpPr/>
          <p:nvPr/>
        </p:nvGrpSpPr>
        <p:grpSpPr>
          <a:xfrm>
            <a:off x="6521672" y="2050256"/>
            <a:ext cx="5240084" cy="7489507"/>
            <a:chOff x="0" y="0"/>
            <a:chExt cx="6986778" cy="9986010"/>
          </a:xfrm>
        </p:grpSpPr>
        <p:sp>
          <p:nvSpPr>
            <p:cNvPr id="23" name="Freeform 23"/>
            <p:cNvSpPr/>
            <p:nvPr/>
          </p:nvSpPr>
          <p:spPr>
            <a:xfrm>
              <a:off x="0" y="0"/>
              <a:ext cx="6986778" cy="9986010"/>
            </a:xfrm>
            <a:custGeom>
              <a:avLst/>
              <a:gdLst/>
              <a:ahLst/>
              <a:cxnLst/>
              <a:rect l="l" t="t" r="r" b="b"/>
              <a:pathLst>
                <a:path w="6986778" h="9986010">
                  <a:moveTo>
                    <a:pt x="0" y="220091"/>
                  </a:moveTo>
                  <a:cubicBezTo>
                    <a:pt x="0" y="98552"/>
                    <a:pt x="98552" y="0"/>
                    <a:pt x="220091" y="0"/>
                  </a:cubicBezTo>
                  <a:lnTo>
                    <a:pt x="6766687" y="0"/>
                  </a:lnTo>
                  <a:cubicBezTo>
                    <a:pt x="6888226" y="0"/>
                    <a:pt x="6986778" y="98552"/>
                    <a:pt x="6986778" y="220091"/>
                  </a:cubicBezTo>
                  <a:lnTo>
                    <a:pt x="6986778" y="9765919"/>
                  </a:lnTo>
                  <a:cubicBezTo>
                    <a:pt x="6986778" y="9887458"/>
                    <a:pt x="6888226" y="9986010"/>
                    <a:pt x="6766687" y="9986010"/>
                  </a:cubicBezTo>
                  <a:lnTo>
                    <a:pt x="220091" y="9986010"/>
                  </a:lnTo>
                  <a:cubicBezTo>
                    <a:pt x="98552" y="9986010"/>
                    <a:pt x="0" y="9887458"/>
                    <a:pt x="0" y="9765919"/>
                  </a:cubicBezTo>
                  <a:close/>
                </a:path>
              </a:pathLst>
            </a:custGeom>
            <a:solidFill>
              <a:srgbClr val="F5F8F6"/>
            </a:solidFill>
            <a:ln w="14288" cap="sq">
              <a:solidFill>
                <a:srgbClr val="DCE6E0"/>
              </a:solidFill>
              <a:prstDash val="solid"/>
              <a:miter/>
            </a:ln>
          </p:spPr>
        </p:sp>
      </p:grpSp>
      <p:grpSp>
        <p:nvGrpSpPr>
          <p:cNvPr id="24" name="Group 24"/>
          <p:cNvGrpSpPr/>
          <p:nvPr/>
        </p:nvGrpSpPr>
        <p:grpSpPr>
          <a:xfrm>
            <a:off x="6519291" y="2047875"/>
            <a:ext cx="5244846" cy="1459230"/>
            <a:chOff x="0" y="0"/>
            <a:chExt cx="6993128" cy="1945640"/>
          </a:xfrm>
        </p:grpSpPr>
        <p:sp>
          <p:nvSpPr>
            <p:cNvPr id="25" name="Freeform 25"/>
            <p:cNvSpPr/>
            <p:nvPr/>
          </p:nvSpPr>
          <p:spPr>
            <a:xfrm>
              <a:off x="0" y="0"/>
              <a:ext cx="6993128" cy="1945640"/>
            </a:xfrm>
            <a:custGeom>
              <a:avLst/>
              <a:gdLst/>
              <a:ahLst/>
              <a:cxnLst/>
              <a:rect l="l" t="t" r="r" b="b"/>
              <a:pathLst>
                <a:path w="6993128" h="1945640">
                  <a:moveTo>
                    <a:pt x="0" y="222377"/>
                  </a:moveTo>
                  <a:cubicBezTo>
                    <a:pt x="0" y="99568"/>
                    <a:pt x="99568" y="0"/>
                    <a:pt x="222377" y="0"/>
                  </a:cubicBezTo>
                  <a:lnTo>
                    <a:pt x="6770751" y="0"/>
                  </a:lnTo>
                  <a:cubicBezTo>
                    <a:pt x="6893560" y="0"/>
                    <a:pt x="6993128" y="99568"/>
                    <a:pt x="6993128" y="222377"/>
                  </a:cubicBezTo>
                  <a:lnTo>
                    <a:pt x="6993128" y="1723263"/>
                  </a:lnTo>
                  <a:cubicBezTo>
                    <a:pt x="6993128" y="1846072"/>
                    <a:pt x="6893560" y="1945640"/>
                    <a:pt x="6770751" y="1945640"/>
                  </a:cubicBezTo>
                  <a:lnTo>
                    <a:pt x="222377" y="1945640"/>
                  </a:lnTo>
                  <a:cubicBezTo>
                    <a:pt x="99568" y="1945640"/>
                    <a:pt x="0" y="1846072"/>
                    <a:pt x="0" y="1723263"/>
                  </a:cubicBezTo>
                  <a:close/>
                </a:path>
              </a:pathLst>
            </a:custGeom>
            <a:solidFill>
              <a:srgbClr val="1F7A4A"/>
            </a:solidFill>
            <a:ln w="19050" cap="sq">
              <a:solidFill>
                <a:srgbClr val="1F7A4A"/>
              </a:solidFill>
              <a:prstDash val="solid"/>
              <a:miter/>
            </a:ln>
          </p:spPr>
        </p:sp>
      </p:grpSp>
      <p:grpSp>
        <p:nvGrpSpPr>
          <p:cNvPr id="26" name="Group 26"/>
          <p:cNvGrpSpPr/>
          <p:nvPr/>
        </p:nvGrpSpPr>
        <p:grpSpPr>
          <a:xfrm>
            <a:off x="6519291" y="3145155"/>
            <a:ext cx="5244846" cy="361950"/>
            <a:chOff x="0" y="0"/>
            <a:chExt cx="6993128" cy="482600"/>
          </a:xfrm>
        </p:grpSpPr>
        <p:sp>
          <p:nvSpPr>
            <p:cNvPr id="27" name="Freeform 27"/>
            <p:cNvSpPr/>
            <p:nvPr/>
          </p:nvSpPr>
          <p:spPr>
            <a:xfrm>
              <a:off x="0" y="0"/>
              <a:ext cx="6993128" cy="482600"/>
            </a:xfrm>
            <a:custGeom>
              <a:avLst/>
              <a:gdLst/>
              <a:ahLst/>
              <a:cxnLst/>
              <a:rect l="l" t="t" r="r" b="b"/>
              <a:pathLst>
                <a:path w="6993128" h="482600">
                  <a:moveTo>
                    <a:pt x="0" y="0"/>
                  </a:moveTo>
                  <a:lnTo>
                    <a:pt x="6993128" y="0"/>
                  </a:lnTo>
                  <a:lnTo>
                    <a:pt x="6993128" y="482600"/>
                  </a:lnTo>
                  <a:lnTo>
                    <a:pt x="0" y="482600"/>
                  </a:lnTo>
                  <a:close/>
                </a:path>
              </a:pathLst>
            </a:custGeom>
            <a:solidFill>
              <a:srgbClr val="1F7A4A"/>
            </a:solidFill>
            <a:ln w="19050" cap="sq">
              <a:solidFill>
                <a:srgbClr val="1F7A4A"/>
              </a:solidFill>
              <a:prstDash val="solid"/>
              <a:miter/>
            </a:ln>
          </p:spPr>
        </p:sp>
      </p:grpSp>
      <p:grpSp>
        <p:nvGrpSpPr>
          <p:cNvPr id="28" name="Group 28"/>
          <p:cNvGrpSpPr/>
          <p:nvPr/>
        </p:nvGrpSpPr>
        <p:grpSpPr>
          <a:xfrm>
            <a:off x="6940296" y="2221992"/>
            <a:ext cx="4402836" cy="1124712"/>
            <a:chOff x="0" y="0"/>
            <a:chExt cx="5870448" cy="1499616"/>
          </a:xfrm>
        </p:grpSpPr>
        <p:sp>
          <p:nvSpPr>
            <p:cNvPr id="29" name="Freeform 29"/>
            <p:cNvSpPr/>
            <p:nvPr/>
          </p:nvSpPr>
          <p:spPr>
            <a:xfrm>
              <a:off x="0" y="0"/>
              <a:ext cx="5870448" cy="1499616"/>
            </a:xfrm>
            <a:custGeom>
              <a:avLst/>
              <a:gdLst/>
              <a:ahLst/>
              <a:cxnLst/>
              <a:rect l="l" t="t" r="r" b="b"/>
              <a:pathLst>
                <a:path w="5870448" h="1499616">
                  <a:moveTo>
                    <a:pt x="0" y="0"/>
                  </a:moveTo>
                  <a:lnTo>
                    <a:pt x="5870448" y="0"/>
                  </a:lnTo>
                  <a:lnTo>
                    <a:pt x="5870448" y="1499616"/>
                  </a:lnTo>
                  <a:lnTo>
                    <a:pt x="0" y="1499616"/>
                  </a:lnTo>
                  <a:close/>
                </a:path>
              </a:pathLst>
            </a:custGeom>
            <a:blipFill>
              <a:blip r:embed="rId3">
                <a:alphaModFix amt="0"/>
              </a:blip>
              <a:stretch>
                <a:fillRect t="-26276" b="-26276"/>
              </a:stretch>
            </a:blipFill>
          </p:spPr>
        </p:sp>
        <p:sp>
          <p:nvSpPr>
            <p:cNvPr id="30" name="TextBox 30"/>
            <p:cNvSpPr txBox="1"/>
            <p:nvPr/>
          </p:nvSpPr>
          <p:spPr>
            <a:xfrm>
              <a:off x="0" y="0"/>
              <a:ext cx="5870448" cy="1499616"/>
            </a:xfrm>
            <a:prstGeom prst="rect">
              <a:avLst/>
            </a:prstGeom>
          </p:spPr>
          <p:txBody>
            <a:bodyPr lIns="0" tIns="0" rIns="0" bIns="0" rtlCol="0" anchor="ctr"/>
            <a:lstStyle/>
            <a:p>
              <a:pPr algn="l">
                <a:lnSpc>
                  <a:spcPts val="3060"/>
                </a:lnSpc>
              </a:pPr>
              <a:r>
                <a:rPr lang="en-US" sz="2550" b="1">
                  <a:solidFill>
                    <a:srgbClr val="FFFFFF"/>
                  </a:solidFill>
                  <a:latin typeface="Montserrat Bold"/>
                  <a:ea typeface="Montserrat Bold"/>
                  <a:cs typeface="Montserrat Bold"/>
                  <a:sym typeface="Montserrat Bold"/>
                </a:rPr>
                <a:t>02 — AI WORKFLOW</a:t>
              </a:r>
            </a:p>
            <a:p>
              <a:pPr algn="l">
                <a:lnSpc>
                  <a:spcPts val="1889"/>
                </a:lnSpc>
              </a:pPr>
              <a:r>
                <a:rPr lang="en-US" sz="1575">
                  <a:solidFill>
                    <a:srgbClr val="DFF0E6"/>
                  </a:solidFill>
                  <a:latin typeface="Montserrat"/>
                  <a:ea typeface="Montserrat"/>
                  <a:cs typeface="Montserrat"/>
                  <a:sym typeface="Montserrat"/>
                </a:rPr>
                <a:t>TÔI THIẾT KẾ – AI THỰC HIỆN</a:t>
              </a:r>
            </a:p>
          </p:txBody>
        </p:sp>
      </p:grpSp>
      <p:sp>
        <p:nvSpPr>
          <p:cNvPr id="31" name="TextBox 31"/>
          <p:cNvSpPr txBox="1"/>
          <p:nvPr/>
        </p:nvSpPr>
        <p:spPr>
          <a:xfrm>
            <a:off x="6940296" y="3811905"/>
            <a:ext cx="4402836" cy="4308872"/>
          </a:xfrm>
          <a:prstGeom prst="rect">
            <a:avLst/>
          </a:prstGeom>
        </p:spPr>
        <p:txBody>
          <a:bodyPr lIns="0" tIns="0" rIns="0" bIns="0" rtlCol="0" anchor="t">
            <a:spAutoFit/>
          </a:bodyPr>
          <a:lstStyle/>
          <a:p>
            <a:pPr algn="just"/>
            <a:r>
              <a:rPr lang="vi-VN" sz="2000">
                <a:latin typeface="Montserrat" panose="020B0604020202020204" charset="0"/>
              </a:rPr>
              <a:t>Đây là dữ liệu bán hàng tháng 10. Hãy thực hiện đúng 4 bước sau:</a:t>
            </a:r>
            <a:endParaRPr lang="en-US" sz="2000">
              <a:latin typeface="Montserrat" panose="020B0604020202020204" charset="0"/>
            </a:endParaRPr>
          </a:p>
          <a:p>
            <a:pPr marL="342900" indent="-342900" algn="just">
              <a:buFont typeface="Arial" panose="020B0604020202020204" pitchFamily="34" charset="0"/>
              <a:buChar char="•"/>
            </a:pPr>
            <a:r>
              <a:rPr lang="vi-VN" sz="2000" b="1">
                <a:latin typeface="Montserrat" panose="020B0604020202020204" charset="0"/>
              </a:rPr>
              <a:t>Bước 1</a:t>
            </a:r>
            <a:r>
              <a:rPr lang="vi-VN" sz="2000">
                <a:latin typeface="Montserrat" panose="020B0604020202020204" charset="0"/>
              </a:rPr>
              <a:t>: Làm sạch dữ liệu, loại bỏ các dòng bị lỗi.</a:t>
            </a:r>
          </a:p>
          <a:p>
            <a:pPr marL="342900" indent="-342900" algn="just">
              <a:buFont typeface="Arial" panose="020B0604020202020204" pitchFamily="34" charset="0"/>
              <a:buChar char="•"/>
            </a:pPr>
            <a:r>
              <a:rPr lang="vi-VN" sz="2000" b="1">
                <a:latin typeface="Montserrat" panose="020B0604020202020204" charset="0"/>
              </a:rPr>
              <a:t>Bước 2</a:t>
            </a:r>
            <a:r>
              <a:rPr lang="vi-VN" sz="2000">
                <a:latin typeface="Montserrat" panose="020B0604020202020204" charset="0"/>
              </a:rPr>
              <a:t>: Tính tổng doanh thu, tỷ lệ tăng trưởng so với tháng 9, và tìm ra 3 sản phẩm bán chạy nhất.</a:t>
            </a:r>
          </a:p>
          <a:p>
            <a:pPr marL="342900" indent="-342900" algn="just">
              <a:buFont typeface="Arial" panose="020B0604020202020204" pitchFamily="34" charset="0"/>
              <a:buChar char="•"/>
            </a:pPr>
            <a:r>
              <a:rPr lang="vi-VN" sz="2000" b="1">
                <a:latin typeface="Montserrat" panose="020B0604020202020204" charset="0"/>
              </a:rPr>
              <a:t>Bước 3</a:t>
            </a:r>
            <a:r>
              <a:rPr lang="vi-VN" sz="2000">
                <a:latin typeface="Montserrat" panose="020B0604020202020204" charset="0"/>
              </a:rPr>
              <a:t>: So sánh kết quả này với KPI quý 4 (KPI là 50 tỷ).</a:t>
            </a:r>
          </a:p>
          <a:p>
            <a:pPr marL="342900" indent="-342900" algn="just">
              <a:buFont typeface="Arial" panose="020B0604020202020204" pitchFamily="34" charset="0"/>
              <a:buChar char="•"/>
            </a:pPr>
            <a:r>
              <a:rPr lang="vi-VN" sz="2000" b="1">
                <a:latin typeface="Montserrat" panose="020B0604020202020204" charset="0"/>
              </a:rPr>
              <a:t>Bước 4</a:t>
            </a:r>
            <a:r>
              <a:rPr lang="vi-VN" sz="2000">
                <a:latin typeface="Montserrat" panose="020B0604020202020204" charset="0"/>
              </a:rPr>
              <a:t>: Viết một bản tóm tắt điều hành dài 300 chữ, nhấn mạnh vào các chỉ số không đạt mục tiêu.</a:t>
            </a:r>
          </a:p>
        </p:txBody>
      </p:sp>
      <p:grpSp>
        <p:nvGrpSpPr>
          <p:cNvPr id="37" name="Group 37"/>
          <p:cNvGrpSpPr/>
          <p:nvPr/>
        </p:nvGrpSpPr>
        <p:grpSpPr>
          <a:xfrm>
            <a:off x="12227528" y="2050256"/>
            <a:ext cx="5240084" cy="7489507"/>
            <a:chOff x="0" y="0"/>
            <a:chExt cx="6986778" cy="9986010"/>
          </a:xfrm>
        </p:grpSpPr>
        <p:sp>
          <p:nvSpPr>
            <p:cNvPr id="38" name="Freeform 38"/>
            <p:cNvSpPr/>
            <p:nvPr/>
          </p:nvSpPr>
          <p:spPr>
            <a:xfrm>
              <a:off x="0" y="0"/>
              <a:ext cx="6986778" cy="9986010"/>
            </a:xfrm>
            <a:custGeom>
              <a:avLst/>
              <a:gdLst/>
              <a:ahLst/>
              <a:cxnLst/>
              <a:rect l="l" t="t" r="r" b="b"/>
              <a:pathLst>
                <a:path w="6986778" h="9986010">
                  <a:moveTo>
                    <a:pt x="0" y="220091"/>
                  </a:moveTo>
                  <a:cubicBezTo>
                    <a:pt x="0" y="98552"/>
                    <a:pt x="98552" y="0"/>
                    <a:pt x="220091" y="0"/>
                  </a:cubicBezTo>
                  <a:lnTo>
                    <a:pt x="6766687" y="0"/>
                  </a:lnTo>
                  <a:cubicBezTo>
                    <a:pt x="6888226" y="0"/>
                    <a:pt x="6986778" y="98552"/>
                    <a:pt x="6986778" y="220091"/>
                  </a:cubicBezTo>
                  <a:lnTo>
                    <a:pt x="6986778" y="9765919"/>
                  </a:lnTo>
                  <a:cubicBezTo>
                    <a:pt x="6986778" y="9887458"/>
                    <a:pt x="6888226" y="9986010"/>
                    <a:pt x="6766687" y="9986010"/>
                  </a:cubicBezTo>
                  <a:lnTo>
                    <a:pt x="220091" y="9986010"/>
                  </a:lnTo>
                  <a:cubicBezTo>
                    <a:pt x="98552" y="9986010"/>
                    <a:pt x="0" y="9887458"/>
                    <a:pt x="0" y="9765919"/>
                  </a:cubicBezTo>
                  <a:close/>
                </a:path>
              </a:pathLst>
            </a:custGeom>
            <a:solidFill>
              <a:srgbClr val="F5F8F6"/>
            </a:solidFill>
            <a:ln w="14288" cap="sq">
              <a:solidFill>
                <a:srgbClr val="DCE6E0"/>
              </a:solidFill>
              <a:prstDash val="solid"/>
              <a:miter/>
            </a:ln>
          </p:spPr>
        </p:sp>
      </p:grpSp>
      <p:grpSp>
        <p:nvGrpSpPr>
          <p:cNvPr id="39" name="Group 39"/>
          <p:cNvGrpSpPr/>
          <p:nvPr/>
        </p:nvGrpSpPr>
        <p:grpSpPr>
          <a:xfrm>
            <a:off x="12225147" y="2047875"/>
            <a:ext cx="5244846" cy="1459230"/>
            <a:chOff x="0" y="0"/>
            <a:chExt cx="6993128" cy="1945640"/>
          </a:xfrm>
        </p:grpSpPr>
        <p:sp>
          <p:nvSpPr>
            <p:cNvPr id="40" name="Freeform 40"/>
            <p:cNvSpPr/>
            <p:nvPr/>
          </p:nvSpPr>
          <p:spPr>
            <a:xfrm>
              <a:off x="0" y="0"/>
              <a:ext cx="6993128" cy="1945640"/>
            </a:xfrm>
            <a:custGeom>
              <a:avLst/>
              <a:gdLst/>
              <a:ahLst/>
              <a:cxnLst/>
              <a:rect l="l" t="t" r="r" b="b"/>
              <a:pathLst>
                <a:path w="6993128" h="1945640">
                  <a:moveTo>
                    <a:pt x="0" y="222377"/>
                  </a:moveTo>
                  <a:cubicBezTo>
                    <a:pt x="0" y="99568"/>
                    <a:pt x="99568" y="0"/>
                    <a:pt x="222377" y="0"/>
                  </a:cubicBezTo>
                  <a:lnTo>
                    <a:pt x="6770751" y="0"/>
                  </a:lnTo>
                  <a:cubicBezTo>
                    <a:pt x="6893560" y="0"/>
                    <a:pt x="6993128" y="99568"/>
                    <a:pt x="6993128" y="222377"/>
                  </a:cubicBezTo>
                  <a:lnTo>
                    <a:pt x="6993128" y="1723263"/>
                  </a:lnTo>
                  <a:cubicBezTo>
                    <a:pt x="6993128" y="1846072"/>
                    <a:pt x="6893560" y="1945640"/>
                    <a:pt x="6770751" y="1945640"/>
                  </a:cubicBezTo>
                  <a:lnTo>
                    <a:pt x="222377" y="1945640"/>
                  </a:lnTo>
                  <a:cubicBezTo>
                    <a:pt x="99568" y="1945640"/>
                    <a:pt x="0" y="1846072"/>
                    <a:pt x="0" y="1723263"/>
                  </a:cubicBezTo>
                  <a:close/>
                </a:path>
              </a:pathLst>
            </a:custGeom>
            <a:solidFill>
              <a:srgbClr val="006838"/>
            </a:solidFill>
            <a:ln w="19050" cap="sq">
              <a:solidFill>
                <a:srgbClr val="006838"/>
              </a:solidFill>
              <a:prstDash val="solid"/>
              <a:miter/>
            </a:ln>
          </p:spPr>
        </p:sp>
      </p:grpSp>
      <p:grpSp>
        <p:nvGrpSpPr>
          <p:cNvPr id="41" name="Group 41"/>
          <p:cNvGrpSpPr/>
          <p:nvPr/>
        </p:nvGrpSpPr>
        <p:grpSpPr>
          <a:xfrm>
            <a:off x="12225147" y="3145155"/>
            <a:ext cx="5244846" cy="361950"/>
            <a:chOff x="0" y="0"/>
            <a:chExt cx="6993128" cy="482600"/>
          </a:xfrm>
        </p:grpSpPr>
        <p:sp>
          <p:nvSpPr>
            <p:cNvPr id="42" name="Freeform 42"/>
            <p:cNvSpPr/>
            <p:nvPr/>
          </p:nvSpPr>
          <p:spPr>
            <a:xfrm>
              <a:off x="0" y="0"/>
              <a:ext cx="6993128" cy="482600"/>
            </a:xfrm>
            <a:custGeom>
              <a:avLst/>
              <a:gdLst/>
              <a:ahLst/>
              <a:cxnLst/>
              <a:rect l="l" t="t" r="r" b="b"/>
              <a:pathLst>
                <a:path w="6993128" h="482600">
                  <a:moveTo>
                    <a:pt x="0" y="0"/>
                  </a:moveTo>
                  <a:lnTo>
                    <a:pt x="6993128" y="0"/>
                  </a:lnTo>
                  <a:lnTo>
                    <a:pt x="6993128" y="482600"/>
                  </a:lnTo>
                  <a:lnTo>
                    <a:pt x="0" y="482600"/>
                  </a:lnTo>
                  <a:close/>
                </a:path>
              </a:pathLst>
            </a:custGeom>
            <a:solidFill>
              <a:srgbClr val="006838"/>
            </a:solidFill>
            <a:ln w="19050" cap="sq">
              <a:solidFill>
                <a:srgbClr val="006838"/>
              </a:solidFill>
              <a:prstDash val="solid"/>
              <a:miter/>
            </a:ln>
          </p:spPr>
        </p:sp>
      </p:grpSp>
      <p:grpSp>
        <p:nvGrpSpPr>
          <p:cNvPr id="43" name="Group 43"/>
          <p:cNvGrpSpPr/>
          <p:nvPr/>
        </p:nvGrpSpPr>
        <p:grpSpPr>
          <a:xfrm>
            <a:off x="12646152" y="2221992"/>
            <a:ext cx="4402836" cy="1124712"/>
            <a:chOff x="0" y="0"/>
            <a:chExt cx="5870448" cy="1499616"/>
          </a:xfrm>
        </p:grpSpPr>
        <p:sp>
          <p:nvSpPr>
            <p:cNvPr id="44" name="Freeform 44"/>
            <p:cNvSpPr/>
            <p:nvPr/>
          </p:nvSpPr>
          <p:spPr>
            <a:xfrm>
              <a:off x="0" y="0"/>
              <a:ext cx="5870448" cy="1499616"/>
            </a:xfrm>
            <a:custGeom>
              <a:avLst/>
              <a:gdLst/>
              <a:ahLst/>
              <a:cxnLst/>
              <a:rect l="l" t="t" r="r" b="b"/>
              <a:pathLst>
                <a:path w="5870448" h="1499616">
                  <a:moveTo>
                    <a:pt x="0" y="0"/>
                  </a:moveTo>
                  <a:lnTo>
                    <a:pt x="5870448" y="0"/>
                  </a:lnTo>
                  <a:lnTo>
                    <a:pt x="5870448" y="1499616"/>
                  </a:lnTo>
                  <a:lnTo>
                    <a:pt x="0" y="1499616"/>
                  </a:lnTo>
                  <a:close/>
                </a:path>
              </a:pathLst>
            </a:custGeom>
            <a:blipFill>
              <a:blip r:embed="rId3">
                <a:alphaModFix amt="0"/>
              </a:blip>
              <a:stretch>
                <a:fillRect t="-26276" b="-26276"/>
              </a:stretch>
            </a:blipFill>
          </p:spPr>
        </p:sp>
        <p:sp>
          <p:nvSpPr>
            <p:cNvPr id="45" name="TextBox 45"/>
            <p:cNvSpPr txBox="1"/>
            <p:nvPr/>
          </p:nvSpPr>
          <p:spPr>
            <a:xfrm>
              <a:off x="0" y="0"/>
              <a:ext cx="5870448" cy="1499616"/>
            </a:xfrm>
            <a:prstGeom prst="rect">
              <a:avLst/>
            </a:prstGeom>
          </p:spPr>
          <p:txBody>
            <a:bodyPr lIns="0" tIns="0" rIns="0" bIns="0" rtlCol="0" anchor="ctr"/>
            <a:lstStyle/>
            <a:p>
              <a:pPr algn="l">
                <a:lnSpc>
                  <a:spcPts val="3060"/>
                </a:lnSpc>
              </a:pPr>
              <a:r>
                <a:rPr lang="en-US" sz="2550" b="1">
                  <a:solidFill>
                    <a:srgbClr val="FFFFFF"/>
                  </a:solidFill>
                  <a:latin typeface="Montserrat Bold"/>
                  <a:ea typeface="Montserrat Bold"/>
                  <a:cs typeface="Montserrat Bold"/>
                  <a:sym typeface="Montserrat Bold"/>
                </a:rPr>
                <a:t>03 — AI AGENT</a:t>
              </a:r>
            </a:p>
            <a:p>
              <a:pPr algn="l">
                <a:lnSpc>
                  <a:spcPts val="1889"/>
                </a:lnSpc>
              </a:pPr>
              <a:r>
                <a:rPr lang="en-US" sz="1575">
                  <a:solidFill>
                    <a:srgbClr val="DFF0E6"/>
                  </a:solidFill>
                  <a:latin typeface="Montserrat"/>
                  <a:ea typeface="Montserrat"/>
                  <a:cs typeface="Montserrat"/>
                  <a:sym typeface="Montserrat"/>
                </a:rPr>
                <a:t>TÔI GIAO MỤC TIÊU – AI TỰ TRIỂN KHAI</a:t>
              </a:r>
            </a:p>
          </p:txBody>
        </p:sp>
      </p:grpSp>
      <p:sp>
        <p:nvSpPr>
          <p:cNvPr id="46" name="TextBox 46"/>
          <p:cNvSpPr txBox="1"/>
          <p:nvPr/>
        </p:nvSpPr>
        <p:spPr>
          <a:xfrm>
            <a:off x="12420600" y="3811905"/>
            <a:ext cx="4628388" cy="4708981"/>
          </a:xfrm>
          <a:prstGeom prst="rect">
            <a:avLst/>
          </a:prstGeom>
        </p:spPr>
        <p:txBody>
          <a:bodyPr wrap="square" lIns="0" tIns="0" rIns="0" bIns="0" rtlCol="0" anchor="t">
            <a:spAutoFit/>
          </a:bodyPr>
          <a:lstStyle/>
          <a:p>
            <a:pPr marL="342900" indent="-342900" algn="just">
              <a:buFont typeface="Arial" panose="020B0604020202020204" pitchFamily="34" charset="0"/>
              <a:buChar char="•"/>
            </a:pPr>
            <a:r>
              <a:rPr lang="vi-VN" b="1">
                <a:latin typeface="Montserrat" panose="020B0604020202020204" charset="0"/>
              </a:rPr>
              <a:t>Mục tiêu</a:t>
            </a:r>
            <a:r>
              <a:rPr lang="vi-VN">
                <a:latin typeface="Montserrat" panose="020B0604020202020204" charset="0"/>
              </a:rPr>
              <a:t>: Đảm bảo Ban Giám đốc luôn nắm được sức khỏe kinh doanh và các rủi ro vận hành.</a:t>
            </a:r>
          </a:p>
          <a:p>
            <a:pPr marL="342900" indent="-342900" algn="just">
              <a:buFont typeface="Arial" panose="020B0604020202020204" pitchFamily="34" charset="0"/>
              <a:buChar char="•"/>
            </a:pPr>
            <a:r>
              <a:rPr lang="vi-VN" b="1">
                <a:latin typeface="Montserrat" panose="020B0604020202020204" charset="0"/>
              </a:rPr>
              <a:t>Nhiệm vụ của Agent</a:t>
            </a:r>
            <a:r>
              <a:rPr lang="vi-VN">
                <a:latin typeface="Montserrat" panose="020B0604020202020204" charset="0"/>
              </a:rPr>
              <a:t>: Tự động kết nối với hệ thống CRM/ERP. Cứ đúng 8h sáng ngày mùng 1 hàng tháng, tự động kéo dữ liệu về.</a:t>
            </a:r>
          </a:p>
          <a:p>
            <a:pPr marL="342900" indent="-342900" algn="just">
              <a:buFont typeface="Arial" panose="020B0604020202020204" pitchFamily="34" charset="0"/>
              <a:buChar char="•"/>
            </a:pPr>
            <a:r>
              <a:rPr lang="vi-VN" b="1">
                <a:latin typeface="Montserrat" panose="020B0604020202020204" charset="0"/>
              </a:rPr>
              <a:t>Phân tích</a:t>
            </a:r>
            <a:r>
              <a:rPr lang="vi-VN">
                <a:latin typeface="Montserrat" panose="020B0604020202020204" charset="0"/>
              </a:rPr>
              <a:t>: Nếu phát hiện khu vực nào có doanh thu giảm quá 15% hoặc chi phí đội lên bất thường, hãy tự động 'đào sâu' xem lỗi do sản phẩm nào hay do nhân sự nào.</a:t>
            </a:r>
          </a:p>
          <a:p>
            <a:pPr marL="342900" indent="-342900" algn="just">
              <a:buFont typeface="Arial" panose="020B0604020202020204" pitchFamily="34" charset="0"/>
              <a:buChar char="•"/>
            </a:pPr>
            <a:r>
              <a:rPr lang="vi-VN" b="1">
                <a:latin typeface="Montserrat" panose="020B0604020202020204" charset="0"/>
              </a:rPr>
              <a:t>Đầu ra</a:t>
            </a:r>
            <a:r>
              <a:rPr lang="vi-VN">
                <a:latin typeface="Montserrat" panose="020B0604020202020204" charset="0"/>
              </a:rPr>
              <a:t>: Gửi một Báo cáo Quản trị vào email của tôi, trong đó không chỉ nêu số liệu, mà phải đề xuất sẵn 3 hành động khắc phục dựa trên lịch sử các tháng trước."</a:t>
            </a:r>
          </a:p>
        </p:txBody>
      </p:sp>
    </p:spTree>
    <p:extLst>
      <p:ext uri="{BB962C8B-B14F-4D97-AF65-F5344CB8AC3E}">
        <p14:creationId xmlns:p14="http://schemas.microsoft.com/office/powerpoint/2010/main" val="327855727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4"/>
          <p:cNvGrpSpPr/>
          <p:nvPr/>
        </p:nvGrpSpPr>
        <p:grpSpPr>
          <a:xfrm>
            <a:off x="822960" y="411480"/>
            <a:ext cx="15361920" cy="1371600"/>
            <a:chOff x="0" y="0"/>
            <a:chExt cx="20482560" cy="1828800"/>
          </a:xfrm>
        </p:grpSpPr>
        <p:sp>
          <p:nvSpPr>
            <p:cNvPr id="5" name="Freeform 5"/>
            <p:cNvSpPr/>
            <p:nvPr/>
          </p:nvSpPr>
          <p:spPr>
            <a:xfrm>
              <a:off x="0" y="0"/>
              <a:ext cx="20482561" cy="1828800"/>
            </a:xfrm>
            <a:custGeom>
              <a:avLst/>
              <a:gdLst/>
              <a:ahLst/>
              <a:cxnLst/>
              <a:rect l="l" t="t" r="r" b="b"/>
              <a:pathLst>
                <a:path w="20482561" h="1828800">
                  <a:moveTo>
                    <a:pt x="0" y="0"/>
                  </a:moveTo>
                  <a:lnTo>
                    <a:pt x="20482561" y="0"/>
                  </a:lnTo>
                  <a:lnTo>
                    <a:pt x="20482561" y="1828800"/>
                  </a:lnTo>
                  <a:lnTo>
                    <a:pt x="0" y="1828800"/>
                  </a:lnTo>
                  <a:close/>
                </a:path>
              </a:pathLst>
            </a:custGeom>
            <a:blipFill>
              <a:blip r:embed="rId3">
                <a:alphaModFix amt="0"/>
              </a:blip>
              <a:stretch>
                <a:fillRect t="-168232" b="-168232"/>
              </a:stretch>
            </a:blipFill>
          </p:spPr>
        </p:sp>
        <p:sp>
          <p:nvSpPr>
            <p:cNvPr id="6" name="TextBox 6"/>
            <p:cNvSpPr txBox="1"/>
            <p:nvPr/>
          </p:nvSpPr>
          <p:spPr>
            <a:xfrm>
              <a:off x="0" y="0"/>
              <a:ext cx="20482560" cy="1828800"/>
            </a:xfrm>
            <a:prstGeom prst="rect">
              <a:avLst/>
            </a:prstGeom>
          </p:spPr>
          <p:txBody>
            <a:bodyPr lIns="0" tIns="0" rIns="0" bIns="0" rtlCol="0" anchor="ctr"/>
            <a:lstStyle/>
            <a:p>
              <a:pPr algn="l">
                <a:lnSpc>
                  <a:spcPts val="4680"/>
                </a:lnSpc>
              </a:pPr>
              <a:r>
                <a:rPr lang="en-US" sz="3900" b="1">
                  <a:solidFill>
                    <a:srgbClr val="006838"/>
                  </a:solidFill>
                  <a:latin typeface="Montserrat Bold"/>
                  <a:ea typeface="Montserrat Bold"/>
                  <a:cs typeface="Montserrat Bold"/>
                  <a:sym typeface="Montserrat Bold"/>
                </a:rPr>
                <a:t>CHU TRÌNH LÀM VIỆC CÙNG AI – AI WORKFLOW</a:t>
              </a:r>
            </a:p>
          </p:txBody>
        </p:sp>
      </p:grpSp>
      <p:sp>
        <p:nvSpPr>
          <p:cNvPr id="7" name="AutoShape 7"/>
          <p:cNvSpPr/>
          <p:nvPr/>
        </p:nvSpPr>
        <p:spPr>
          <a:xfrm rot="15300">
            <a:off x="2714558" y="2934652"/>
            <a:ext cx="12854302" cy="0"/>
          </a:xfrm>
          <a:prstGeom prst="line">
            <a:avLst/>
          </a:prstGeom>
          <a:ln w="28575" cap="rnd">
            <a:solidFill>
              <a:srgbClr val="CFE6D8"/>
            </a:solidFill>
            <a:prstDash val="solid"/>
            <a:headEnd type="none" w="sm" len="sm"/>
            <a:tailEnd type="none" w="sm" len="sm"/>
          </a:ln>
        </p:spPr>
      </p:sp>
      <p:grpSp>
        <p:nvGrpSpPr>
          <p:cNvPr id="8" name="Group 8"/>
          <p:cNvGrpSpPr/>
          <p:nvPr/>
        </p:nvGrpSpPr>
        <p:grpSpPr>
          <a:xfrm>
            <a:off x="1979295" y="2185035"/>
            <a:ext cx="1527810" cy="1527810"/>
            <a:chOff x="0" y="0"/>
            <a:chExt cx="2037080" cy="2037080"/>
          </a:xfrm>
        </p:grpSpPr>
        <p:sp>
          <p:nvSpPr>
            <p:cNvPr id="9" name="Freeform 9"/>
            <p:cNvSpPr/>
            <p:nvPr/>
          </p:nvSpPr>
          <p:spPr>
            <a:xfrm>
              <a:off x="0" y="0"/>
              <a:ext cx="2037080" cy="2037080"/>
            </a:xfrm>
            <a:custGeom>
              <a:avLst/>
              <a:gdLst/>
              <a:ahLst/>
              <a:cxnLst/>
              <a:rect l="l" t="t" r="r" b="b"/>
              <a:pathLst>
                <a:path w="2037080" h="2037080">
                  <a:moveTo>
                    <a:pt x="0" y="1018540"/>
                  </a:moveTo>
                  <a:cubicBezTo>
                    <a:pt x="0" y="456057"/>
                    <a:pt x="456057" y="0"/>
                    <a:pt x="1018540" y="0"/>
                  </a:cubicBezTo>
                  <a:cubicBezTo>
                    <a:pt x="1581023" y="0"/>
                    <a:pt x="2037080" y="456057"/>
                    <a:pt x="2037080" y="1018540"/>
                  </a:cubicBezTo>
                  <a:cubicBezTo>
                    <a:pt x="2037080" y="1581023"/>
                    <a:pt x="1581023" y="2037080"/>
                    <a:pt x="1018540" y="2037080"/>
                  </a:cubicBezTo>
                  <a:cubicBezTo>
                    <a:pt x="456057" y="2037080"/>
                    <a:pt x="0" y="1581023"/>
                    <a:pt x="0" y="1018540"/>
                  </a:cubicBezTo>
                  <a:close/>
                </a:path>
              </a:pathLst>
            </a:custGeom>
            <a:solidFill>
              <a:srgbClr val="006838"/>
            </a:solidFill>
            <a:ln w="19050" cap="sq">
              <a:solidFill>
                <a:srgbClr val="006838"/>
              </a:solidFill>
              <a:prstDash val="solid"/>
              <a:miter/>
            </a:ln>
          </p:spPr>
        </p:sp>
      </p:grpSp>
      <p:grpSp>
        <p:nvGrpSpPr>
          <p:cNvPr id="10" name="Group 10"/>
          <p:cNvGrpSpPr/>
          <p:nvPr/>
        </p:nvGrpSpPr>
        <p:grpSpPr>
          <a:xfrm>
            <a:off x="2381098" y="2586838"/>
            <a:ext cx="724205" cy="724205"/>
            <a:chOff x="0" y="0"/>
            <a:chExt cx="965606" cy="965606"/>
          </a:xfrm>
        </p:grpSpPr>
        <p:sp>
          <p:nvSpPr>
            <p:cNvPr id="11" name="Freeform 11" descr="preencoded.png"/>
            <p:cNvSpPr/>
            <p:nvPr/>
          </p:nvSpPr>
          <p:spPr>
            <a:xfrm>
              <a:off x="0" y="0"/>
              <a:ext cx="965581" cy="965581"/>
            </a:xfrm>
            <a:custGeom>
              <a:avLst/>
              <a:gdLst/>
              <a:ahLst/>
              <a:cxnLst/>
              <a:rect l="l" t="t" r="r" b="b"/>
              <a:pathLst>
                <a:path w="965581" h="965581">
                  <a:moveTo>
                    <a:pt x="0" y="0"/>
                  </a:moveTo>
                  <a:lnTo>
                    <a:pt x="965581" y="0"/>
                  </a:lnTo>
                  <a:lnTo>
                    <a:pt x="965581" y="965581"/>
                  </a:lnTo>
                  <a:lnTo>
                    <a:pt x="0" y="965581"/>
                  </a:lnTo>
                  <a:lnTo>
                    <a:pt x="0" y="0"/>
                  </a:lnTo>
                  <a:close/>
                </a:path>
              </a:pathLst>
            </a:custGeom>
            <a:blipFill>
              <a:blip r:embed="rId4"/>
              <a:stretch>
                <a:fillRect r="-2" b="-2"/>
              </a:stretch>
            </a:blipFill>
          </p:spPr>
        </p:sp>
      </p:grpSp>
      <p:sp>
        <p:nvSpPr>
          <p:cNvPr id="12" name="TextBox 12"/>
          <p:cNvSpPr txBox="1"/>
          <p:nvPr/>
        </p:nvSpPr>
        <p:spPr>
          <a:xfrm>
            <a:off x="3154680" y="1979295"/>
            <a:ext cx="822960" cy="558165"/>
          </a:xfrm>
          <a:prstGeom prst="rect">
            <a:avLst/>
          </a:prstGeom>
        </p:spPr>
        <p:txBody>
          <a:bodyPr lIns="0" tIns="0" rIns="0" bIns="0" rtlCol="0" anchor="t">
            <a:spAutoFit/>
          </a:bodyPr>
          <a:lstStyle/>
          <a:p>
            <a:pPr algn="l">
              <a:lnSpc>
                <a:spcPts val="2340"/>
              </a:lnSpc>
            </a:pPr>
            <a:r>
              <a:rPr lang="en-US" sz="1950" b="1">
                <a:solidFill>
                  <a:srgbClr val="006838"/>
                </a:solidFill>
                <a:latin typeface="Montserrat Bold"/>
                <a:ea typeface="Montserrat Bold"/>
                <a:cs typeface="Montserrat Bold"/>
                <a:sym typeface="Montserrat Bold"/>
              </a:rPr>
              <a:t>01</a:t>
            </a:r>
          </a:p>
        </p:txBody>
      </p:sp>
      <p:grpSp>
        <p:nvGrpSpPr>
          <p:cNvPr id="13" name="Group 13"/>
          <p:cNvGrpSpPr/>
          <p:nvPr/>
        </p:nvGrpSpPr>
        <p:grpSpPr>
          <a:xfrm>
            <a:off x="815816" y="4107656"/>
            <a:ext cx="3854767" cy="5294947"/>
            <a:chOff x="0" y="0"/>
            <a:chExt cx="5139690" cy="7059930"/>
          </a:xfrm>
        </p:grpSpPr>
        <p:sp>
          <p:nvSpPr>
            <p:cNvPr id="14" name="Freeform 14"/>
            <p:cNvSpPr/>
            <p:nvPr/>
          </p:nvSpPr>
          <p:spPr>
            <a:xfrm>
              <a:off x="0" y="0"/>
              <a:ext cx="5139690" cy="7059930"/>
            </a:xfrm>
            <a:custGeom>
              <a:avLst/>
              <a:gdLst/>
              <a:ahLst/>
              <a:cxnLst/>
              <a:rect l="l" t="t" r="r" b="b"/>
              <a:pathLst>
                <a:path w="5139690" h="7059930">
                  <a:moveTo>
                    <a:pt x="0" y="220345"/>
                  </a:moveTo>
                  <a:cubicBezTo>
                    <a:pt x="0" y="98679"/>
                    <a:pt x="98679" y="0"/>
                    <a:pt x="220345" y="0"/>
                  </a:cubicBezTo>
                  <a:lnTo>
                    <a:pt x="4919345" y="0"/>
                  </a:lnTo>
                  <a:cubicBezTo>
                    <a:pt x="5041011" y="0"/>
                    <a:pt x="5139690" y="98679"/>
                    <a:pt x="5139690" y="220345"/>
                  </a:cubicBezTo>
                  <a:lnTo>
                    <a:pt x="5139690" y="6839585"/>
                  </a:lnTo>
                  <a:cubicBezTo>
                    <a:pt x="5139690" y="6961251"/>
                    <a:pt x="5041011" y="7059930"/>
                    <a:pt x="4919345" y="7059930"/>
                  </a:cubicBezTo>
                  <a:lnTo>
                    <a:pt x="220345" y="7059930"/>
                  </a:lnTo>
                  <a:cubicBezTo>
                    <a:pt x="98679" y="7059930"/>
                    <a:pt x="0" y="6961251"/>
                    <a:pt x="0" y="6839585"/>
                  </a:cubicBezTo>
                  <a:close/>
                </a:path>
              </a:pathLst>
            </a:custGeom>
            <a:solidFill>
              <a:srgbClr val="FFFFFF"/>
            </a:solidFill>
            <a:ln w="14288" cap="sq">
              <a:solidFill>
                <a:srgbClr val="DCE6E0"/>
              </a:solidFill>
              <a:prstDash val="solid"/>
              <a:miter/>
            </a:ln>
          </p:spPr>
        </p:sp>
      </p:grpSp>
      <p:grpSp>
        <p:nvGrpSpPr>
          <p:cNvPr id="15" name="Group 15"/>
          <p:cNvGrpSpPr/>
          <p:nvPr/>
        </p:nvGrpSpPr>
        <p:grpSpPr>
          <a:xfrm>
            <a:off x="1165860" y="4457700"/>
            <a:ext cx="3154680" cy="1028700"/>
            <a:chOff x="0" y="0"/>
            <a:chExt cx="4206240" cy="1371600"/>
          </a:xfrm>
        </p:grpSpPr>
        <p:sp>
          <p:nvSpPr>
            <p:cNvPr id="16" name="Freeform 16"/>
            <p:cNvSpPr/>
            <p:nvPr/>
          </p:nvSpPr>
          <p:spPr>
            <a:xfrm>
              <a:off x="0" y="0"/>
              <a:ext cx="4206240" cy="1371600"/>
            </a:xfrm>
            <a:custGeom>
              <a:avLst/>
              <a:gdLst/>
              <a:ahLst/>
              <a:cxnLst/>
              <a:rect l="l" t="t" r="r" b="b"/>
              <a:pathLst>
                <a:path w="4206240" h="1371600">
                  <a:moveTo>
                    <a:pt x="0" y="0"/>
                  </a:moveTo>
                  <a:lnTo>
                    <a:pt x="4206240" y="0"/>
                  </a:lnTo>
                  <a:lnTo>
                    <a:pt x="4206240" y="1371600"/>
                  </a:lnTo>
                  <a:lnTo>
                    <a:pt x="0" y="1371600"/>
                  </a:lnTo>
                  <a:close/>
                </a:path>
              </a:pathLst>
            </a:custGeom>
            <a:blipFill>
              <a:blip r:embed="rId3">
                <a:alphaModFix amt="0"/>
              </a:blip>
              <a:stretch>
                <a:fillRect t="-9754" b="-9754"/>
              </a:stretch>
            </a:blipFill>
          </p:spPr>
        </p:sp>
        <p:sp>
          <p:nvSpPr>
            <p:cNvPr id="17" name="TextBox 17"/>
            <p:cNvSpPr txBox="1"/>
            <p:nvPr/>
          </p:nvSpPr>
          <p:spPr>
            <a:xfrm>
              <a:off x="0" y="9525"/>
              <a:ext cx="4206240" cy="1362075"/>
            </a:xfrm>
            <a:prstGeom prst="rect">
              <a:avLst/>
            </a:prstGeom>
          </p:spPr>
          <p:txBody>
            <a:bodyPr lIns="0" tIns="0" rIns="0" bIns="0" rtlCol="0" anchor="ctr"/>
            <a:lstStyle/>
            <a:p>
              <a:pPr algn="l">
                <a:lnSpc>
                  <a:spcPts val="2879"/>
                </a:lnSpc>
              </a:pPr>
              <a:r>
                <a:rPr lang="en-US" sz="2400" b="1">
                  <a:solidFill>
                    <a:srgbClr val="006838"/>
                  </a:solidFill>
                  <a:latin typeface="Montserrat Bold"/>
                  <a:ea typeface="Montserrat Bold"/>
                  <a:cs typeface="Montserrat Bold"/>
                  <a:sym typeface="Montserrat Bold"/>
                </a:rPr>
                <a:t>Định hình (Formulate):</a:t>
              </a:r>
            </a:p>
          </p:txBody>
        </p:sp>
      </p:grpSp>
      <p:sp>
        <p:nvSpPr>
          <p:cNvPr id="18" name="TextBox 18"/>
          <p:cNvSpPr txBox="1"/>
          <p:nvPr/>
        </p:nvSpPr>
        <p:spPr>
          <a:xfrm>
            <a:off x="1165860" y="5575935"/>
            <a:ext cx="3154680" cy="1759200"/>
          </a:xfrm>
          <a:prstGeom prst="rect">
            <a:avLst/>
          </a:prstGeom>
        </p:spPr>
        <p:txBody>
          <a:bodyPr lIns="0" tIns="0" rIns="0" bIns="0" rtlCol="0" anchor="t">
            <a:spAutoFit/>
          </a:bodyPr>
          <a:lstStyle/>
          <a:p>
            <a:pPr algn="just">
              <a:lnSpc>
                <a:spcPts val="3456"/>
              </a:lnSpc>
            </a:pPr>
            <a:r>
              <a:rPr lang="en-US" sz="2400">
                <a:solidFill>
                  <a:srgbClr val="1E2B25"/>
                </a:solidFill>
                <a:latin typeface="Montserrat"/>
                <a:ea typeface="Montserrat"/>
                <a:cs typeface="Montserrat"/>
                <a:sym typeface="Montserrat"/>
              </a:rPr>
              <a:t>Cung cấp bối cảnh (Context), vai trò, và mục tiêu rõ ràng cho AI.</a:t>
            </a:r>
          </a:p>
        </p:txBody>
      </p:sp>
      <p:grpSp>
        <p:nvGrpSpPr>
          <p:cNvPr id="19" name="Group 19"/>
          <p:cNvGrpSpPr/>
          <p:nvPr/>
        </p:nvGrpSpPr>
        <p:grpSpPr>
          <a:xfrm>
            <a:off x="6244971" y="2185035"/>
            <a:ext cx="1527810" cy="1527810"/>
            <a:chOff x="0" y="0"/>
            <a:chExt cx="2037080" cy="2037080"/>
          </a:xfrm>
        </p:grpSpPr>
        <p:sp>
          <p:nvSpPr>
            <p:cNvPr id="20" name="Freeform 20"/>
            <p:cNvSpPr/>
            <p:nvPr/>
          </p:nvSpPr>
          <p:spPr>
            <a:xfrm>
              <a:off x="0" y="0"/>
              <a:ext cx="2037080" cy="2037080"/>
            </a:xfrm>
            <a:custGeom>
              <a:avLst/>
              <a:gdLst/>
              <a:ahLst/>
              <a:cxnLst/>
              <a:rect l="l" t="t" r="r" b="b"/>
              <a:pathLst>
                <a:path w="2037080" h="2037080">
                  <a:moveTo>
                    <a:pt x="0" y="1018540"/>
                  </a:moveTo>
                  <a:cubicBezTo>
                    <a:pt x="0" y="456057"/>
                    <a:pt x="456057" y="0"/>
                    <a:pt x="1018540" y="0"/>
                  </a:cubicBezTo>
                  <a:cubicBezTo>
                    <a:pt x="1581023" y="0"/>
                    <a:pt x="2037080" y="456057"/>
                    <a:pt x="2037080" y="1018540"/>
                  </a:cubicBezTo>
                  <a:cubicBezTo>
                    <a:pt x="2037080" y="1581023"/>
                    <a:pt x="1581023" y="2037080"/>
                    <a:pt x="1018540" y="2037080"/>
                  </a:cubicBezTo>
                  <a:cubicBezTo>
                    <a:pt x="456057" y="2037080"/>
                    <a:pt x="0" y="1581023"/>
                    <a:pt x="0" y="1018540"/>
                  </a:cubicBezTo>
                  <a:close/>
                </a:path>
              </a:pathLst>
            </a:custGeom>
            <a:solidFill>
              <a:srgbClr val="006838"/>
            </a:solidFill>
            <a:ln w="19050" cap="sq">
              <a:solidFill>
                <a:srgbClr val="006838"/>
              </a:solidFill>
              <a:prstDash val="solid"/>
              <a:miter/>
            </a:ln>
          </p:spPr>
        </p:sp>
      </p:grpSp>
      <p:grpSp>
        <p:nvGrpSpPr>
          <p:cNvPr id="21" name="Group 21"/>
          <p:cNvGrpSpPr/>
          <p:nvPr/>
        </p:nvGrpSpPr>
        <p:grpSpPr>
          <a:xfrm>
            <a:off x="6646774" y="2586838"/>
            <a:ext cx="724205" cy="724205"/>
            <a:chOff x="0" y="0"/>
            <a:chExt cx="965606" cy="965606"/>
          </a:xfrm>
        </p:grpSpPr>
        <p:sp>
          <p:nvSpPr>
            <p:cNvPr id="22" name="Freeform 22" descr="preencoded.png"/>
            <p:cNvSpPr/>
            <p:nvPr/>
          </p:nvSpPr>
          <p:spPr>
            <a:xfrm>
              <a:off x="0" y="0"/>
              <a:ext cx="965581" cy="965581"/>
            </a:xfrm>
            <a:custGeom>
              <a:avLst/>
              <a:gdLst/>
              <a:ahLst/>
              <a:cxnLst/>
              <a:rect l="l" t="t" r="r" b="b"/>
              <a:pathLst>
                <a:path w="965581" h="965581">
                  <a:moveTo>
                    <a:pt x="0" y="0"/>
                  </a:moveTo>
                  <a:lnTo>
                    <a:pt x="965581" y="0"/>
                  </a:lnTo>
                  <a:lnTo>
                    <a:pt x="965581" y="965581"/>
                  </a:lnTo>
                  <a:lnTo>
                    <a:pt x="0" y="965581"/>
                  </a:lnTo>
                  <a:lnTo>
                    <a:pt x="0" y="0"/>
                  </a:lnTo>
                  <a:close/>
                </a:path>
              </a:pathLst>
            </a:custGeom>
            <a:blipFill>
              <a:blip r:embed="rId5"/>
              <a:stretch>
                <a:fillRect r="-2" b="-2"/>
              </a:stretch>
            </a:blipFill>
          </p:spPr>
        </p:sp>
      </p:grpSp>
      <p:sp>
        <p:nvSpPr>
          <p:cNvPr id="23" name="TextBox 23"/>
          <p:cNvSpPr txBox="1"/>
          <p:nvPr/>
        </p:nvSpPr>
        <p:spPr>
          <a:xfrm>
            <a:off x="7420356" y="1979295"/>
            <a:ext cx="822960" cy="558165"/>
          </a:xfrm>
          <a:prstGeom prst="rect">
            <a:avLst/>
          </a:prstGeom>
        </p:spPr>
        <p:txBody>
          <a:bodyPr lIns="0" tIns="0" rIns="0" bIns="0" rtlCol="0" anchor="t">
            <a:spAutoFit/>
          </a:bodyPr>
          <a:lstStyle/>
          <a:p>
            <a:pPr algn="l">
              <a:lnSpc>
                <a:spcPts val="2340"/>
              </a:lnSpc>
            </a:pPr>
            <a:r>
              <a:rPr lang="en-US" sz="1950" b="1">
                <a:solidFill>
                  <a:srgbClr val="006838"/>
                </a:solidFill>
                <a:latin typeface="Montserrat Bold"/>
                <a:ea typeface="Montserrat Bold"/>
                <a:cs typeface="Montserrat Bold"/>
                <a:sym typeface="Montserrat Bold"/>
              </a:rPr>
              <a:t>02</a:t>
            </a:r>
          </a:p>
        </p:txBody>
      </p:sp>
      <p:grpSp>
        <p:nvGrpSpPr>
          <p:cNvPr id="24" name="Group 24"/>
          <p:cNvGrpSpPr/>
          <p:nvPr/>
        </p:nvGrpSpPr>
        <p:grpSpPr>
          <a:xfrm>
            <a:off x="5081492" y="4107656"/>
            <a:ext cx="3854767" cy="5294947"/>
            <a:chOff x="0" y="0"/>
            <a:chExt cx="5139690" cy="7059930"/>
          </a:xfrm>
        </p:grpSpPr>
        <p:sp>
          <p:nvSpPr>
            <p:cNvPr id="25" name="Freeform 25"/>
            <p:cNvSpPr/>
            <p:nvPr/>
          </p:nvSpPr>
          <p:spPr>
            <a:xfrm>
              <a:off x="0" y="0"/>
              <a:ext cx="5139690" cy="7059930"/>
            </a:xfrm>
            <a:custGeom>
              <a:avLst/>
              <a:gdLst/>
              <a:ahLst/>
              <a:cxnLst/>
              <a:rect l="l" t="t" r="r" b="b"/>
              <a:pathLst>
                <a:path w="5139690" h="7059930">
                  <a:moveTo>
                    <a:pt x="0" y="220345"/>
                  </a:moveTo>
                  <a:cubicBezTo>
                    <a:pt x="0" y="98679"/>
                    <a:pt x="98679" y="0"/>
                    <a:pt x="220345" y="0"/>
                  </a:cubicBezTo>
                  <a:lnTo>
                    <a:pt x="4919345" y="0"/>
                  </a:lnTo>
                  <a:cubicBezTo>
                    <a:pt x="5041011" y="0"/>
                    <a:pt x="5139690" y="98679"/>
                    <a:pt x="5139690" y="220345"/>
                  </a:cubicBezTo>
                  <a:lnTo>
                    <a:pt x="5139690" y="6839585"/>
                  </a:lnTo>
                  <a:cubicBezTo>
                    <a:pt x="5139690" y="6961251"/>
                    <a:pt x="5041011" y="7059930"/>
                    <a:pt x="4919345" y="7059930"/>
                  </a:cubicBezTo>
                  <a:lnTo>
                    <a:pt x="220345" y="7059930"/>
                  </a:lnTo>
                  <a:cubicBezTo>
                    <a:pt x="98679" y="7059930"/>
                    <a:pt x="0" y="6961251"/>
                    <a:pt x="0" y="6839585"/>
                  </a:cubicBezTo>
                  <a:close/>
                </a:path>
              </a:pathLst>
            </a:custGeom>
            <a:solidFill>
              <a:srgbClr val="FFFFFF"/>
            </a:solidFill>
            <a:ln w="14288" cap="sq">
              <a:solidFill>
                <a:srgbClr val="DCE6E0"/>
              </a:solidFill>
              <a:prstDash val="solid"/>
              <a:miter/>
            </a:ln>
          </p:spPr>
        </p:sp>
      </p:grpSp>
      <p:grpSp>
        <p:nvGrpSpPr>
          <p:cNvPr id="26" name="Group 26"/>
          <p:cNvGrpSpPr/>
          <p:nvPr/>
        </p:nvGrpSpPr>
        <p:grpSpPr>
          <a:xfrm>
            <a:off x="5431536" y="4457700"/>
            <a:ext cx="3154680" cy="1028700"/>
            <a:chOff x="0" y="0"/>
            <a:chExt cx="4206240" cy="1371600"/>
          </a:xfrm>
        </p:grpSpPr>
        <p:sp>
          <p:nvSpPr>
            <p:cNvPr id="27" name="Freeform 27"/>
            <p:cNvSpPr/>
            <p:nvPr/>
          </p:nvSpPr>
          <p:spPr>
            <a:xfrm>
              <a:off x="0" y="0"/>
              <a:ext cx="4206240" cy="1371600"/>
            </a:xfrm>
            <a:custGeom>
              <a:avLst/>
              <a:gdLst/>
              <a:ahLst/>
              <a:cxnLst/>
              <a:rect l="l" t="t" r="r" b="b"/>
              <a:pathLst>
                <a:path w="4206240" h="1371600">
                  <a:moveTo>
                    <a:pt x="0" y="0"/>
                  </a:moveTo>
                  <a:lnTo>
                    <a:pt x="4206240" y="0"/>
                  </a:lnTo>
                  <a:lnTo>
                    <a:pt x="4206240" y="1371600"/>
                  </a:lnTo>
                  <a:lnTo>
                    <a:pt x="0" y="1371600"/>
                  </a:lnTo>
                  <a:close/>
                </a:path>
              </a:pathLst>
            </a:custGeom>
            <a:blipFill>
              <a:blip r:embed="rId3">
                <a:alphaModFix amt="0"/>
              </a:blip>
              <a:stretch>
                <a:fillRect t="-9754" b="-9754"/>
              </a:stretch>
            </a:blipFill>
          </p:spPr>
        </p:sp>
        <p:sp>
          <p:nvSpPr>
            <p:cNvPr id="28" name="TextBox 28"/>
            <p:cNvSpPr txBox="1"/>
            <p:nvPr/>
          </p:nvSpPr>
          <p:spPr>
            <a:xfrm>
              <a:off x="0" y="9525"/>
              <a:ext cx="4206240" cy="1362075"/>
            </a:xfrm>
            <a:prstGeom prst="rect">
              <a:avLst/>
            </a:prstGeom>
          </p:spPr>
          <p:txBody>
            <a:bodyPr lIns="0" tIns="0" rIns="0" bIns="0" rtlCol="0" anchor="ctr"/>
            <a:lstStyle/>
            <a:p>
              <a:pPr algn="l">
                <a:lnSpc>
                  <a:spcPts val="2879"/>
                </a:lnSpc>
              </a:pPr>
              <a:r>
                <a:rPr lang="en-US" sz="2400" b="1">
                  <a:solidFill>
                    <a:srgbClr val="006838"/>
                  </a:solidFill>
                  <a:latin typeface="Montserrat Bold"/>
                  <a:ea typeface="Montserrat Bold"/>
                  <a:cs typeface="Montserrat Bold"/>
                  <a:sym typeface="Montserrat Bold"/>
                </a:rPr>
                <a:t>Tạo lập (Generate):</a:t>
              </a:r>
            </a:p>
          </p:txBody>
        </p:sp>
      </p:grpSp>
      <p:sp>
        <p:nvSpPr>
          <p:cNvPr id="29" name="TextBox 29"/>
          <p:cNvSpPr txBox="1"/>
          <p:nvPr/>
        </p:nvSpPr>
        <p:spPr>
          <a:xfrm>
            <a:off x="5431536" y="5575935"/>
            <a:ext cx="3154680" cy="1759200"/>
          </a:xfrm>
          <a:prstGeom prst="rect">
            <a:avLst/>
          </a:prstGeom>
        </p:spPr>
        <p:txBody>
          <a:bodyPr lIns="0" tIns="0" rIns="0" bIns="0" rtlCol="0" anchor="t">
            <a:spAutoFit/>
          </a:bodyPr>
          <a:lstStyle/>
          <a:p>
            <a:pPr algn="just">
              <a:lnSpc>
                <a:spcPts val="3456"/>
              </a:lnSpc>
            </a:pPr>
            <a:r>
              <a:rPr lang="en-US" sz="2400">
                <a:solidFill>
                  <a:srgbClr val="1E2B25"/>
                </a:solidFill>
                <a:latin typeface="Montserrat"/>
                <a:ea typeface="Montserrat"/>
                <a:cs typeface="Montserrat"/>
                <a:sym typeface="Montserrat"/>
              </a:rPr>
              <a:t>Để AI xử lý dữ liệu và đưa ra các bản nháp, ý tưởng hoặc phân tích.</a:t>
            </a:r>
          </a:p>
        </p:txBody>
      </p:sp>
      <p:grpSp>
        <p:nvGrpSpPr>
          <p:cNvPr id="30" name="Group 30"/>
          <p:cNvGrpSpPr/>
          <p:nvPr/>
        </p:nvGrpSpPr>
        <p:grpSpPr>
          <a:xfrm>
            <a:off x="10510647" y="2185035"/>
            <a:ext cx="1527810" cy="1527810"/>
            <a:chOff x="0" y="0"/>
            <a:chExt cx="2037080" cy="2037080"/>
          </a:xfrm>
        </p:grpSpPr>
        <p:sp>
          <p:nvSpPr>
            <p:cNvPr id="31" name="Freeform 31"/>
            <p:cNvSpPr/>
            <p:nvPr/>
          </p:nvSpPr>
          <p:spPr>
            <a:xfrm>
              <a:off x="0" y="0"/>
              <a:ext cx="2037080" cy="2037080"/>
            </a:xfrm>
            <a:custGeom>
              <a:avLst/>
              <a:gdLst/>
              <a:ahLst/>
              <a:cxnLst/>
              <a:rect l="l" t="t" r="r" b="b"/>
              <a:pathLst>
                <a:path w="2037080" h="2037080">
                  <a:moveTo>
                    <a:pt x="0" y="1018540"/>
                  </a:moveTo>
                  <a:cubicBezTo>
                    <a:pt x="0" y="456057"/>
                    <a:pt x="456057" y="0"/>
                    <a:pt x="1018540" y="0"/>
                  </a:cubicBezTo>
                  <a:cubicBezTo>
                    <a:pt x="1581023" y="0"/>
                    <a:pt x="2037080" y="456057"/>
                    <a:pt x="2037080" y="1018540"/>
                  </a:cubicBezTo>
                  <a:cubicBezTo>
                    <a:pt x="2037080" y="1581023"/>
                    <a:pt x="1581023" y="2037080"/>
                    <a:pt x="1018540" y="2037080"/>
                  </a:cubicBezTo>
                  <a:cubicBezTo>
                    <a:pt x="456057" y="2037080"/>
                    <a:pt x="0" y="1581023"/>
                    <a:pt x="0" y="1018540"/>
                  </a:cubicBezTo>
                  <a:close/>
                </a:path>
              </a:pathLst>
            </a:custGeom>
            <a:solidFill>
              <a:srgbClr val="FF7300"/>
            </a:solidFill>
            <a:ln w="19050" cap="sq">
              <a:solidFill>
                <a:srgbClr val="FF7300"/>
              </a:solidFill>
              <a:prstDash val="solid"/>
              <a:miter/>
            </a:ln>
          </p:spPr>
        </p:sp>
      </p:grpSp>
      <p:grpSp>
        <p:nvGrpSpPr>
          <p:cNvPr id="32" name="Group 32"/>
          <p:cNvGrpSpPr/>
          <p:nvPr/>
        </p:nvGrpSpPr>
        <p:grpSpPr>
          <a:xfrm>
            <a:off x="10912450" y="2586838"/>
            <a:ext cx="724205" cy="724205"/>
            <a:chOff x="0" y="0"/>
            <a:chExt cx="965606" cy="965606"/>
          </a:xfrm>
        </p:grpSpPr>
        <p:sp>
          <p:nvSpPr>
            <p:cNvPr id="33" name="Freeform 33" descr="preencoded.png"/>
            <p:cNvSpPr/>
            <p:nvPr/>
          </p:nvSpPr>
          <p:spPr>
            <a:xfrm>
              <a:off x="0" y="0"/>
              <a:ext cx="965581" cy="965581"/>
            </a:xfrm>
            <a:custGeom>
              <a:avLst/>
              <a:gdLst/>
              <a:ahLst/>
              <a:cxnLst/>
              <a:rect l="l" t="t" r="r" b="b"/>
              <a:pathLst>
                <a:path w="965581" h="965581">
                  <a:moveTo>
                    <a:pt x="0" y="0"/>
                  </a:moveTo>
                  <a:lnTo>
                    <a:pt x="965581" y="0"/>
                  </a:lnTo>
                  <a:lnTo>
                    <a:pt x="965581" y="965581"/>
                  </a:lnTo>
                  <a:lnTo>
                    <a:pt x="0" y="965581"/>
                  </a:lnTo>
                  <a:lnTo>
                    <a:pt x="0" y="0"/>
                  </a:lnTo>
                  <a:close/>
                </a:path>
              </a:pathLst>
            </a:custGeom>
            <a:blipFill>
              <a:blip r:embed="rId6"/>
              <a:stretch>
                <a:fillRect r="-2" b="-2"/>
              </a:stretch>
            </a:blipFill>
          </p:spPr>
        </p:sp>
      </p:grpSp>
      <p:sp>
        <p:nvSpPr>
          <p:cNvPr id="34" name="TextBox 34"/>
          <p:cNvSpPr txBox="1"/>
          <p:nvPr/>
        </p:nvSpPr>
        <p:spPr>
          <a:xfrm>
            <a:off x="11686032" y="1979295"/>
            <a:ext cx="822960" cy="558165"/>
          </a:xfrm>
          <a:prstGeom prst="rect">
            <a:avLst/>
          </a:prstGeom>
        </p:spPr>
        <p:txBody>
          <a:bodyPr lIns="0" tIns="0" rIns="0" bIns="0" rtlCol="0" anchor="t">
            <a:spAutoFit/>
          </a:bodyPr>
          <a:lstStyle/>
          <a:p>
            <a:pPr algn="l">
              <a:lnSpc>
                <a:spcPts val="2340"/>
              </a:lnSpc>
            </a:pPr>
            <a:r>
              <a:rPr lang="en-US" sz="1950" b="1">
                <a:solidFill>
                  <a:srgbClr val="FF7300"/>
                </a:solidFill>
                <a:latin typeface="Montserrat Bold"/>
                <a:ea typeface="Montserrat Bold"/>
                <a:cs typeface="Montserrat Bold"/>
                <a:sym typeface="Montserrat Bold"/>
              </a:rPr>
              <a:t>03</a:t>
            </a:r>
          </a:p>
        </p:txBody>
      </p:sp>
      <p:grpSp>
        <p:nvGrpSpPr>
          <p:cNvPr id="35" name="Group 35"/>
          <p:cNvGrpSpPr/>
          <p:nvPr/>
        </p:nvGrpSpPr>
        <p:grpSpPr>
          <a:xfrm>
            <a:off x="9347168" y="4107656"/>
            <a:ext cx="3854767" cy="5294947"/>
            <a:chOff x="0" y="0"/>
            <a:chExt cx="5139690" cy="7059930"/>
          </a:xfrm>
        </p:grpSpPr>
        <p:sp>
          <p:nvSpPr>
            <p:cNvPr id="36" name="Freeform 36"/>
            <p:cNvSpPr/>
            <p:nvPr/>
          </p:nvSpPr>
          <p:spPr>
            <a:xfrm>
              <a:off x="0" y="0"/>
              <a:ext cx="5139690" cy="7059930"/>
            </a:xfrm>
            <a:custGeom>
              <a:avLst/>
              <a:gdLst/>
              <a:ahLst/>
              <a:cxnLst/>
              <a:rect l="l" t="t" r="r" b="b"/>
              <a:pathLst>
                <a:path w="5139690" h="7059930">
                  <a:moveTo>
                    <a:pt x="0" y="220345"/>
                  </a:moveTo>
                  <a:cubicBezTo>
                    <a:pt x="0" y="98679"/>
                    <a:pt x="98679" y="0"/>
                    <a:pt x="220345" y="0"/>
                  </a:cubicBezTo>
                  <a:lnTo>
                    <a:pt x="4919345" y="0"/>
                  </a:lnTo>
                  <a:cubicBezTo>
                    <a:pt x="5041011" y="0"/>
                    <a:pt x="5139690" y="98679"/>
                    <a:pt x="5139690" y="220345"/>
                  </a:cubicBezTo>
                  <a:lnTo>
                    <a:pt x="5139690" y="6839585"/>
                  </a:lnTo>
                  <a:cubicBezTo>
                    <a:pt x="5139690" y="6961251"/>
                    <a:pt x="5041011" y="7059930"/>
                    <a:pt x="4919345" y="7059930"/>
                  </a:cubicBezTo>
                  <a:lnTo>
                    <a:pt x="220345" y="7059930"/>
                  </a:lnTo>
                  <a:cubicBezTo>
                    <a:pt x="98679" y="7059930"/>
                    <a:pt x="0" y="6961251"/>
                    <a:pt x="0" y="6839585"/>
                  </a:cubicBezTo>
                  <a:close/>
                </a:path>
              </a:pathLst>
            </a:custGeom>
            <a:solidFill>
              <a:srgbClr val="FFF1E5"/>
            </a:solidFill>
            <a:ln w="14288" cap="sq">
              <a:solidFill>
                <a:srgbClr val="FFD3B0"/>
              </a:solidFill>
              <a:prstDash val="solid"/>
              <a:miter/>
            </a:ln>
          </p:spPr>
        </p:sp>
      </p:grpSp>
      <p:grpSp>
        <p:nvGrpSpPr>
          <p:cNvPr id="37" name="Group 37"/>
          <p:cNvGrpSpPr/>
          <p:nvPr/>
        </p:nvGrpSpPr>
        <p:grpSpPr>
          <a:xfrm>
            <a:off x="9697212" y="4457700"/>
            <a:ext cx="3154680" cy="1028700"/>
            <a:chOff x="0" y="0"/>
            <a:chExt cx="4206240" cy="1371600"/>
          </a:xfrm>
        </p:grpSpPr>
        <p:sp>
          <p:nvSpPr>
            <p:cNvPr id="38" name="Freeform 38"/>
            <p:cNvSpPr/>
            <p:nvPr/>
          </p:nvSpPr>
          <p:spPr>
            <a:xfrm>
              <a:off x="0" y="0"/>
              <a:ext cx="4206240" cy="1371600"/>
            </a:xfrm>
            <a:custGeom>
              <a:avLst/>
              <a:gdLst/>
              <a:ahLst/>
              <a:cxnLst/>
              <a:rect l="l" t="t" r="r" b="b"/>
              <a:pathLst>
                <a:path w="4206240" h="1371600">
                  <a:moveTo>
                    <a:pt x="0" y="0"/>
                  </a:moveTo>
                  <a:lnTo>
                    <a:pt x="4206240" y="0"/>
                  </a:lnTo>
                  <a:lnTo>
                    <a:pt x="4206240" y="1371600"/>
                  </a:lnTo>
                  <a:lnTo>
                    <a:pt x="0" y="1371600"/>
                  </a:lnTo>
                  <a:close/>
                </a:path>
              </a:pathLst>
            </a:custGeom>
            <a:blipFill>
              <a:blip r:embed="rId3">
                <a:alphaModFix amt="0"/>
              </a:blip>
              <a:stretch>
                <a:fillRect t="-9754" b="-9754"/>
              </a:stretch>
            </a:blipFill>
          </p:spPr>
        </p:sp>
        <p:sp>
          <p:nvSpPr>
            <p:cNvPr id="39" name="TextBox 39"/>
            <p:cNvSpPr txBox="1"/>
            <p:nvPr/>
          </p:nvSpPr>
          <p:spPr>
            <a:xfrm>
              <a:off x="0" y="9525"/>
              <a:ext cx="4206240" cy="1362075"/>
            </a:xfrm>
            <a:prstGeom prst="rect">
              <a:avLst/>
            </a:prstGeom>
          </p:spPr>
          <p:txBody>
            <a:bodyPr lIns="0" tIns="0" rIns="0" bIns="0" rtlCol="0" anchor="ctr"/>
            <a:lstStyle/>
            <a:p>
              <a:pPr algn="l">
                <a:lnSpc>
                  <a:spcPts val="2879"/>
                </a:lnSpc>
              </a:pPr>
              <a:r>
                <a:rPr lang="en-US" sz="2400" b="1">
                  <a:solidFill>
                    <a:srgbClr val="C25700"/>
                  </a:solidFill>
                  <a:latin typeface="Montserrat Bold"/>
                  <a:ea typeface="Montserrat Bold"/>
                  <a:cs typeface="Montserrat Bold"/>
                  <a:sym typeface="Montserrat Bold"/>
                </a:rPr>
                <a:t>Đánh giá (Evaluate):</a:t>
              </a:r>
            </a:p>
          </p:txBody>
        </p:sp>
      </p:grpSp>
      <p:sp>
        <p:nvSpPr>
          <p:cNvPr id="40" name="TextBox 40"/>
          <p:cNvSpPr txBox="1"/>
          <p:nvPr/>
        </p:nvSpPr>
        <p:spPr>
          <a:xfrm>
            <a:off x="9697212" y="5575935"/>
            <a:ext cx="3154680" cy="2208040"/>
          </a:xfrm>
          <a:prstGeom prst="rect">
            <a:avLst/>
          </a:prstGeom>
        </p:spPr>
        <p:txBody>
          <a:bodyPr lIns="0" tIns="0" rIns="0" bIns="0" rtlCol="0" anchor="t">
            <a:spAutoFit/>
          </a:bodyPr>
          <a:lstStyle/>
          <a:p>
            <a:pPr algn="just">
              <a:lnSpc>
                <a:spcPts val="3456"/>
              </a:lnSpc>
            </a:pPr>
            <a:r>
              <a:rPr lang="en-US" sz="2400">
                <a:solidFill>
                  <a:srgbClr val="1E2B25"/>
                </a:solidFill>
                <a:latin typeface="Montserrat"/>
                <a:ea typeface="Montserrat"/>
                <a:cs typeface="Montserrat"/>
                <a:sym typeface="Montserrat"/>
              </a:rPr>
              <a:t>Con người dùng tư duy phản biện để kiểm chứng độ chính xác (tránh ảo giác AI).</a:t>
            </a:r>
          </a:p>
        </p:txBody>
      </p:sp>
      <p:grpSp>
        <p:nvGrpSpPr>
          <p:cNvPr id="41" name="Group 41"/>
          <p:cNvGrpSpPr/>
          <p:nvPr/>
        </p:nvGrpSpPr>
        <p:grpSpPr>
          <a:xfrm>
            <a:off x="14776323" y="2185035"/>
            <a:ext cx="1527810" cy="1527810"/>
            <a:chOff x="0" y="0"/>
            <a:chExt cx="2037080" cy="2037080"/>
          </a:xfrm>
        </p:grpSpPr>
        <p:sp>
          <p:nvSpPr>
            <p:cNvPr id="42" name="Freeform 42"/>
            <p:cNvSpPr/>
            <p:nvPr/>
          </p:nvSpPr>
          <p:spPr>
            <a:xfrm>
              <a:off x="0" y="0"/>
              <a:ext cx="2037080" cy="2037080"/>
            </a:xfrm>
            <a:custGeom>
              <a:avLst/>
              <a:gdLst/>
              <a:ahLst/>
              <a:cxnLst/>
              <a:rect l="l" t="t" r="r" b="b"/>
              <a:pathLst>
                <a:path w="2037080" h="2037080">
                  <a:moveTo>
                    <a:pt x="0" y="1018540"/>
                  </a:moveTo>
                  <a:cubicBezTo>
                    <a:pt x="0" y="456057"/>
                    <a:pt x="456057" y="0"/>
                    <a:pt x="1018540" y="0"/>
                  </a:cubicBezTo>
                  <a:cubicBezTo>
                    <a:pt x="1581023" y="0"/>
                    <a:pt x="2037080" y="456057"/>
                    <a:pt x="2037080" y="1018540"/>
                  </a:cubicBezTo>
                  <a:cubicBezTo>
                    <a:pt x="2037080" y="1581023"/>
                    <a:pt x="1581023" y="2037080"/>
                    <a:pt x="1018540" y="2037080"/>
                  </a:cubicBezTo>
                  <a:cubicBezTo>
                    <a:pt x="456057" y="2037080"/>
                    <a:pt x="0" y="1581023"/>
                    <a:pt x="0" y="1018540"/>
                  </a:cubicBezTo>
                  <a:close/>
                </a:path>
              </a:pathLst>
            </a:custGeom>
            <a:solidFill>
              <a:srgbClr val="006838"/>
            </a:solidFill>
            <a:ln w="19050" cap="sq">
              <a:solidFill>
                <a:srgbClr val="006838"/>
              </a:solidFill>
              <a:prstDash val="solid"/>
              <a:miter/>
            </a:ln>
          </p:spPr>
        </p:sp>
      </p:grpSp>
      <p:grpSp>
        <p:nvGrpSpPr>
          <p:cNvPr id="43" name="Group 43"/>
          <p:cNvGrpSpPr/>
          <p:nvPr/>
        </p:nvGrpSpPr>
        <p:grpSpPr>
          <a:xfrm>
            <a:off x="15178126" y="2586838"/>
            <a:ext cx="724205" cy="724205"/>
            <a:chOff x="0" y="0"/>
            <a:chExt cx="965606" cy="965606"/>
          </a:xfrm>
        </p:grpSpPr>
        <p:sp>
          <p:nvSpPr>
            <p:cNvPr id="44" name="Freeform 44" descr="preencoded.png"/>
            <p:cNvSpPr/>
            <p:nvPr/>
          </p:nvSpPr>
          <p:spPr>
            <a:xfrm>
              <a:off x="0" y="0"/>
              <a:ext cx="965581" cy="965581"/>
            </a:xfrm>
            <a:custGeom>
              <a:avLst/>
              <a:gdLst/>
              <a:ahLst/>
              <a:cxnLst/>
              <a:rect l="l" t="t" r="r" b="b"/>
              <a:pathLst>
                <a:path w="965581" h="965581">
                  <a:moveTo>
                    <a:pt x="0" y="0"/>
                  </a:moveTo>
                  <a:lnTo>
                    <a:pt x="965581" y="0"/>
                  </a:lnTo>
                  <a:lnTo>
                    <a:pt x="965581" y="965581"/>
                  </a:lnTo>
                  <a:lnTo>
                    <a:pt x="0" y="965581"/>
                  </a:lnTo>
                  <a:lnTo>
                    <a:pt x="0" y="0"/>
                  </a:lnTo>
                  <a:close/>
                </a:path>
              </a:pathLst>
            </a:custGeom>
            <a:blipFill>
              <a:blip r:embed="rId7"/>
              <a:stretch>
                <a:fillRect r="-2" b="-2"/>
              </a:stretch>
            </a:blipFill>
          </p:spPr>
        </p:sp>
      </p:grpSp>
      <p:sp>
        <p:nvSpPr>
          <p:cNvPr id="45" name="TextBox 45"/>
          <p:cNvSpPr txBox="1"/>
          <p:nvPr/>
        </p:nvSpPr>
        <p:spPr>
          <a:xfrm>
            <a:off x="15951708" y="1979295"/>
            <a:ext cx="822960" cy="558165"/>
          </a:xfrm>
          <a:prstGeom prst="rect">
            <a:avLst/>
          </a:prstGeom>
        </p:spPr>
        <p:txBody>
          <a:bodyPr lIns="0" tIns="0" rIns="0" bIns="0" rtlCol="0" anchor="t">
            <a:spAutoFit/>
          </a:bodyPr>
          <a:lstStyle/>
          <a:p>
            <a:pPr algn="l">
              <a:lnSpc>
                <a:spcPts val="2340"/>
              </a:lnSpc>
            </a:pPr>
            <a:r>
              <a:rPr lang="en-US" sz="1950" b="1">
                <a:solidFill>
                  <a:srgbClr val="006838"/>
                </a:solidFill>
                <a:latin typeface="Montserrat Bold"/>
                <a:ea typeface="Montserrat Bold"/>
                <a:cs typeface="Montserrat Bold"/>
                <a:sym typeface="Montserrat Bold"/>
              </a:rPr>
              <a:t>04</a:t>
            </a:r>
          </a:p>
        </p:txBody>
      </p:sp>
      <p:grpSp>
        <p:nvGrpSpPr>
          <p:cNvPr id="46" name="Group 46"/>
          <p:cNvGrpSpPr/>
          <p:nvPr/>
        </p:nvGrpSpPr>
        <p:grpSpPr>
          <a:xfrm>
            <a:off x="13612844" y="4107656"/>
            <a:ext cx="3854767" cy="5294947"/>
            <a:chOff x="0" y="0"/>
            <a:chExt cx="5139690" cy="7059930"/>
          </a:xfrm>
        </p:grpSpPr>
        <p:sp>
          <p:nvSpPr>
            <p:cNvPr id="47" name="Freeform 47"/>
            <p:cNvSpPr/>
            <p:nvPr/>
          </p:nvSpPr>
          <p:spPr>
            <a:xfrm>
              <a:off x="0" y="0"/>
              <a:ext cx="5139690" cy="7059930"/>
            </a:xfrm>
            <a:custGeom>
              <a:avLst/>
              <a:gdLst/>
              <a:ahLst/>
              <a:cxnLst/>
              <a:rect l="l" t="t" r="r" b="b"/>
              <a:pathLst>
                <a:path w="5139690" h="7059930">
                  <a:moveTo>
                    <a:pt x="0" y="220345"/>
                  </a:moveTo>
                  <a:cubicBezTo>
                    <a:pt x="0" y="98679"/>
                    <a:pt x="98679" y="0"/>
                    <a:pt x="220345" y="0"/>
                  </a:cubicBezTo>
                  <a:lnTo>
                    <a:pt x="4919345" y="0"/>
                  </a:lnTo>
                  <a:cubicBezTo>
                    <a:pt x="5041011" y="0"/>
                    <a:pt x="5139690" y="98679"/>
                    <a:pt x="5139690" y="220345"/>
                  </a:cubicBezTo>
                  <a:lnTo>
                    <a:pt x="5139690" y="6839585"/>
                  </a:lnTo>
                  <a:cubicBezTo>
                    <a:pt x="5139690" y="6961251"/>
                    <a:pt x="5041011" y="7059930"/>
                    <a:pt x="4919345" y="7059930"/>
                  </a:cubicBezTo>
                  <a:lnTo>
                    <a:pt x="220345" y="7059930"/>
                  </a:lnTo>
                  <a:cubicBezTo>
                    <a:pt x="98679" y="7059930"/>
                    <a:pt x="0" y="6961251"/>
                    <a:pt x="0" y="6839585"/>
                  </a:cubicBezTo>
                  <a:close/>
                </a:path>
              </a:pathLst>
            </a:custGeom>
            <a:solidFill>
              <a:srgbClr val="FFFFFF"/>
            </a:solidFill>
            <a:ln w="14288" cap="sq">
              <a:solidFill>
                <a:srgbClr val="DCE6E0"/>
              </a:solidFill>
              <a:prstDash val="solid"/>
              <a:miter/>
            </a:ln>
          </p:spPr>
        </p:sp>
      </p:grpSp>
      <p:grpSp>
        <p:nvGrpSpPr>
          <p:cNvPr id="48" name="Group 48"/>
          <p:cNvGrpSpPr/>
          <p:nvPr/>
        </p:nvGrpSpPr>
        <p:grpSpPr>
          <a:xfrm>
            <a:off x="13962888" y="4457700"/>
            <a:ext cx="3154680" cy="1028700"/>
            <a:chOff x="0" y="0"/>
            <a:chExt cx="4206240" cy="1371600"/>
          </a:xfrm>
        </p:grpSpPr>
        <p:sp>
          <p:nvSpPr>
            <p:cNvPr id="49" name="Freeform 49"/>
            <p:cNvSpPr/>
            <p:nvPr/>
          </p:nvSpPr>
          <p:spPr>
            <a:xfrm>
              <a:off x="0" y="0"/>
              <a:ext cx="4206240" cy="1371600"/>
            </a:xfrm>
            <a:custGeom>
              <a:avLst/>
              <a:gdLst/>
              <a:ahLst/>
              <a:cxnLst/>
              <a:rect l="l" t="t" r="r" b="b"/>
              <a:pathLst>
                <a:path w="4206240" h="1371600">
                  <a:moveTo>
                    <a:pt x="0" y="0"/>
                  </a:moveTo>
                  <a:lnTo>
                    <a:pt x="4206240" y="0"/>
                  </a:lnTo>
                  <a:lnTo>
                    <a:pt x="4206240" y="1371600"/>
                  </a:lnTo>
                  <a:lnTo>
                    <a:pt x="0" y="1371600"/>
                  </a:lnTo>
                  <a:close/>
                </a:path>
              </a:pathLst>
            </a:custGeom>
            <a:blipFill>
              <a:blip r:embed="rId3">
                <a:alphaModFix amt="0"/>
              </a:blip>
              <a:stretch>
                <a:fillRect t="-9754" b="-9754"/>
              </a:stretch>
            </a:blipFill>
          </p:spPr>
        </p:sp>
        <p:sp>
          <p:nvSpPr>
            <p:cNvPr id="50" name="TextBox 50"/>
            <p:cNvSpPr txBox="1"/>
            <p:nvPr/>
          </p:nvSpPr>
          <p:spPr>
            <a:xfrm>
              <a:off x="0" y="9525"/>
              <a:ext cx="4206240" cy="1362075"/>
            </a:xfrm>
            <a:prstGeom prst="rect">
              <a:avLst/>
            </a:prstGeom>
          </p:spPr>
          <p:txBody>
            <a:bodyPr lIns="0" tIns="0" rIns="0" bIns="0" rtlCol="0" anchor="ctr"/>
            <a:lstStyle/>
            <a:p>
              <a:pPr algn="l">
                <a:lnSpc>
                  <a:spcPts val="2879"/>
                </a:lnSpc>
              </a:pPr>
              <a:r>
                <a:rPr lang="en-US" sz="2400" b="1">
                  <a:solidFill>
                    <a:srgbClr val="006838"/>
                  </a:solidFill>
                  <a:latin typeface="Montserrat Bold"/>
                  <a:ea typeface="Montserrat Bold"/>
                  <a:cs typeface="Montserrat Bold"/>
                  <a:sym typeface="Montserrat Bold"/>
                </a:rPr>
                <a:t>Tinh chỉnh (Refine):</a:t>
              </a:r>
            </a:p>
          </p:txBody>
        </p:sp>
      </p:grpSp>
      <p:sp>
        <p:nvSpPr>
          <p:cNvPr id="51" name="TextBox 51"/>
          <p:cNvSpPr txBox="1"/>
          <p:nvPr/>
        </p:nvSpPr>
        <p:spPr>
          <a:xfrm>
            <a:off x="13962888" y="5575935"/>
            <a:ext cx="3154680" cy="1759200"/>
          </a:xfrm>
          <a:prstGeom prst="rect">
            <a:avLst/>
          </a:prstGeom>
        </p:spPr>
        <p:txBody>
          <a:bodyPr lIns="0" tIns="0" rIns="0" bIns="0" rtlCol="0" anchor="t">
            <a:spAutoFit/>
          </a:bodyPr>
          <a:lstStyle/>
          <a:p>
            <a:pPr algn="just">
              <a:lnSpc>
                <a:spcPts val="3456"/>
              </a:lnSpc>
            </a:pPr>
            <a:r>
              <a:rPr lang="en-US" sz="2400">
                <a:solidFill>
                  <a:srgbClr val="1E2B25"/>
                </a:solidFill>
                <a:latin typeface="Montserrat"/>
                <a:ea typeface="Montserrat"/>
                <a:cs typeface="Montserrat"/>
                <a:sym typeface="Montserrat"/>
              </a:rPr>
              <a:t>Đưa thêm phản hồi để AI hoàn thiện kết quả cuối cùng trước khi thực thi.</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4"/>
          <p:cNvGrpSpPr/>
          <p:nvPr/>
        </p:nvGrpSpPr>
        <p:grpSpPr>
          <a:xfrm>
            <a:off x="822960" y="411480"/>
            <a:ext cx="15361920" cy="1371600"/>
            <a:chOff x="0" y="0"/>
            <a:chExt cx="20482560" cy="1828800"/>
          </a:xfrm>
        </p:grpSpPr>
        <p:sp>
          <p:nvSpPr>
            <p:cNvPr id="5" name="Freeform 5"/>
            <p:cNvSpPr/>
            <p:nvPr/>
          </p:nvSpPr>
          <p:spPr>
            <a:xfrm>
              <a:off x="0" y="0"/>
              <a:ext cx="20482561" cy="1828800"/>
            </a:xfrm>
            <a:custGeom>
              <a:avLst/>
              <a:gdLst/>
              <a:ahLst/>
              <a:cxnLst/>
              <a:rect l="l" t="t" r="r" b="b"/>
              <a:pathLst>
                <a:path w="20482561" h="1828800">
                  <a:moveTo>
                    <a:pt x="0" y="0"/>
                  </a:moveTo>
                  <a:lnTo>
                    <a:pt x="20482561" y="0"/>
                  </a:lnTo>
                  <a:lnTo>
                    <a:pt x="20482561" y="1828800"/>
                  </a:lnTo>
                  <a:lnTo>
                    <a:pt x="0" y="1828800"/>
                  </a:lnTo>
                  <a:close/>
                </a:path>
              </a:pathLst>
            </a:custGeom>
            <a:blipFill>
              <a:blip r:embed="rId3">
                <a:alphaModFix amt="0"/>
              </a:blip>
              <a:stretch>
                <a:fillRect t="-168232" b="-168232"/>
              </a:stretch>
            </a:blipFill>
          </p:spPr>
        </p:sp>
        <p:sp>
          <p:nvSpPr>
            <p:cNvPr id="6" name="TextBox 6"/>
            <p:cNvSpPr txBox="1"/>
            <p:nvPr/>
          </p:nvSpPr>
          <p:spPr>
            <a:xfrm>
              <a:off x="0" y="0"/>
              <a:ext cx="20482560" cy="1828800"/>
            </a:xfrm>
            <a:prstGeom prst="rect">
              <a:avLst/>
            </a:prstGeom>
          </p:spPr>
          <p:txBody>
            <a:bodyPr lIns="0" tIns="0" rIns="0" bIns="0" rtlCol="0" anchor="ctr"/>
            <a:lstStyle/>
            <a:p>
              <a:pPr algn="l">
                <a:lnSpc>
                  <a:spcPts val="4680"/>
                </a:lnSpc>
              </a:pPr>
              <a:r>
                <a:rPr lang="en-US" sz="3900" b="1">
                  <a:solidFill>
                    <a:srgbClr val="006838"/>
                  </a:solidFill>
                  <a:latin typeface="Montserrat Bold"/>
                  <a:ea typeface="Montserrat Bold"/>
                  <a:cs typeface="Montserrat Bold"/>
                  <a:sym typeface="Montserrat Bold"/>
                </a:rPr>
                <a:t>SAI LẦM CẦN TRÁNH</a:t>
              </a:r>
            </a:p>
          </p:txBody>
        </p:sp>
      </p:grpSp>
      <p:grpSp>
        <p:nvGrpSpPr>
          <p:cNvPr id="7" name="Group 7"/>
          <p:cNvGrpSpPr/>
          <p:nvPr/>
        </p:nvGrpSpPr>
        <p:grpSpPr>
          <a:xfrm>
            <a:off x="815816" y="2255996"/>
            <a:ext cx="16651796" cy="2071688"/>
            <a:chOff x="0" y="0"/>
            <a:chExt cx="22202394" cy="2762250"/>
          </a:xfrm>
        </p:grpSpPr>
        <p:sp>
          <p:nvSpPr>
            <p:cNvPr id="8" name="Freeform 8"/>
            <p:cNvSpPr/>
            <p:nvPr/>
          </p:nvSpPr>
          <p:spPr>
            <a:xfrm>
              <a:off x="0" y="0"/>
              <a:ext cx="22202394" cy="2762250"/>
            </a:xfrm>
            <a:custGeom>
              <a:avLst/>
              <a:gdLst/>
              <a:ahLst/>
              <a:cxnLst/>
              <a:rect l="l" t="t" r="r" b="b"/>
              <a:pathLst>
                <a:path w="22202394" h="2762250">
                  <a:moveTo>
                    <a:pt x="0" y="220980"/>
                  </a:moveTo>
                  <a:cubicBezTo>
                    <a:pt x="0" y="98933"/>
                    <a:pt x="98933" y="0"/>
                    <a:pt x="220980" y="0"/>
                  </a:cubicBezTo>
                  <a:lnTo>
                    <a:pt x="21981413" y="0"/>
                  </a:lnTo>
                  <a:cubicBezTo>
                    <a:pt x="22103460" y="0"/>
                    <a:pt x="22202394" y="98933"/>
                    <a:pt x="22202394" y="220980"/>
                  </a:cubicBezTo>
                  <a:lnTo>
                    <a:pt x="22202394" y="2541270"/>
                  </a:lnTo>
                  <a:cubicBezTo>
                    <a:pt x="22202394" y="2663317"/>
                    <a:pt x="22103460" y="2762250"/>
                    <a:pt x="21981413" y="2762250"/>
                  </a:cubicBezTo>
                  <a:lnTo>
                    <a:pt x="220980" y="2762250"/>
                  </a:lnTo>
                  <a:cubicBezTo>
                    <a:pt x="98933" y="2762250"/>
                    <a:pt x="0" y="2663317"/>
                    <a:pt x="0" y="2541270"/>
                  </a:cubicBezTo>
                  <a:close/>
                </a:path>
              </a:pathLst>
            </a:custGeom>
            <a:solidFill>
              <a:srgbClr val="FFFFFF"/>
            </a:solidFill>
            <a:ln w="14288" cap="sq">
              <a:solidFill>
                <a:srgbClr val="DCE6E0"/>
              </a:solidFill>
              <a:prstDash val="solid"/>
              <a:miter/>
            </a:ln>
          </p:spPr>
        </p:sp>
      </p:grpSp>
      <p:grpSp>
        <p:nvGrpSpPr>
          <p:cNvPr id="9" name="Group 9"/>
          <p:cNvGrpSpPr/>
          <p:nvPr/>
        </p:nvGrpSpPr>
        <p:grpSpPr>
          <a:xfrm>
            <a:off x="813435" y="2253615"/>
            <a:ext cx="2076450" cy="2076450"/>
            <a:chOff x="0" y="0"/>
            <a:chExt cx="2768600" cy="2768600"/>
          </a:xfrm>
        </p:grpSpPr>
        <p:sp>
          <p:nvSpPr>
            <p:cNvPr id="10" name="Freeform 10"/>
            <p:cNvSpPr/>
            <p:nvPr/>
          </p:nvSpPr>
          <p:spPr>
            <a:xfrm>
              <a:off x="0" y="0"/>
              <a:ext cx="2768600" cy="2768600"/>
            </a:xfrm>
            <a:custGeom>
              <a:avLst/>
              <a:gdLst/>
              <a:ahLst/>
              <a:cxnLst/>
              <a:rect l="l" t="t" r="r" b="b"/>
              <a:pathLst>
                <a:path w="2768600" h="2768600">
                  <a:moveTo>
                    <a:pt x="0" y="221488"/>
                  </a:moveTo>
                  <a:cubicBezTo>
                    <a:pt x="0" y="99187"/>
                    <a:pt x="99187" y="0"/>
                    <a:pt x="221488" y="0"/>
                  </a:cubicBezTo>
                  <a:lnTo>
                    <a:pt x="2547112" y="0"/>
                  </a:lnTo>
                  <a:cubicBezTo>
                    <a:pt x="2669413" y="0"/>
                    <a:pt x="2768600" y="99187"/>
                    <a:pt x="2768600" y="221488"/>
                  </a:cubicBezTo>
                  <a:lnTo>
                    <a:pt x="2768600" y="2547112"/>
                  </a:lnTo>
                  <a:cubicBezTo>
                    <a:pt x="2768600" y="2669413"/>
                    <a:pt x="2669413" y="2768600"/>
                    <a:pt x="2547112" y="2768600"/>
                  </a:cubicBezTo>
                  <a:lnTo>
                    <a:pt x="221488" y="2768600"/>
                  </a:lnTo>
                  <a:cubicBezTo>
                    <a:pt x="99187" y="2768600"/>
                    <a:pt x="0" y="2669413"/>
                    <a:pt x="0" y="2547112"/>
                  </a:cubicBezTo>
                  <a:close/>
                </a:path>
              </a:pathLst>
            </a:custGeom>
            <a:solidFill>
              <a:srgbClr val="FF7300"/>
            </a:solidFill>
            <a:ln w="19050" cap="sq">
              <a:solidFill>
                <a:srgbClr val="FF7300"/>
              </a:solidFill>
              <a:prstDash val="solid"/>
              <a:miter/>
            </a:ln>
          </p:spPr>
        </p:sp>
      </p:grpSp>
      <p:grpSp>
        <p:nvGrpSpPr>
          <p:cNvPr id="11" name="Group 11"/>
          <p:cNvGrpSpPr/>
          <p:nvPr/>
        </p:nvGrpSpPr>
        <p:grpSpPr>
          <a:xfrm>
            <a:off x="822960" y="2263140"/>
            <a:ext cx="2057400" cy="2057400"/>
            <a:chOff x="0" y="0"/>
            <a:chExt cx="2743200" cy="2743200"/>
          </a:xfrm>
        </p:grpSpPr>
        <p:sp>
          <p:nvSpPr>
            <p:cNvPr id="12" name="Freeform 12"/>
            <p:cNvSpPr/>
            <p:nvPr/>
          </p:nvSpPr>
          <p:spPr>
            <a:xfrm>
              <a:off x="0" y="0"/>
              <a:ext cx="2743200" cy="2743200"/>
            </a:xfrm>
            <a:custGeom>
              <a:avLst/>
              <a:gdLst/>
              <a:ahLst/>
              <a:cxnLst/>
              <a:rect l="l" t="t" r="r" b="b"/>
              <a:pathLst>
                <a:path w="2743200" h="2743200">
                  <a:moveTo>
                    <a:pt x="0" y="0"/>
                  </a:moveTo>
                  <a:lnTo>
                    <a:pt x="2743200" y="0"/>
                  </a:lnTo>
                  <a:lnTo>
                    <a:pt x="2743200" y="2743200"/>
                  </a:lnTo>
                  <a:lnTo>
                    <a:pt x="0" y="2743200"/>
                  </a:lnTo>
                  <a:close/>
                </a:path>
              </a:pathLst>
            </a:custGeom>
            <a:blipFill>
              <a:blip r:embed="rId3">
                <a:alphaModFix amt="0"/>
              </a:blip>
              <a:stretch>
                <a:fillRect l="-78303" r="-78303"/>
              </a:stretch>
            </a:blipFill>
          </p:spPr>
        </p:sp>
        <p:sp>
          <p:nvSpPr>
            <p:cNvPr id="13" name="TextBox 13"/>
            <p:cNvSpPr txBox="1"/>
            <p:nvPr/>
          </p:nvSpPr>
          <p:spPr>
            <a:xfrm>
              <a:off x="0" y="0"/>
              <a:ext cx="2743200" cy="2743200"/>
            </a:xfrm>
            <a:prstGeom prst="rect">
              <a:avLst/>
            </a:prstGeom>
          </p:spPr>
          <p:txBody>
            <a:bodyPr lIns="0" tIns="0" rIns="0" bIns="0" rtlCol="0" anchor="ctr"/>
            <a:lstStyle/>
            <a:p>
              <a:pPr algn="ctr">
                <a:lnSpc>
                  <a:spcPts val="6120"/>
                </a:lnSpc>
              </a:pPr>
              <a:r>
                <a:rPr lang="en-US" sz="5100" b="1">
                  <a:solidFill>
                    <a:srgbClr val="FFFFFF"/>
                  </a:solidFill>
                  <a:latin typeface="Montserrat Bold"/>
                  <a:ea typeface="Montserrat Bold"/>
                  <a:cs typeface="Montserrat Bold"/>
                  <a:sym typeface="Montserrat Bold"/>
                </a:rPr>
                <a:t>01</a:t>
              </a:r>
            </a:p>
          </p:txBody>
        </p:sp>
      </p:grpSp>
      <p:grpSp>
        <p:nvGrpSpPr>
          <p:cNvPr id="14" name="Group 14"/>
          <p:cNvGrpSpPr/>
          <p:nvPr/>
        </p:nvGrpSpPr>
        <p:grpSpPr>
          <a:xfrm>
            <a:off x="3360420" y="2468880"/>
            <a:ext cx="12207240" cy="1645920"/>
            <a:chOff x="0" y="0"/>
            <a:chExt cx="16276320" cy="2194560"/>
          </a:xfrm>
        </p:grpSpPr>
        <p:sp>
          <p:nvSpPr>
            <p:cNvPr id="15" name="Freeform 15"/>
            <p:cNvSpPr/>
            <p:nvPr/>
          </p:nvSpPr>
          <p:spPr>
            <a:xfrm>
              <a:off x="0" y="0"/>
              <a:ext cx="16276320" cy="2194560"/>
            </a:xfrm>
            <a:custGeom>
              <a:avLst/>
              <a:gdLst/>
              <a:ahLst/>
              <a:cxnLst/>
              <a:rect l="l" t="t" r="r" b="b"/>
              <a:pathLst>
                <a:path w="16276320" h="2194560">
                  <a:moveTo>
                    <a:pt x="0" y="0"/>
                  </a:moveTo>
                  <a:lnTo>
                    <a:pt x="16276320" y="0"/>
                  </a:lnTo>
                  <a:lnTo>
                    <a:pt x="16276320" y="2194560"/>
                  </a:lnTo>
                  <a:lnTo>
                    <a:pt x="0" y="2194560"/>
                  </a:lnTo>
                  <a:close/>
                </a:path>
              </a:pathLst>
            </a:custGeom>
            <a:blipFill>
              <a:blip r:embed="rId3">
                <a:alphaModFix amt="0"/>
              </a:blip>
              <a:stretch>
                <a:fillRect t="-94514" b="-94514"/>
              </a:stretch>
            </a:blipFill>
          </p:spPr>
        </p:sp>
        <p:sp>
          <p:nvSpPr>
            <p:cNvPr id="16" name="TextBox 16"/>
            <p:cNvSpPr txBox="1"/>
            <p:nvPr/>
          </p:nvSpPr>
          <p:spPr>
            <a:xfrm>
              <a:off x="0" y="-28575"/>
              <a:ext cx="16276320" cy="2223135"/>
            </a:xfrm>
            <a:prstGeom prst="rect">
              <a:avLst/>
            </a:prstGeom>
          </p:spPr>
          <p:txBody>
            <a:bodyPr lIns="0" tIns="0" rIns="0" bIns="0" rtlCol="0" anchor="ctr"/>
            <a:lstStyle/>
            <a:p>
              <a:pPr algn="just">
                <a:lnSpc>
                  <a:spcPts val="3225"/>
                </a:lnSpc>
              </a:pPr>
              <a:r>
                <a:rPr lang="en-US" sz="2400" b="1">
                  <a:solidFill>
                    <a:srgbClr val="006838"/>
                  </a:solidFill>
                  <a:latin typeface="Montserrat Bold"/>
                  <a:ea typeface="Montserrat Bold"/>
                  <a:cs typeface="Montserrat Bold"/>
                  <a:sym typeface="Montserrat Bold"/>
                </a:rPr>
                <a:t>Kỳ vọng AI làm thay mọi thứ:</a:t>
              </a:r>
              <a:r>
                <a:rPr lang="en-US" sz="2400">
                  <a:solidFill>
                    <a:srgbClr val="1E2B25"/>
                  </a:solidFill>
                  <a:latin typeface="Montserrat"/>
                  <a:ea typeface="Montserrat"/>
                  <a:cs typeface="Montserrat"/>
                  <a:sym typeface="Montserrat"/>
                </a:rPr>
                <a:t> Giao việc cho AI mà không kiểm tra lại, dẫn đến sai lệch nghiêm trọng về dữ liệu hoặc văn phong.</a:t>
              </a:r>
            </a:p>
          </p:txBody>
        </p:sp>
      </p:grpSp>
      <p:grpSp>
        <p:nvGrpSpPr>
          <p:cNvPr id="17" name="Group 17"/>
          <p:cNvGrpSpPr/>
          <p:nvPr/>
        </p:nvGrpSpPr>
        <p:grpSpPr>
          <a:xfrm>
            <a:off x="15969615" y="2761107"/>
            <a:ext cx="1061466" cy="1061466"/>
            <a:chOff x="0" y="0"/>
            <a:chExt cx="1415288" cy="1415288"/>
          </a:xfrm>
        </p:grpSpPr>
        <p:sp>
          <p:nvSpPr>
            <p:cNvPr id="18" name="Freeform 18"/>
            <p:cNvSpPr/>
            <p:nvPr/>
          </p:nvSpPr>
          <p:spPr>
            <a:xfrm>
              <a:off x="0" y="0"/>
              <a:ext cx="1415288" cy="1415288"/>
            </a:xfrm>
            <a:custGeom>
              <a:avLst/>
              <a:gdLst/>
              <a:ahLst/>
              <a:cxnLst/>
              <a:rect l="l" t="t" r="r" b="b"/>
              <a:pathLst>
                <a:path w="1415288" h="1415288">
                  <a:moveTo>
                    <a:pt x="0" y="707644"/>
                  </a:moveTo>
                  <a:cubicBezTo>
                    <a:pt x="0" y="316865"/>
                    <a:pt x="316865" y="0"/>
                    <a:pt x="707644" y="0"/>
                  </a:cubicBezTo>
                  <a:cubicBezTo>
                    <a:pt x="1098423" y="0"/>
                    <a:pt x="1415288" y="316865"/>
                    <a:pt x="1415288" y="707644"/>
                  </a:cubicBezTo>
                  <a:cubicBezTo>
                    <a:pt x="1415288" y="1098423"/>
                    <a:pt x="1098423" y="1415288"/>
                    <a:pt x="707644" y="1415288"/>
                  </a:cubicBezTo>
                  <a:cubicBezTo>
                    <a:pt x="316865" y="1415288"/>
                    <a:pt x="0" y="1098423"/>
                    <a:pt x="0" y="707644"/>
                  </a:cubicBezTo>
                  <a:close/>
                </a:path>
              </a:pathLst>
            </a:custGeom>
            <a:solidFill>
              <a:srgbClr val="FFF1E5"/>
            </a:solidFill>
            <a:ln w="19050" cap="sq">
              <a:solidFill>
                <a:srgbClr val="FFF1E5"/>
              </a:solidFill>
              <a:prstDash val="solid"/>
              <a:miter/>
            </a:ln>
          </p:spPr>
        </p:sp>
      </p:grpSp>
      <p:grpSp>
        <p:nvGrpSpPr>
          <p:cNvPr id="19" name="Group 19"/>
          <p:cNvGrpSpPr/>
          <p:nvPr/>
        </p:nvGrpSpPr>
        <p:grpSpPr>
          <a:xfrm>
            <a:off x="16239744" y="3031236"/>
            <a:ext cx="521208" cy="521208"/>
            <a:chOff x="0" y="0"/>
            <a:chExt cx="694944" cy="694944"/>
          </a:xfrm>
        </p:grpSpPr>
        <p:sp>
          <p:nvSpPr>
            <p:cNvPr id="20" name="Freeform 20" descr="preencoded.png"/>
            <p:cNvSpPr/>
            <p:nvPr/>
          </p:nvSpPr>
          <p:spPr>
            <a:xfrm>
              <a:off x="0" y="0"/>
              <a:ext cx="694944" cy="694944"/>
            </a:xfrm>
            <a:custGeom>
              <a:avLst/>
              <a:gdLst/>
              <a:ahLst/>
              <a:cxnLst/>
              <a:rect l="l" t="t" r="r" b="b"/>
              <a:pathLst>
                <a:path w="694944" h="694944">
                  <a:moveTo>
                    <a:pt x="0" y="0"/>
                  </a:moveTo>
                  <a:lnTo>
                    <a:pt x="694944" y="0"/>
                  </a:lnTo>
                  <a:lnTo>
                    <a:pt x="694944" y="694944"/>
                  </a:lnTo>
                  <a:lnTo>
                    <a:pt x="0" y="694944"/>
                  </a:lnTo>
                  <a:lnTo>
                    <a:pt x="0" y="0"/>
                  </a:lnTo>
                  <a:close/>
                </a:path>
              </a:pathLst>
            </a:custGeom>
            <a:blipFill>
              <a:blip r:embed="rId4"/>
              <a:stretch>
                <a:fillRect/>
              </a:stretch>
            </a:blipFill>
          </p:spPr>
        </p:sp>
      </p:grpSp>
      <p:grpSp>
        <p:nvGrpSpPr>
          <p:cNvPr id="21" name="Group 21"/>
          <p:cNvGrpSpPr/>
          <p:nvPr/>
        </p:nvGrpSpPr>
        <p:grpSpPr>
          <a:xfrm>
            <a:off x="815816" y="4656296"/>
            <a:ext cx="16651796" cy="2071688"/>
            <a:chOff x="0" y="0"/>
            <a:chExt cx="22202394" cy="2762250"/>
          </a:xfrm>
        </p:grpSpPr>
        <p:sp>
          <p:nvSpPr>
            <p:cNvPr id="22" name="Freeform 22"/>
            <p:cNvSpPr/>
            <p:nvPr/>
          </p:nvSpPr>
          <p:spPr>
            <a:xfrm>
              <a:off x="0" y="0"/>
              <a:ext cx="22202394" cy="2762250"/>
            </a:xfrm>
            <a:custGeom>
              <a:avLst/>
              <a:gdLst/>
              <a:ahLst/>
              <a:cxnLst/>
              <a:rect l="l" t="t" r="r" b="b"/>
              <a:pathLst>
                <a:path w="22202394" h="2762250">
                  <a:moveTo>
                    <a:pt x="0" y="220980"/>
                  </a:moveTo>
                  <a:cubicBezTo>
                    <a:pt x="0" y="98933"/>
                    <a:pt x="98933" y="0"/>
                    <a:pt x="220980" y="0"/>
                  </a:cubicBezTo>
                  <a:lnTo>
                    <a:pt x="21981413" y="0"/>
                  </a:lnTo>
                  <a:cubicBezTo>
                    <a:pt x="22103460" y="0"/>
                    <a:pt x="22202394" y="98933"/>
                    <a:pt x="22202394" y="220980"/>
                  </a:cubicBezTo>
                  <a:lnTo>
                    <a:pt x="22202394" y="2541270"/>
                  </a:lnTo>
                  <a:cubicBezTo>
                    <a:pt x="22202394" y="2663317"/>
                    <a:pt x="22103460" y="2762250"/>
                    <a:pt x="21981413" y="2762250"/>
                  </a:cubicBezTo>
                  <a:lnTo>
                    <a:pt x="220980" y="2762250"/>
                  </a:lnTo>
                  <a:cubicBezTo>
                    <a:pt x="98933" y="2762250"/>
                    <a:pt x="0" y="2663317"/>
                    <a:pt x="0" y="2541270"/>
                  </a:cubicBezTo>
                  <a:close/>
                </a:path>
              </a:pathLst>
            </a:custGeom>
            <a:solidFill>
              <a:srgbClr val="FFFFFF"/>
            </a:solidFill>
            <a:ln w="14288" cap="sq">
              <a:solidFill>
                <a:srgbClr val="DCE6E0"/>
              </a:solidFill>
              <a:prstDash val="solid"/>
              <a:miter/>
            </a:ln>
          </p:spPr>
        </p:sp>
      </p:grpSp>
      <p:grpSp>
        <p:nvGrpSpPr>
          <p:cNvPr id="23" name="Group 23"/>
          <p:cNvGrpSpPr/>
          <p:nvPr/>
        </p:nvGrpSpPr>
        <p:grpSpPr>
          <a:xfrm>
            <a:off x="813435" y="4653915"/>
            <a:ext cx="2076450" cy="2076450"/>
            <a:chOff x="0" y="0"/>
            <a:chExt cx="2768600" cy="2768600"/>
          </a:xfrm>
        </p:grpSpPr>
        <p:sp>
          <p:nvSpPr>
            <p:cNvPr id="24" name="Freeform 24"/>
            <p:cNvSpPr/>
            <p:nvPr/>
          </p:nvSpPr>
          <p:spPr>
            <a:xfrm>
              <a:off x="0" y="0"/>
              <a:ext cx="2768600" cy="2768600"/>
            </a:xfrm>
            <a:custGeom>
              <a:avLst/>
              <a:gdLst/>
              <a:ahLst/>
              <a:cxnLst/>
              <a:rect l="l" t="t" r="r" b="b"/>
              <a:pathLst>
                <a:path w="2768600" h="2768600">
                  <a:moveTo>
                    <a:pt x="0" y="221488"/>
                  </a:moveTo>
                  <a:cubicBezTo>
                    <a:pt x="0" y="99187"/>
                    <a:pt x="99187" y="0"/>
                    <a:pt x="221488" y="0"/>
                  </a:cubicBezTo>
                  <a:lnTo>
                    <a:pt x="2547112" y="0"/>
                  </a:lnTo>
                  <a:cubicBezTo>
                    <a:pt x="2669413" y="0"/>
                    <a:pt x="2768600" y="99187"/>
                    <a:pt x="2768600" y="221488"/>
                  </a:cubicBezTo>
                  <a:lnTo>
                    <a:pt x="2768600" y="2547112"/>
                  </a:lnTo>
                  <a:cubicBezTo>
                    <a:pt x="2768600" y="2669413"/>
                    <a:pt x="2669413" y="2768600"/>
                    <a:pt x="2547112" y="2768600"/>
                  </a:cubicBezTo>
                  <a:lnTo>
                    <a:pt x="221488" y="2768600"/>
                  </a:lnTo>
                  <a:cubicBezTo>
                    <a:pt x="99187" y="2768600"/>
                    <a:pt x="0" y="2669413"/>
                    <a:pt x="0" y="2547112"/>
                  </a:cubicBezTo>
                  <a:close/>
                </a:path>
              </a:pathLst>
            </a:custGeom>
            <a:solidFill>
              <a:srgbClr val="FF7300"/>
            </a:solidFill>
            <a:ln w="19050" cap="sq">
              <a:solidFill>
                <a:srgbClr val="FF7300"/>
              </a:solidFill>
              <a:prstDash val="solid"/>
              <a:miter/>
            </a:ln>
          </p:spPr>
        </p:sp>
      </p:grpSp>
      <p:grpSp>
        <p:nvGrpSpPr>
          <p:cNvPr id="25" name="Group 25"/>
          <p:cNvGrpSpPr/>
          <p:nvPr/>
        </p:nvGrpSpPr>
        <p:grpSpPr>
          <a:xfrm>
            <a:off x="822960" y="4663440"/>
            <a:ext cx="2057400" cy="2057400"/>
            <a:chOff x="0" y="0"/>
            <a:chExt cx="2743200" cy="2743200"/>
          </a:xfrm>
        </p:grpSpPr>
        <p:sp>
          <p:nvSpPr>
            <p:cNvPr id="26" name="Freeform 26"/>
            <p:cNvSpPr/>
            <p:nvPr/>
          </p:nvSpPr>
          <p:spPr>
            <a:xfrm>
              <a:off x="0" y="0"/>
              <a:ext cx="2743200" cy="2743200"/>
            </a:xfrm>
            <a:custGeom>
              <a:avLst/>
              <a:gdLst/>
              <a:ahLst/>
              <a:cxnLst/>
              <a:rect l="l" t="t" r="r" b="b"/>
              <a:pathLst>
                <a:path w="2743200" h="2743200">
                  <a:moveTo>
                    <a:pt x="0" y="0"/>
                  </a:moveTo>
                  <a:lnTo>
                    <a:pt x="2743200" y="0"/>
                  </a:lnTo>
                  <a:lnTo>
                    <a:pt x="2743200" y="2743200"/>
                  </a:lnTo>
                  <a:lnTo>
                    <a:pt x="0" y="2743200"/>
                  </a:lnTo>
                  <a:close/>
                </a:path>
              </a:pathLst>
            </a:custGeom>
            <a:blipFill>
              <a:blip r:embed="rId3">
                <a:alphaModFix amt="0"/>
              </a:blip>
              <a:stretch>
                <a:fillRect l="-78303" r="-78303"/>
              </a:stretch>
            </a:blipFill>
          </p:spPr>
        </p:sp>
        <p:sp>
          <p:nvSpPr>
            <p:cNvPr id="27" name="TextBox 27"/>
            <p:cNvSpPr txBox="1"/>
            <p:nvPr/>
          </p:nvSpPr>
          <p:spPr>
            <a:xfrm>
              <a:off x="0" y="0"/>
              <a:ext cx="2743200" cy="2743200"/>
            </a:xfrm>
            <a:prstGeom prst="rect">
              <a:avLst/>
            </a:prstGeom>
          </p:spPr>
          <p:txBody>
            <a:bodyPr lIns="0" tIns="0" rIns="0" bIns="0" rtlCol="0" anchor="ctr"/>
            <a:lstStyle/>
            <a:p>
              <a:pPr algn="ctr">
                <a:lnSpc>
                  <a:spcPts val="6120"/>
                </a:lnSpc>
              </a:pPr>
              <a:r>
                <a:rPr lang="en-US" sz="5100" b="1">
                  <a:solidFill>
                    <a:srgbClr val="FFFFFF"/>
                  </a:solidFill>
                  <a:latin typeface="Montserrat Bold"/>
                  <a:ea typeface="Montserrat Bold"/>
                  <a:cs typeface="Montserrat Bold"/>
                  <a:sym typeface="Montserrat Bold"/>
                </a:rPr>
                <a:t>02</a:t>
              </a:r>
            </a:p>
          </p:txBody>
        </p:sp>
      </p:grpSp>
      <p:grpSp>
        <p:nvGrpSpPr>
          <p:cNvPr id="28" name="Group 28"/>
          <p:cNvGrpSpPr/>
          <p:nvPr/>
        </p:nvGrpSpPr>
        <p:grpSpPr>
          <a:xfrm>
            <a:off x="3360420" y="4869180"/>
            <a:ext cx="12207240" cy="1645920"/>
            <a:chOff x="0" y="0"/>
            <a:chExt cx="16276320" cy="2194560"/>
          </a:xfrm>
        </p:grpSpPr>
        <p:sp>
          <p:nvSpPr>
            <p:cNvPr id="29" name="Freeform 29"/>
            <p:cNvSpPr/>
            <p:nvPr/>
          </p:nvSpPr>
          <p:spPr>
            <a:xfrm>
              <a:off x="0" y="0"/>
              <a:ext cx="16276320" cy="2194560"/>
            </a:xfrm>
            <a:custGeom>
              <a:avLst/>
              <a:gdLst/>
              <a:ahLst/>
              <a:cxnLst/>
              <a:rect l="l" t="t" r="r" b="b"/>
              <a:pathLst>
                <a:path w="16276320" h="2194560">
                  <a:moveTo>
                    <a:pt x="0" y="0"/>
                  </a:moveTo>
                  <a:lnTo>
                    <a:pt x="16276320" y="0"/>
                  </a:lnTo>
                  <a:lnTo>
                    <a:pt x="16276320" y="2194560"/>
                  </a:lnTo>
                  <a:lnTo>
                    <a:pt x="0" y="2194560"/>
                  </a:lnTo>
                  <a:close/>
                </a:path>
              </a:pathLst>
            </a:custGeom>
            <a:blipFill>
              <a:blip r:embed="rId3">
                <a:alphaModFix amt="0"/>
              </a:blip>
              <a:stretch>
                <a:fillRect t="-94514" b="-94514"/>
              </a:stretch>
            </a:blipFill>
          </p:spPr>
        </p:sp>
        <p:sp>
          <p:nvSpPr>
            <p:cNvPr id="30" name="TextBox 30"/>
            <p:cNvSpPr txBox="1"/>
            <p:nvPr/>
          </p:nvSpPr>
          <p:spPr>
            <a:xfrm>
              <a:off x="0" y="-28575"/>
              <a:ext cx="16276320" cy="2223135"/>
            </a:xfrm>
            <a:prstGeom prst="rect">
              <a:avLst/>
            </a:prstGeom>
          </p:spPr>
          <p:txBody>
            <a:bodyPr lIns="0" tIns="0" rIns="0" bIns="0" rtlCol="0" anchor="ctr"/>
            <a:lstStyle/>
            <a:p>
              <a:pPr algn="just">
                <a:lnSpc>
                  <a:spcPts val="3225"/>
                </a:lnSpc>
              </a:pPr>
              <a:r>
                <a:rPr lang="en-US" sz="2400" b="1">
                  <a:solidFill>
                    <a:srgbClr val="006838"/>
                  </a:solidFill>
                  <a:latin typeface="Montserrat Bold"/>
                  <a:ea typeface="Montserrat Bold"/>
                  <a:cs typeface="Montserrat Bold"/>
                  <a:sym typeface="Montserrat Bold"/>
                </a:rPr>
                <a:t>Cấm đoán thay vì hướng dẫn:</a:t>
              </a:r>
              <a:r>
                <a:rPr lang="en-US" sz="2400">
                  <a:solidFill>
                    <a:srgbClr val="1E2B25"/>
                  </a:solidFill>
                  <a:latin typeface="Montserrat"/>
                  <a:ea typeface="Montserrat"/>
                  <a:cs typeface="Montserrat"/>
                  <a:sym typeface="Montserrat"/>
                </a:rPr>
                <a:t> Sợ rò rỉ dữ liệu nên cấm nhân viên dùng AI. Hậu quả là nhân viên dùng "chui" các công cụ không an toàn.</a:t>
              </a:r>
            </a:p>
          </p:txBody>
        </p:sp>
      </p:grpSp>
      <p:grpSp>
        <p:nvGrpSpPr>
          <p:cNvPr id="31" name="Group 31"/>
          <p:cNvGrpSpPr/>
          <p:nvPr/>
        </p:nvGrpSpPr>
        <p:grpSpPr>
          <a:xfrm>
            <a:off x="15969615" y="5161407"/>
            <a:ext cx="1061466" cy="1061466"/>
            <a:chOff x="0" y="0"/>
            <a:chExt cx="1415288" cy="1415288"/>
          </a:xfrm>
        </p:grpSpPr>
        <p:sp>
          <p:nvSpPr>
            <p:cNvPr id="32" name="Freeform 32"/>
            <p:cNvSpPr/>
            <p:nvPr/>
          </p:nvSpPr>
          <p:spPr>
            <a:xfrm>
              <a:off x="0" y="0"/>
              <a:ext cx="1415288" cy="1415288"/>
            </a:xfrm>
            <a:custGeom>
              <a:avLst/>
              <a:gdLst/>
              <a:ahLst/>
              <a:cxnLst/>
              <a:rect l="l" t="t" r="r" b="b"/>
              <a:pathLst>
                <a:path w="1415288" h="1415288">
                  <a:moveTo>
                    <a:pt x="0" y="707644"/>
                  </a:moveTo>
                  <a:cubicBezTo>
                    <a:pt x="0" y="316865"/>
                    <a:pt x="316865" y="0"/>
                    <a:pt x="707644" y="0"/>
                  </a:cubicBezTo>
                  <a:cubicBezTo>
                    <a:pt x="1098423" y="0"/>
                    <a:pt x="1415288" y="316865"/>
                    <a:pt x="1415288" y="707644"/>
                  </a:cubicBezTo>
                  <a:cubicBezTo>
                    <a:pt x="1415288" y="1098423"/>
                    <a:pt x="1098423" y="1415288"/>
                    <a:pt x="707644" y="1415288"/>
                  </a:cubicBezTo>
                  <a:cubicBezTo>
                    <a:pt x="316865" y="1415288"/>
                    <a:pt x="0" y="1098423"/>
                    <a:pt x="0" y="707644"/>
                  </a:cubicBezTo>
                  <a:close/>
                </a:path>
              </a:pathLst>
            </a:custGeom>
            <a:solidFill>
              <a:srgbClr val="FFF1E5"/>
            </a:solidFill>
            <a:ln w="19050" cap="sq">
              <a:solidFill>
                <a:srgbClr val="FFF1E5"/>
              </a:solidFill>
              <a:prstDash val="solid"/>
              <a:miter/>
            </a:ln>
          </p:spPr>
        </p:sp>
      </p:grpSp>
      <p:grpSp>
        <p:nvGrpSpPr>
          <p:cNvPr id="33" name="Group 33"/>
          <p:cNvGrpSpPr/>
          <p:nvPr/>
        </p:nvGrpSpPr>
        <p:grpSpPr>
          <a:xfrm>
            <a:off x="16239744" y="5431536"/>
            <a:ext cx="521208" cy="521208"/>
            <a:chOff x="0" y="0"/>
            <a:chExt cx="694944" cy="694944"/>
          </a:xfrm>
        </p:grpSpPr>
        <p:sp>
          <p:nvSpPr>
            <p:cNvPr id="34" name="Freeform 34" descr="preencoded.png"/>
            <p:cNvSpPr/>
            <p:nvPr/>
          </p:nvSpPr>
          <p:spPr>
            <a:xfrm>
              <a:off x="0" y="0"/>
              <a:ext cx="694944" cy="694944"/>
            </a:xfrm>
            <a:custGeom>
              <a:avLst/>
              <a:gdLst/>
              <a:ahLst/>
              <a:cxnLst/>
              <a:rect l="l" t="t" r="r" b="b"/>
              <a:pathLst>
                <a:path w="694944" h="694944">
                  <a:moveTo>
                    <a:pt x="0" y="0"/>
                  </a:moveTo>
                  <a:lnTo>
                    <a:pt x="694944" y="0"/>
                  </a:lnTo>
                  <a:lnTo>
                    <a:pt x="694944" y="694944"/>
                  </a:lnTo>
                  <a:lnTo>
                    <a:pt x="0" y="694944"/>
                  </a:lnTo>
                  <a:lnTo>
                    <a:pt x="0" y="0"/>
                  </a:lnTo>
                  <a:close/>
                </a:path>
              </a:pathLst>
            </a:custGeom>
            <a:blipFill>
              <a:blip r:embed="rId5"/>
              <a:stretch>
                <a:fillRect/>
              </a:stretch>
            </a:blipFill>
          </p:spPr>
        </p:sp>
      </p:grpSp>
      <p:grpSp>
        <p:nvGrpSpPr>
          <p:cNvPr id="35" name="Group 35"/>
          <p:cNvGrpSpPr/>
          <p:nvPr/>
        </p:nvGrpSpPr>
        <p:grpSpPr>
          <a:xfrm>
            <a:off x="815816" y="7056596"/>
            <a:ext cx="16651796" cy="2071688"/>
            <a:chOff x="0" y="0"/>
            <a:chExt cx="22202394" cy="2762250"/>
          </a:xfrm>
        </p:grpSpPr>
        <p:sp>
          <p:nvSpPr>
            <p:cNvPr id="36" name="Freeform 36"/>
            <p:cNvSpPr/>
            <p:nvPr/>
          </p:nvSpPr>
          <p:spPr>
            <a:xfrm>
              <a:off x="0" y="0"/>
              <a:ext cx="22202394" cy="2762250"/>
            </a:xfrm>
            <a:custGeom>
              <a:avLst/>
              <a:gdLst/>
              <a:ahLst/>
              <a:cxnLst/>
              <a:rect l="l" t="t" r="r" b="b"/>
              <a:pathLst>
                <a:path w="22202394" h="2762250">
                  <a:moveTo>
                    <a:pt x="0" y="220980"/>
                  </a:moveTo>
                  <a:cubicBezTo>
                    <a:pt x="0" y="98933"/>
                    <a:pt x="98933" y="0"/>
                    <a:pt x="220980" y="0"/>
                  </a:cubicBezTo>
                  <a:lnTo>
                    <a:pt x="21981413" y="0"/>
                  </a:lnTo>
                  <a:cubicBezTo>
                    <a:pt x="22103460" y="0"/>
                    <a:pt x="22202394" y="98933"/>
                    <a:pt x="22202394" y="220980"/>
                  </a:cubicBezTo>
                  <a:lnTo>
                    <a:pt x="22202394" y="2541270"/>
                  </a:lnTo>
                  <a:cubicBezTo>
                    <a:pt x="22202394" y="2663317"/>
                    <a:pt x="22103460" y="2762250"/>
                    <a:pt x="21981413" y="2762250"/>
                  </a:cubicBezTo>
                  <a:lnTo>
                    <a:pt x="220980" y="2762250"/>
                  </a:lnTo>
                  <a:cubicBezTo>
                    <a:pt x="98933" y="2762250"/>
                    <a:pt x="0" y="2663317"/>
                    <a:pt x="0" y="2541270"/>
                  </a:cubicBezTo>
                  <a:close/>
                </a:path>
              </a:pathLst>
            </a:custGeom>
            <a:solidFill>
              <a:srgbClr val="FFFFFF"/>
            </a:solidFill>
            <a:ln w="14288" cap="sq">
              <a:solidFill>
                <a:srgbClr val="DCE6E0"/>
              </a:solidFill>
              <a:prstDash val="solid"/>
              <a:miter/>
            </a:ln>
          </p:spPr>
        </p:sp>
      </p:grpSp>
      <p:grpSp>
        <p:nvGrpSpPr>
          <p:cNvPr id="37" name="Group 37"/>
          <p:cNvGrpSpPr/>
          <p:nvPr/>
        </p:nvGrpSpPr>
        <p:grpSpPr>
          <a:xfrm>
            <a:off x="813435" y="7054215"/>
            <a:ext cx="2076450" cy="2076450"/>
            <a:chOff x="0" y="0"/>
            <a:chExt cx="2768600" cy="2768600"/>
          </a:xfrm>
        </p:grpSpPr>
        <p:sp>
          <p:nvSpPr>
            <p:cNvPr id="38" name="Freeform 38"/>
            <p:cNvSpPr/>
            <p:nvPr/>
          </p:nvSpPr>
          <p:spPr>
            <a:xfrm>
              <a:off x="0" y="0"/>
              <a:ext cx="2768600" cy="2768600"/>
            </a:xfrm>
            <a:custGeom>
              <a:avLst/>
              <a:gdLst/>
              <a:ahLst/>
              <a:cxnLst/>
              <a:rect l="l" t="t" r="r" b="b"/>
              <a:pathLst>
                <a:path w="2768600" h="2768600">
                  <a:moveTo>
                    <a:pt x="0" y="221488"/>
                  </a:moveTo>
                  <a:cubicBezTo>
                    <a:pt x="0" y="99187"/>
                    <a:pt x="99187" y="0"/>
                    <a:pt x="221488" y="0"/>
                  </a:cubicBezTo>
                  <a:lnTo>
                    <a:pt x="2547112" y="0"/>
                  </a:lnTo>
                  <a:cubicBezTo>
                    <a:pt x="2669413" y="0"/>
                    <a:pt x="2768600" y="99187"/>
                    <a:pt x="2768600" y="221488"/>
                  </a:cubicBezTo>
                  <a:lnTo>
                    <a:pt x="2768600" y="2547112"/>
                  </a:lnTo>
                  <a:cubicBezTo>
                    <a:pt x="2768600" y="2669413"/>
                    <a:pt x="2669413" y="2768600"/>
                    <a:pt x="2547112" y="2768600"/>
                  </a:cubicBezTo>
                  <a:lnTo>
                    <a:pt x="221488" y="2768600"/>
                  </a:lnTo>
                  <a:cubicBezTo>
                    <a:pt x="99187" y="2768600"/>
                    <a:pt x="0" y="2669413"/>
                    <a:pt x="0" y="2547112"/>
                  </a:cubicBezTo>
                  <a:close/>
                </a:path>
              </a:pathLst>
            </a:custGeom>
            <a:solidFill>
              <a:srgbClr val="FF7300"/>
            </a:solidFill>
            <a:ln w="19050" cap="sq">
              <a:solidFill>
                <a:srgbClr val="FF7300"/>
              </a:solidFill>
              <a:prstDash val="solid"/>
              <a:miter/>
            </a:ln>
          </p:spPr>
        </p:sp>
      </p:grpSp>
      <p:grpSp>
        <p:nvGrpSpPr>
          <p:cNvPr id="39" name="Group 39"/>
          <p:cNvGrpSpPr/>
          <p:nvPr/>
        </p:nvGrpSpPr>
        <p:grpSpPr>
          <a:xfrm>
            <a:off x="822960" y="7063740"/>
            <a:ext cx="2057400" cy="2057400"/>
            <a:chOff x="0" y="0"/>
            <a:chExt cx="2743200" cy="2743200"/>
          </a:xfrm>
        </p:grpSpPr>
        <p:sp>
          <p:nvSpPr>
            <p:cNvPr id="40" name="Freeform 40"/>
            <p:cNvSpPr/>
            <p:nvPr/>
          </p:nvSpPr>
          <p:spPr>
            <a:xfrm>
              <a:off x="0" y="0"/>
              <a:ext cx="2743200" cy="2743200"/>
            </a:xfrm>
            <a:custGeom>
              <a:avLst/>
              <a:gdLst/>
              <a:ahLst/>
              <a:cxnLst/>
              <a:rect l="l" t="t" r="r" b="b"/>
              <a:pathLst>
                <a:path w="2743200" h="2743200">
                  <a:moveTo>
                    <a:pt x="0" y="0"/>
                  </a:moveTo>
                  <a:lnTo>
                    <a:pt x="2743200" y="0"/>
                  </a:lnTo>
                  <a:lnTo>
                    <a:pt x="2743200" y="2743200"/>
                  </a:lnTo>
                  <a:lnTo>
                    <a:pt x="0" y="2743200"/>
                  </a:lnTo>
                  <a:close/>
                </a:path>
              </a:pathLst>
            </a:custGeom>
            <a:blipFill>
              <a:blip r:embed="rId3">
                <a:alphaModFix amt="0"/>
              </a:blip>
              <a:stretch>
                <a:fillRect l="-78303" r="-78303"/>
              </a:stretch>
            </a:blipFill>
          </p:spPr>
        </p:sp>
        <p:sp>
          <p:nvSpPr>
            <p:cNvPr id="41" name="TextBox 41"/>
            <p:cNvSpPr txBox="1"/>
            <p:nvPr/>
          </p:nvSpPr>
          <p:spPr>
            <a:xfrm>
              <a:off x="0" y="0"/>
              <a:ext cx="2743200" cy="2743200"/>
            </a:xfrm>
            <a:prstGeom prst="rect">
              <a:avLst/>
            </a:prstGeom>
          </p:spPr>
          <p:txBody>
            <a:bodyPr lIns="0" tIns="0" rIns="0" bIns="0" rtlCol="0" anchor="ctr"/>
            <a:lstStyle/>
            <a:p>
              <a:pPr algn="ctr">
                <a:lnSpc>
                  <a:spcPts val="6120"/>
                </a:lnSpc>
              </a:pPr>
              <a:r>
                <a:rPr lang="en-US" sz="5100" b="1">
                  <a:solidFill>
                    <a:srgbClr val="FFFFFF"/>
                  </a:solidFill>
                  <a:latin typeface="Montserrat Bold"/>
                  <a:ea typeface="Montserrat Bold"/>
                  <a:cs typeface="Montserrat Bold"/>
                  <a:sym typeface="Montserrat Bold"/>
                </a:rPr>
                <a:t>03</a:t>
              </a:r>
            </a:p>
          </p:txBody>
        </p:sp>
      </p:grpSp>
      <p:grpSp>
        <p:nvGrpSpPr>
          <p:cNvPr id="42" name="Group 42"/>
          <p:cNvGrpSpPr/>
          <p:nvPr/>
        </p:nvGrpSpPr>
        <p:grpSpPr>
          <a:xfrm>
            <a:off x="3360420" y="7269480"/>
            <a:ext cx="12207240" cy="1645920"/>
            <a:chOff x="0" y="0"/>
            <a:chExt cx="16276320" cy="2194560"/>
          </a:xfrm>
        </p:grpSpPr>
        <p:sp>
          <p:nvSpPr>
            <p:cNvPr id="43" name="Freeform 43"/>
            <p:cNvSpPr/>
            <p:nvPr/>
          </p:nvSpPr>
          <p:spPr>
            <a:xfrm>
              <a:off x="0" y="0"/>
              <a:ext cx="16276320" cy="2194560"/>
            </a:xfrm>
            <a:custGeom>
              <a:avLst/>
              <a:gdLst/>
              <a:ahLst/>
              <a:cxnLst/>
              <a:rect l="l" t="t" r="r" b="b"/>
              <a:pathLst>
                <a:path w="16276320" h="2194560">
                  <a:moveTo>
                    <a:pt x="0" y="0"/>
                  </a:moveTo>
                  <a:lnTo>
                    <a:pt x="16276320" y="0"/>
                  </a:lnTo>
                  <a:lnTo>
                    <a:pt x="16276320" y="2194560"/>
                  </a:lnTo>
                  <a:lnTo>
                    <a:pt x="0" y="2194560"/>
                  </a:lnTo>
                  <a:close/>
                </a:path>
              </a:pathLst>
            </a:custGeom>
            <a:blipFill>
              <a:blip r:embed="rId3">
                <a:alphaModFix amt="0"/>
              </a:blip>
              <a:stretch>
                <a:fillRect t="-94514" b="-94514"/>
              </a:stretch>
            </a:blipFill>
          </p:spPr>
        </p:sp>
        <p:sp>
          <p:nvSpPr>
            <p:cNvPr id="44" name="TextBox 44"/>
            <p:cNvSpPr txBox="1"/>
            <p:nvPr/>
          </p:nvSpPr>
          <p:spPr>
            <a:xfrm>
              <a:off x="0" y="-28575"/>
              <a:ext cx="16276320" cy="2223135"/>
            </a:xfrm>
            <a:prstGeom prst="rect">
              <a:avLst/>
            </a:prstGeom>
          </p:spPr>
          <p:txBody>
            <a:bodyPr lIns="0" tIns="0" rIns="0" bIns="0" rtlCol="0" anchor="ctr"/>
            <a:lstStyle/>
            <a:p>
              <a:pPr algn="just">
                <a:lnSpc>
                  <a:spcPts val="3225"/>
                </a:lnSpc>
              </a:pPr>
              <a:r>
                <a:rPr lang="en-US" sz="2400" b="1">
                  <a:solidFill>
                    <a:srgbClr val="006838"/>
                  </a:solidFill>
                  <a:latin typeface="Montserrat Bold"/>
                  <a:ea typeface="Montserrat Bold"/>
                  <a:cs typeface="Montserrat Bold"/>
                  <a:sym typeface="Montserrat Bold"/>
                </a:rPr>
                <a:t>Thiếu bối cảnh:</a:t>
              </a:r>
              <a:r>
                <a:rPr lang="en-US" sz="2400">
                  <a:solidFill>
                    <a:srgbClr val="1E2B25"/>
                  </a:solidFill>
                  <a:latin typeface="Montserrat"/>
                  <a:ea typeface="Montserrat"/>
                  <a:cs typeface="Montserrat"/>
                  <a:sym typeface="Montserrat"/>
                </a:rPr>
                <a:t> Đưa ra các câu lệnh (prompt) quá chung chung, dẫn đến kết quả hời hợt, vô giá trị.</a:t>
              </a:r>
            </a:p>
          </p:txBody>
        </p:sp>
      </p:grpSp>
      <p:grpSp>
        <p:nvGrpSpPr>
          <p:cNvPr id="45" name="Group 45"/>
          <p:cNvGrpSpPr/>
          <p:nvPr/>
        </p:nvGrpSpPr>
        <p:grpSpPr>
          <a:xfrm>
            <a:off x="15969615" y="7561707"/>
            <a:ext cx="1061466" cy="1061466"/>
            <a:chOff x="0" y="0"/>
            <a:chExt cx="1415288" cy="1415288"/>
          </a:xfrm>
        </p:grpSpPr>
        <p:sp>
          <p:nvSpPr>
            <p:cNvPr id="46" name="Freeform 46"/>
            <p:cNvSpPr/>
            <p:nvPr/>
          </p:nvSpPr>
          <p:spPr>
            <a:xfrm>
              <a:off x="0" y="0"/>
              <a:ext cx="1415288" cy="1415288"/>
            </a:xfrm>
            <a:custGeom>
              <a:avLst/>
              <a:gdLst/>
              <a:ahLst/>
              <a:cxnLst/>
              <a:rect l="l" t="t" r="r" b="b"/>
              <a:pathLst>
                <a:path w="1415288" h="1415288">
                  <a:moveTo>
                    <a:pt x="0" y="707644"/>
                  </a:moveTo>
                  <a:cubicBezTo>
                    <a:pt x="0" y="316865"/>
                    <a:pt x="316865" y="0"/>
                    <a:pt x="707644" y="0"/>
                  </a:cubicBezTo>
                  <a:cubicBezTo>
                    <a:pt x="1098423" y="0"/>
                    <a:pt x="1415288" y="316865"/>
                    <a:pt x="1415288" y="707644"/>
                  </a:cubicBezTo>
                  <a:cubicBezTo>
                    <a:pt x="1415288" y="1098423"/>
                    <a:pt x="1098423" y="1415288"/>
                    <a:pt x="707644" y="1415288"/>
                  </a:cubicBezTo>
                  <a:cubicBezTo>
                    <a:pt x="316865" y="1415288"/>
                    <a:pt x="0" y="1098423"/>
                    <a:pt x="0" y="707644"/>
                  </a:cubicBezTo>
                  <a:close/>
                </a:path>
              </a:pathLst>
            </a:custGeom>
            <a:solidFill>
              <a:srgbClr val="FFF1E5"/>
            </a:solidFill>
            <a:ln w="19050" cap="sq">
              <a:solidFill>
                <a:srgbClr val="FFF1E5"/>
              </a:solidFill>
              <a:prstDash val="solid"/>
              <a:miter/>
            </a:ln>
          </p:spPr>
        </p:sp>
      </p:grpSp>
      <p:grpSp>
        <p:nvGrpSpPr>
          <p:cNvPr id="47" name="Group 47"/>
          <p:cNvGrpSpPr/>
          <p:nvPr/>
        </p:nvGrpSpPr>
        <p:grpSpPr>
          <a:xfrm>
            <a:off x="16239744" y="7831836"/>
            <a:ext cx="521208" cy="521208"/>
            <a:chOff x="0" y="0"/>
            <a:chExt cx="694944" cy="694944"/>
          </a:xfrm>
        </p:grpSpPr>
        <p:sp>
          <p:nvSpPr>
            <p:cNvPr id="48" name="Freeform 48" descr="preencoded.png"/>
            <p:cNvSpPr/>
            <p:nvPr/>
          </p:nvSpPr>
          <p:spPr>
            <a:xfrm>
              <a:off x="0" y="0"/>
              <a:ext cx="694944" cy="694944"/>
            </a:xfrm>
            <a:custGeom>
              <a:avLst/>
              <a:gdLst/>
              <a:ahLst/>
              <a:cxnLst/>
              <a:rect l="l" t="t" r="r" b="b"/>
              <a:pathLst>
                <a:path w="694944" h="694944">
                  <a:moveTo>
                    <a:pt x="0" y="0"/>
                  </a:moveTo>
                  <a:lnTo>
                    <a:pt x="694944" y="0"/>
                  </a:lnTo>
                  <a:lnTo>
                    <a:pt x="694944" y="694944"/>
                  </a:lnTo>
                  <a:lnTo>
                    <a:pt x="0" y="694944"/>
                  </a:lnTo>
                  <a:lnTo>
                    <a:pt x="0" y="0"/>
                  </a:lnTo>
                  <a:close/>
                </a:path>
              </a:pathLst>
            </a:custGeom>
            <a:blipFill>
              <a:blip r:embed="rId6"/>
              <a:stretch>
                <a:fillRect/>
              </a:stretch>
            </a:blipFill>
          </p:spPr>
        </p:sp>
      </p:gr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2" name="Group 7">
            <a:extLst>
              <a:ext uri="{FF2B5EF4-FFF2-40B4-BE49-F238E27FC236}">
                <a16:creationId xmlns:a16="http://schemas.microsoft.com/office/drawing/2014/main" id="{A0313D43-3F25-44D6-84C4-970D5B002E69}"/>
              </a:ext>
            </a:extLst>
          </p:cNvPr>
          <p:cNvGrpSpPr/>
          <p:nvPr/>
        </p:nvGrpSpPr>
        <p:grpSpPr>
          <a:xfrm>
            <a:off x="-114300" y="-9525"/>
            <a:ext cx="18401843" cy="10372249"/>
            <a:chOff x="0" y="0"/>
            <a:chExt cx="22202394" cy="8980170"/>
          </a:xfrm>
        </p:grpSpPr>
        <p:sp>
          <p:nvSpPr>
            <p:cNvPr id="13" name="Freeform 8">
              <a:extLst>
                <a:ext uri="{FF2B5EF4-FFF2-40B4-BE49-F238E27FC236}">
                  <a16:creationId xmlns:a16="http://schemas.microsoft.com/office/drawing/2014/main" id="{E99AB585-7F5D-4F56-909B-8D014F5E4B0C}"/>
                </a:ext>
              </a:extLst>
            </p:cNvPr>
            <p:cNvSpPr/>
            <p:nvPr/>
          </p:nvSpPr>
          <p:spPr>
            <a:xfrm>
              <a:off x="0" y="0"/>
              <a:ext cx="22202394" cy="8980170"/>
            </a:xfrm>
            <a:custGeom>
              <a:avLst/>
              <a:gdLst/>
              <a:ahLst/>
              <a:cxnLst/>
              <a:rect l="l" t="t" r="r" b="b"/>
              <a:pathLst>
                <a:path w="22202394" h="8980170">
                  <a:moveTo>
                    <a:pt x="0" y="219964"/>
                  </a:moveTo>
                  <a:cubicBezTo>
                    <a:pt x="0" y="98425"/>
                    <a:pt x="98425" y="0"/>
                    <a:pt x="219964" y="0"/>
                  </a:cubicBezTo>
                  <a:lnTo>
                    <a:pt x="21982430" y="0"/>
                  </a:lnTo>
                  <a:cubicBezTo>
                    <a:pt x="22103843" y="0"/>
                    <a:pt x="22202394" y="98425"/>
                    <a:pt x="22202394" y="219964"/>
                  </a:cubicBezTo>
                  <a:lnTo>
                    <a:pt x="22202394" y="8760206"/>
                  </a:lnTo>
                  <a:cubicBezTo>
                    <a:pt x="22202394" y="8881618"/>
                    <a:pt x="22103969" y="8980170"/>
                    <a:pt x="21982430" y="8980170"/>
                  </a:cubicBezTo>
                  <a:lnTo>
                    <a:pt x="219964" y="8980170"/>
                  </a:lnTo>
                  <a:cubicBezTo>
                    <a:pt x="98425" y="8980170"/>
                    <a:pt x="0" y="8881745"/>
                    <a:pt x="0" y="8760206"/>
                  </a:cubicBezTo>
                  <a:close/>
                </a:path>
              </a:pathLst>
            </a:custGeom>
            <a:solidFill>
              <a:srgbClr val="006838"/>
            </a:solidFill>
            <a:ln w="14288" cap="sq">
              <a:solidFill>
                <a:srgbClr val="006838"/>
              </a:solidFill>
              <a:prstDash val="solid"/>
              <a:miter/>
            </a:ln>
          </p:spPr>
        </p:sp>
      </p:grpSp>
      <p:grpSp>
        <p:nvGrpSpPr>
          <p:cNvPr id="2" name="Group 2"/>
          <p:cNvGrpSpPr/>
          <p:nvPr/>
        </p:nvGrpSpPr>
        <p:grpSpPr>
          <a:xfrm>
            <a:off x="11786235" y="-9525"/>
            <a:ext cx="6510833" cy="10306050"/>
            <a:chOff x="0" y="0"/>
            <a:chExt cx="8681110" cy="13741400"/>
          </a:xfrm>
        </p:grpSpPr>
        <p:sp>
          <p:nvSpPr>
            <p:cNvPr id="3" name="Freeform 3"/>
            <p:cNvSpPr/>
            <p:nvPr/>
          </p:nvSpPr>
          <p:spPr>
            <a:xfrm>
              <a:off x="0" y="0"/>
              <a:ext cx="8681085" cy="13741400"/>
            </a:xfrm>
            <a:custGeom>
              <a:avLst/>
              <a:gdLst/>
              <a:ahLst/>
              <a:cxnLst/>
              <a:rect l="l" t="t" r="r" b="b"/>
              <a:pathLst>
                <a:path w="8681085" h="13741400">
                  <a:moveTo>
                    <a:pt x="0" y="0"/>
                  </a:moveTo>
                  <a:lnTo>
                    <a:pt x="8681085" y="0"/>
                  </a:lnTo>
                  <a:lnTo>
                    <a:pt x="8681085" y="13741400"/>
                  </a:lnTo>
                  <a:lnTo>
                    <a:pt x="0" y="13741400"/>
                  </a:lnTo>
                  <a:close/>
                </a:path>
              </a:pathLst>
            </a:custGeom>
            <a:solidFill>
              <a:srgbClr val="004A28"/>
            </a:solidFill>
            <a:ln w="19050" cap="sq">
              <a:solidFill>
                <a:srgbClr val="004A28"/>
              </a:solidFill>
              <a:prstDash val="solid"/>
              <a:miter/>
            </a:ln>
          </p:spPr>
        </p:sp>
      </p:grpSp>
      <p:grpSp>
        <p:nvGrpSpPr>
          <p:cNvPr id="4" name="Group 4"/>
          <p:cNvGrpSpPr/>
          <p:nvPr/>
        </p:nvGrpSpPr>
        <p:grpSpPr>
          <a:xfrm>
            <a:off x="960120" y="822960"/>
            <a:ext cx="1371600" cy="1028700"/>
            <a:chOff x="0" y="0"/>
            <a:chExt cx="1828800" cy="1371600"/>
          </a:xfrm>
        </p:grpSpPr>
        <p:sp>
          <p:nvSpPr>
            <p:cNvPr id="5" name="Freeform 5" descr="/tmp/claude-0/-home-claude/f2393a9e-ecac-5976-acd4-5fd24e92a8fe/scratchpad/assets/logo.jpg"/>
            <p:cNvSpPr/>
            <p:nvPr/>
          </p:nvSpPr>
          <p:spPr>
            <a:xfrm>
              <a:off x="0" y="0"/>
              <a:ext cx="1828800" cy="1371600"/>
            </a:xfrm>
            <a:custGeom>
              <a:avLst/>
              <a:gdLst/>
              <a:ahLst/>
              <a:cxnLst/>
              <a:rect l="l" t="t" r="r" b="b"/>
              <a:pathLst>
                <a:path w="1828800" h="1371600">
                  <a:moveTo>
                    <a:pt x="0" y="0"/>
                  </a:moveTo>
                  <a:lnTo>
                    <a:pt x="1828800" y="0"/>
                  </a:lnTo>
                  <a:lnTo>
                    <a:pt x="1828800" y="1371600"/>
                  </a:lnTo>
                  <a:lnTo>
                    <a:pt x="0" y="1371600"/>
                  </a:lnTo>
                  <a:lnTo>
                    <a:pt x="0" y="0"/>
                  </a:lnTo>
                  <a:close/>
                </a:path>
              </a:pathLst>
            </a:custGeom>
            <a:blipFill>
              <a:blip r:embed="rId3"/>
              <a:stretch>
                <a:fillRect/>
              </a:stretch>
            </a:blipFill>
          </p:spPr>
        </p:sp>
      </p:grpSp>
      <p:grpSp>
        <p:nvGrpSpPr>
          <p:cNvPr id="6" name="Group 6"/>
          <p:cNvGrpSpPr/>
          <p:nvPr/>
        </p:nvGrpSpPr>
        <p:grpSpPr>
          <a:xfrm>
            <a:off x="11795760" y="2606040"/>
            <a:ext cx="6491783" cy="4389120"/>
            <a:chOff x="0" y="0"/>
            <a:chExt cx="8655710" cy="5852160"/>
          </a:xfrm>
        </p:grpSpPr>
        <p:sp>
          <p:nvSpPr>
            <p:cNvPr id="7" name="Freeform 7"/>
            <p:cNvSpPr/>
            <p:nvPr/>
          </p:nvSpPr>
          <p:spPr>
            <a:xfrm>
              <a:off x="0" y="0"/>
              <a:ext cx="8655710" cy="5852160"/>
            </a:xfrm>
            <a:custGeom>
              <a:avLst/>
              <a:gdLst/>
              <a:ahLst/>
              <a:cxnLst/>
              <a:rect l="l" t="t" r="r" b="b"/>
              <a:pathLst>
                <a:path w="8655710" h="5852160">
                  <a:moveTo>
                    <a:pt x="0" y="0"/>
                  </a:moveTo>
                  <a:lnTo>
                    <a:pt x="8655710" y="0"/>
                  </a:lnTo>
                  <a:lnTo>
                    <a:pt x="8655710" y="5852160"/>
                  </a:lnTo>
                  <a:lnTo>
                    <a:pt x="0" y="5852160"/>
                  </a:lnTo>
                  <a:close/>
                </a:path>
              </a:pathLst>
            </a:custGeom>
            <a:blipFill>
              <a:blip r:embed="rId4">
                <a:alphaModFix amt="0"/>
              </a:blip>
              <a:stretch>
                <a:fillRect l="-36746" r="-36746"/>
              </a:stretch>
            </a:blipFill>
          </p:spPr>
        </p:sp>
        <p:sp>
          <p:nvSpPr>
            <p:cNvPr id="8" name="TextBox 8"/>
            <p:cNvSpPr txBox="1"/>
            <p:nvPr/>
          </p:nvSpPr>
          <p:spPr>
            <a:xfrm>
              <a:off x="0" y="-9525"/>
              <a:ext cx="8655710" cy="5861685"/>
            </a:xfrm>
            <a:prstGeom prst="rect">
              <a:avLst/>
            </a:prstGeom>
          </p:spPr>
          <p:txBody>
            <a:bodyPr lIns="0" tIns="0" rIns="0" bIns="0" rtlCol="0" anchor="ctr"/>
            <a:lstStyle/>
            <a:p>
              <a:pPr algn="ctr">
                <a:lnSpc>
                  <a:spcPts val="32400"/>
                </a:lnSpc>
              </a:pPr>
              <a:r>
                <a:rPr lang="en-US" sz="27000" b="1">
                  <a:solidFill>
                    <a:srgbClr val="FF7300"/>
                  </a:solidFill>
                  <a:latin typeface="Montserrat Bold"/>
                  <a:ea typeface="Montserrat Bold"/>
                  <a:cs typeface="Montserrat Bold"/>
                  <a:sym typeface="Montserrat Bold"/>
                </a:rPr>
                <a:t>03</a:t>
              </a:r>
            </a:p>
          </p:txBody>
        </p:sp>
      </p:grpSp>
      <p:grpSp>
        <p:nvGrpSpPr>
          <p:cNvPr id="9" name="Group 9"/>
          <p:cNvGrpSpPr/>
          <p:nvPr/>
        </p:nvGrpSpPr>
        <p:grpSpPr>
          <a:xfrm>
            <a:off x="1042054" y="3360420"/>
            <a:ext cx="10287000" cy="3566160"/>
            <a:chOff x="0" y="0"/>
            <a:chExt cx="13716000" cy="4754880"/>
          </a:xfrm>
        </p:grpSpPr>
        <p:sp>
          <p:nvSpPr>
            <p:cNvPr id="10" name="Freeform 10"/>
            <p:cNvSpPr/>
            <p:nvPr/>
          </p:nvSpPr>
          <p:spPr>
            <a:xfrm>
              <a:off x="0" y="0"/>
              <a:ext cx="13716000" cy="4754880"/>
            </a:xfrm>
            <a:custGeom>
              <a:avLst/>
              <a:gdLst/>
              <a:ahLst/>
              <a:cxnLst/>
              <a:rect l="l" t="t" r="r" b="b"/>
              <a:pathLst>
                <a:path w="13716000" h="4754880">
                  <a:moveTo>
                    <a:pt x="0" y="0"/>
                  </a:moveTo>
                  <a:lnTo>
                    <a:pt x="13716000" y="0"/>
                  </a:lnTo>
                  <a:lnTo>
                    <a:pt x="13716000" y="4754880"/>
                  </a:lnTo>
                  <a:lnTo>
                    <a:pt x="0" y="4754880"/>
                  </a:lnTo>
                  <a:close/>
                </a:path>
              </a:pathLst>
            </a:custGeom>
            <a:blipFill>
              <a:blip r:embed="rId4">
                <a:alphaModFix amt="0"/>
              </a:blip>
              <a:stretch>
                <a:fillRect t="-6206" b="-6206"/>
              </a:stretch>
            </a:blipFill>
          </p:spPr>
        </p:sp>
        <p:sp>
          <p:nvSpPr>
            <p:cNvPr id="11" name="TextBox 11"/>
            <p:cNvSpPr txBox="1"/>
            <p:nvPr/>
          </p:nvSpPr>
          <p:spPr>
            <a:xfrm>
              <a:off x="0" y="0"/>
              <a:ext cx="13716000" cy="4754880"/>
            </a:xfrm>
            <a:prstGeom prst="rect">
              <a:avLst/>
            </a:prstGeom>
          </p:spPr>
          <p:txBody>
            <a:bodyPr lIns="0" tIns="0" rIns="0" bIns="0" rtlCol="0" anchor="ctr"/>
            <a:lstStyle/>
            <a:p>
              <a:pPr algn="l">
                <a:lnSpc>
                  <a:spcPts val="7200"/>
                </a:lnSpc>
              </a:pPr>
              <a:r>
                <a:rPr lang="en-US" sz="6000" b="1">
                  <a:solidFill>
                    <a:srgbClr val="FFFFFF"/>
                  </a:solidFill>
                  <a:latin typeface="Montserrat Bold"/>
                  <a:ea typeface="Montserrat Bold"/>
                  <a:cs typeface="Montserrat Bold"/>
                  <a:sym typeface="Montserrat Bold"/>
                </a:rPr>
                <a:t>ĐẠO ĐỨC AI</a:t>
              </a:r>
            </a:p>
          </p:txBody>
        </p:sp>
      </p:grpSp>
    </p:spTree>
    <p:extLst>
      <p:ext uri="{BB962C8B-B14F-4D97-AF65-F5344CB8AC3E}">
        <p14:creationId xmlns:p14="http://schemas.microsoft.com/office/powerpoint/2010/main" val="161310442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4"/>
          <p:cNvGrpSpPr/>
          <p:nvPr/>
        </p:nvGrpSpPr>
        <p:grpSpPr>
          <a:xfrm>
            <a:off x="822960" y="411480"/>
            <a:ext cx="15361920" cy="1371600"/>
            <a:chOff x="0" y="0"/>
            <a:chExt cx="20482560" cy="1828800"/>
          </a:xfrm>
        </p:grpSpPr>
        <p:sp>
          <p:nvSpPr>
            <p:cNvPr id="5" name="Freeform 5"/>
            <p:cNvSpPr/>
            <p:nvPr/>
          </p:nvSpPr>
          <p:spPr>
            <a:xfrm>
              <a:off x="0" y="0"/>
              <a:ext cx="20482561" cy="1828800"/>
            </a:xfrm>
            <a:custGeom>
              <a:avLst/>
              <a:gdLst/>
              <a:ahLst/>
              <a:cxnLst/>
              <a:rect l="l" t="t" r="r" b="b"/>
              <a:pathLst>
                <a:path w="20482561" h="1828800">
                  <a:moveTo>
                    <a:pt x="0" y="0"/>
                  </a:moveTo>
                  <a:lnTo>
                    <a:pt x="20482561" y="0"/>
                  </a:lnTo>
                  <a:lnTo>
                    <a:pt x="20482561" y="1828800"/>
                  </a:lnTo>
                  <a:lnTo>
                    <a:pt x="0" y="1828800"/>
                  </a:lnTo>
                  <a:close/>
                </a:path>
              </a:pathLst>
            </a:custGeom>
            <a:blipFill>
              <a:blip r:embed="rId3">
                <a:alphaModFix amt="0"/>
              </a:blip>
              <a:stretch>
                <a:fillRect t="-168232" b="-168232"/>
              </a:stretch>
            </a:blipFill>
          </p:spPr>
        </p:sp>
        <p:sp>
          <p:nvSpPr>
            <p:cNvPr id="6" name="TextBox 6"/>
            <p:cNvSpPr txBox="1"/>
            <p:nvPr/>
          </p:nvSpPr>
          <p:spPr>
            <a:xfrm>
              <a:off x="0" y="0"/>
              <a:ext cx="20482560" cy="1828800"/>
            </a:xfrm>
            <a:prstGeom prst="rect">
              <a:avLst/>
            </a:prstGeom>
          </p:spPr>
          <p:txBody>
            <a:bodyPr lIns="0" tIns="0" rIns="0" bIns="0" rtlCol="0" anchor="ctr"/>
            <a:lstStyle/>
            <a:p>
              <a:pPr algn="l">
                <a:lnSpc>
                  <a:spcPts val="4680"/>
                </a:lnSpc>
              </a:pPr>
              <a:r>
                <a:rPr lang="en-US" sz="3900" b="1">
                  <a:solidFill>
                    <a:srgbClr val="006838"/>
                  </a:solidFill>
                  <a:latin typeface="Montserrat Bold"/>
                  <a:ea typeface="Montserrat Bold"/>
                  <a:cs typeface="Montserrat Bold"/>
                  <a:sym typeface="Montserrat Bold"/>
                </a:rPr>
                <a:t>SỬ DỤNG AI AN TOÀN &amp; CÓ TRÁCH NHIỆM</a:t>
              </a:r>
            </a:p>
          </p:txBody>
        </p:sp>
      </p:grpSp>
      <p:grpSp>
        <p:nvGrpSpPr>
          <p:cNvPr id="7" name="Group 7"/>
          <p:cNvGrpSpPr/>
          <p:nvPr/>
        </p:nvGrpSpPr>
        <p:grpSpPr>
          <a:xfrm>
            <a:off x="-9525" y="1979295"/>
            <a:ext cx="18306593" cy="8317230"/>
            <a:chOff x="0" y="0"/>
            <a:chExt cx="24408790" cy="11089640"/>
          </a:xfrm>
        </p:grpSpPr>
        <p:sp>
          <p:nvSpPr>
            <p:cNvPr id="8" name="Freeform 8"/>
            <p:cNvSpPr/>
            <p:nvPr/>
          </p:nvSpPr>
          <p:spPr>
            <a:xfrm>
              <a:off x="0" y="0"/>
              <a:ext cx="24408764" cy="11089640"/>
            </a:xfrm>
            <a:custGeom>
              <a:avLst/>
              <a:gdLst/>
              <a:ahLst/>
              <a:cxnLst/>
              <a:rect l="l" t="t" r="r" b="b"/>
              <a:pathLst>
                <a:path w="24408764" h="11089640">
                  <a:moveTo>
                    <a:pt x="0" y="0"/>
                  </a:moveTo>
                  <a:lnTo>
                    <a:pt x="24408764" y="0"/>
                  </a:lnTo>
                  <a:lnTo>
                    <a:pt x="24408764" y="11089640"/>
                  </a:lnTo>
                  <a:lnTo>
                    <a:pt x="0" y="11089640"/>
                  </a:lnTo>
                  <a:close/>
                </a:path>
              </a:pathLst>
            </a:custGeom>
            <a:solidFill>
              <a:srgbClr val="E8F3ED"/>
            </a:solidFill>
            <a:ln w="19050" cap="sq">
              <a:solidFill>
                <a:srgbClr val="E8F3ED"/>
              </a:solidFill>
              <a:prstDash val="solid"/>
              <a:miter/>
            </a:ln>
          </p:spPr>
        </p:sp>
      </p:grpSp>
      <p:grpSp>
        <p:nvGrpSpPr>
          <p:cNvPr id="9" name="Group 9"/>
          <p:cNvGrpSpPr/>
          <p:nvPr/>
        </p:nvGrpSpPr>
        <p:grpSpPr>
          <a:xfrm>
            <a:off x="1501616" y="2667476"/>
            <a:ext cx="6872288" cy="6529388"/>
            <a:chOff x="0" y="0"/>
            <a:chExt cx="9163050" cy="8705850"/>
          </a:xfrm>
        </p:grpSpPr>
        <p:sp>
          <p:nvSpPr>
            <p:cNvPr id="10" name="Freeform 10"/>
            <p:cNvSpPr/>
            <p:nvPr/>
          </p:nvSpPr>
          <p:spPr>
            <a:xfrm>
              <a:off x="0" y="0"/>
              <a:ext cx="9163050" cy="8705850"/>
            </a:xfrm>
            <a:custGeom>
              <a:avLst/>
              <a:gdLst/>
              <a:ahLst/>
              <a:cxnLst/>
              <a:rect l="l" t="t" r="r" b="b"/>
              <a:pathLst>
                <a:path w="9163050" h="8705850">
                  <a:moveTo>
                    <a:pt x="0" y="219964"/>
                  </a:moveTo>
                  <a:cubicBezTo>
                    <a:pt x="0" y="98425"/>
                    <a:pt x="98425" y="0"/>
                    <a:pt x="219964" y="0"/>
                  </a:cubicBezTo>
                  <a:lnTo>
                    <a:pt x="8943086" y="0"/>
                  </a:lnTo>
                  <a:cubicBezTo>
                    <a:pt x="9064498" y="0"/>
                    <a:pt x="9163050" y="98425"/>
                    <a:pt x="9163050" y="219964"/>
                  </a:cubicBezTo>
                  <a:lnTo>
                    <a:pt x="9163050" y="8485886"/>
                  </a:lnTo>
                  <a:cubicBezTo>
                    <a:pt x="9163050" y="8607298"/>
                    <a:pt x="9064625" y="8705850"/>
                    <a:pt x="8943086" y="8705850"/>
                  </a:cubicBezTo>
                  <a:lnTo>
                    <a:pt x="219964" y="8705850"/>
                  </a:lnTo>
                  <a:cubicBezTo>
                    <a:pt x="98425" y="8705850"/>
                    <a:pt x="0" y="8607425"/>
                    <a:pt x="0" y="8485886"/>
                  </a:cubicBezTo>
                  <a:close/>
                </a:path>
              </a:pathLst>
            </a:custGeom>
            <a:solidFill>
              <a:srgbClr val="FFFFFF"/>
            </a:solidFill>
            <a:ln w="14288" cap="sq">
              <a:solidFill>
                <a:srgbClr val="DCE6E0"/>
              </a:solidFill>
              <a:prstDash val="solid"/>
              <a:miter/>
            </a:ln>
          </p:spPr>
        </p:sp>
      </p:grpSp>
      <p:grpSp>
        <p:nvGrpSpPr>
          <p:cNvPr id="11" name="Group 11"/>
          <p:cNvGrpSpPr/>
          <p:nvPr/>
        </p:nvGrpSpPr>
        <p:grpSpPr>
          <a:xfrm>
            <a:off x="3899535" y="3282315"/>
            <a:ext cx="2076450" cy="2076450"/>
            <a:chOff x="0" y="0"/>
            <a:chExt cx="2768600" cy="2768600"/>
          </a:xfrm>
        </p:grpSpPr>
        <p:sp>
          <p:nvSpPr>
            <p:cNvPr id="12" name="Freeform 12"/>
            <p:cNvSpPr/>
            <p:nvPr/>
          </p:nvSpPr>
          <p:spPr>
            <a:xfrm>
              <a:off x="0" y="0"/>
              <a:ext cx="2768600" cy="2768600"/>
            </a:xfrm>
            <a:custGeom>
              <a:avLst/>
              <a:gdLst/>
              <a:ahLst/>
              <a:cxnLst/>
              <a:rect l="l" t="t" r="r" b="b"/>
              <a:pathLst>
                <a:path w="2768600" h="2768600">
                  <a:moveTo>
                    <a:pt x="0" y="1384300"/>
                  </a:moveTo>
                  <a:cubicBezTo>
                    <a:pt x="0" y="619760"/>
                    <a:pt x="619760" y="0"/>
                    <a:pt x="1384300" y="0"/>
                  </a:cubicBezTo>
                  <a:cubicBezTo>
                    <a:pt x="2148840" y="0"/>
                    <a:pt x="2768600" y="619760"/>
                    <a:pt x="2768600" y="1384300"/>
                  </a:cubicBezTo>
                  <a:cubicBezTo>
                    <a:pt x="2768600" y="2148840"/>
                    <a:pt x="2148840" y="2768600"/>
                    <a:pt x="1384300" y="2768600"/>
                  </a:cubicBezTo>
                  <a:cubicBezTo>
                    <a:pt x="619760" y="2768600"/>
                    <a:pt x="0" y="2148840"/>
                    <a:pt x="0" y="1384300"/>
                  </a:cubicBezTo>
                  <a:close/>
                </a:path>
              </a:pathLst>
            </a:custGeom>
            <a:solidFill>
              <a:srgbClr val="006838"/>
            </a:solidFill>
            <a:ln w="19050" cap="sq">
              <a:solidFill>
                <a:srgbClr val="006838"/>
              </a:solidFill>
              <a:prstDash val="solid"/>
              <a:miter/>
            </a:ln>
          </p:spPr>
        </p:sp>
      </p:grpSp>
      <p:grpSp>
        <p:nvGrpSpPr>
          <p:cNvPr id="13" name="Group 13"/>
          <p:cNvGrpSpPr/>
          <p:nvPr/>
        </p:nvGrpSpPr>
        <p:grpSpPr>
          <a:xfrm>
            <a:off x="4443984" y="3826764"/>
            <a:ext cx="987552" cy="987552"/>
            <a:chOff x="0" y="0"/>
            <a:chExt cx="1316736" cy="1316736"/>
          </a:xfrm>
        </p:grpSpPr>
        <p:sp>
          <p:nvSpPr>
            <p:cNvPr id="14" name="Freeform 14" descr="preencoded.png"/>
            <p:cNvSpPr/>
            <p:nvPr/>
          </p:nvSpPr>
          <p:spPr>
            <a:xfrm>
              <a:off x="0" y="0"/>
              <a:ext cx="1316736" cy="1316736"/>
            </a:xfrm>
            <a:custGeom>
              <a:avLst/>
              <a:gdLst/>
              <a:ahLst/>
              <a:cxnLst/>
              <a:rect l="l" t="t" r="r" b="b"/>
              <a:pathLst>
                <a:path w="1316736" h="1316736">
                  <a:moveTo>
                    <a:pt x="0" y="0"/>
                  </a:moveTo>
                  <a:lnTo>
                    <a:pt x="1316736" y="0"/>
                  </a:lnTo>
                  <a:lnTo>
                    <a:pt x="1316736" y="1316736"/>
                  </a:lnTo>
                  <a:lnTo>
                    <a:pt x="0" y="1316736"/>
                  </a:lnTo>
                  <a:lnTo>
                    <a:pt x="0" y="0"/>
                  </a:lnTo>
                  <a:close/>
                </a:path>
              </a:pathLst>
            </a:custGeom>
            <a:blipFill>
              <a:blip r:embed="rId4"/>
              <a:stretch>
                <a:fillRect/>
              </a:stretch>
            </a:blipFill>
          </p:spPr>
        </p:sp>
      </p:grpSp>
      <p:grpSp>
        <p:nvGrpSpPr>
          <p:cNvPr id="15" name="Group 15"/>
          <p:cNvGrpSpPr/>
          <p:nvPr/>
        </p:nvGrpSpPr>
        <p:grpSpPr>
          <a:xfrm>
            <a:off x="1920240" y="5554980"/>
            <a:ext cx="6035040" cy="1165860"/>
            <a:chOff x="0" y="0"/>
            <a:chExt cx="8046720" cy="1554480"/>
          </a:xfrm>
        </p:grpSpPr>
        <p:sp>
          <p:nvSpPr>
            <p:cNvPr id="16" name="Freeform 16"/>
            <p:cNvSpPr/>
            <p:nvPr/>
          </p:nvSpPr>
          <p:spPr>
            <a:xfrm>
              <a:off x="0" y="0"/>
              <a:ext cx="8046720" cy="1554480"/>
            </a:xfrm>
            <a:custGeom>
              <a:avLst/>
              <a:gdLst/>
              <a:ahLst/>
              <a:cxnLst/>
              <a:rect l="l" t="t" r="r" b="b"/>
              <a:pathLst>
                <a:path w="8046720" h="1554480">
                  <a:moveTo>
                    <a:pt x="0" y="0"/>
                  </a:moveTo>
                  <a:lnTo>
                    <a:pt x="8046720" y="0"/>
                  </a:lnTo>
                  <a:lnTo>
                    <a:pt x="8046720" y="1554480"/>
                  </a:lnTo>
                  <a:lnTo>
                    <a:pt x="0" y="1554480"/>
                  </a:lnTo>
                  <a:close/>
                </a:path>
              </a:pathLst>
            </a:custGeom>
            <a:blipFill>
              <a:blip r:embed="rId3">
                <a:alphaModFix amt="0"/>
              </a:blip>
              <a:stretch>
                <a:fillRect t="-50863" b="-50863"/>
              </a:stretch>
            </a:blipFill>
          </p:spPr>
        </p:sp>
        <p:sp>
          <p:nvSpPr>
            <p:cNvPr id="17" name="TextBox 17"/>
            <p:cNvSpPr txBox="1"/>
            <p:nvPr/>
          </p:nvSpPr>
          <p:spPr>
            <a:xfrm>
              <a:off x="0" y="0"/>
              <a:ext cx="8046720" cy="1554480"/>
            </a:xfrm>
            <a:prstGeom prst="rect">
              <a:avLst/>
            </a:prstGeom>
          </p:spPr>
          <p:txBody>
            <a:bodyPr lIns="0" tIns="0" rIns="0" bIns="0" rtlCol="0" anchor="ctr"/>
            <a:lstStyle/>
            <a:p>
              <a:pPr algn="ctr">
                <a:lnSpc>
                  <a:spcPts val="7200"/>
                </a:lnSpc>
              </a:pPr>
              <a:r>
                <a:rPr lang="en-US" sz="6000" b="1">
                  <a:solidFill>
                    <a:srgbClr val="006838"/>
                  </a:solidFill>
                  <a:latin typeface="Montserrat Bold"/>
                  <a:ea typeface="Montserrat Bold"/>
                  <a:cs typeface="Montserrat Bold"/>
                  <a:sym typeface="Montserrat Bold"/>
                </a:rPr>
                <a:t>input</a:t>
              </a:r>
            </a:p>
          </p:txBody>
        </p:sp>
      </p:grpSp>
      <p:sp>
        <p:nvSpPr>
          <p:cNvPr id="18" name="AutoShape 18"/>
          <p:cNvSpPr/>
          <p:nvPr/>
        </p:nvSpPr>
        <p:spPr>
          <a:xfrm rot="13980">
            <a:off x="2596496" y="6921818"/>
            <a:ext cx="4682528" cy="0"/>
          </a:xfrm>
          <a:prstGeom prst="line">
            <a:avLst/>
          </a:prstGeom>
          <a:ln w="9525" cap="rnd">
            <a:solidFill>
              <a:srgbClr val="DCE6E0"/>
            </a:solidFill>
            <a:prstDash val="solid"/>
            <a:headEnd type="none" w="sm" len="sm"/>
            <a:tailEnd type="none" w="sm" len="sm"/>
          </a:ln>
        </p:spPr>
      </p:sp>
      <p:grpSp>
        <p:nvGrpSpPr>
          <p:cNvPr id="19" name="Group 19"/>
          <p:cNvGrpSpPr/>
          <p:nvPr/>
        </p:nvGrpSpPr>
        <p:grpSpPr>
          <a:xfrm>
            <a:off x="1920240" y="7132320"/>
            <a:ext cx="6035040" cy="1645920"/>
            <a:chOff x="0" y="0"/>
            <a:chExt cx="8046720" cy="2194560"/>
          </a:xfrm>
        </p:grpSpPr>
        <p:sp>
          <p:nvSpPr>
            <p:cNvPr id="20" name="Freeform 20"/>
            <p:cNvSpPr/>
            <p:nvPr/>
          </p:nvSpPr>
          <p:spPr>
            <a:xfrm>
              <a:off x="0" y="0"/>
              <a:ext cx="8046720" cy="2194560"/>
            </a:xfrm>
            <a:custGeom>
              <a:avLst/>
              <a:gdLst/>
              <a:ahLst/>
              <a:cxnLst/>
              <a:rect l="l" t="t" r="r" b="b"/>
              <a:pathLst>
                <a:path w="8046720" h="2194560">
                  <a:moveTo>
                    <a:pt x="0" y="0"/>
                  </a:moveTo>
                  <a:lnTo>
                    <a:pt x="8046720" y="0"/>
                  </a:lnTo>
                  <a:lnTo>
                    <a:pt x="8046720" y="2194560"/>
                  </a:lnTo>
                  <a:lnTo>
                    <a:pt x="0" y="2194560"/>
                  </a:lnTo>
                  <a:close/>
                </a:path>
              </a:pathLst>
            </a:custGeom>
            <a:blipFill>
              <a:blip r:embed="rId3">
                <a:alphaModFix amt="0"/>
              </a:blip>
              <a:stretch>
                <a:fillRect t="-21445" b="-21445"/>
              </a:stretch>
            </a:blipFill>
          </p:spPr>
        </p:sp>
        <p:sp>
          <p:nvSpPr>
            <p:cNvPr id="21" name="TextBox 21"/>
            <p:cNvSpPr txBox="1"/>
            <p:nvPr/>
          </p:nvSpPr>
          <p:spPr>
            <a:xfrm>
              <a:off x="0" y="-47625"/>
              <a:ext cx="8046720" cy="2242185"/>
            </a:xfrm>
            <a:prstGeom prst="rect">
              <a:avLst/>
            </a:prstGeom>
          </p:spPr>
          <p:txBody>
            <a:bodyPr lIns="0" tIns="0" rIns="0" bIns="0" rtlCol="0" anchor="ctr"/>
            <a:lstStyle/>
            <a:p>
              <a:pPr algn="ctr">
                <a:lnSpc>
                  <a:spcPts val="3456"/>
                </a:lnSpc>
              </a:pPr>
              <a:r>
                <a:rPr lang="en-US" sz="2400">
                  <a:solidFill>
                    <a:srgbClr val="1E2B25"/>
                  </a:solidFill>
                  <a:latin typeface="Montserrat"/>
                  <a:ea typeface="Montserrat"/>
                  <a:cs typeface="Montserrat"/>
                  <a:sym typeface="Montserrat"/>
                </a:rPr>
                <a:t>AI biết thứ không nên biết</a:t>
              </a:r>
            </a:p>
            <a:p>
              <a:pPr algn="ctr">
                <a:lnSpc>
                  <a:spcPts val="4320"/>
                </a:lnSpc>
              </a:pPr>
              <a:r>
                <a:rPr lang="en-US" sz="3000" b="1">
                  <a:solidFill>
                    <a:srgbClr val="FF7300"/>
                  </a:solidFill>
                  <a:latin typeface="Montserrat Bold"/>
                  <a:ea typeface="Montserrat Bold"/>
                  <a:cs typeface="Montserrat Bold"/>
                  <a:sym typeface="Montserrat Bold"/>
                </a:rPr>
                <a:t>→ BẢO MẬT</a:t>
              </a:r>
            </a:p>
          </p:txBody>
        </p:sp>
      </p:grpSp>
      <p:grpSp>
        <p:nvGrpSpPr>
          <p:cNvPr id="22" name="Group 22"/>
          <p:cNvGrpSpPr/>
          <p:nvPr/>
        </p:nvGrpSpPr>
        <p:grpSpPr>
          <a:xfrm>
            <a:off x="10046684" y="2667476"/>
            <a:ext cx="6872288" cy="6529388"/>
            <a:chOff x="0" y="0"/>
            <a:chExt cx="9163050" cy="8705850"/>
          </a:xfrm>
        </p:grpSpPr>
        <p:sp>
          <p:nvSpPr>
            <p:cNvPr id="23" name="Freeform 23"/>
            <p:cNvSpPr/>
            <p:nvPr/>
          </p:nvSpPr>
          <p:spPr>
            <a:xfrm>
              <a:off x="0" y="0"/>
              <a:ext cx="9163050" cy="8705850"/>
            </a:xfrm>
            <a:custGeom>
              <a:avLst/>
              <a:gdLst/>
              <a:ahLst/>
              <a:cxnLst/>
              <a:rect l="l" t="t" r="r" b="b"/>
              <a:pathLst>
                <a:path w="9163050" h="8705850">
                  <a:moveTo>
                    <a:pt x="0" y="219964"/>
                  </a:moveTo>
                  <a:cubicBezTo>
                    <a:pt x="0" y="98425"/>
                    <a:pt x="98425" y="0"/>
                    <a:pt x="219964" y="0"/>
                  </a:cubicBezTo>
                  <a:lnTo>
                    <a:pt x="8943086" y="0"/>
                  </a:lnTo>
                  <a:cubicBezTo>
                    <a:pt x="9064498" y="0"/>
                    <a:pt x="9163050" y="98425"/>
                    <a:pt x="9163050" y="219964"/>
                  </a:cubicBezTo>
                  <a:lnTo>
                    <a:pt x="9163050" y="8485886"/>
                  </a:lnTo>
                  <a:cubicBezTo>
                    <a:pt x="9163050" y="8607298"/>
                    <a:pt x="9064625" y="8705850"/>
                    <a:pt x="8943086" y="8705850"/>
                  </a:cubicBezTo>
                  <a:lnTo>
                    <a:pt x="219964" y="8705850"/>
                  </a:lnTo>
                  <a:cubicBezTo>
                    <a:pt x="98425" y="8705850"/>
                    <a:pt x="0" y="8607425"/>
                    <a:pt x="0" y="8485886"/>
                  </a:cubicBezTo>
                  <a:close/>
                </a:path>
              </a:pathLst>
            </a:custGeom>
            <a:solidFill>
              <a:srgbClr val="FFFFFF"/>
            </a:solidFill>
            <a:ln w="14288" cap="sq">
              <a:solidFill>
                <a:srgbClr val="DCE6E0"/>
              </a:solidFill>
              <a:prstDash val="solid"/>
              <a:miter/>
            </a:ln>
          </p:spPr>
        </p:sp>
      </p:grpSp>
      <p:grpSp>
        <p:nvGrpSpPr>
          <p:cNvPr id="24" name="Group 24"/>
          <p:cNvGrpSpPr/>
          <p:nvPr/>
        </p:nvGrpSpPr>
        <p:grpSpPr>
          <a:xfrm>
            <a:off x="12444603" y="3282315"/>
            <a:ext cx="2076450" cy="2076450"/>
            <a:chOff x="0" y="0"/>
            <a:chExt cx="2768600" cy="2768600"/>
          </a:xfrm>
        </p:grpSpPr>
        <p:sp>
          <p:nvSpPr>
            <p:cNvPr id="25" name="Freeform 25"/>
            <p:cNvSpPr/>
            <p:nvPr/>
          </p:nvSpPr>
          <p:spPr>
            <a:xfrm>
              <a:off x="0" y="0"/>
              <a:ext cx="2768600" cy="2768600"/>
            </a:xfrm>
            <a:custGeom>
              <a:avLst/>
              <a:gdLst/>
              <a:ahLst/>
              <a:cxnLst/>
              <a:rect l="l" t="t" r="r" b="b"/>
              <a:pathLst>
                <a:path w="2768600" h="2768600">
                  <a:moveTo>
                    <a:pt x="0" y="1384300"/>
                  </a:moveTo>
                  <a:cubicBezTo>
                    <a:pt x="0" y="619760"/>
                    <a:pt x="619760" y="0"/>
                    <a:pt x="1384300" y="0"/>
                  </a:cubicBezTo>
                  <a:cubicBezTo>
                    <a:pt x="2148840" y="0"/>
                    <a:pt x="2768600" y="619760"/>
                    <a:pt x="2768600" y="1384300"/>
                  </a:cubicBezTo>
                  <a:cubicBezTo>
                    <a:pt x="2768600" y="2148840"/>
                    <a:pt x="2148840" y="2768600"/>
                    <a:pt x="1384300" y="2768600"/>
                  </a:cubicBezTo>
                  <a:cubicBezTo>
                    <a:pt x="619760" y="2768600"/>
                    <a:pt x="0" y="2148840"/>
                    <a:pt x="0" y="1384300"/>
                  </a:cubicBezTo>
                  <a:close/>
                </a:path>
              </a:pathLst>
            </a:custGeom>
            <a:solidFill>
              <a:srgbClr val="006838"/>
            </a:solidFill>
            <a:ln w="19050" cap="sq">
              <a:solidFill>
                <a:srgbClr val="006838"/>
              </a:solidFill>
              <a:prstDash val="solid"/>
              <a:miter/>
            </a:ln>
          </p:spPr>
        </p:sp>
      </p:grpSp>
      <p:grpSp>
        <p:nvGrpSpPr>
          <p:cNvPr id="26" name="Group 26"/>
          <p:cNvGrpSpPr/>
          <p:nvPr/>
        </p:nvGrpSpPr>
        <p:grpSpPr>
          <a:xfrm>
            <a:off x="12989052" y="3826764"/>
            <a:ext cx="987552" cy="987552"/>
            <a:chOff x="0" y="0"/>
            <a:chExt cx="1316736" cy="1316736"/>
          </a:xfrm>
        </p:grpSpPr>
        <p:sp>
          <p:nvSpPr>
            <p:cNvPr id="27" name="Freeform 27" descr="preencoded.png"/>
            <p:cNvSpPr/>
            <p:nvPr/>
          </p:nvSpPr>
          <p:spPr>
            <a:xfrm>
              <a:off x="0" y="0"/>
              <a:ext cx="1316736" cy="1316736"/>
            </a:xfrm>
            <a:custGeom>
              <a:avLst/>
              <a:gdLst/>
              <a:ahLst/>
              <a:cxnLst/>
              <a:rect l="l" t="t" r="r" b="b"/>
              <a:pathLst>
                <a:path w="1316736" h="1316736">
                  <a:moveTo>
                    <a:pt x="0" y="0"/>
                  </a:moveTo>
                  <a:lnTo>
                    <a:pt x="1316736" y="0"/>
                  </a:lnTo>
                  <a:lnTo>
                    <a:pt x="1316736" y="1316736"/>
                  </a:lnTo>
                  <a:lnTo>
                    <a:pt x="0" y="1316736"/>
                  </a:lnTo>
                  <a:lnTo>
                    <a:pt x="0" y="0"/>
                  </a:lnTo>
                  <a:close/>
                </a:path>
              </a:pathLst>
            </a:custGeom>
            <a:blipFill>
              <a:blip r:embed="rId5"/>
              <a:stretch>
                <a:fillRect/>
              </a:stretch>
            </a:blipFill>
          </p:spPr>
        </p:sp>
      </p:grpSp>
      <p:grpSp>
        <p:nvGrpSpPr>
          <p:cNvPr id="28" name="Group 28"/>
          <p:cNvGrpSpPr/>
          <p:nvPr/>
        </p:nvGrpSpPr>
        <p:grpSpPr>
          <a:xfrm>
            <a:off x="10465308" y="5554980"/>
            <a:ext cx="6035040" cy="1165860"/>
            <a:chOff x="0" y="0"/>
            <a:chExt cx="8046720" cy="1554480"/>
          </a:xfrm>
        </p:grpSpPr>
        <p:sp>
          <p:nvSpPr>
            <p:cNvPr id="29" name="Freeform 29"/>
            <p:cNvSpPr/>
            <p:nvPr/>
          </p:nvSpPr>
          <p:spPr>
            <a:xfrm>
              <a:off x="0" y="0"/>
              <a:ext cx="8046720" cy="1554480"/>
            </a:xfrm>
            <a:custGeom>
              <a:avLst/>
              <a:gdLst/>
              <a:ahLst/>
              <a:cxnLst/>
              <a:rect l="l" t="t" r="r" b="b"/>
              <a:pathLst>
                <a:path w="8046720" h="1554480">
                  <a:moveTo>
                    <a:pt x="0" y="0"/>
                  </a:moveTo>
                  <a:lnTo>
                    <a:pt x="8046720" y="0"/>
                  </a:lnTo>
                  <a:lnTo>
                    <a:pt x="8046720" y="1554480"/>
                  </a:lnTo>
                  <a:lnTo>
                    <a:pt x="0" y="1554480"/>
                  </a:lnTo>
                  <a:close/>
                </a:path>
              </a:pathLst>
            </a:custGeom>
            <a:blipFill>
              <a:blip r:embed="rId3">
                <a:alphaModFix amt="0"/>
              </a:blip>
              <a:stretch>
                <a:fillRect t="-50863" b="-50863"/>
              </a:stretch>
            </a:blipFill>
          </p:spPr>
        </p:sp>
        <p:sp>
          <p:nvSpPr>
            <p:cNvPr id="30" name="TextBox 30"/>
            <p:cNvSpPr txBox="1"/>
            <p:nvPr/>
          </p:nvSpPr>
          <p:spPr>
            <a:xfrm>
              <a:off x="0" y="0"/>
              <a:ext cx="8046720" cy="1554480"/>
            </a:xfrm>
            <a:prstGeom prst="rect">
              <a:avLst/>
            </a:prstGeom>
          </p:spPr>
          <p:txBody>
            <a:bodyPr lIns="0" tIns="0" rIns="0" bIns="0" rtlCol="0" anchor="ctr"/>
            <a:lstStyle/>
            <a:p>
              <a:pPr algn="ctr">
                <a:lnSpc>
                  <a:spcPts val="7200"/>
                </a:lnSpc>
              </a:pPr>
              <a:r>
                <a:rPr lang="en-US" sz="6000" b="1">
                  <a:solidFill>
                    <a:srgbClr val="006838"/>
                  </a:solidFill>
                  <a:latin typeface="Montserrat Bold"/>
                  <a:ea typeface="Montserrat Bold"/>
                  <a:cs typeface="Montserrat Bold"/>
                  <a:sym typeface="Montserrat Bold"/>
                </a:rPr>
                <a:t>output</a:t>
              </a:r>
            </a:p>
          </p:txBody>
        </p:sp>
      </p:grpSp>
      <p:sp>
        <p:nvSpPr>
          <p:cNvPr id="31" name="AutoShape 31"/>
          <p:cNvSpPr/>
          <p:nvPr/>
        </p:nvSpPr>
        <p:spPr>
          <a:xfrm rot="13980">
            <a:off x="11141564" y="6921818"/>
            <a:ext cx="4682528" cy="0"/>
          </a:xfrm>
          <a:prstGeom prst="line">
            <a:avLst/>
          </a:prstGeom>
          <a:ln w="9525" cap="rnd">
            <a:solidFill>
              <a:srgbClr val="DCE6E0"/>
            </a:solidFill>
            <a:prstDash val="solid"/>
            <a:headEnd type="none" w="sm" len="sm"/>
            <a:tailEnd type="none" w="sm" len="sm"/>
          </a:ln>
        </p:spPr>
      </p:sp>
      <p:grpSp>
        <p:nvGrpSpPr>
          <p:cNvPr id="32" name="Group 32"/>
          <p:cNvGrpSpPr/>
          <p:nvPr/>
        </p:nvGrpSpPr>
        <p:grpSpPr>
          <a:xfrm>
            <a:off x="10465308" y="7132320"/>
            <a:ext cx="6035040" cy="1645920"/>
            <a:chOff x="0" y="0"/>
            <a:chExt cx="8046720" cy="2194560"/>
          </a:xfrm>
        </p:grpSpPr>
        <p:sp>
          <p:nvSpPr>
            <p:cNvPr id="33" name="Freeform 33"/>
            <p:cNvSpPr/>
            <p:nvPr/>
          </p:nvSpPr>
          <p:spPr>
            <a:xfrm>
              <a:off x="0" y="0"/>
              <a:ext cx="8046720" cy="2194560"/>
            </a:xfrm>
            <a:custGeom>
              <a:avLst/>
              <a:gdLst/>
              <a:ahLst/>
              <a:cxnLst/>
              <a:rect l="l" t="t" r="r" b="b"/>
              <a:pathLst>
                <a:path w="8046720" h="2194560">
                  <a:moveTo>
                    <a:pt x="0" y="0"/>
                  </a:moveTo>
                  <a:lnTo>
                    <a:pt x="8046720" y="0"/>
                  </a:lnTo>
                  <a:lnTo>
                    <a:pt x="8046720" y="2194560"/>
                  </a:lnTo>
                  <a:lnTo>
                    <a:pt x="0" y="2194560"/>
                  </a:lnTo>
                  <a:close/>
                </a:path>
              </a:pathLst>
            </a:custGeom>
            <a:blipFill>
              <a:blip r:embed="rId3">
                <a:alphaModFix amt="0"/>
              </a:blip>
              <a:stretch>
                <a:fillRect t="-21445" b="-21445"/>
              </a:stretch>
            </a:blipFill>
          </p:spPr>
        </p:sp>
        <p:sp>
          <p:nvSpPr>
            <p:cNvPr id="34" name="TextBox 34"/>
            <p:cNvSpPr txBox="1"/>
            <p:nvPr/>
          </p:nvSpPr>
          <p:spPr>
            <a:xfrm>
              <a:off x="0" y="-47625"/>
              <a:ext cx="8046720" cy="2242185"/>
            </a:xfrm>
            <a:prstGeom prst="rect">
              <a:avLst/>
            </a:prstGeom>
          </p:spPr>
          <p:txBody>
            <a:bodyPr lIns="0" tIns="0" rIns="0" bIns="0" rtlCol="0" anchor="ctr"/>
            <a:lstStyle/>
            <a:p>
              <a:pPr algn="ctr">
                <a:lnSpc>
                  <a:spcPts val="3456"/>
                </a:lnSpc>
              </a:pPr>
              <a:r>
                <a:rPr lang="en-US" sz="2400">
                  <a:solidFill>
                    <a:srgbClr val="1E2B25"/>
                  </a:solidFill>
                  <a:latin typeface="Montserrat"/>
                  <a:ea typeface="Montserrat"/>
                  <a:cs typeface="Montserrat"/>
                  <a:sym typeface="Montserrat"/>
                </a:rPr>
                <a:t>AI nói thứ không đúng</a:t>
              </a:r>
            </a:p>
            <a:p>
              <a:pPr algn="ctr">
                <a:lnSpc>
                  <a:spcPts val="4320"/>
                </a:lnSpc>
              </a:pPr>
              <a:r>
                <a:rPr lang="en-US" sz="3000" b="1">
                  <a:solidFill>
                    <a:srgbClr val="FF7300"/>
                  </a:solidFill>
                  <a:latin typeface="Montserrat Bold"/>
                  <a:ea typeface="Montserrat Bold"/>
                  <a:cs typeface="Montserrat Bold"/>
                  <a:sym typeface="Montserrat Bold"/>
                </a:rPr>
                <a:t>→ TRÁCH NHIỆM</a:t>
              </a:r>
            </a:p>
          </p:txBody>
        </p:sp>
      </p:grpSp>
      <p:grpSp>
        <p:nvGrpSpPr>
          <p:cNvPr id="35" name="Group 35"/>
          <p:cNvGrpSpPr/>
          <p:nvPr/>
        </p:nvGrpSpPr>
        <p:grpSpPr>
          <a:xfrm>
            <a:off x="8617839" y="5408295"/>
            <a:ext cx="1047750" cy="1047750"/>
            <a:chOff x="0" y="0"/>
            <a:chExt cx="1397000" cy="1397000"/>
          </a:xfrm>
        </p:grpSpPr>
        <p:sp>
          <p:nvSpPr>
            <p:cNvPr id="36" name="Freeform 36"/>
            <p:cNvSpPr/>
            <p:nvPr/>
          </p:nvSpPr>
          <p:spPr>
            <a:xfrm>
              <a:off x="0" y="0"/>
              <a:ext cx="1397000" cy="1397000"/>
            </a:xfrm>
            <a:custGeom>
              <a:avLst/>
              <a:gdLst/>
              <a:ahLst/>
              <a:cxnLst/>
              <a:rect l="l" t="t" r="r" b="b"/>
              <a:pathLst>
                <a:path w="1397000" h="1397000">
                  <a:moveTo>
                    <a:pt x="0" y="698500"/>
                  </a:moveTo>
                  <a:cubicBezTo>
                    <a:pt x="0" y="312674"/>
                    <a:pt x="312674" y="0"/>
                    <a:pt x="698500" y="0"/>
                  </a:cubicBezTo>
                  <a:cubicBezTo>
                    <a:pt x="1084326" y="0"/>
                    <a:pt x="1397000" y="312674"/>
                    <a:pt x="1397000" y="698500"/>
                  </a:cubicBezTo>
                  <a:cubicBezTo>
                    <a:pt x="1397000" y="1084326"/>
                    <a:pt x="1084326" y="1397000"/>
                    <a:pt x="698500" y="1397000"/>
                  </a:cubicBezTo>
                  <a:cubicBezTo>
                    <a:pt x="312674" y="1397000"/>
                    <a:pt x="0" y="1084326"/>
                    <a:pt x="0" y="698500"/>
                  </a:cubicBezTo>
                  <a:close/>
                </a:path>
              </a:pathLst>
            </a:custGeom>
            <a:solidFill>
              <a:srgbClr val="FF7300"/>
            </a:solidFill>
            <a:ln w="19050" cap="sq">
              <a:solidFill>
                <a:srgbClr val="FF7300"/>
              </a:solidFill>
              <a:prstDash val="solid"/>
              <a:miter/>
            </a:ln>
          </p:spPr>
        </p:sp>
      </p:grpSp>
      <p:grpSp>
        <p:nvGrpSpPr>
          <p:cNvPr id="37" name="Group 37"/>
          <p:cNvGrpSpPr/>
          <p:nvPr/>
        </p:nvGrpSpPr>
        <p:grpSpPr>
          <a:xfrm>
            <a:off x="8905113" y="5695569"/>
            <a:ext cx="473202" cy="473202"/>
            <a:chOff x="0" y="0"/>
            <a:chExt cx="630936" cy="630936"/>
          </a:xfrm>
        </p:grpSpPr>
        <p:sp>
          <p:nvSpPr>
            <p:cNvPr id="38" name="Freeform 38" descr="preencoded.png"/>
            <p:cNvSpPr/>
            <p:nvPr/>
          </p:nvSpPr>
          <p:spPr>
            <a:xfrm>
              <a:off x="0" y="0"/>
              <a:ext cx="630936" cy="630936"/>
            </a:xfrm>
            <a:custGeom>
              <a:avLst/>
              <a:gdLst/>
              <a:ahLst/>
              <a:cxnLst/>
              <a:rect l="l" t="t" r="r" b="b"/>
              <a:pathLst>
                <a:path w="630936" h="630936">
                  <a:moveTo>
                    <a:pt x="0" y="0"/>
                  </a:moveTo>
                  <a:lnTo>
                    <a:pt x="630936" y="0"/>
                  </a:lnTo>
                  <a:lnTo>
                    <a:pt x="630936" y="630936"/>
                  </a:lnTo>
                  <a:lnTo>
                    <a:pt x="0" y="630936"/>
                  </a:lnTo>
                  <a:lnTo>
                    <a:pt x="0" y="0"/>
                  </a:lnTo>
                  <a:close/>
                </a:path>
              </a:pathLst>
            </a:custGeom>
            <a:blipFill>
              <a:blip r:embed="rId6"/>
              <a:stretch>
                <a:fillRect/>
              </a:stretch>
            </a:blipFill>
          </p:spPr>
        </p:sp>
      </p:gr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4"/>
          <p:cNvGrpSpPr/>
          <p:nvPr/>
        </p:nvGrpSpPr>
        <p:grpSpPr>
          <a:xfrm>
            <a:off x="822960" y="411480"/>
            <a:ext cx="15361920" cy="1371600"/>
            <a:chOff x="0" y="0"/>
            <a:chExt cx="20482560" cy="1828800"/>
          </a:xfrm>
        </p:grpSpPr>
        <p:sp>
          <p:nvSpPr>
            <p:cNvPr id="5" name="Freeform 5"/>
            <p:cNvSpPr/>
            <p:nvPr/>
          </p:nvSpPr>
          <p:spPr>
            <a:xfrm>
              <a:off x="0" y="0"/>
              <a:ext cx="20482561" cy="1828800"/>
            </a:xfrm>
            <a:custGeom>
              <a:avLst/>
              <a:gdLst/>
              <a:ahLst/>
              <a:cxnLst/>
              <a:rect l="l" t="t" r="r" b="b"/>
              <a:pathLst>
                <a:path w="20482561" h="1828800">
                  <a:moveTo>
                    <a:pt x="0" y="0"/>
                  </a:moveTo>
                  <a:lnTo>
                    <a:pt x="20482561" y="0"/>
                  </a:lnTo>
                  <a:lnTo>
                    <a:pt x="20482561" y="1828800"/>
                  </a:lnTo>
                  <a:lnTo>
                    <a:pt x="0" y="1828800"/>
                  </a:lnTo>
                  <a:close/>
                </a:path>
              </a:pathLst>
            </a:custGeom>
            <a:blipFill>
              <a:blip r:embed="rId3">
                <a:alphaModFix amt="0"/>
              </a:blip>
              <a:stretch>
                <a:fillRect t="-168232" b="-168232"/>
              </a:stretch>
            </a:blipFill>
          </p:spPr>
        </p:sp>
        <p:sp>
          <p:nvSpPr>
            <p:cNvPr id="6" name="TextBox 6"/>
            <p:cNvSpPr txBox="1"/>
            <p:nvPr/>
          </p:nvSpPr>
          <p:spPr>
            <a:xfrm>
              <a:off x="0" y="0"/>
              <a:ext cx="20482560" cy="1828800"/>
            </a:xfrm>
            <a:prstGeom prst="rect">
              <a:avLst/>
            </a:prstGeom>
          </p:spPr>
          <p:txBody>
            <a:bodyPr lIns="0" tIns="0" rIns="0" bIns="0" rtlCol="0" anchor="ctr"/>
            <a:lstStyle/>
            <a:p>
              <a:pPr algn="l">
                <a:lnSpc>
                  <a:spcPts val="4680"/>
                </a:lnSpc>
              </a:pPr>
              <a:r>
                <a:rPr lang="en-US" sz="3900" b="1">
                  <a:solidFill>
                    <a:srgbClr val="006838"/>
                  </a:solidFill>
                  <a:latin typeface="Montserrat Bold"/>
                  <a:ea typeface="Montserrat Bold"/>
                  <a:cs typeface="Montserrat Bold"/>
                  <a:sym typeface="Montserrat Bold"/>
                </a:rPr>
                <a:t>BẢO MẬT AI</a:t>
              </a:r>
            </a:p>
          </p:txBody>
        </p:sp>
      </p:grpSp>
      <p:grpSp>
        <p:nvGrpSpPr>
          <p:cNvPr id="7" name="Group 7"/>
          <p:cNvGrpSpPr/>
          <p:nvPr/>
        </p:nvGrpSpPr>
        <p:grpSpPr>
          <a:xfrm>
            <a:off x="815816" y="2118836"/>
            <a:ext cx="3854767" cy="7420928"/>
            <a:chOff x="0" y="0"/>
            <a:chExt cx="5139690" cy="9894570"/>
          </a:xfrm>
        </p:grpSpPr>
        <p:sp>
          <p:nvSpPr>
            <p:cNvPr id="8" name="Freeform 8"/>
            <p:cNvSpPr/>
            <p:nvPr/>
          </p:nvSpPr>
          <p:spPr>
            <a:xfrm>
              <a:off x="0" y="0"/>
              <a:ext cx="5139690" cy="9894570"/>
            </a:xfrm>
            <a:custGeom>
              <a:avLst/>
              <a:gdLst/>
              <a:ahLst/>
              <a:cxnLst/>
              <a:rect l="l" t="t" r="r" b="b"/>
              <a:pathLst>
                <a:path w="5139690" h="9894570">
                  <a:moveTo>
                    <a:pt x="0" y="220345"/>
                  </a:moveTo>
                  <a:cubicBezTo>
                    <a:pt x="0" y="98679"/>
                    <a:pt x="98679" y="0"/>
                    <a:pt x="220345" y="0"/>
                  </a:cubicBezTo>
                  <a:lnTo>
                    <a:pt x="4919345" y="0"/>
                  </a:lnTo>
                  <a:cubicBezTo>
                    <a:pt x="5041011" y="0"/>
                    <a:pt x="5139690" y="98679"/>
                    <a:pt x="5139690" y="220345"/>
                  </a:cubicBezTo>
                  <a:lnTo>
                    <a:pt x="5139690" y="9674225"/>
                  </a:lnTo>
                  <a:cubicBezTo>
                    <a:pt x="5139690" y="9795891"/>
                    <a:pt x="5041011" y="9894570"/>
                    <a:pt x="4919345" y="9894570"/>
                  </a:cubicBezTo>
                  <a:lnTo>
                    <a:pt x="220345" y="9894570"/>
                  </a:lnTo>
                  <a:cubicBezTo>
                    <a:pt x="98679" y="9894570"/>
                    <a:pt x="0" y="9795891"/>
                    <a:pt x="0" y="9674225"/>
                  </a:cubicBezTo>
                  <a:close/>
                </a:path>
              </a:pathLst>
            </a:custGeom>
            <a:solidFill>
              <a:srgbClr val="FFFFFF"/>
            </a:solidFill>
            <a:ln w="14288" cap="sq">
              <a:solidFill>
                <a:srgbClr val="DCE6E0"/>
              </a:solidFill>
              <a:prstDash val="solid"/>
              <a:miter/>
            </a:ln>
          </p:spPr>
        </p:sp>
      </p:grpSp>
      <p:grpSp>
        <p:nvGrpSpPr>
          <p:cNvPr id="9" name="Group 9"/>
          <p:cNvGrpSpPr/>
          <p:nvPr/>
        </p:nvGrpSpPr>
        <p:grpSpPr>
          <a:xfrm>
            <a:off x="813435" y="2116455"/>
            <a:ext cx="3859530" cy="1596390"/>
            <a:chOff x="0" y="0"/>
            <a:chExt cx="5146040" cy="2128520"/>
          </a:xfrm>
        </p:grpSpPr>
        <p:sp>
          <p:nvSpPr>
            <p:cNvPr id="10" name="Freeform 10"/>
            <p:cNvSpPr/>
            <p:nvPr/>
          </p:nvSpPr>
          <p:spPr>
            <a:xfrm>
              <a:off x="0" y="0"/>
              <a:ext cx="5146040" cy="2128520"/>
            </a:xfrm>
            <a:custGeom>
              <a:avLst/>
              <a:gdLst/>
              <a:ahLst/>
              <a:cxnLst/>
              <a:rect l="l" t="t" r="r" b="b"/>
              <a:pathLst>
                <a:path w="5146040" h="2128520">
                  <a:moveTo>
                    <a:pt x="0" y="222123"/>
                  </a:moveTo>
                  <a:cubicBezTo>
                    <a:pt x="0" y="99441"/>
                    <a:pt x="99441" y="0"/>
                    <a:pt x="222123" y="0"/>
                  </a:cubicBezTo>
                  <a:lnTo>
                    <a:pt x="4923917" y="0"/>
                  </a:lnTo>
                  <a:cubicBezTo>
                    <a:pt x="5046599" y="0"/>
                    <a:pt x="5146040" y="99441"/>
                    <a:pt x="5146040" y="222123"/>
                  </a:cubicBezTo>
                  <a:lnTo>
                    <a:pt x="5146040" y="1906397"/>
                  </a:lnTo>
                  <a:cubicBezTo>
                    <a:pt x="5146040" y="2029079"/>
                    <a:pt x="5046599" y="2128520"/>
                    <a:pt x="4923917" y="2128520"/>
                  </a:cubicBezTo>
                  <a:lnTo>
                    <a:pt x="222123" y="2128520"/>
                  </a:lnTo>
                  <a:cubicBezTo>
                    <a:pt x="99441" y="2128520"/>
                    <a:pt x="0" y="2029079"/>
                    <a:pt x="0" y="1906397"/>
                  </a:cubicBezTo>
                  <a:close/>
                </a:path>
              </a:pathLst>
            </a:custGeom>
            <a:solidFill>
              <a:srgbClr val="006838"/>
            </a:solidFill>
            <a:ln w="19050" cap="sq">
              <a:solidFill>
                <a:srgbClr val="006838"/>
              </a:solidFill>
              <a:prstDash val="solid"/>
              <a:miter/>
            </a:ln>
          </p:spPr>
        </p:sp>
      </p:grpSp>
      <p:grpSp>
        <p:nvGrpSpPr>
          <p:cNvPr id="11" name="Group 11"/>
          <p:cNvGrpSpPr/>
          <p:nvPr/>
        </p:nvGrpSpPr>
        <p:grpSpPr>
          <a:xfrm>
            <a:off x="813435" y="3350895"/>
            <a:ext cx="3859530" cy="361950"/>
            <a:chOff x="0" y="0"/>
            <a:chExt cx="5146040" cy="482600"/>
          </a:xfrm>
        </p:grpSpPr>
        <p:sp>
          <p:nvSpPr>
            <p:cNvPr id="12" name="Freeform 12"/>
            <p:cNvSpPr/>
            <p:nvPr/>
          </p:nvSpPr>
          <p:spPr>
            <a:xfrm>
              <a:off x="0" y="0"/>
              <a:ext cx="5146040" cy="482600"/>
            </a:xfrm>
            <a:custGeom>
              <a:avLst/>
              <a:gdLst/>
              <a:ahLst/>
              <a:cxnLst/>
              <a:rect l="l" t="t" r="r" b="b"/>
              <a:pathLst>
                <a:path w="5146040" h="482600">
                  <a:moveTo>
                    <a:pt x="0" y="0"/>
                  </a:moveTo>
                  <a:lnTo>
                    <a:pt x="5146040" y="0"/>
                  </a:lnTo>
                  <a:lnTo>
                    <a:pt x="5146040" y="482600"/>
                  </a:lnTo>
                  <a:lnTo>
                    <a:pt x="0" y="482600"/>
                  </a:lnTo>
                  <a:close/>
                </a:path>
              </a:pathLst>
            </a:custGeom>
            <a:solidFill>
              <a:srgbClr val="006838"/>
            </a:solidFill>
            <a:ln w="19050" cap="sq">
              <a:solidFill>
                <a:srgbClr val="006838"/>
              </a:solidFill>
              <a:prstDash val="solid"/>
              <a:miter/>
            </a:ln>
          </p:spPr>
        </p:sp>
      </p:grpSp>
      <p:grpSp>
        <p:nvGrpSpPr>
          <p:cNvPr id="13" name="Group 13"/>
          <p:cNvGrpSpPr/>
          <p:nvPr/>
        </p:nvGrpSpPr>
        <p:grpSpPr>
          <a:xfrm>
            <a:off x="1165860" y="2578608"/>
            <a:ext cx="685800" cy="685800"/>
            <a:chOff x="0" y="0"/>
            <a:chExt cx="914400" cy="914400"/>
          </a:xfrm>
        </p:grpSpPr>
        <p:sp>
          <p:nvSpPr>
            <p:cNvPr id="14" name="Freeform 14" descr="preencoded.png"/>
            <p:cNvSpPr/>
            <p:nvPr/>
          </p:nvSpPr>
          <p:spPr>
            <a:xfrm>
              <a:off x="0" y="0"/>
              <a:ext cx="914400" cy="914400"/>
            </a:xfrm>
            <a:custGeom>
              <a:avLst/>
              <a:gdLst/>
              <a:ahLst/>
              <a:cxnLst/>
              <a:rect l="l" t="t" r="r" b="b"/>
              <a:pathLst>
                <a:path w="914400" h="914400">
                  <a:moveTo>
                    <a:pt x="0" y="0"/>
                  </a:moveTo>
                  <a:lnTo>
                    <a:pt x="914400" y="0"/>
                  </a:lnTo>
                  <a:lnTo>
                    <a:pt x="914400" y="914400"/>
                  </a:lnTo>
                  <a:lnTo>
                    <a:pt x="0" y="914400"/>
                  </a:lnTo>
                  <a:lnTo>
                    <a:pt x="0" y="0"/>
                  </a:lnTo>
                  <a:close/>
                </a:path>
              </a:pathLst>
            </a:custGeom>
            <a:blipFill>
              <a:blip r:embed="rId4"/>
              <a:stretch>
                <a:fillRect/>
              </a:stretch>
            </a:blipFill>
          </p:spPr>
        </p:sp>
      </p:grpSp>
      <p:grpSp>
        <p:nvGrpSpPr>
          <p:cNvPr id="15" name="Group 15"/>
          <p:cNvGrpSpPr/>
          <p:nvPr/>
        </p:nvGrpSpPr>
        <p:grpSpPr>
          <a:xfrm>
            <a:off x="2125980" y="2290572"/>
            <a:ext cx="2331720" cy="1234440"/>
            <a:chOff x="0" y="0"/>
            <a:chExt cx="3108960" cy="1645920"/>
          </a:xfrm>
        </p:grpSpPr>
        <p:sp>
          <p:nvSpPr>
            <p:cNvPr id="16" name="Freeform 16"/>
            <p:cNvSpPr/>
            <p:nvPr/>
          </p:nvSpPr>
          <p:spPr>
            <a:xfrm>
              <a:off x="0" y="0"/>
              <a:ext cx="3108960" cy="1645920"/>
            </a:xfrm>
            <a:custGeom>
              <a:avLst/>
              <a:gdLst/>
              <a:ahLst/>
              <a:cxnLst/>
              <a:rect l="l" t="t" r="r" b="b"/>
              <a:pathLst>
                <a:path w="3108960" h="1645920">
                  <a:moveTo>
                    <a:pt x="0" y="0"/>
                  </a:moveTo>
                  <a:lnTo>
                    <a:pt x="3108960" y="0"/>
                  </a:lnTo>
                  <a:lnTo>
                    <a:pt x="3108960" y="1645920"/>
                  </a:lnTo>
                  <a:lnTo>
                    <a:pt x="0" y="1645920"/>
                  </a:lnTo>
                  <a:close/>
                </a:path>
              </a:pathLst>
            </a:custGeom>
            <a:blipFill>
              <a:blip r:embed="rId3">
                <a:alphaModFix amt="0"/>
              </a:blip>
              <a:stretch>
                <a:fillRect l="-17925" r="-17925"/>
              </a:stretch>
            </a:blipFill>
          </p:spPr>
        </p:sp>
        <p:sp>
          <p:nvSpPr>
            <p:cNvPr id="17" name="TextBox 17"/>
            <p:cNvSpPr txBox="1"/>
            <p:nvPr/>
          </p:nvSpPr>
          <p:spPr>
            <a:xfrm>
              <a:off x="0" y="-9525"/>
              <a:ext cx="3108960" cy="1655445"/>
            </a:xfrm>
            <a:prstGeom prst="rect">
              <a:avLst/>
            </a:prstGeom>
          </p:spPr>
          <p:txBody>
            <a:bodyPr lIns="0" tIns="0" rIns="0" bIns="0" rtlCol="0" anchor="ctr"/>
            <a:lstStyle/>
            <a:p>
              <a:pPr algn="l">
                <a:lnSpc>
                  <a:spcPts val="2700"/>
                </a:lnSpc>
              </a:pPr>
              <a:r>
                <a:rPr lang="en-US" sz="2250" b="1">
                  <a:solidFill>
                    <a:srgbClr val="FFFFFF"/>
                  </a:solidFill>
                  <a:latin typeface="Montserrat Bold"/>
                  <a:ea typeface="Montserrat Bold"/>
                  <a:cs typeface="Montserrat Bold"/>
                  <a:sym typeface="Montserrat Bold"/>
                </a:rPr>
                <a:t>PUBLIC</a:t>
              </a:r>
            </a:p>
            <a:p>
              <a:pPr algn="l">
                <a:lnSpc>
                  <a:spcPts val="2160"/>
                </a:lnSpc>
              </a:pPr>
              <a:r>
                <a:rPr lang="en-US" sz="1800">
                  <a:solidFill>
                    <a:srgbClr val="FFFFFF"/>
                  </a:solidFill>
                  <a:latin typeface="Montserrat"/>
                  <a:ea typeface="Montserrat"/>
                  <a:cs typeface="Montserrat"/>
                  <a:sym typeface="Montserrat"/>
                </a:rPr>
                <a:t>CÔNG KHAI</a:t>
              </a:r>
            </a:p>
          </p:txBody>
        </p:sp>
      </p:grpSp>
      <p:sp>
        <p:nvSpPr>
          <p:cNvPr id="18" name="TextBox 18"/>
          <p:cNvSpPr txBox="1"/>
          <p:nvPr/>
        </p:nvSpPr>
        <p:spPr>
          <a:xfrm>
            <a:off x="1019175" y="3958590"/>
            <a:ext cx="3448050" cy="672492"/>
          </a:xfrm>
          <a:prstGeom prst="rect">
            <a:avLst/>
          </a:prstGeom>
        </p:spPr>
        <p:txBody>
          <a:bodyPr wrap="square" lIns="0" tIns="0" rIns="0" bIns="0" rtlCol="0" anchor="t">
            <a:spAutoFit/>
          </a:bodyPr>
          <a:lstStyle/>
          <a:p>
            <a:pPr algn="just">
              <a:lnSpc>
                <a:spcPts val="2721"/>
              </a:lnSpc>
            </a:pPr>
            <a:r>
              <a:rPr lang="en-US" sz="2100">
                <a:solidFill>
                  <a:srgbClr val="1E2B25"/>
                </a:solidFill>
                <a:latin typeface="Montserrat"/>
                <a:ea typeface="Montserrat"/>
                <a:cs typeface="Montserrat"/>
                <a:sym typeface="Montserrat"/>
              </a:rPr>
              <a:t>Thông tin đã công bố/được phép phổ biến.</a:t>
            </a:r>
          </a:p>
        </p:txBody>
      </p:sp>
      <p:sp>
        <p:nvSpPr>
          <p:cNvPr id="19" name="TextBox 19"/>
          <p:cNvSpPr txBox="1"/>
          <p:nvPr/>
        </p:nvSpPr>
        <p:spPr>
          <a:xfrm>
            <a:off x="1165860" y="5614035"/>
            <a:ext cx="3154680" cy="895350"/>
          </a:xfrm>
          <a:prstGeom prst="rect">
            <a:avLst/>
          </a:prstGeom>
        </p:spPr>
        <p:txBody>
          <a:bodyPr lIns="0" tIns="0" rIns="0" bIns="0" rtlCol="0" anchor="t">
            <a:spAutoFit/>
          </a:bodyPr>
          <a:lstStyle/>
          <a:p>
            <a:pPr marL="352901" lvl="1" indent="-176451" algn="l">
              <a:lnSpc>
                <a:spcPts val="2340"/>
              </a:lnSpc>
              <a:buFont typeface="Arial"/>
              <a:buChar char="•"/>
            </a:pPr>
            <a:r>
              <a:rPr lang="en-US" sz="1950">
                <a:solidFill>
                  <a:srgbClr val="5A6A62"/>
                </a:solidFill>
                <a:latin typeface="Montserrat"/>
                <a:ea typeface="Montserrat"/>
                <a:cs typeface="Montserrat"/>
                <a:sym typeface="Montserrat"/>
              </a:rPr>
              <a:t>JD công khai</a:t>
            </a:r>
          </a:p>
          <a:p>
            <a:pPr marL="352901" lvl="1" indent="-176451" algn="l">
              <a:lnSpc>
                <a:spcPts val="2340"/>
              </a:lnSpc>
              <a:buFont typeface="Arial"/>
              <a:buChar char="•"/>
            </a:pPr>
            <a:r>
              <a:rPr lang="en-US" sz="1950">
                <a:solidFill>
                  <a:srgbClr val="5A6A62"/>
                </a:solidFill>
                <a:latin typeface="Montserrat"/>
                <a:ea typeface="Montserrat"/>
                <a:cs typeface="Montserrat"/>
                <a:sym typeface="Montserrat"/>
              </a:rPr>
              <a:t>Website</a:t>
            </a:r>
          </a:p>
          <a:p>
            <a:pPr marL="352901" lvl="1" indent="-176451" algn="l">
              <a:lnSpc>
                <a:spcPts val="2340"/>
              </a:lnSpc>
              <a:buFont typeface="Arial"/>
              <a:buChar char="•"/>
            </a:pPr>
            <a:r>
              <a:rPr lang="en-US" sz="1950">
                <a:solidFill>
                  <a:srgbClr val="5A6A62"/>
                </a:solidFill>
                <a:latin typeface="Montserrat"/>
                <a:ea typeface="Montserrat"/>
                <a:cs typeface="Montserrat"/>
                <a:sym typeface="Montserrat"/>
              </a:rPr>
              <a:t>Báo cáo công khai</a:t>
            </a:r>
          </a:p>
        </p:txBody>
      </p:sp>
      <p:grpSp>
        <p:nvGrpSpPr>
          <p:cNvPr id="20" name="Group 20"/>
          <p:cNvGrpSpPr/>
          <p:nvPr/>
        </p:nvGrpSpPr>
        <p:grpSpPr>
          <a:xfrm>
            <a:off x="1019175" y="7328535"/>
            <a:ext cx="3448050" cy="1966722"/>
            <a:chOff x="0" y="0"/>
            <a:chExt cx="4597400" cy="2622296"/>
          </a:xfrm>
        </p:grpSpPr>
        <p:sp>
          <p:nvSpPr>
            <p:cNvPr id="21" name="Freeform 21"/>
            <p:cNvSpPr/>
            <p:nvPr/>
          </p:nvSpPr>
          <p:spPr>
            <a:xfrm>
              <a:off x="0" y="0"/>
              <a:ext cx="4597400" cy="2622296"/>
            </a:xfrm>
            <a:custGeom>
              <a:avLst/>
              <a:gdLst/>
              <a:ahLst/>
              <a:cxnLst/>
              <a:rect l="l" t="t" r="r" b="b"/>
              <a:pathLst>
                <a:path w="4597400" h="2622296">
                  <a:moveTo>
                    <a:pt x="0" y="147701"/>
                  </a:moveTo>
                  <a:cubicBezTo>
                    <a:pt x="0" y="66167"/>
                    <a:pt x="66167" y="0"/>
                    <a:pt x="147701" y="0"/>
                  </a:cubicBezTo>
                  <a:lnTo>
                    <a:pt x="4449699" y="0"/>
                  </a:lnTo>
                  <a:cubicBezTo>
                    <a:pt x="4531233" y="0"/>
                    <a:pt x="4597400" y="66167"/>
                    <a:pt x="4597400" y="147701"/>
                  </a:cubicBezTo>
                  <a:lnTo>
                    <a:pt x="4597400" y="2474595"/>
                  </a:lnTo>
                  <a:cubicBezTo>
                    <a:pt x="4597400" y="2556129"/>
                    <a:pt x="4531233" y="2622296"/>
                    <a:pt x="4449699" y="2622296"/>
                  </a:cubicBezTo>
                  <a:lnTo>
                    <a:pt x="147701" y="2622296"/>
                  </a:lnTo>
                  <a:cubicBezTo>
                    <a:pt x="66167" y="2622296"/>
                    <a:pt x="0" y="2556129"/>
                    <a:pt x="0" y="2474595"/>
                  </a:cubicBezTo>
                  <a:close/>
                </a:path>
              </a:pathLst>
            </a:custGeom>
            <a:solidFill>
              <a:srgbClr val="E8F3ED"/>
            </a:solidFill>
            <a:ln w="19050" cap="sq">
              <a:solidFill>
                <a:srgbClr val="E8F3ED"/>
              </a:solidFill>
              <a:prstDash val="solid"/>
              <a:miter/>
            </a:ln>
          </p:spPr>
        </p:sp>
      </p:grpSp>
      <p:grpSp>
        <p:nvGrpSpPr>
          <p:cNvPr id="22" name="Group 22"/>
          <p:cNvGrpSpPr/>
          <p:nvPr/>
        </p:nvGrpSpPr>
        <p:grpSpPr>
          <a:xfrm>
            <a:off x="1207008" y="7406640"/>
            <a:ext cx="3072384" cy="1810512"/>
            <a:chOff x="0" y="0"/>
            <a:chExt cx="4096512" cy="2414016"/>
          </a:xfrm>
        </p:grpSpPr>
        <p:sp>
          <p:nvSpPr>
            <p:cNvPr id="23" name="Freeform 23"/>
            <p:cNvSpPr/>
            <p:nvPr/>
          </p:nvSpPr>
          <p:spPr>
            <a:xfrm>
              <a:off x="0" y="0"/>
              <a:ext cx="4096512" cy="2414016"/>
            </a:xfrm>
            <a:custGeom>
              <a:avLst/>
              <a:gdLst/>
              <a:ahLst/>
              <a:cxnLst/>
              <a:rect l="l" t="t" r="r" b="b"/>
              <a:pathLst>
                <a:path w="4096512" h="2414016">
                  <a:moveTo>
                    <a:pt x="0" y="0"/>
                  </a:moveTo>
                  <a:lnTo>
                    <a:pt x="4096512" y="0"/>
                  </a:lnTo>
                  <a:lnTo>
                    <a:pt x="4096512" y="2414016"/>
                  </a:lnTo>
                  <a:lnTo>
                    <a:pt x="0" y="2414016"/>
                  </a:lnTo>
                  <a:close/>
                </a:path>
              </a:pathLst>
            </a:custGeom>
            <a:blipFill>
              <a:blip r:embed="rId3">
                <a:alphaModFix amt="0"/>
              </a:blip>
              <a:stretch>
                <a:fillRect l="-25607" r="-25607"/>
              </a:stretch>
            </a:blipFill>
          </p:spPr>
        </p:sp>
        <p:sp>
          <p:nvSpPr>
            <p:cNvPr id="24" name="TextBox 24"/>
            <p:cNvSpPr txBox="1"/>
            <p:nvPr/>
          </p:nvSpPr>
          <p:spPr>
            <a:xfrm>
              <a:off x="0" y="-19050"/>
              <a:ext cx="4096512" cy="2433066"/>
            </a:xfrm>
            <a:prstGeom prst="rect">
              <a:avLst/>
            </a:prstGeom>
          </p:spPr>
          <p:txBody>
            <a:bodyPr lIns="0" tIns="0" rIns="0" bIns="0" rtlCol="0" anchor="ctr"/>
            <a:lstStyle/>
            <a:p>
              <a:pPr algn="l">
                <a:lnSpc>
                  <a:spcPts val="2624"/>
                </a:lnSpc>
              </a:pPr>
              <a:r>
                <a:rPr lang="en-US" sz="2025" b="1">
                  <a:solidFill>
                    <a:srgbClr val="004A28"/>
                  </a:solidFill>
                  <a:latin typeface="Montserrat Bold"/>
                  <a:ea typeface="Montserrat Bold"/>
                  <a:cs typeface="Montserrat Bold"/>
                  <a:sym typeface="Montserrat Bold"/>
                </a:rPr>
                <a:t>→ SỬ DỤNG</a:t>
              </a:r>
            </a:p>
          </p:txBody>
        </p:sp>
      </p:grpSp>
      <p:grpSp>
        <p:nvGrpSpPr>
          <p:cNvPr id="25" name="Group 25"/>
          <p:cNvGrpSpPr/>
          <p:nvPr/>
        </p:nvGrpSpPr>
        <p:grpSpPr>
          <a:xfrm>
            <a:off x="5081492" y="2118836"/>
            <a:ext cx="3854767" cy="7420928"/>
            <a:chOff x="0" y="0"/>
            <a:chExt cx="5139690" cy="9894570"/>
          </a:xfrm>
        </p:grpSpPr>
        <p:sp>
          <p:nvSpPr>
            <p:cNvPr id="26" name="Freeform 26"/>
            <p:cNvSpPr/>
            <p:nvPr/>
          </p:nvSpPr>
          <p:spPr>
            <a:xfrm>
              <a:off x="0" y="0"/>
              <a:ext cx="5139690" cy="9894570"/>
            </a:xfrm>
            <a:custGeom>
              <a:avLst/>
              <a:gdLst/>
              <a:ahLst/>
              <a:cxnLst/>
              <a:rect l="l" t="t" r="r" b="b"/>
              <a:pathLst>
                <a:path w="5139690" h="9894570">
                  <a:moveTo>
                    <a:pt x="0" y="220345"/>
                  </a:moveTo>
                  <a:cubicBezTo>
                    <a:pt x="0" y="98679"/>
                    <a:pt x="98679" y="0"/>
                    <a:pt x="220345" y="0"/>
                  </a:cubicBezTo>
                  <a:lnTo>
                    <a:pt x="4919345" y="0"/>
                  </a:lnTo>
                  <a:cubicBezTo>
                    <a:pt x="5041011" y="0"/>
                    <a:pt x="5139690" y="98679"/>
                    <a:pt x="5139690" y="220345"/>
                  </a:cubicBezTo>
                  <a:lnTo>
                    <a:pt x="5139690" y="9674225"/>
                  </a:lnTo>
                  <a:cubicBezTo>
                    <a:pt x="5139690" y="9795891"/>
                    <a:pt x="5041011" y="9894570"/>
                    <a:pt x="4919345" y="9894570"/>
                  </a:cubicBezTo>
                  <a:lnTo>
                    <a:pt x="220345" y="9894570"/>
                  </a:lnTo>
                  <a:cubicBezTo>
                    <a:pt x="98679" y="9894570"/>
                    <a:pt x="0" y="9795891"/>
                    <a:pt x="0" y="9674225"/>
                  </a:cubicBezTo>
                  <a:close/>
                </a:path>
              </a:pathLst>
            </a:custGeom>
            <a:solidFill>
              <a:srgbClr val="FFFFFF"/>
            </a:solidFill>
            <a:ln w="14288" cap="sq">
              <a:solidFill>
                <a:srgbClr val="DCE6E0"/>
              </a:solidFill>
              <a:prstDash val="solid"/>
              <a:miter/>
            </a:ln>
          </p:spPr>
        </p:sp>
      </p:grpSp>
      <p:grpSp>
        <p:nvGrpSpPr>
          <p:cNvPr id="27" name="Group 27"/>
          <p:cNvGrpSpPr/>
          <p:nvPr/>
        </p:nvGrpSpPr>
        <p:grpSpPr>
          <a:xfrm>
            <a:off x="5079111" y="2116455"/>
            <a:ext cx="3859530" cy="1596390"/>
            <a:chOff x="0" y="0"/>
            <a:chExt cx="5146040" cy="2128520"/>
          </a:xfrm>
        </p:grpSpPr>
        <p:sp>
          <p:nvSpPr>
            <p:cNvPr id="28" name="Freeform 28"/>
            <p:cNvSpPr/>
            <p:nvPr/>
          </p:nvSpPr>
          <p:spPr>
            <a:xfrm>
              <a:off x="0" y="0"/>
              <a:ext cx="5146040" cy="2128520"/>
            </a:xfrm>
            <a:custGeom>
              <a:avLst/>
              <a:gdLst/>
              <a:ahLst/>
              <a:cxnLst/>
              <a:rect l="l" t="t" r="r" b="b"/>
              <a:pathLst>
                <a:path w="5146040" h="2128520">
                  <a:moveTo>
                    <a:pt x="0" y="222123"/>
                  </a:moveTo>
                  <a:cubicBezTo>
                    <a:pt x="0" y="99441"/>
                    <a:pt x="99441" y="0"/>
                    <a:pt x="222123" y="0"/>
                  </a:cubicBezTo>
                  <a:lnTo>
                    <a:pt x="4923917" y="0"/>
                  </a:lnTo>
                  <a:cubicBezTo>
                    <a:pt x="5046599" y="0"/>
                    <a:pt x="5146040" y="99441"/>
                    <a:pt x="5146040" y="222123"/>
                  </a:cubicBezTo>
                  <a:lnTo>
                    <a:pt x="5146040" y="1906397"/>
                  </a:lnTo>
                  <a:cubicBezTo>
                    <a:pt x="5146040" y="2029079"/>
                    <a:pt x="5046599" y="2128520"/>
                    <a:pt x="4923917" y="2128520"/>
                  </a:cubicBezTo>
                  <a:lnTo>
                    <a:pt x="222123" y="2128520"/>
                  </a:lnTo>
                  <a:cubicBezTo>
                    <a:pt x="99441" y="2128520"/>
                    <a:pt x="0" y="2029079"/>
                    <a:pt x="0" y="1906397"/>
                  </a:cubicBezTo>
                  <a:close/>
                </a:path>
              </a:pathLst>
            </a:custGeom>
            <a:solidFill>
              <a:srgbClr val="3D8F63"/>
            </a:solidFill>
            <a:ln w="19050" cap="sq">
              <a:solidFill>
                <a:srgbClr val="3D8F63"/>
              </a:solidFill>
              <a:prstDash val="solid"/>
              <a:miter/>
            </a:ln>
          </p:spPr>
        </p:sp>
      </p:grpSp>
      <p:grpSp>
        <p:nvGrpSpPr>
          <p:cNvPr id="29" name="Group 29"/>
          <p:cNvGrpSpPr/>
          <p:nvPr/>
        </p:nvGrpSpPr>
        <p:grpSpPr>
          <a:xfrm>
            <a:off x="5079111" y="3350895"/>
            <a:ext cx="3859530" cy="361950"/>
            <a:chOff x="0" y="0"/>
            <a:chExt cx="5146040" cy="482600"/>
          </a:xfrm>
        </p:grpSpPr>
        <p:sp>
          <p:nvSpPr>
            <p:cNvPr id="30" name="Freeform 30"/>
            <p:cNvSpPr/>
            <p:nvPr/>
          </p:nvSpPr>
          <p:spPr>
            <a:xfrm>
              <a:off x="0" y="0"/>
              <a:ext cx="5146040" cy="482600"/>
            </a:xfrm>
            <a:custGeom>
              <a:avLst/>
              <a:gdLst/>
              <a:ahLst/>
              <a:cxnLst/>
              <a:rect l="l" t="t" r="r" b="b"/>
              <a:pathLst>
                <a:path w="5146040" h="482600">
                  <a:moveTo>
                    <a:pt x="0" y="0"/>
                  </a:moveTo>
                  <a:lnTo>
                    <a:pt x="5146040" y="0"/>
                  </a:lnTo>
                  <a:lnTo>
                    <a:pt x="5146040" y="482600"/>
                  </a:lnTo>
                  <a:lnTo>
                    <a:pt x="0" y="482600"/>
                  </a:lnTo>
                  <a:close/>
                </a:path>
              </a:pathLst>
            </a:custGeom>
            <a:solidFill>
              <a:srgbClr val="3D8F63"/>
            </a:solidFill>
            <a:ln w="19050" cap="sq">
              <a:solidFill>
                <a:srgbClr val="3D8F63"/>
              </a:solidFill>
              <a:prstDash val="solid"/>
              <a:miter/>
            </a:ln>
          </p:spPr>
        </p:sp>
      </p:grpSp>
      <p:grpSp>
        <p:nvGrpSpPr>
          <p:cNvPr id="31" name="Group 31"/>
          <p:cNvGrpSpPr/>
          <p:nvPr/>
        </p:nvGrpSpPr>
        <p:grpSpPr>
          <a:xfrm>
            <a:off x="5431536" y="2578608"/>
            <a:ext cx="685800" cy="685800"/>
            <a:chOff x="0" y="0"/>
            <a:chExt cx="914400" cy="914400"/>
          </a:xfrm>
        </p:grpSpPr>
        <p:sp>
          <p:nvSpPr>
            <p:cNvPr id="32" name="Freeform 32" descr="preencoded.png"/>
            <p:cNvSpPr/>
            <p:nvPr/>
          </p:nvSpPr>
          <p:spPr>
            <a:xfrm>
              <a:off x="0" y="0"/>
              <a:ext cx="914400" cy="914400"/>
            </a:xfrm>
            <a:custGeom>
              <a:avLst/>
              <a:gdLst/>
              <a:ahLst/>
              <a:cxnLst/>
              <a:rect l="l" t="t" r="r" b="b"/>
              <a:pathLst>
                <a:path w="914400" h="914400">
                  <a:moveTo>
                    <a:pt x="0" y="0"/>
                  </a:moveTo>
                  <a:lnTo>
                    <a:pt x="914400" y="0"/>
                  </a:lnTo>
                  <a:lnTo>
                    <a:pt x="914400" y="914400"/>
                  </a:lnTo>
                  <a:lnTo>
                    <a:pt x="0" y="914400"/>
                  </a:lnTo>
                  <a:lnTo>
                    <a:pt x="0" y="0"/>
                  </a:lnTo>
                  <a:close/>
                </a:path>
              </a:pathLst>
            </a:custGeom>
            <a:blipFill>
              <a:blip r:embed="rId5"/>
              <a:stretch>
                <a:fillRect/>
              </a:stretch>
            </a:blipFill>
          </p:spPr>
        </p:sp>
      </p:grpSp>
      <p:grpSp>
        <p:nvGrpSpPr>
          <p:cNvPr id="33" name="Group 33"/>
          <p:cNvGrpSpPr/>
          <p:nvPr/>
        </p:nvGrpSpPr>
        <p:grpSpPr>
          <a:xfrm>
            <a:off x="6391656" y="2290572"/>
            <a:ext cx="2331720" cy="1234440"/>
            <a:chOff x="0" y="0"/>
            <a:chExt cx="3108960" cy="1645920"/>
          </a:xfrm>
        </p:grpSpPr>
        <p:sp>
          <p:nvSpPr>
            <p:cNvPr id="34" name="Freeform 34"/>
            <p:cNvSpPr/>
            <p:nvPr/>
          </p:nvSpPr>
          <p:spPr>
            <a:xfrm>
              <a:off x="0" y="0"/>
              <a:ext cx="3108960" cy="1645920"/>
            </a:xfrm>
            <a:custGeom>
              <a:avLst/>
              <a:gdLst/>
              <a:ahLst/>
              <a:cxnLst/>
              <a:rect l="l" t="t" r="r" b="b"/>
              <a:pathLst>
                <a:path w="3108960" h="1645920">
                  <a:moveTo>
                    <a:pt x="0" y="0"/>
                  </a:moveTo>
                  <a:lnTo>
                    <a:pt x="3108960" y="0"/>
                  </a:lnTo>
                  <a:lnTo>
                    <a:pt x="3108960" y="1645920"/>
                  </a:lnTo>
                  <a:lnTo>
                    <a:pt x="0" y="1645920"/>
                  </a:lnTo>
                  <a:close/>
                </a:path>
              </a:pathLst>
            </a:custGeom>
            <a:blipFill>
              <a:blip r:embed="rId3">
                <a:alphaModFix amt="0"/>
              </a:blip>
              <a:stretch>
                <a:fillRect l="-17925" r="-17925"/>
              </a:stretch>
            </a:blipFill>
          </p:spPr>
        </p:sp>
        <p:sp>
          <p:nvSpPr>
            <p:cNvPr id="35" name="TextBox 35"/>
            <p:cNvSpPr txBox="1"/>
            <p:nvPr/>
          </p:nvSpPr>
          <p:spPr>
            <a:xfrm>
              <a:off x="0" y="-9525"/>
              <a:ext cx="3108960" cy="1655445"/>
            </a:xfrm>
            <a:prstGeom prst="rect">
              <a:avLst/>
            </a:prstGeom>
          </p:spPr>
          <p:txBody>
            <a:bodyPr lIns="0" tIns="0" rIns="0" bIns="0" rtlCol="0" anchor="ctr"/>
            <a:lstStyle/>
            <a:p>
              <a:pPr algn="l">
                <a:lnSpc>
                  <a:spcPts val="2700"/>
                </a:lnSpc>
              </a:pPr>
              <a:r>
                <a:rPr lang="en-US" sz="2250" b="1">
                  <a:solidFill>
                    <a:srgbClr val="FFFFFF"/>
                  </a:solidFill>
                  <a:latin typeface="Montserrat Bold"/>
                  <a:ea typeface="Montserrat Bold"/>
                  <a:cs typeface="Montserrat Bold"/>
                  <a:sym typeface="Montserrat Bold"/>
                </a:rPr>
                <a:t>INTERNAL</a:t>
              </a:r>
            </a:p>
            <a:p>
              <a:pPr algn="l">
                <a:lnSpc>
                  <a:spcPts val="2160"/>
                </a:lnSpc>
              </a:pPr>
              <a:r>
                <a:rPr lang="en-US" sz="1800">
                  <a:solidFill>
                    <a:srgbClr val="FFFFFF"/>
                  </a:solidFill>
                  <a:latin typeface="Montserrat"/>
                  <a:ea typeface="Montserrat"/>
                  <a:cs typeface="Montserrat"/>
                  <a:sym typeface="Montserrat"/>
                </a:rPr>
                <a:t>NỘI BỘ</a:t>
              </a:r>
            </a:p>
          </p:txBody>
        </p:sp>
      </p:grpSp>
      <p:sp>
        <p:nvSpPr>
          <p:cNvPr id="36" name="TextBox 36"/>
          <p:cNvSpPr txBox="1"/>
          <p:nvPr/>
        </p:nvSpPr>
        <p:spPr>
          <a:xfrm>
            <a:off x="5431536" y="3958590"/>
            <a:ext cx="3154680" cy="1018740"/>
          </a:xfrm>
          <a:prstGeom prst="rect">
            <a:avLst/>
          </a:prstGeom>
        </p:spPr>
        <p:txBody>
          <a:bodyPr lIns="0" tIns="0" rIns="0" bIns="0" rtlCol="0" anchor="t">
            <a:spAutoFit/>
          </a:bodyPr>
          <a:lstStyle/>
          <a:p>
            <a:pPr algn="just">
              <a:lnSpc>
                <a:spcPts val="2721"/>
              </a:lnSpc>
            </a:pPr>
            <a:r>
              <a:rPr lang="en-US" sz="2100">
                <a:solidFill>
                  <a:srgbClr val="1E2B25"/>
                </a:solidFill>
                <a:latin typeface="Montserrat"/>
                <a:ea typeface="Montserrat"/>
                <a:cs typeface="Montserrat"/>
                <a:sym typeface="Montserrat"/>
              </a:rPr>
              <a:t>Thông tin dùng trong tổ chức, không dành cho công chúng.</a:t>
            </a:r>
          </a:p>
        </p:txBody>
      </p:sp>
      <p:sp>
        <p:nvSpPr>
          <p:cNvPr id="37" name="TextBox 37"/>
          <p:cNvSpPr txBox="1"/>
          <p:nvPr/>
        </p:nvSpPr>
        <p:spPr>
          <a:xfrm>
            <a:off x="5431536" y="5614035"/>
            <a:ext cx="3154680" cy="895350"/>
          </a:xfrm>
          <a:prstGeom prst="rect">
            <a:avLst/>
          </a:prstGeom>
        </p:spPr>
        <p:txBody>
          <a:bodyPr lIns="0" tIns="0" rIns="0" bIns="0" rtlCol="0" anchor="t">
            <a:spAutoFit/>
          </a:bodyPr>
          <a:lstStyle/>
          <a:p>
            <a:pPr marL="352901" lvl="1" indent="-176451" algn="l">
              <a:lnSpc>
                <a:spcPts val="2340"/>
              </a:lnSpc>
              <a:buFont typeface="Arial"/>
              <a:buChar char="•"/>
            </a:pPr>
            <a:r>
              <a:rPr lang="en-US" sz="1950">
                <a:solidFill>
                  <a:srgbClr val="5A6A62"/>
                </a:solidFill>
                <a:latin typeface="Montserrat"/>
                <a:ea typeface="Montserrat"/>
                <a:cs typeface="Montserrat"/>
                <a:sym typeface="Montserrat"/>
              </a:rPr>
              <a:t>Biểu mẫu</a:t>
            </a:r>
          </a:p>
          <a:p>
            <a:pPr marL="352901" lvl="1" indent="-176451" algn="l">
              <a:lnSpc>
                <a:spcPts val="2340"/>
              </a:lnSpc>
              <a:buFont typeface="Arial"/>
              <a:buChar char="•"/>
            </a:pPr>
            <a:r>
              <a:rPr lang="en-US" sz="1950">
                <a:solidFill>
                  <a:srgbClr val="5A6A62"/>
                </a:solidFill>
                <a:latin typeface="Montserrat"/>
                <a:ea typeface="Montserrat"/>
                <a:cs typeface="Montserrat"/>
                <a:sym typeface="Montserrat"/>
              </a:rPr>
              <a:t>Quy trình</a:t>
            </a:r>
          </a:p>
          <a:p>
            <a:pPr marL="352901" lvl="1" indent="-176451" algn="l">
              <a:lnSpc>
                <a:spcPts val="2340"/>
              </a:lnSpc>
              <a:buFont typeface="Arial"/>
              <a:buChar char="•"/>
            </a:pPr>
            <a:r>
              <a:rPr lang="en-US" sz="1950">
                <a:solidFill>
                  <a:srgbClr val="5A6A62"/>
                </a:solidFill>
                <a:latin typeface="Montserrat"/>
                <a:ea typeface="Montserrat"/>
                <a:cs typeface="Montserrat"/>
                <a:sym typeface="Montserrat"/>
              </a:rPr>
              <a:t>Tài liệu đào tạo</a:t>
            </a:r>
          </a:p>
        </p:txBody>
      </p:sp>
      <p:grpSp>
        <p:nvGrpSpPr>
          <p:cNvPr id="38" name="Group 38"/>
          <p:cNvGrpSpPr/>
          <p:nvPr/>
        </p:nvGrpSpPr>
        <p:grpSpPr>
          <a:xfrm>
            <a:off x="5284851" y="7328535"/>
            <a:ext cx="3448050" cy="1966722"/>
            <a:chOff x="0" y="0"/>
            <a:chExt cx="4597400" cy="2622296"/>
          </a:xfrm>
        </p:grpSpPr>
        <p:sp>
          <p:nvSpPr>
            <p:cNvPr id="39" name="Freeform 39"/>
            <p:cNvSpPr/>
            <p:nvPr/>
          </p:nvSpPr>
          <p:spPr>
            <a:xfrm>
              <a:off x="0" y="0"/>
              <a:ext cx="4597400" cy="2622296"/>
            </a:xfrm>
            <a:custGeom>
              <a:avLst/>
              <a:gdLst/>
              <a:ahLst/>
              <a:cxnLst/>
              <a:rect l="l" t="t" r="r" b="b"/>
              <a:pathLst>
                <a:path w="4597400" h="2622296">
                  <a:moveTo>
                    <a:pt x="0" y="147701"/>
                  </a:moveTo>
                  <a:cubicBezTo>
                    <a:pt x="0" y="66167"/>
                    <a:pt x="66167" y="0"/>
                    <a:pt x="147701" y="0"/>
                  </a:cubicBezTo>
                  <a:lnTo>
                    <a:pt x="4449699" y="0"/>
                  </a:lnTo>
                  <a:cubicBezTo>
                    <a:pt x="4531233" y="0"/>
                    <a:pt x="4597400" y="66167"/>
                    <a:pt x="4597400" y="147701"/>
                  </a:cubicBezTo>
                  <a:lnTo>
                    <a:pt x="4597400" y="2474595"/>
                  </a:lnTo>
                  <a:cubicBezTo>
                    <a:pt x="4597400" y="2556129"/>
                    <a:pt x="4531233" y="2622296"/>
                    <a:pt x="4449699" y="2622296"/>
                  </a:cubicBezTo>
                  <a:lnTo>
                    <a:pt x="147701" y="2622296"/>
                  </a:lnTo>
                  <a:cubicBezTo>
                    <a:pt x="66167" y="2622296"/>
                    <a:pt x="0" y="2556129"/>
                    <a:pt x="0" y="2474595"/>
                  </a:cubicBezTo>
                  <a:close/>
                </a:path>
              </a:pathLst>
            </a:custGeom>
            <a:solidFill>
              <a:srgbClr val="E8F3ED"/>
            </a:solidFill>
            <a:ln w="19050" cap="sq">
              <a:solidFill>
                <a:srgbClr val="E8F3ED"/>
              </a:solidFill>
              <a:prstDash val="solid"/>
              <a:miter/>
            </a:ln>
          </p:spPr>
        </p:sp>
      </p:grpSp>
      <p:grpSp>
        <p:nvGrpSpPr>
          <p:cNvPr id="40" name="Group 40"/>
          <p:cNvGrpSpPr/>
          <p:nvPr/>
        </p:nvGrpSpPr>
        <p:grpSpPr>
          <a:xfrm>
            <a:off x="5472684" y="7406640"/>
            <a:ext cx="3072384" cy="1810512"/>
            <a:chOff x="0" y="0"/>
            <a:chExt cx="4096512" cy="2414016"/>
          </a:xfrm>
        </p:grpSpPr>
        <p:sp>
          <p:nvSpPr>
            <p:cNvPr id="41" name="Freeform 41"/>
            <p:cNvSpPr/>
            <p:nvPr/>
          </p:nvSpPr>
          <p:spPr>
            <a:xfrm>
              <a:off x="0" y="0"/>
              <a:ext cx="4096512" cy="2414016"/>
            </a:xfrm>
            <a:custGeom>
              <a:avLst/>
              <a:gdLst/>
              <a:ahLst/>
              <a:cxnLst/>
              <a:rect l="l" t="t" r="r" b="b"/>
              <a:pathLst>
                <a:path w="4096512" h="2414016">
                  <a:moveTo>
                    <a:pt x="0" y="0"/>
                  </a:moveTo>
                  <a:lnTo>
                    <a:pt x="4096512" y="0"/>
                  </a:lnTo>
                  <a:lnTo>
                    <a:pt x="4096512" y="2414016"/>
                  </a:lnTo>
                  <a:lnTo>
                    <a:pt x="0" y="2414016"/>
                  </a:lnTo>
                  <a:close/>
                </a:path>
              </a:pathLst>
            </a:custGeom>
            <a:blipFill>
              <a:blip r:embed="rId3">
                <a:alphaModFix amt="0"/>
              </a:blip>
              <a:stretch>
                <a:fillRect l="-25607" r="-25607"/>
              </a:stretch>
            </a:blipFill>
          </p:spPr>
        </p:sp>
        <p:sp>
          <p:nvSpPr>
            <p:cNvPr id="42" name="TextBox 42"/>
            <p:cNvSpPr txBox="1"/>
            <p:nvPr/>
          </p:nvSpPr>
          <p:spPr>
            <a:xfrm>
              <a:off x="0" y="-19050"/>
              <a:ext cx="4096512" cy="2433066"/>
            </a:xfrm>
            <a:prstGeom prst="rect">
              <a:avLst/>
            </a:prstGeom>
          </p:spPr>
          <p:txBody>
            <a:bodyPr lIns="0" tIns="0" rIns="0" bIns="0" rtlCol="0" anchor="ctr"/>
            <a:lstStyle/>
            <a:p>
              <a:pPr algn="l">
                <a:lnSpc>
                  <a:spcPts val="2624"/>
                </a:lnSpc>
              </a:pPr>
              <a:r>
                <a:rPr lang="en-US" sz="2025" b="1">
                  <a:solidFill>
                    <a:srgbClr val="004A28"/>
                  </a:solidFill>
                  <a:latin typeface="Montserrat Bold"/>
                  <a:ea typeface="Montserrat Bold"/>
                  <a:cs typeface="Montserrat Bold"/>
                  <a:sym typeface="Montserrat Bold"/>
                </a:rPr>
                <a:t>→ TỐI THIỂU</a:t>
              </a:r>
              <a:r>
                <a:rPr lang="en-US" sz="2025">
                  <a:solidFill>
                    <a:srgbClr val="004A28"/>
                  </a:solidFill>
                  <a:latin typeface="Montserrat"/>
                  <a:ea typeface="Montserrat"/>
                  <a:cs typeface="Montserrat"/>
                  <a:sym typeface="Montserrat"/>
                </a:rPr>
                <a:t>: chỉ đưa thứ AI thực sự cần.</a:t>
              </a:r>
            </a:p>
          </p:txBody>
        </p:sp>
      </p:grpSp>
      <p:grpSp>
        <p:nvGrpSpPr>
          <p:cNvPr id="43" name="Group 43"/>
          <p:cNvGrpSpPr/>
          <p:nvPr/>
        </p:nvGrpSpPr>
        <p:grpSpPr>
          <a:xfrm>
            <a:off x="9347168" y="2118836"/>
            <a:ext cx="3854767" cy="7420928"/>
            <a:chOff x="0" y="0"/>
            <a:chExt cx="5139690" cy="9894570"/>
          </a:xfrm>
        </p:grpSpPr>
        <p:sp>
          <p:nvSpPr>
            <p:cNvPr id="44" name="Freeform 44"/>
            <p:cNvSpPr/>
            <p:nvPr/>
          </p:nvSpPr>
          <p:spPr>
            <a:xfrm>
              <a:off x="0" y="0"/>
              <a:ext cx="5139690" cy="9894570"/>
            </a:xfrm>
            <a:custGeom>
              <a:avLst/>
              <a:gdLst/>
              <a:ahLst/>
              <a:cxnLst/>
              <a:rect l="l" t="t" r="r" b="b"/>
              <a:pathLst>
                <a:path w="5139690" h="9894570">
                  <a:moveTo>
                    <a:pt x="0" y="220345"/>
                  </a:moveTo>
                  <a:cubicBezTo>
                    <a:pt x="0" y="98679"/>
                    <a:pt x="98679" y="0"/>
                    <a:pt x="220345" y="0"/>
                  </a:cubicBezTo>
                  <a:lnTo>
                    <a:pt x="4919345" y="0"/>
                  </a:lnTo>
                  <a:cubicBezTo>
                    <a:pt x="5041011" y="0"/>
                    <a:pt x="5139690" y="98679"/>
                    <a:pt x="5139690" y="220345"/>
                  </a:cubicBezTo>
                  <a:lnTo>
                    <a:pt x="5139690" y="9674225"/>
                  </a:lnTo>
                  <a:cubicBezTo>
                    <a:pt x="5139690" y="9795891"/>
                    <a:pt x="5041011" y="9894570"/>
                    <a:pt x="4919345" y="9894570"/>
                  </a:cubicBezTo>
                  <a:lnTo>
                    <a:pt x="220345" y="9894570"/>
                  </a:lnTo>
                  <a:cubicBezTo>
                    <a:pt x="98679" y="9894570"/>
                    <a:pt x="0" y="9795891"/>
                    <a:pt x="0" y="9674225"/>
                  </a:cubicBezTo>
                  <a:close/>
                </a:path>
              </a:pathLst>
            </a:custGeom>
            <a:solidFill>
              <a:srgbClr val="FFFFFF"/>
            </a:solidFill>
            <a:ln w="14288" cap="sq">
              <a:solidFill>
                <a:srgbClr val="DCE6E0"/>
              </a:solidFill>
              <a:prstDash val="solid"/>
              <a:miter/>
            </a:ln>
          </p:spPr>
        </p:sp>
      </p:grpSp>
      <p:grpSp>
        <p:nvGrpSpPr>
          <p:cNvPr id="45" name="Group 45"/>
          <p:cNvGrpSpPr/>
          <p:nvPr/>
        </p:nvGrpSpPr>
        <p:grpSpPr>
          <a:xfrm>
            <a:off x="9344787" y="2116455"/>
            <a:ext cx="3859530" cy="1596390"/>
            <a:chOff x="0" y="0"/>
            <a:chExt cx="5146040" cy="2128520"/>
          </a:xfrm>
        </p:grpSpPr>
        <p:sp>
          <p:nvSpPr>
            <p:cNvPr id="46" name="Freeform 46"/>
            <p:cNvSpPr/>
            <p:nvPr/>
          </p:nvSpPr>
          <p:spPr>
            <a:xfrm>
              <a:off x="0" y="0"/>
              <a:ext cx="5146040" cy="2128520"/>
            </a:xfrm>
            <a:custGeom>
              <a:avLst/>
              <a:gdLst/>
              <a:ahLst/>
              <a:cxnLst/>
              <a:rect l="l" t="t" r="r" b="b"/>
              <a:pathLst>
                <a:path w="5146040" h="2128520">
                  <a:moveTo>
                    <a:pt x="0" y="222123"/>
                  </a:moveTo>
                  <a:cubicBezTo>
                    <a:pt x="0" y="99441"/>
                    <a:pt x="99441" y="0"/>
                    <a:pt x="222123" y="0"/>
                  </a:cubicBezTo>
                  <a:lnTo>
                    <a:pt x="4923917" y="0"/>
                  </a:lnTo>
                  <a:cubicBezTo>
                    <a:pt x="5046599" y="0"/>
                    <a:pt x="5146040" y="99441"/>
                    <a:pt x="5146040" y="222123"/>
                  </a:cubicBezTo>
                  <a:lnTo>
                    <a:pt x="5146040" y="1906397"/>
                  </a:lnTo>
                  <a:cubicBezTo>
                    <a:pt x="5146040" y="2029079"/>
                    <a:pt x="5046599" y="2128520"/>
                    <a:pt x="4923917" y="2128520"/>
                  </a:cubicBezTo>
                  <a:lnTo>
                    <a:pt x="222123" y="2128520"/>
                  </a:lnTo>
                  <a:cubicBezTo>
                    <a:pt x="99441" y="2128520"/>
                    <a:pt x="0" y="2029079"/>
                    <a:pt x="0" y="1906397"/>
                  </a:cubicBezTo>
                  <a:close/>
                </a:path>
              </a:pathLst>
            </a:custGeom>
            <a:solidFill>
              <a:srgbClr val="FF7300"/>
            </a:solidFill>
            <a:ln w="19050" cap="sq">
              <a:solidFill>
                <a:srgbClr val="FF7300"/>
              </a:solidFill>
              <a:prstDash val="solid"/>
              <a:miter/>
            </a:ln>
          </p:spPr>
        </p:sp>
      </p:grpSp>
      <p:grpSp>
        <p:nvGrpSpPr>
          <p:cNvPr id="47" name="Group 47"/>
          <p:cNvGrpSpPr/>
          <p:nvPr/>
        </p:nvGrpSpPr>
        <p:grpSpPr>
          <a:xfrm>
            <a:off x="9344787" y="3350895"/>
            <a:ext cx="3859530" cy="361950"/>
            <a:chOff x="0" y="0"/>
            <a:chExt cx="5146040" cy="482600"/>
          </a:xfrm>
        </p:grpSpPr>
        <p:sp>
          <p:nvSpPr>
            <p:cNvPr id="48" name="Freeform 48"/>
            <p:cNvSpPr/>
            <p:nvPr/>
          </p:nvSpPr>
          <p:spPr>
            <a:xfrm>
              <a:off x="0" y="0"/>
              <a:ext cx="5146040" cy="482600"/>
            </a:xfrm>
            <a:custGeom>
              <a:avLst/>
              <a:gdLst/>
              <a:ahLst/>
              <a:cxnLst/>
              <a:rect l="l" t="t" r="r" b="b"/>
              <a:pathLst>
                <a:path w="5146040" h="482600">
                  <a:moveTo>
                    <a:pt x="0" y="0"/>
                  </a:moveTo>
                  <a:lnTo>
                    <a:pt x="5146040" y="0"/>
                  </a:lnTo>
                  <a:lnTo>
                    <a:pt x="5146040" y="482600"/>
                  </a:lnTo>
                  <a:lnTo>
                    <a:pt x="0" y="482600"/>
                  </a:lnTo>
                  <a:close/>
                </a:path>
              </a:pathLst>
            </a:custGeom>
            <a:solidFill>
              <a:srgbClr val="FF7300"/>
            </a:solidFill>
            <a:ln w="19050" cap="sq">
              <a:solidFill>
                <a:srgbClr val="FF7300"/>
              </a:solidFill>
              <a:prstDash val="solid"/>
              <a:miter/>
            </a:ln>
          </p:spPr>
        </p:sp>
      </p:grpSp>
      <p:grpSp>
        <p:nvGrpSpPr>
          <p:cNvPr id="49" name="Group 49"/>
          <p:cNvGrpSpPr/>
          <p:nvPr/>
        </p:nvGrpSpPr>
        <p:grpSpPr>
          <a:xfrm>
            <a:off x="9697212" y="2578608"/>
            <a:ext cx="685800" cy="685800"/>
            <a:chOff x="0" y="0"/>
            <a:chExt cx="914400" cy="914400"/>
          </a:xfrm>
        </p:grpSpPr>
        <p:sp>
          <p:nvSpPr>
            <p:cNvPr id="50" name="Freeform 50" descr="preencoded.png"/>
            <p:cNvSpPr/>
            <p:nvPr/>
          </p:nvSpPr>
          <p:spPr>
            <a:xfrm>
              <a:off x="0" y="0"/>
              <a:ext cx="914400" cy="914400"/>
            </a:xfrm>
            <a:custGeom>
              <a:avLst/>
              <a:gdLst/>
              <a:ahLst/>
              <a:cxnLst/>
              <a:rect l="l" t="t" r="r" b="b"/>
              <a:pathLst>
                <a:path w="914400" h="914400">
                  <a:moveTo>
                    <a:pt x="0" y="0"/>
                  </a:moveTo>
                  <a:lnTo>
                    <a:pt x="914400" y="0"/>
                  </a:lnTo>
                  <a:lnTo>
                    <a:pt x="914400" y="914400"/>
                  </a:lnTo>
                  <a:lnTo>
                    <a:pt x="0" y="914400"/>
                  </a:lnTo>
                  <a:lnTo>
                    <a:pt x="0" y="0"/>
                  </a:lnTo>
                  <a:close/>
                </a:path>
              </a:pathLst>
            </a:custGeom>
            <a:blipFill>
              <a:blip r:embed="rId6"/>
              <a:stretch>
                <a:fillRect/>
              </a:stretch>
            </a:blipFill>
          </p:spPr>
        </p:sp>
      </p:grpSp>
      <p:grpSp>
        <p:nvGrpSpPr>
          <p:cNvPr id="51" name="Group 51"/>
          <p:cNvGrpSpPr/>
          <p:nvPr/>
        </p:nvGrpSpPr>
        <p:grpSpPr>
          <a:xfrm>
            <a:off x="10657332" y="2290572"/>
            <a:ext cx="2331720" cy="1234440"/>
            <a:chOff x="0" y="0"/>
            <a:chExt cx="3108960" cy="1645920"/>
          </a:xfrm>
        </p:grpSpPr>
        <p:sp>
          <p:nvSpPr>
            <p:cNvPr id="52" name="Freeform 52"/>
            <p:cNvSpPr/>
            <p:nvPr/>
          </p:nvSpPr>
          <p:spPr>
            <a:xfrm>
              <a:off x="0" y="0"/>
              <a:ext cx="3108960" cy="1645920"/>
            </a:xfrm>
            <a:custGeom>
              <a:avLst/>
              <a:gdLst/>
              <a:ahLst/>
              <a:cxnLst/>
              <a:rect l="l" t="t" r="r" b="b"/>
              <a:pathLst>
                <a:path w="3108960" h="1645920">
                  <a:moveTo>
                    <a:pt x="0" y="0"/>
                  </a:moveTo>
                  <a:lnTo>
                    <a:pt x="3108960" y="0"/>
                  </a:lnTo>
                  <a:lnTo>
                    <a:pt x="3108960" y="1645920"/>
                  </a:lnTo>
                  <a:lnTo>
                    <a:pt x="0" y="1645920"/>
                  </a:lnTo>
                  <a:close/>
                </a:path>
              </a:pathLst>
            </a:custGeom>
            <a:blipFill>
              <a:blip r:embed="rId3">
                <a:alphaModFix amt="0"/>
              </a:blip>
              <a:stretch>
                <a:fillRect l="-17925" r="-17925"/>
              </a:stretch>
            </a:blipFill>
          </p:spPr>
        </p:sp>
        <p:sp>
          <p:nvSpPr>
            <p:cNvPr id="53" name="TextBox 53"/>
            <p:cNvSpPr txBox="1"/>
            <p:nvPr/>
          </p:nvSpPr>
          <p:spPr>
            <a:xfrm>
              <a:off x="0" y="-9525"/>
              <a:ext cx="3108960" cy="1655445"/>
            </a:xfrm>
            <a:prstGeom prst="rect">
              <a:avLst/>
            </a:prstGeom>
          </p:spPr>
          <p:txBody>
            <a:bodyPr lIns="0" tIns="0" rIns="0" bIns="0" rtlCol="0" anchor="ctr"/>
            <a:lstStyle/>
            <a:p>
              <a:pPr algn="l">
                <a:lnSpc>
                  <a:spcPts val="2700"/>
                </a:lnSpc>
              </a:pPr>
              <a:r>
                <a:rPr lang="en-US" sz="2250" b="1">
                  <a:solidFill>
                    <a:srgbClr val="FFFFFF"/>
                  </a:solidFill>
                  <a:latin typeface="Montserrat Bold"/>
                  <a:ea typeface="Montserrat Bold"/>
                  <a:cs typeface="Montserrat Bold"/>
                  <a:sym typeface="Montserrat Bold"/>
                </a:rPr>
                <a:t>CONFIDENTIAL</a:t>
              </a:r>
            </a:p>
            <a:p>
              <a:pPr algn="l">
                <a:lnSpc>
                  <a:spcPts val="2160"/>
                </a:lnSpc>
              </a:pPr>
              <a:r>
                <a:rPr lang="en-US" sz="1800">
                  <a:solidFill>
                    <a:srgbClr val="FFFFFF"/>
                  </a:solidFill>
                  <a:latin typeface="Montserrat"/>
                  <a:ea typeface="Montserrat"/>
                  <a:cs typeface="Montserrat"/>
                  <a:sym typeface="Montserrat"/>
                </a:rPr>
                <a:t>BẢO MẬT</a:t>
              </a:r>
            </a:p>
          </p:txBody>
        </p:sp>
      </p:grpSp>
      <p:sp>
        <p:nvSpPr>
          <p:cNvPr id="54" name="TextBox 54"/>
          <p:cNvSpPr txBox="1"/>
          <p:nvPr/>
        </p:nvSpPr>
        <p:spPr>
          <a:xfrm>
            <a:off x="9697212" y="3958590"/>
            <a:ext cx="3154680" cy="1018740"/>
          </a:xfrm>
          <a:prstGeom prst="rect">
            <a:avLst/>
          </a:prstGeom>
        </p:spPr>
        <p:txBody>
          <a:bodyPr lIns="0" tIns="0" rIns="0" bIns="0" rtlCol="0" anchor="t">
            <a:spAutoFit/>
          </a:bodyPr>
          <a:lstStyle/>
          <a:p>
            <a:pPr algn="just">
              <a:lnSpc>
                <a:spcPts val="2721"/>
              </a:lnSpc>
            </a:pPr>
            <a:r>
              <a:rPr lang="en-US" sz="2100">
                <a:solidFill>
                  <a:srgbClr val="1E2B25"/>
                </a:solidFill>
                <a:latin typeface="Montserrat"/>
                <a:ea typeface="Montserrat"/>
                <a:cs typeface="Montserrat"/>
                <a:sym typeface="Montserrat"/>
              </a:rPr>
              <a:t>Thông tin nếu lộ có thể ảnh hưởng đến cá nhân/tổ chức.</a:t>
            </a:r>
          </a:p>
        </p:txBody>
      </p:sp>
      <p:sp>
        <p:nvSpPr>
          <p:cNvPr id="55" name="TextBox 55"/>
          <p:cNvSpPr txBox="1"/>
          <p:nvPr/>
        </p:nvSpPr>
        <p:spPr>
          <a:xfrm>
            <a:off x="9697212" y="5614035"/>
            <a:ext cx="3154680" cy="895350"/>
          </a:xfrm>
          <a:prstGeom prst="rect">
            <a:avLst/>
          </a:prstGeom>
        </p:spPr>
        <p:txBody>
          <a:bodyPr lIns="0" tIns="0" rIns="0" bIns="0" rtlCol="0" anchor="t">
            <a:spAutoFit/>
          </a:bodyPr>
          <a:lstStyle/>
          <a:p>
            <a:pPr marL="352901" lvl="1" indent="-176451" algn="l">
              <a:lnSpc>
                <a:spcPts val="2340"/>
              </a:lnSpc>
              <a:buFont typeface="Arial"/>
              <a:buChar char="•"/>
            </a:pPr>
            <a:r>
              <a:rPr lang="en-US" sz="1950">
                <a:solidFill>
                  <a:srgbClr val="5A6A62"/>
                </a:solidFill>
                <a:latin typeface="Montserrat"/>
                <a:ea typeface="Montserrat"/>
                <a:cs typeface="Montserrat"/>
                <a:sym typeface="Montserrat"/>
              </a:rPr>
              <a:t>Kết quả kinh doanh</a:t>
            </a:r>
          </a:p>
          <a:p>
            <a:pPr marL="352901" lvl="1" indent="-176451" algn="l">
              <a:lnSpc>
                <a:spcPts val="2340"/>
              </a:lnSpc>
              <a:buFont typeface="Arial"/>
              <a:buChar char="•"/>
            </a:pPr>
            <a:r>
              <a:rPr lang="en-US" sz="1950">
                <a:solidFill>
                  <a:srgbClr val="5A6A62"/>
                </a:solidFill>
                <a:latin typeface="Montserrat"/>
                <a:ea typeface="Montserrat"/>
                <a:cs typeface="Montserrat"/>
                <a:sym typeface="Montserrat"/>
              </a:rPr>
              <a:t>Lương thưởng</a:t>
            </a:r>
          </a:p>
          <a:p>
            <a:pPr marL="352901" lvl="1" indent="-176451" algn="l">
              <a:lnSpc>
                <a:spcPts val="2340"/>
              </a:lnSpc>
              <a:buFont typeface="Arial"/>
              <a:buChar char="•"/>
            </a:pPr>
            <a:r>
              <a:rPr lang="en-US" sz="1950">
                <a:solidFill>
                  <a:srgbClr val="5A6A62"/>
                </a:solidFill>
                <a:latin typeface="Montserrat"/>
                <a:ea typeface="Montserrat"/>
                <a:cs typeface="Montserrat"/>
                <a:sym typeface="Montserrat"/>
              </a:rPr>
              <a:t>Dữ liệu nhân tài</a:t>
            </a:r>
          </a:p>
        </p:txBody>
      </p:sp>
      <p:grpSp>
        <p:nvGrpSpPr>
          <p:cNvPr id="56" name="Group 56"/>
          <p:cNvGrpSpPr/>
          <p:nvPr/>
        </p:nvGrpSpPr>
        <p:grpSpPr>
          <a:xfrm>
            <a:off x="9550527" y="7328535"/>
            <a:ext cx="3448050" cy="1966722"/>
            <a:chOff x="0" y="0"/>
            <a:chExt cx="4597400" cy="2622296"/>
          </a:xfrm>
        </p:grpSpPr>
        <p:sp>
          <p:nvSpPr>
            <p:cNvPr id="57" name="Freeform 57"/>
            <p:cNvSpPr/>
            <p:nvPr/>
          </p:nvSpPr>
          <p:spPr>
            <a:xfrm>
              <a:off x="0" y="0"/>
              <a:ext cx="4597400" cy="2622296"/>
            </a:xfrm>
            <a:custGeom>
              <a:avLst/>
              <a:gdLst/>
              <a:ahLst/>
              <a:cxnLst/>
              <a:rect l="l" t="t" r="r" b="b"/>
              <a:pathLst>
                <a:path w="4597400" h="2622296">
                  <a:moveTo>
                    <a:pt x="0" y="147701"/>
                  </a:moveTo>
                  <a:cubicBezTo>
                    <a:pt x="0" y="66167"/>
                    <a:pt x="66167" y="0"/>
                    <a:pt x="147701" y="0"/>
                  </a:cubicBezTo>
                  <a:lnTo>
                    <a:pt x="4449699" y="0"/>
                  </a:lnTo>
                  <a:cubicBezTo>
                    <a:pt x="4531233" y="0"/>
                    <a:pt x="4597400" y="66167"/>
                    <a:pt x="4597400" y="147701"/>
                  </a:cubicBezTo>
                  <a:lnTo>
                    <a:pt x="4597400" y="2474595"/>
                  </a:lnTo>
                  <a:cubicBezTo>
                    <a:pt x="4597400" y="2556129"/>
                    <a:pt x="4531233" y="2622296"/>
                    <a:pt x="4449699" y="2622296"/>
                  </a:cubicBezTo>
                  <a:lnTo>
                    <a:pt x="147701" y="2622296"/>
                  </a:lnTo>
                  <a:cubicBezTo>
                    <a:pt x="66167" y="2622296"/>
                    <a:pt x="0" y="2556129"/>
                    <a:pt x="0" y="2474595"/>
                  </a:cubicBezTo>
                  <a:close/>
                </a:path>
              </a:pathLst>
            </a:custGeom>
            <a:solidFill>
              <a:srgbClr val="FFF1E5"/>
            </a:solidFill>
            <a:ln w="19050" cap="sq">
              <a:solidFill>
                <a:srgbClr val="FFF1E5"/>
              </a:solidFill>
              <a:prstDash val="solid"/>
              <a:miter/>
            </a:ln>
          </p:spPr>
        </p:sp>
      </p:grpSp>
      <p:grpSp>
        <p:nvGrpSpPr>
          <p:cNvPr id="58" name="Group 58"/>
          <p:cNvGrpSpPr/>
          <p:nvPr/>
        </p:nvGrpSpPr>
        <p:grpSpPr>
          <a:xfrm>
            <a:off x="9738360" y="7406640"/>
            <a:ext cx="3072384" cy="1810512"/>
            <a:chOff x="0" y="0"/>
            <a:chExt cx="4096512" cy="2414016"/>
          </a:xfrm>
        </p:grpSpPr>
        <p:sp>
          <p:nvSpPr>
            <p:cNvPr id="59" name="Freeform 59"/>
            <p:cNvSpPr/>
            <p:nvPr/>
          </p:nvSpPr>
          <p:spPr>
            <a:xfrm>
              <a:off x="0" y="0"/>
              <a:ext cx="4096512" cy="2414016"/>
            </a:xfrm>
            <a:custGeom>
              <a:avLst/>
              <a:gdLst/>
              <a:ahLst/>
              <a:cxnLst/>
              <a:rect l="l" t="t" r="r" b="b"/>
              <a:pathLst>
                <a:path w="4096512" h="2414016">
                  <a:moveTo>
                    <a:pt x="0" y="0"/>
                  </a:moveTo>
                  <a:lnTo>
                    <a:pt x="4096512" y="0"/>
                  </a:lnTo>
                  <a:lnTo>
                    <a:pt x="4096512" y="2414016"/>
                  </a:lnTo>
                  <a:lnTo>
                    <a:pt x="0" y="2414016"/>
                  </a:lnTo>
                  <a:close/>
                </a:path>
              </a:pathLst>
            </a:custGeom>
            <a:blipFill>
              <a:blip r:embed="rId3">
                <a:alphaModFix amt="0"/>
              </a:blip>
              <a:stretch>
                <a:fillRect l="-25607" r="-25607"/>
              </a:stretch>
            </a:blipFill>
          </p:spPr>
        </p:sp>
        <p:sp>
          <p:nvSpPr>
            <p:cNvPr id="60" name="TextBox 60"/>
            <p:cNvSpPr txBox="1"/>
            <p:nvPr/>
          </p:nvSpPr>
          <p:spPr>
            <a:xfrm>
              <a:off x="0" y="-19050"/>
              <a:ext cx="4096512" cy="2433066"/>
            </a:xfrm>
            <a:prstGeom prst="rect">
              <a:avLst/>
            </a:prstGeom>
          </p:spPr>
          <p:txBody>
            <a:bodyPr lIns="0" tIns="0" rIns="0" bIns="0" rtlCol="0" anchor="ctr"/>
            <a:lstStyle/>
            <a:p>
              <a:pPr algn="just">
                <a:lnSpc>
                  <a:spcPts val="2624"/>
                </a:lnSpc>
              </a:pPr>
              <a:r>
                <a:rPr lang="en-US" sz="2025" b="1">
                  <a:solidFill>
                    <a:srgbClr val="7A3500"/>
                  </a:solidFill>
                  <a:latin typeface="Montserrat Bold"/>
                  <a:ea typeface="Montserrat Bold"/>
                  <a:cs typeface="Montserrat Bold"/>
                  <a:sym typeface="Montserrat Bold"/>
                </a:rPr>
                <a:t>→ TÁI NHẬN DIỆN: </a:t>
              </a:r>
              <a:r>
                <a:rPr lang="en-US" sz="2025">
                  <a:solidFill>
                    <a:srgbClr val="7A3500"/>
                  </a:solidFill>
                  <a:latin typeface="Montserrat"/>
                  <a:ea typeface="Montserrat"/>
                  <a:cs typeface="Montserrat"/>
                  <a:sym typeface="Montserrat"/>
                </a:rPr>
                <a:t>Loại bỏ/che thông tin nhận diện không cần thiết.</a:t>
              </a:r>
            </a:p>
          </p:txBody>
        </p:sp>
      </p:grpSp>
      <p:grpSp>
        <p:nvGrpSpPr>
          <p:cNvPr id="61" name="Group 61"/>
          <p:cNvGrpSpPr/>
          <p:nvPr/>
        </p:nvGrpSpPr>
        <p:grpSpPr>
          <a:xfrm>
            <a:off x="13612844" y="2118836"/>
            <a:ext cx="3854767" cy="7420928"/>
            <a:chOff x="0" y="0"/>
            <a:chExt cx="5139690" cy="9894570"/>
          </a:xfrm>
        </p:grpSpPr>
        <p:sp>
          <p:nvSpPr>
            <p:cNvPr id="62" name="Freeform 62"/>
            <p:cNvSpPr/>
            <p:nvPr/>
          </p:nvSpPr>
          <p:spPr>
            <a:xfrm>
              <a:off x="0" y="0"/>
              <a:ext cx="5139690" cy="9894570"/>
            </a:xfrm>
            <a:custGeom>
              <a:avLst/>
              <a:gdLst/>
              <a:ahLst/>
              <a:cxnLst/>
              <a:rect l="l" t="t" r="r" b="b"/>
              <a:pathLst>
                <a:path w="5139690" h="9894570">
                  <a:moveTo>
                    <a:pt x="0" y="220345"/>
                  </a:moveTo>
                  <a:cubicBezTo>
                    <a:pt x="0" y="98679"/>
                    <a:pt x="98679" y="0"/>
                    <a:pt x="220345" y="0"/>
                  </a:cubicBezTo>
                  <a:lnTo>
                    <a:pt x="4919345" y="0"/>
                  </a:lnTo>
                  <a:cubicBezTo>
                    <a:pt x="5041011" y="0"/>
                    <a:pt x="5139690" y="98679"/>
                    <a:pt x="5139690" y="220345"/>
                  </a:cubicBezTo>
                  <a:lnTo>
                    <a:pt x="5139690" y="9674225"/>
                  </a:lnTo>
                  <a:cubicBezTo>
                    <a:pt x="5139690" y="9795891"/>
                    <a:pt x="5041011" y="9894570"/>
                    <a:pt x="4919345" y="9894570"/>
                  </a:cubicBezTo>
                  <a:lnTo>
                    <a:pt x="220345" y="9894570"/>
                  </a:lnTo>
                  <a:cubicBezTo>
                    <a:pt x="98679" y="9894570"/>
                    <a:pt x="0" y="9795891"/>
                    <a:pt x="0" y="9674225"/>
                  </a:cubicBezTo>
                  <a:close/>
                </a:path>
              </a:pathLst>
            </a:custGeom>
            <a:solidFill>
              <a:srgbClr val="FFFFFF"/>
            </a:solidFill>
            <a:ln w="14288" cap="sq">
              <a:solidFill>
                <a:srgbClr val="DCE6E0"/>
              </a:solidFill>
              <a:prstDash val="solid"/>
              <a:miter/>
            </a:ln>
          </p:spPr>
        </p:sp>
      </p:grpSp>
      <p:grpSp>
        <p:nvGrpSpPr>
          <p:cNvPr id="63" name="Group 63"/>
          <p:cNvGrpSpPr/>
          <p:nvPr/>
        </p:nvGrpSpPr>
        <p:grpSpPr>
          <a:xfrm>
            <a:off x="13610463" y="2116455"/>
            <a:ext cx="3859530" cy="1596390"/>
            <a:chOff x="0" y="0"/>
            <a:chExt cx="5146040" cy="2128520"/>
          </a:xfrm>
        </p:grpSpPr>
        <p:sp>
          <p:nvSpPr>
            <p:cNvPr id="64" name="Freeform 64"/>
            <p:cNvSpPr/>
            <p:nvPr/>
          </p:nvSpPr>
          <p:spPr>
            <a:xfrm>
              <a:off x="0" y="0"/>
              <a:ext cx="5146040" cy="2128520"/>
            </a:xfrm>
            <a:custGeom>
              <a:avLst/>
              <a:gdLst/>
              <a:ahLst/>
              <a:cxnLst/>
              <a:rect l="l" t="t" r="r" b="b"/>
              <a:pathLst>
                <a:path w="5146040" h="2128520">
                  <a:moveTo>
                    <a:pt x="0" y="222123"/>
                  </a:moveTo>
                  <a:cubicBezTo>
                    <a:pt x="0" y="99441"/>
                    <a:pt x="99441" y="0"/>
                    <a:pt x="222123" y="0"/>
                  </a:cubicBezTo>
                  <a:lnTo>
                    <a:pt x="4923917" y="0"/>
                  </a:lnTo>
                  <a:cubicBezTo>
                    <a:pt x="5046599" y="0"/>
                    <a:pt x="5146040" y="99441"/>
                    <a:pt x="5146040" y="222123"/>
                  </a:cubicBezTo>
                  <a:lnTo>
                    <a:pt x="5146040" y="1906397"/>
                  </a:lnTo>
                  <a:cubicBezTo>
                    <a:pt x="5146040" y="2029079"/>
                    <a:pt x="5046599" y="2128520"/>
                    <a:pt x="4923917" y="2128520"/>
                  </a:cubicBezTo>
                  <a:lnTo>
                    <a:pt x="222123" y="2128520"/>
                  </a:lnTo>
                  <a:cubicBezTo>
                    <a:pt x="99441" y="2128520"/>
                    <a:pt x="0" y="2029079"/>
                    <a:pt x="0" y="1906397"/>
                  </a:cubicBezTo>
                  <a:close/>
                </a:path>
              </a:pathLst>
            </a:custGeom>
            <a:solidFill>
              <a:srgbClr val="B3261E"/>
            </a:solidFill>
            <a:ln w="19050" cap="sq">
              <a:solidFill>
                <a:srgbClr val="B3261E"/>
              </a:solidFill>
              <a:prstDash val="solid"/>
              <a:miter/>
            </a:ln>
          </p:spPr>
        </p:sp>
      </p:grpSp>
      <p:grpSp>
        <p:nvGrpSpPr>
          <p:cNvPr id="65" name="Group 65"/>
          <p:cNvGrpSpPr/>
          <p:nvPr/>
        </p:nvGrpSpPr>
        <p:grpSpPr>
          <a:xfrm>
            <a:off x="13610463" y="3350895"/>
            <a:ext cx="3859530" cy="361950"/>
            <a:chOff x="0" y="0"/>
            <a:chExt cx="5146040" cy="482600"/>
          </a:xfrm>
        </p:grpSpPr>
        <p:sp>
          <p:nvSpPr>
            <p:cNvPr id="66" name="Freeform 66"/>
            <p:cNvSpPr/>
            <p:nvPr/>
          </p:nvSpPr>
          <p:spPr>
            <a:xfrm>
              <a:off x="0" y="0"/>
              <a:ext cx="5146040" cy="482600"/>
            </a:xfrm>
            <a:custGeom>
              <a:avLst/>
              <a:gdLst/>
              <a:ahLst/>
              <a:cxnLst/>
              <a:rect l="l" t="t" r="r" b="b"/>
              <a:pathLst>
                <a:path w="5146040" h="482600">
                  <a:moveTo>
                    <a:pt x="0" y="0"/>
                  </a:moveTo>
                  <a:lnTo>
                    <a:pt x="5146040" y="0"/>
                  </a:lnTo>
                  <a:lnTo>
                    <a:pt x="5146040" y="482600"/>
                  </a:lnTo>
                  <a:lnTo>
                    <a:pt x="0" y="482600"/>
                  </a:lnTo>
                  <a:close/>
                </a:path>
              </a:pathLst>
            </a:custGeom>
            <a:solidFill>
              <a:srgbClr val="B3261E"/>
            </a:solidFill>
            <a:ln w="19050" cap="sq">
              <a:solidFill>
                <a:srgbClr val="B3261E"/>
              </a:solidFill>
              <a:prstDash val="solid"/>
              <a:miter/>
            </a:ln>
          </p:spPr>
        </p:sp>
      </p:grpSp>
      <p:grpSp>
        <p:nvGrpSpPr>
          <p:cNvPr id="67" name="Group 67"/>
          <p:cNvGrpSpPr/>
          <p:nvPr/>
        </p:nvGrpSpPr>
        <p:grpSpPr>
          <a:xfrm>
            <a:off x="13962888" y="2578608"/>
            <a:ext cx="685800" cy="685800"/>
            <a:chOff x="0" y="0"/>
            <a:chExt cx="914400" cy="914400"/>
          </a:xfrm>
        </p:grpSpPr>
        <p:sp>
          <p:nvSpPr>
            <p:cNvPr id="68" name="Freeform 68" descr="preencoded.png"/>
            <p:cNvSpPr/>
            <p:nvPr/>
          </p:nvSpPr>
          <p:spPr>
            <a:xfrm>
              <a:off x="0" y="0"/>
              <a:ext cx="914400" cy="914400"/>
            </a:xfrm>
            <a:custGeom>
              <a:avLst/>
              <a:gdLst/>
              <a:ahLst/>
              <a:cxnLst/>
              <a:rect l="l" t="t" r="r" b="b"/>
              <a:pathLst>
                <a:path w="914400" h="914400">
                  <a:moveTo>
                    <a:pt x="0" y="0"/>
                  </a:moveTo>
                  <a:lnTo>
                    <a:pt x="914400" y="0"/>
                  </a:lnTo>
                  <a:lnTo>
                    <a:pt x="914400" y="914400"/>
                  </a:lnTo>
                  <a:lnTo>
                    <a:pt x="0" y="914400"/>
                  </a:lnTo>
                  <a:lnTo>
                    <a:pt x="0" y="0"/>
                  </a:lnTo>
                  <a:close/>
                </a:path>
              </a:pathLst>
            </a:custGeom>
            <a:blipFill>
              <a:blip r:embed="rId7"/>
              <a:stretch>
                <a:fillRect/>
              </a:stretch>
            </a:blipFill>
          </p:spPr>
        </p:sp>
      </p:grpSp>
      <p:grpSp>
        <p:nvGrpSpPr>
          <p:cNvPr id="69" name="Group 69"/>
          <p:cNvGrpSpPr/>
          <p:nvPr/>
        </p:nvGrpSpPr>
        <p:grpSpPr>
          <a:xfrm>
            <a:off x="14923008" y="2290572"/>
            <a:ext cx="2331720" cy="1234440"/>
            <a:chOff x="0" y="0"/>
            <a:chExt cx="3108960" cy="1645920"/>
          </a:xfrm>
        </p:grpSpPr>
        <p:sp>
          <p:nvSpPr>
            <p:cNvPr id="70" name="Freeform 70"/>
            <p:cNvSpPr/>
            <p:nvPr/>
          </p:nvSpPr>
          <p:spPr>
            <a:xfrm>
              <a:off x="0" y="0"/>
              <a:ext cx="3108960" cy="1645920"/>
            </a:xfrm>
            <a:custGeom>
              <a:avLst/>
              <a:gdLst/>
              <a:ahLst/>
              <a:cxnLst/>
              <a:rect l="l" t="t" r="r" b="b"/>
              <a:pathLst>
                <a:path w="3108960" h="1645920">
                  <a:moveTo>
                    <a:pt x="0" y="0"/>
                  </a:moveTo>
                  <a:lnTo>
                    <a:pt x="3108960" y="0"/>
                  </a:lnTo>
                  <a:lnTo>
                    <a:pt x="3108960" y="1645920"/>
                  </a:lnTo>
                  <a:lnTo>
                    <a:pt x="0" y="1645920"/>
                  </a:lnTo>
                  <a:close/>
                </a:path>
              </a:pathLst>
            </a:custGeom>
            <a:blipFill>
              <a:blip r:embed="rId3">
                <a:alphaModFix amt="0"/>
              </a:blip>
              <a:stretch>
                <a:fillRect l="-17925" r="-17925"/>
              </a:stretch>
            </a:blipFill>
          </p:spPr>
        </p:sp>
        <p:sp>
          <p:nvSpPr>
            <p:cNvPr id="71" name="TextBox 71"/>
            <p:cNvSpPr txBox="1"/>
            <p:nvPr/>
          </p:nvSpPr>
          <p:spPr>
            <a:xfrm>
              <a:off x="0" y="-9525"/>
              <a:ext cx="3108960" cy="1655445"/>
            </a:xfrm>
            <a:prstGeom prst="rect">
              <a:avLst/>
            </a:prstGeom>
          </p:spPr>
          <p:txBody>
            <a:bodyPr lIns="0" tIns="0" rIns="0" bIns="0" rtlCol="0" anchor="ctr"/>
            <a:lstStyle/>
            <a:p>
              <a:pPr algn="l">
                <a:lnSpc>
                  <a:spcPts val="2700"/>
                </a:lnSpc>
              </a:pPr>
              <a:r>
                <a:rPr lang="en-US" sz="2250" b="1">
                  <a:solidFill>
                    <a:srgbClr val="FFFFFF"/>
                  </a:solidFill>
                  <a:latin typeface="Montserrat Bold"/>
                  <a:ea typeface="Montserrat Bold"/>
                  <a:cs typeface="Montserrat Bold"/>
                  <a:sym typeface="Montserrat Bold"/>
                </a:rPr>
                <a:t>RESTRICTED</a:t>
              </a:r>
            </a:p>
            <a:p>
              <a:pPr algn="l">
                <a:lnSpc>
                  <a:spcPts val="2160"/>
                </a:lnSpc>
              </a:pPr>
              <a:r>
                <a:rPr lang="en-US" sz="1800">
                  <a:solidFill>
                    <a:srgbClr val="FFFFFF"/>
                  </a:solidFill>
                  <a:latin typeface="Montserrat"/>
                  <a:ea typeface="Montserrat"/>
                  <a:cs typeface="Montserrat"/>
                  <a:sym typeface="Montserrat"/>
                </a:rPr>
                <a:t>TUYỆT MẬT</a:t>
              </a:r>
            </a:p>
          </p:txBody>
        </p:sp>
      </p:grpSp>
      <p:sp>
        <p:nvSpPr>
          <p:cNvPr id="72" name="TextBox 72"/>
          <p:cNvSpPr txBox="1"/>
          <p:nvPr/>
        </p:nvSpPr>
        <p:spPr>
          <a:xfrm>
            <a:off x="13962888" y="3958590"/>
            <a:ext cx="3154680" cy="1365047"/>
          </a:xfrm>
          <a:prstGeom prst="rect">
            <a:avLst/>
          </a:prstGeom>
        </p:spPr>
        <p:txBody>
          <a:bodyPr lIns="0" tIns="0" rIns="0" bIns="0" rtlCol="0" anchor="t">
            <a:spAutoFit/>
          </a:bodyPr>
          <a:lstStyle/>
          <a:p>
            <a:pPr algn="just">
              <a:lnSpc>
                <a:spcPts val="2721"/>
              </a:lnSpc>
            </a:pPr>
            <a:r>
              <a:rPr lang="en-US" sz="2100">
                <a:solidFill>
                  <a:srgbClr val="1E2B25"/>
                </a:solidFill>
                <a:latin typeface="Montserrat"/>
                <a:ea typeface="Montserrat"/>
                <a:cs typeface="Montserrat"/>
                <a:sym typeface="Montserrat"/>
              </a:rPr>
              <a:t>Thông tin đặc biệt nhạy cảm hoặc bị giới hạn bởi chính sách/ pháp lý.</a:t>
            </a:r>
          </a:p>
        </p:txBody>
      </p:sp>
      <p:sp>
        <p:nvSpPr>
          <p:cNvPr id="73" name="TextBox 73"/>
          <p:cNvSpPr txBox="1"/>
          <p:nvPr/>
        </p:nvSpPr>
        <p:spPr>
          <a:xfrm>
            <a:off x="13962888" y="5614035"/>
            <a:ext cx="3154680" cy="1518285"/>
          </a:xfrm>
          <a:prstGeom prst="rect">
            <a:avLst/>
          </a:prstGeom>
        </p:spPr>
        <p:txBody>
          <a:bodyPr lIns="0" tIns="0" rIns="0" bIns="0" rtlCol="0" anchor="t">
            <a:spAutoFit/>
          </a:bodyPr>
          <a:lstStyle/>
          <a:p>
            <a:pPr marL="352901" lvl="1" indent="-176451" algn="l">
              <a:lnSpc>
                <a:spcPts val="2340"/>
              </a:lnSpc>
              <a:buFont typeface="Arial"/>
              <a:buChar char="•"/>
            </a:pPr>
            <a:r>
              <a:rPr lang="en-US" sz="1950">
                <a:solidFill>
                  <a:srgbClr val="5A6A62"/>
                </a:solidFill>
                <a:latin typeface="Montserrat"/>
                <a:ea typeface="Montserrat"/>
                <a:cs typeface="Montserrat"/>
                <a:sym typeface="Montserrat"/>
              </a:rPr>
              <a:t>Hồ sơ đặc biệt</a:t>
            </a:r>
          </a:p>
          <a:p>
            <a:pPr marL="352901" lvl="1" indent="-176451" algn="l">
              <a:lnSpc>
                <a:spcPts val="2340"/>
              </a:lnSpc>
              <a:buFont typeface="Arial"/>
              <a:buChar char="•"/>
            </a:pPr>
            <a:r>
              <a:rPr lang="en-US" sz="1950">
                <a:solidFill>
                  <a:srgbClr val="5A6A62"/>
                </a:solidFill>
                <a:latin typeface="Montserrat"/>
                <a:ea typeface="Montserrat"/>
                <a:cs typeface="Montserrat"/>
                <a:sym typeface="Montserrat"/>
              </a:rPr>
              <a:t>Chiến lược trọng yếu</a:t>
            </a:r>
          </a:p>
        </p:txBody>
      </p:sp>
      <p:grpSp>
        <p:nvGrpSpPr>
          <p:cNvPr id="74" name="Group 74"/>
          <p:cNvGrpSpPr/>
          <p:nvPr/>
        </p:nvGrpSpPr>
        <p:grpSpPr>
          <a:xfrm>
            <a:off x="13816203" y="7328535"/>
            <a:ext cx="3448050" cy="1966722"/>
            <a:chOff x="0" y="0"/>
            <a:chExt cx="4597400" cy="2622296"/>
          </a:xfrm>
        </p:grpSpPr>
        <p:sp>
          <p:nvSpPr>
            <p:cNvPr id="75" name="Freeform 75"/>
            <p:cNvSpPr/>
            <p:nvPr/>
          </p:nvSpPr>
          <p:spPr>
            <a:xfrm>
              <a:off x="0" y="0"/>
              <a:ext cx="4597400" cy="2622296"/>
            </a:xfrm>
            <a:custGeom>
              <a:avLst/>
              <a:gdLst/>
              <a:ahLst/>
              <a:cxnLst/>
              <a:rect l="l" t="t" r="r" b="b"/>
              <a:pathLst>
                <a:path w="4597400" h="2622296">
                  <a:moveTo>
                    <a:pt x="0" y="147701"/>
                  </a:moveTo>
                  <a:cubicBezTo>
                    <a:pt x="0" y="66167"/>
                    <a:pt x="66167" y="0"/>
                    <a:pt x="147701" y="0"/>
                  </a:cubicBezTo>
                  <a:lnTo>
                    <a:pt x="4449699" y="0"/>
                  </a:lnTo>
                  <a:cubicBezTo>
                    <a:pt x="4531233" y="0"/>
                    <a:pt x="4597400" y="66167"/>
                    <a:pt x="4597400" y="147701"/>
                  </a:cubicBezTo>
                  <a:lnTo>
                    <a:pt x="4597400" y="2474595"/>
                  </a:lnTo>
                  <a:cubicBezTo>
                    <a:pt x="4597400" y="2556129"/>
                    <a:pt x="4531233" y="2622296"/>
                    <a:pt x="4449699" y="2622296"/>
                  </a:cubicBezTo>
                  <a:lnTo>
                    <a:pt x="147701" y="2622296"/>
                  </a:lnTo>
                  <a:cubicBezTo>
                    <a:pt x="66167" y="2622296"/>
                    <a:pt x="0" y="2556129"/>
                    <a:pt x="0" y="2474595"/>
                  </a:cubicBezTo>
                  <a:close/>
                </a:path>
              </a:pathLst>
            </a:custGeom>
            <a:solidFill>
              <a:srgbClr val="FBE9E7"/>
            </a:solidFill>
            <a:ln w="19050" cap="sq">
              <a:solidFill>
                <a:srgbClr val="FBE9E7"/>
              </a:solidFill>
              <a:prstDash val="solid"/>
              <a:miter/>
            </a:ln>
          </p:spPr>
        </p:sp>
      </p:grpSp>
      <p:grpSp>
        <p:nvGrpSpPr>
          <p:cNvPr id="76" name="Group 76"/>
          <p:cNvGrpSpPr/>
          <p:nvPr/>
        </p:nvGrpSpPr>
        <p:grpSpPr>
          <a:xfrm>
            <a:off x="14004036" y="7406640"/>
            <a:ext cx="3072384" cy="1810512"/>
            <a:chOff x="0" y="0"/>
            <a:chExt cx="4096512" cy="2414016"/>
          </a:xfrm>
        </p:grpSpPr>
        <p:sp>
          <p:nvSpPr>
            <p:cNvPr id="77" name="Freeform 77"/>
            <p:cNvSpPr/>
            <p:nvPr/>
          </p:nvSpPr>
          <p:spPr>
            <a:xfrm>
              <a:off x="0" y="0"/>
              <a:ext cx="4096512" cy="2414016"/>
            </a:xfrm>
            <a:custGeom>
              <a:avLst/>
              <a:gdLst/>
              <a:ahLst/>
              <a:cxnLst/>
              <a:rect l="l" t="t" r="r" b="b"/>
              <a:pathLst>
                <a:path w="4096512" h="2414016">
                  <a:moveTo>
                    <a:pt x="0" y="0"/>
                  </a:moveTo>
                  <a:lnTo>
                    <a:pt x="4096512" y="0"/>
                  </a:lnTo>
                  <a:lnTo>
                    <a:pt x="4096512" y="2414016"/>
                  </a:lnTo>
                  <a:lnTo>
                    <a:pt x="0" y="2414016"/>
                  </a:lnTo>
                  <a:close/>
                </a:path>
              </a:pathLst>
            </a:custGeom>
            <a:blipFill>
              <a:blip r:embed="rId3">
                <a:alphaModFix amt="0"/>
              </a:blip>
              <a:stretch>
                <a:fillRect l="-25607" r="-25607"/>
              </a:stretch>
            </a:blipFill>
          </p:spPr>
        </p:sp>
        <p:sp>
          <p:nvSpPr>
            <p:cNvPr id="78" name="TextBox 78"/>
            <p:cNvSpPr txBox="1"/>
            <p:nvPr/>
          </p:nvSpPr>
          <p:spPr>
            <a:xfrm>
              <a:off x="0" y="-19050"/>
              <a:ext cx="4096512" cy="2433066"/>
            </a:xfrm>
            <a:prstGeom prst="rect">
              <a:avLst/>
            </a:prstGeom>
          </p:spPr>
          <p:txBody>
            <a:bodyPr lIns="0" tIns="0" rIns="0" bIns="0" rtlCol="0" anchor="ctr"/>
            <a:lstStyle/>
            <a:p>
              <a:pPr algn="l">
                <a:lnSpc>
                  <a:spcPts val="2624"/>
                </a:lnSpc>
              </a:pPr>
              <a:r>
                <a:rPr lang="en-US" sz="2025" b="1">
                  <a:solidFill>
                    <a:srgbClr val="8A1C14"/>
                  </a:solidFill>
                  <a:latin typeface="Montserrat Bold"/>
                  <a:ea typeface="Montserrat Bold"/>
                  <a:cs typeface="Montserrat Bold"/>
                  <a:sym typeface="Montserrat Bold"/>
                </a:rPr>
                <a:t>→ KIỂM SOÁT CHẶT</a:t>
              </a:r>
            </a:p>
          </p:txBody>
        </p:sp>
      </p:gr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4"/>
          <p:cNvGrpSpPr/>
          <p:nvPr/>
        </p:nvGrpSpPr>
        <p:grpSpPr>
          <a:xfrm>
            <a:off x="822960" y="411480"/>
            <a:ext cx="15361920" cy="1371600"/>
            <a:chOff x="0" y="0"/>
            <a:chExt cx="20482560" cy="1828800"/>
          </a:xfrm>
        </p:grpSpPr>
        <p:sp>
          <p:nvSpPr>
            <p:cNvPr id="5" name="Freeform 5"/>
            <p:cNvSpPr/>
            <p:nvPr/>
          </p:nvSpPr>
          <p:spPr>
            <a:xfrm>
              <a:off x="0" y="0"/>
              <a:ext cx="20482561" cy="1828800"/>
            </a:xfrm>
            <a:custGeom>
              <a:avLst/>
              <a:gdLst/>
              <a:ahLst/>
              <a:cxnLst/>
              <a:rect l="l" t="t" r="r" b="b"/>
              <a:pathLst>
                <a:path w="20482561" h="1828800">
                  <a:moveTo>
                    <a:pt x="0" y="0"/>
                  </a:moveTo>
                  <a:lnTo>
                    <a:pt x="20482561" y="0"/>
                  </a:lnTo>
                  <a:lnTo>
                    <a:pt x="20482561" y="1828800"/>
                  </a:lnTo>
                  <a:lnTo>
                    <a:pt x="0" y="1828800"/>
                  </a:lnTo>
                  <a:close/>
                </a:path>
              </a:pathLst>
            </a:custGeom>
            <a:blipFill>
              <a:blip r:embed="rId3">
                <a:alphaModFix amt="0"/>
              </a:blip>
              <a:stretch>
                <a:fillRect t="-168232" b="-168232"/>
              </a:stretch>
            </a:blipFill>
          </p:spPr>
        </p:sp>
        <p:sp>
          <p:nvSpPr>
            <p:cNvPr id="6" name="TextBox 6"/>
            <p:cNvSpPr txBox="1"/>
            <p:nvPr/>
          </p:nvSpPr>
          <p:spPr>
            <a:xfrm>
              <a:off x="0" y="0"/>
              <a:ext cx="20482560" cy="1828800"/>
            </a:xfrm>
            <a:prstGeom prst="rect">
              <a:avLst/>
            </a:prstGeom>
          </p:spPr>
          <p:txBody>
            <a:bodyPr lIns="0" tIns="0" rIns="0" bIns="0" rtlCol="0" anchor="ctr"/>
            <a:lstStyle/>
            <a:p>
              <a:pPr algn="l">
                <a:lnSpc>
                  <a:spcPts val="4680"/>
                </a:lnSpc>
              </a:pPr>
              <a:r>
                <a:rPr lang="en-US" sz="3900" b="1">
                  <a:solidFill>
                    <a:srgbClr val="006838"/>
                  </a:solidFill>
                  <a:latin typeface="Montserrat Bold"/>
                  <a:ea typeface="Montserrat Bold"/>
                  <a:cs typeface="Montserrat Bold"/>
                  <a:sym typeface="Montserrat Bold"/>
                </a:rPr>
                <a:t>TRÁCH NHIỆM</a:t>
              </a:r>
            </a:p>
          </p:txBody>
        </p:sp>
      </p:grpSp>
      <p:grpSp>
        <p:nvGrpSpPr>
          <p:cNvPr id="7" name="Group 7"/>
          <p:cNvGrpSpPr/>
          <p:nvPr/>
        </p:nvGrpSpPr>
        <p:grpSpPr>
          <a:xfrm>
            <a:off x="815816" y="2393156"/>
            <a:ext cx="16651796" cy="6735128"/>
            <a:chOff x="0" y="0"/>
            <a:chExt cx="22202394" cy="8980170"/>
          </a:xfrm>
        </p:grpSpPr>
        <p:sp>
          <p:nvSpPr>
            <p:cNvPr id="8" name="Freeform 8"/>
            <p:cNvSpPr/>
            <p:nvPr/>
          </p:nvSpPr>
          <p:spPr>
            <a:xfrm>
              <a:off x="0" y="0"/>
              <a:ext cx="22202394" cy="8980170"/>
            </a:xfrm>
            <a:custGeom>
              <a:avLst/>
              <a:gdLst/>
              <a:ahLst/>
              <a:cxnLst/>
              <a:rect l="l" t="t" r="r" b="b"/>
              <a:pathLst>
                <a:path w="22202394" h="8980170">
                  <a:moveTo>
                    <a:pt x="0" y="219964"/>
                  </a:moveTo>
                  <a:cubicBezTo>
                    <a:pt x="0" y="98425"/>
                    <a:pt x="98425" y="0"/>
                    <a:pt x="219964" y="0"/>
                  </a:cubicBezTo>
                  <a:lnTo>
                    <a:pt x="21982430" y="0"/>
                  </a:lnTo>
                  <a:cubicBezTo>
                    <a:pt x="22103843" y="0"/>
                    <a:pt x="22202394" y="98425"/>
                    <a:pt x="22202394" y="219964"/>
                  </a:cubicBezTo>
                  <a:lnTo>
                    <a:pt x="22202394" y="8760206"/>
                  </a:lnTo>
                  <a:cubicBezTo>
                    <a:pt x="22202394" y="8881618"/>
                    <a:pt x="22103969" y="8980170"/>
                    <a:pt x="21982430" y="8980170"/>
                  </a:cubicBezTo>
                  <a:lnTo>
                    <a:pt x="219964" y="8980170"/>
                  </a:lnTo>
                  <a:cubicBezTo>
                    <a:pt x="98425" y="8980170"/>
                    <a:pt x="0" y="8881745"/>
                    <a:pt x="0" y="8760206"/>
                  </a:cubicBezTo>
                  <a:close/>
                </a:path>
              </a:pathLst>
            </a:custGeom>
            <a:solidFill>
              <a:srgbClr val="006838"/>
            </a:solidFill>
            <a:ln w="14288" cap="sq">
              <a:solidFill>
                <a:srgbClr val="006838"/>
              </a:solidFill>
              <a:prstDash val="solid"/>
              <a:miter/>
            </a:ln>
          </p:spPr>
        </p:sp>
      </p:grpSp>
      <p:grpSp>
        <p:nvGrpSpPr>
          <p:cNvPr id="9" name="Group 9"/>
          <p:cNvGrpSpPr/>
          <p:nvPr/>
        </p:nvGrpSpPr>
        <p:grpSpPr>
          <a:xfrm>
            <a:off x="1754505" y="3743325"/>
            <a:ext cx="4034790" cy="4034790"/>
            <a:chOff x="0" y="0"/>
            <a:chExt cx="5379720" cy="5379720"/>
          </a:xfrm>
        </p:grpSpPr>
        <p:sp>
          <p:nvSpPr>
            <p:cNvPr id="10" name="Freeform 10"/>
            <p:cNvSpPr/>
            <p:nvPr/>
          </p:nvSpPr>
          <p:spPr>
            <a:xfrm>
              <a:off x="0" y="0"/>
              <a:ext cx="5379720" cy="5379720"/>
            </a:xfrm>
            <a:custGeom>
              <a:avLst/>
              <a:gdLst/>
              <a:ahLst/>
              <a:cxnLst/>
              <a:rect l="l" t="t" r="r" b="b"/>
              <a:pathLst>
                <a:path w="5379720" h="5379720">
                  <a:moveTo>
                    <a:pt x="0" y="2689860"/>
                  </a:moveTo>
                  <a:cubicBezTo>
                    <a:pt x="0" y="1204341"/>
                    <a:pt x="1204341" y="0"/>
                    <a:pt x="2689860" y="0"/>
                  </a:cubicBezTo>
                  <a:cubicBezTo>
                    <a:pt x="4175379" y="0"/>
                    <a:pt x="5379720" y="1204341"/>
                    <a:pt x="5379720" y="2689860"/>
                  </a:cubicBezTo>
                  <a:cubicBezTo>
                    <a:pt x="5379720" y="4175379"/>
                    <a:pt x="4175379" y="5379720"/>
                    <a:pt x="2689860" y="5379720"/>
                  </a:cubicBezTo>
                  <a:cubicBezTo>
                    <a:pt x="1204341" y="5379720"/>
                    <a:pt x="0" y="4175379"/>
                    <a:pt x="0" y="2689860"/>
                  </a:cubicBezTo>
                  <a:close/>
                </a:path>
              </a:pathLst>
            </a:custGeom>
            <a:solidFill>
              <a:srgbClr val="004A28"/>
            </a:solidFill>
            <a:ln w="57150" cap="sq">
              <a:solidFill>
                <a:srgbClr val="FF7300"/>
              </a:solidFill>
              <a:prstDash val="solid"/>
              <a:miter/>
            </a:ln>
          </p:spPr>
        </p:sp>
      </p:grpSp>
      <p:grpSp>
        <p:nvGrpSpPr>
          <p:cNvPr id="11" name="Group 11"/>
          <p:cNvGrpSpPr/>
          <p:nvPr/>
        </p:nvGrpSpPr>
        <p:grpSpPr>
          <a:xfrm>
            <a:off x="2811780" y="4800600"/>
            <a:ext cx="1920240" cy="1920240"/>
            <a:chOff x="0" y="0"/>
            <a:chExt cx="2560320" cy="2560320"/>
          </a:xfrm>
        </p:grpSpPr>
        <p:sp>
          <p:nvSpPr>
            <p:cNvPr id="12" name="Freeform 12" descr="preencoded.png"/>
            <p:cNvSpPr/>
            <p:nvPr/>
          </p:nvSpPr>
          <p:spPr>
            <a:xfrm>
              <a:off x="0" y="0"/>
              <a:ext cx="2560320" cy="2560320"/>
            </a:xfrm>
            <a:custGeom>
              <a:avLst/>
              <a:gdLst/>
              <a:ahLst/>
              <a:cxnLst/>
              <a:rect l="l" t="t" r="r" b="b"/>
              <a:pathLst>
                <a:path w="2560320" h="2560320">
                  <a:moveTo>
                    <a:pt x="0" y="0"/>
                  </a:moveTo>
                  <a:lnTo>
                    <a:pt x="2560320" y="0"/>
                  </a:lnTo>
                  <a:lnTo>
                    <a:pt x="2560320" y="2560320"/>
                  </a:lnTo>
                  <a:lnTo>
                    <a:pt x="0" y="2560320"/>
                  </a:lnTo>
                  <a:lnTo>
                    <a:pt x="0" y="0"/>
                  </a:lnTo>
                  <a:close/>
                </a:path>
              </a:pathLst>
            </a:custGeom>
            <a:blipFill>
              <a:blip r:embed="rId4"/>
              <a:stretch>
                <a:fillRect/>
              </a:stretch>
            </a:blipFill>
          </p:spPr>
        </p:sp>
      </p:grpSp>
      <p:grpSp>
        <p:nvGrpSpPr>
          <p:cNvPr id="13" name="Group 13"/>
          <p:cNvGrpSpPr/>
          <p:nvPr/>
        </p:nvGrpSpPr>
        <p:grpSpPr>
          <a:xfrm>
            <a:off x="6583680" y="3154680"/>
            <a:ext cx="10287000" cy="5212080"/>
            <a:chOff x="0" y="0"/>
            <a:chExt cx="13716000" cy="6949440"/>
          </a:xfrm>
        </p:grpSpPr>
        <p:sp>
          <p:nvSpPr>
            <p:cNvPr id="14" name="Freeform 14"/>
            <p:cNvSpPr/>
            <p:nvPr/>
          </p:nvSpPr>
          <p:spPr>
            <a:xfrm>
              <a:off x="0" y="0"/>
              <a:ext cx="13716000" cy="6949440"/>
            </a:xfrm>
            <a:custGeom>
              <a:avLst/>
              <a:gdLst/>
              <a:ahLst/>
              <a:cxnLst/>
              <a:rect l="l" t="t" r="r" b="b"/>
              <a:pathLst>
                <a:path w="13716000" h="6949440">
                  <a:moveTo>
                    <a:pt x="0" y="0"/>
                  </a:moveTo>
                  <a:lnTo>
                    <a:pt x="13716000" y="0"/>
                  </a:lnTo>
                  <a:lnTo>
                    <a:pt x="13716000" y="6949440"/>
                  </a:lnTo>
                  <a:lnTo>
                    <a:pt x="0" y="6949440"/>
                  </a:lnTo>
                  <a:close/>
                </a:path>
              </a:pathLst>
            </a:custGeom>
            <a:blipFill>
              <a:blip r:embed="rId3">
                <a:alphaModFix amt="0"/>
              </a:blip>
              <a:stretch>
                <a:fillRect l="-15007" r="-15007"/>
              </a:stretch>
            </a:blipFill>
          </p:spPr>
        </p:sp>
        <p:sp>
          <p:nvSpPr>
            <p:cNvPr id="15" name="TextBox 15"/>
            <p:cNvSpPr txBox="1"/>
            <p:nvPr/>
          </p:nvSpPr>
          <p:spPr>
            <a:xfrm>
              <a:off x="0" y="-57150"/>
              <a:ext cx="13716000" cy="7006590"/>
            </a:xfrm>
            <a:prstGeom prst="rect">
              <a:avLst/>
            </a:prstGeom>
          </p:spPr>
          <p:txBody>
            <a:bodyPr lIns="0" tIns="0" rIns="0" bIns="0" rtlCol="0" anchor="ctr"/>
            <a:lstStyle/>
            <a:p>
              <a:pPr algn="just">
                <a:lnSpc>
                  <a:spcPts val="4967"/>
                </a:lnSpc>
              </a:pPr>
              <a:r>
                <a:rPr lang="en-US" sz="3600">
                  <a:solidFill>
                    <a:srgbClr val="DFF0E6"/>
                  </a:solidFill>
                  <a:latin typeface="Montserrat"/>
                  <a:ea typeface="Montserrat"/>
                  <a:cs typeface="Montserrat"/>
                  <a:sym typeface="Montserrat"/>
                </a:rPr>
                <a:t>AI có thể hỗ trợ ra quyết định nhưng</a:t>
              </a:r>
            </a:p>
            <a:p>
              <a:pPr algn="l">
                <a:lnSpc>
                  <a:spcPts val="7038"/>
                </a:lnSpc>
              </a:pPr>
              <a:r>
                <a:rPr lang="en-US" sz="5100" b="1">
                  <a:solidFill>
                    <a:srgbClr val="FFFFFF"/>
                  </a:solidFill>
                  <a:latin typeface="Montserrat Bold"/>
                  <a:ea typeface="Montserrat Bold"/>
                  <a:cs typeface="Montserrat Bold"/>
                  <a:sym typeface="Montserrat Bold"/>
                </a:rPr>
                <a:t>AI KHÔNG THAY THẾ TRÁCH NHIỆM RA QUYẾT ĐỊNH</a:t>
              </a:r>
            </a:p>
          </p:txBody>
        </p:sp>
      </p:gr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006838"/>
        </a:solidFill>
        <a:effectLst/>
      </p:bgPr>
    </p:bg>
    <p:spTree>
      <p:nvGrpSpPr>
        <p:cNvPr id="1" name=""/>
        <p:cNvGrpSpPr/>
        <p:nvPr/>
      </p:nvGrpSpPr>
      <p:grpSpPr>
        <a:xfrm>
          <a:off x="0" y="0"/>
          <a:ext cx="0" cy="0"/>
          <a:chOff x="0" y="0"/>
          <a:chExt cx="0" cy="0"/>
        </a:xfrm>
      </p:grpSpPr>
      <p:grpSp>
        <p:nvGrpSpPr>
          <p:cNvPr id="2" name="Group 2"/>
          <p:cNvGrpSpPr/>
          <p:nvPr/>
        </p:nvGrpSpPr>
        <p:grpSpPr>
          <a:xfrm>
            <a:off x="11786235" y="-9525"/>
            <a:ext cx="6510833" cy="10306050"/>
            <a:chOff x="0" y="0"/>
            <a:chExt cx="8681110" cy="13741400"/>
          </a:xfrm>
        </p:grpSpPr>
        <p:sp>
          <p:nvSpPr>
            <p:cNvPr id="3" name="Freeform 3"/>
            <p:cNvSpPr/>
            <p:nvPr/>
          </p:nvSpPr>
          <p:spPr>
            <a:xfrm>
              <a:off x="0" y="0"/>
              <a:ext cx="8681085" cy="13741400"/>
            </a:xfrm>
            <a:custGeom>
              <a:avLst/>
              <a:gdLst/>
              <a:ahLst/>
              <a:cxnLst/>
              <a:rect l="l" t="t" r="r" b="b"/>
              <a:pathLst>
                <a:path w="8681085" h="13741400">
                  <a:moveTo>
                    <a:pt x="0" y="0"/>
                  </a:moveTo>
                  <a:lnTo>
                    <a:pt x="8681085" y="0"/>
                  </a:lnTo>
                  <a:lnTo>
                    <a:pt x="8681085" y="13741400"/>
                  </a:lnTo>
                  <a:lnTo>
                    <a:pt x="0" y="13741400"/>
                  </a:lnTo>
                  <a:close/>
                </a:path>
              </a:pathLst>
            </a:custGeom>
            <a:solidFill>
              <a:srgbClr val="004A28"/>
            </a:solidFill>
            <a:ln w="19050" cap="sq">
              <a:solidFill>
                <a:srgbClr val="004A28"/>
              </a:solidFill>
              <a:prstDash val="solid"/>
              <a:miter/>
            </a:ln>
          </p:spPr>
        </p:sp>
      </p:grpSp>
      <p:grpSp>
        <p:nvGrpSpPr>
          <p:cNvPr id="4" name="Group 4"/>
          <p:cNvGrpSpPr/>
          <p:nvPr/>
        </p:nvGrpSpPr>
        <p:grpSpPr>
          <a:xfrm>
            <a:off x="960120" y="822960"/>
            <a:ext cx="1371600" cy="1028700"/>
            <a:chOff x="0" y="0"/>
            <a:chExt cx="1828800" cy="1371600"/>
          </a:xfrm>
        </p:grpSpPr>
        <p:sp>
          <p:nvSpPr>
            <p:cNvPr id="5" name="Freeform 5" descr="/tmp/claude-0/-home-claude/f2393a9e-ecac-5976-acd4-5fd24e92a8fe/scratchpad/assets/logo.jpg"/>
            <p:cNvSpPr/>
            <p:nvPr/>
          </p:nvSpPr>
          <p:spPr>
            <a:xfrm>
              <a:off x="0" y="0"/>
              <a:ext cx="1828800" cy="1371600"/>
            </a:xfrm>
            <a:custGeom>
              <a:avLst/>
              <a:gdLst/>
              <a:ahLst/>
              <a:cxnLst/>
              <a:rect l="l" t="t" r="r" b="b"/>
              <a:pathLst>
                <a:path w="1828800" h="1371600">
                  <a:moveTo>
                    <a:pt x="0" y="0"/>
                  </a:moveTo>
                  <a:lnTo>
                    <a:pt x="1828800" y="0"/>
                  </a:lnTo>
                  <a:lnTo>
                    <a:pt x="1828800" y="1371600"/>
                  </a:lnTo>
                  <a:lnTo>
                    <a:pt x="0" y="1371600"/>
                  </a:lnTo>
                  <a:lnTo>
                    <a:pt x="0" y="0"/>
                  </a:lnTo>
                  <a:close/>
                </a:path>
              </a:pathLst>
            </a:custGeom>
            <a:blipFill>
              <a:blip r:embed="rId3"/>
              <a:stretch>
                <a:fillRect/>
              </a:stretch>
            </a:blipFill>
          </p:spPr>
        </p:sp>
      </p:grpSp>
      <p:grpSp>
        <p:nvGrpSpPr>
          <p:cNvPr id="6" name="Group 6"/>
          <p:cNvGrpSpPr/>
          <p:nvPr/>
        </p:nvGrpSpPr>
        <p:grpSpPr>
          <a:xfrm>
            <a:off x="11795760" y="2606040"/>
            <a:ext cx="6491783" cy="4389120"/>
            <a:chOff x="0" y="0"/>
            <a:chExt cx="8655710" cy="5852160"/>
          </a:xfrm>
        </p:grpSpPr>
        <p:sp>
          <p:nvSpPr>
            <p:cNvPr id="7" name="Freeform 7"/>
            <p:cNvSpPr/>
            <p:nvPr/>
          </p:nvSpPr>
          <p:spPr>
            <a:xfrm>
              <a:off x="0" y="0"/>
              <a:ext cx="8655710" cy="5852160"/>
            </a:xfrm>
            <a:custGeom>
              <a:avLst/>
              <a:gdLst/>
              <a:ahLst/>
              <a:cxnLst/>
              <a:rect l="l" t="t" r="r" b="b"/>
              <a:pathLst>
                <a:path w="8655710" h="5852160">
                  <a:moveTo>
                    <a:pt x="0" y="0"/>
                  </a:moveTo>
                  <a:lnTo>
                    <a:pt x="8655710" y="0"/>
                  </a:lnTo>
                  <a:lnTo>
                    <a:pt x="8655710" y="5852160"/>
                  </a:lnTo>
                  <a:lnTo>
                    <a:pt x="0" y="5852160"/>
                  </a:lnTo>
                  <a:close/>
                </a:path>
              </a:pathLst>
            </a:custGeom>
            <a:blipFill>
              <a:blip r:embed="rId4">
                <a:alphaModFix amt="0"/>
              </a:blip>
              <a:stretch>
                <a:fillRect l="-36746" r="-36746"/>
              </a:stretch>
            </a:blipFill>
          </p:spPr>
        </p:sp>
        <p:sp>
          <p:nvSpPr>
            <p:cNvPr id="8" name="TextBox 8"/>
            <p:cNvSpPr txBox="1"/>
            <p:nvPr/>
          </p:nvSpPr>
          <p:spPr>
            <a:xfrm>
              <a:off x="0" y="-9525"/>
              <a:ext cx="8655710" cy="5861685"/>
            </a:xfrm>
            <a:prstGeom prst="rect">
              <a:avLst/>
            </a:prstGeom>
          </p:spPr>
          <p:txBody>
            <a:bodyPr lIns="0" tIns="0" rIns="0" bIns="0" rtlCol="0" anchor="ctr"/>
            <a:lstStyle/>
            <a:p>
              <a:pPr algn="ctr">
                <a:lnSpc>
                  <a:spcPts val="32400"/>
                </a:lnSpc>
              </a:pPr>
              <a:r>
                <a:rPr lang="en-US" sz="27000" b="1">
                  <a:solidFill>
                    <a:srgbClr val="FF7300"/>
                  </a:solidFill>
                  <a:latin typeface="Montserrat Bold"/>
                  <a:ea typeface="Montserrat Bold"/>
                  <a:cs typeface="Montserrat Bold"/>
                  <a:sym typeface="Montserrat Bold"/>
                </a:rPr>
                <a:t>04</a:t>
              </a:r>
            </a:p>
          </p:txBody>
        </p:sp>
      </p:grpSp>
      <p:grpSp>
        <p:nvGrpSpPr>
          <p:cNvPr id="9" name="Group 9"/>
          <p:cNvGrpSpPr/>
          <p:nvPr/>
        </p:nvGrpSpPr>
        <p:grpSpPr>
          <a:xfrm>
            <a:off x="960120" y="3291840"/>
            <a:ext cx="10287000" cy="3566160"/>
            <a:chOff x="0" y="0"/>
            <a:chExt cx="13716000" cy="4754880"/>
          </a:xfrm>
        </p:grpSpPr>
        <p:sp>
          <p:nvSpPr>
            <p:cNvPr id="10" name="Freeform 10"/>
            <p:cNvSpPr/>
            <p:nvPr/>
          </p:nvSpPr>
          <p:spPr>
            <a:xfrm>
              <a:off x="0" y="0"/>
              <a:ext cx="13716000" cy="4754880"/>
            </a:xfrm>
            <a:custGeom>
              <a:avLst/>
              <a:gdLst/>
              <a:ahLst/>
              <a:cxnLst/>
              <a:rect l="l" t="t" r="r" b="b"/>
              <a:pathLst>
                <a:path w="13716000" h="4754880">
                  <a:moveTo>
                    <a:pt x="0" y="0"/>
                  </a:moveTo>
                  <a:lnTo>
                    <a:pt x="13716000" y="0"/>
                  </a:lnTo>
                  <a:lnTo>
                    <a:pt x="13716000" y="4754880"/>
                  </a:lnTo>
                  <a:lnTo>
                    <a:pt x="0" y="4754880"/>
                  </a:lnTo>
                  <a:close/>
                </a:path>
              </a:pathLst>
            </a:custGeom>
            <a:blipFill>
              <a:blip r:embed="rId4">
                <a:alphaModFix amt="0"/>
              </a:blip>
              <a:stretch>
                <a:fillRect t="-6206" b="-6206"/>
              </a:stretch>
            </a:blipFill>
          </p:spPr>
        </p:sp>
        <p:sp>
          <p:nvSpPr>
            <p:cNvPr id="11" name="TextBox 11"/>
            <p:cNvSpPr txBox="1"/>
            <p:nvPr/>
          </p:nvSpPr>
          <p:spPr>
            <a:xfrm>
              <a:off x="0" y="0"/>
              <a:ext cx="13716000" cy="4754880"/>
            </a:xfrm>
            <a:prstGeom prst="rect">
              <a:avLst/>
            </a:prstGeom>
          </p:spPr>
          <p:txBody>
            <a:bodyPr lIns="0" tIns="0" rIns="0" bIns="0" rtlCol="0" anchor="ctr"/>
            <a:lstStyle/>
            <a:p>
              <a:pPr algn="l">
                <a:lnSpc>
                  <a:spcPts val="7200"/>
                </a:lnSpc>
              </a:pPr>
              <a:r>
                <a:rPr lang="en-US" sz="6000" b="1">
                  <a:solidFill>
                    <a:srgbClr val="FFFFFF"/>
                  </a:solidFill>
                  <a:latin typeface="Montserrat Bold"/>
                  <a:ea typeface="Montserrat Bold"/>
                  <a:cs typeface="Montserrat Bold"/>
                  <a:sym typeface="Montserrat Bold"/>
                </a:rPr>
                <a:t>LỘ TRÌNH</a:t>
              </a:r>
            </a:p>
            <a:p>
              <a:pPr algn="l">
                <a:lnSpc>
                  <a:spcPts val="7200"/>
                </a:lnSpc>
              </a:pPr>
              <a:r>
                <a:rPr lang="en-US" sz="6000" b="1">
                  <a:solidFill>
                    <a:srgbClr val="FFFFFF"/>
                  </a:solidFill>
                  <a:latin typeface="Montserrat Bold"/>
                  <a:ea typeface="Montserrat Bold"/>
                  <a:cs typeface="Montserrat Bold"/>
                  <a:sym typeface="Montserrat Bold"/>
                </a:rPr>
                <a:t>QUẢN TRỊ SỰ THAY ĐỔI</a:t>
              </a:r>
            </a:p>
          </p:txBody>
        </p:sp>
      </p:gr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4"/>
          <p:cNvGrpSpPr/>
          <p:nvPr/>
        </p:nvGrpSpPr>
        <p:grpSpPr>
          <a:xfrm>
            <a:off x="822960" y="411480"/>
            <a:ext cx="15361920" cy="1371600"/>
            <a:chOff x="0" y="0"/>
            <a:chExt cx="20482560" cy="1828800"/>
          </a:xfrm>
        </p:grpSpPr>
        <p:sp>
          <p:nvSpPr>
            <p:cNvPr id="5" name="Freeform 5"/>
            <p:cNvSpPr/>
            <p:nvPr/>
          </p:nvSpPr>
          <p:spPr>
            <a:xfrm>
              <a:off x="0" y="0"/>
              <a:ext cx="20482561" cy="1828800"/>
            </a:xfrm>
            <a:custGeom>
              <a:avLst/>
              <a:gdLst/>
              <a:ahLst/>
              <a:cxnLst/>
              <a:rect l="l" t="t" r="r" b="b"/>
              <a:pathLst>
                <a:path w="20482561" h="1828800">
                  <a:moveTo>
                    <a:pt x="0" y="0"/>
                  </a:moveTo>
                  <a:lnTo>
                    <a:pt x="20482561" y="0"/>
                  </a:lnTo>
                  <a:lnTo>
                    <a:pt x="20482561" y="1828800"/>
                  </a:lnTo>
                  <a:lnTo>
                    <a:pt x="0" y="1828800"/>
                  </a:lnTo>
                  <a:close/>
                </a:path>
              </a:pathLst>
            </a:custGeom>
            <a:blipFill>
              <a:blip r:embed="rId3">
                <a:alphaModFix amt="0"/>
              </a:blip>
              <a:stretch>
                <a:fillRect t="-168232" b="-168232"/>
              </a:stretch>
            </a:blipFill>
          </p:spPr>
        </p:sp>
        <p:sp>
          <p:nvSpPr>
            <p:cNvPr id="6" name="TextBox 6"/>
            <p:cNvSpPr txBox="1"/>
            <p:nvPr/>
          </p:nvSpPr>
          <p:spPr>
            <a:xfrm>
              <a:off x="0" y="0"/>
              <a:ext cx="20482560" cy="1828800"/>
            </a:xfrm>
            <a:prstGeom prst="rect">
              <a:avLst/>
            </a:prstGeom>
          </p:spPr>
          <p:txBody>
            <a:bodyPr lIns="0" tIns="0" rIns="0" bIns="0" rtlCol="0" anchor="ctr"/>
            <a:lstStyle/>
            <a:p>
              <a:pPr algn="l">
                <a:lnSpc>
                  <a:spcPts val="4680"/>
                </a:lnSpc>
              </a:pPr>
              <a:r>
                <a:rPr lang="en-US" sz="3900" b="1">
                  <a:solidFill>
                    <a:srgbClr val="006838"/>
                  </a:solidFill>
                  <a:latin typeface="Montserrat Bold"/>
                  <a:ea typeface="Montserrat Bold"/>
                  <a:cs typeface="Montserrat Bold"/>
                  <a:sym typeface="Montserrat Bold"/>
                </a:rPr>
                <a:t>QUẢN TRỊ SỰ THAY ĐỔI</a:t>
              </a:r>
            </a:p>
          </p:txBody>
        </p:sp>
      </p:grpSp>
      <p:grpSp>
        <p:nvGrpSpPr>
          <p:cNvPr id="7" name="Group 7"/>
          <p:cNvGrpSpPr/>
          <p:nvPr/>
        </p:nvGrpSpPr>
        <p:grpSpPr>
          <a:xfrm>
            <a:off x="815816" y="2255996"/>
            <a:ext cx="4814888" cy="7146607"/>
            <a:chOff x="0" y="0"/>
            <a:chExt cx="6419850" cy="9528810"/>
          </a:xfrm>
        </p:grpSpPr>
        <p:sp>
          <p:nvSpPr>
            <p:cNvPr id="8" name="Freeform 8"/>
            <p:cNvSpPr/>
            <p:nvPr/>
          </p:nvSpPr>
          <p:spPr>
            <a:xfrm>
              <a:off x="0" y="0"/>
              <a:ext cx="6419850" cy="9528810"/>
            </a:xfrm>
            <a:custGeom>
              <a:avLst/>
              <a:gdLst/>
              <a:ahLst/>
              <a:cxnLst/>
              <a:rect l="l" t="t" r="r" b="b"/>
              <a:pathLst>
                <a:path w="6419850" h="9528810">
                  <a:moveTo>
                    <a:pt x="0" y="220091"/>
                  </a:moveTo>
                  <a:cubicBezTo>
                    <a:pt x="0" y="98552"/>
                    <a:pt x="98552" y="0"/>
                    <a:pt x="220091" y="0"/>
                  </a:cubicBezTo>
                  <a:lnTo>
                    <a:pt x="6199759" y="0"/>
                  </a:lnTo>
                  <a:cubicBezTo>
                    <a:pt x="6321298" y="0"/>
                    <a:pt x="6419850" y="98552"/>
                    <a:pt x="6419850" y="220091"/>
                  </a:cubicBezTo>
                  <a:lnTo>
                    <a:pt x="6419850" y="9308719"/>
                  </a:lnTo>
                  <a:cubicBezTo>
                    <a:pt x="6419850" y="9430258"/>
                    <a:pt x="6321298" y="9528810"/>
                    <a:pt x="6199759" y="9528810"/>
                  </a:cubicBezTo>
                  <a:lnTo>
                    <a:pt x="220091" y="9528810"/>
                  </a:lnTo>
                  <a:cubicBezTo>
                    <a:pt x="98552" y="9528810"/>
                    <a:pt x="0" y="9430258"/>
                    <a:pt x="0" y="9308719"/>
                  </a:cubicBezTo>
                  <a:close/>
                </a:path>
              </a:pathLst>
            </a:custGeom>
            <a:solidFill>
              <a:srgbClr val="006838"/>
            </a:solidFill>
            <a:ln w="14288" cap="sq">
              <a:solidFill>
                <a:srgbClr val="006838"/>
              </a:solidFill>
              <a:prstDash val="solid"/>
              <a:miter/>
            </a:ln>
          </p:spPr>
        </p:sp>
      </p:grpSp>
      <p:grpSp>
        <p:nvGrpSpPr>
          <p:cNvPr id="9" name="Group 9"/>
          <p:cNvGrpSpPr/>
          <p:nvPr/>
        </p:nvGrpSpPr>
        <p:grpSpPr>
          <a:xfrm>
            <a:off x="1480185" y="4086225"/>
            <a:ext cx="3486150" cy="3486150"/>
            <a:chOff x="0" y="0"/>
            <a:chExt cx="4648200" cy="4648200"/>
          </a:xfrm>
        </p:grpSpPr>
        <p:sp>
          <p:nvSpPr>
            <p:cNvPr id="10" name="Freeform 10"/>
            <p:cNvSpPr/>
            <p:nvPr/>
          </p:nvSpPr>
          <p:spPr>
            <a:xfrm>
              <a:off x="0" y="0"/>
              <a:ext cx="4648200" cy="4648200"/>
            </a:xfrm>
            <a:custGeom>
              <a:avLst/>
              <a:gdLst/>
              <a:ahLst/>
              <a:cxnLst/>
              <a:rect l="l" t="t" r="r" b="b"/>
              <a:pathLst>
                <a:path w="4648200" h="4648200">
                  <a:moveTo>
                    <a:pt x="0" y="2324100"/>
                  </a:moveTo>
                  <a:cubicBezTo>
                    <a:pt x="0" y="1040511"/>
                    <a:pt x="1040511" y="0"/>
                    <a:pt x="2324100" y="0"/>
                  </a:cubicBezTo>
                  <a:cubicBezTo>
                    <a:pt x="3607689" y="0"/>
                    <a:pt x="4648200" y="1040511"/>
                    <a:pt x="4648200" y="2324100"/>
                  </a:cubicBezTo>
                  <a:cubicBezTo>
                    <a:pt x="4648200" y="3607689"/>
                    <a:pt x="3607689" y="4648200"/>
                    <a:pt x="2324100" y="4648200"/>
                  </a:cubicBezTo>
                  <a:cubicBezTo>
                    <a:pt x="1040511" y="4648200"/>
                    <a:pt x="0" y="3607689"/>
                    <a:pt x="0" y="2324100"/>
                  </a:cubicBezTo>
                  <a:close/>
                </a:path>
              </a:pathLst>
            </a:custGeom>
            <a:solidFill>
              <a:srgbClr val="004A28"/>
            </a:solidFill>
            <a:ln w="57150" cap="sq">
              <a:solidFill>
                <a:srgbClr val="FF7300"/>
              </a:solidFill>
              <a:prstDash val="solid"/>
              <a:miter/>
            </a:ln>
          </p:spPr>
        </p:sp>
      </p:grpSp>
      <p:grpSp>
        <p:nvGrpSpPr>
          <p:cNvPr id="11" name="Group 11"/>
          <p:cNvGrpSpPr/>
          <p:nvPr/>
        </p:nvGrpSpPr>
        <p:grpSpPr>
          <a:xfrm>
            <a:off x="2400300" y="5006340"/>
            <a:ext cx="1645920" cy="1645920"/>
            <a:chOff x="0" y="0"/>
            <a:chExt cx="2194560" cy="2194560"/>
          </a:xfrm>
        </p:grpSpPr>
        <p:sp>
          <p:nvSpPr>
            <p:cNvPr id="12" name="Freeform 12" descr="preencoded.png"/>
            <p:cNvSpPr/>
            <p:nvPr/>
          </p:nvSpPr>
          <p:spPr>
            <a:xfrm>
              <a:off x="0" y="0"/>
              <a:ext cx="2194560" cy="2194560"/>
            </a:xfrm>
            <a:custGeom>
              <a:avLst/>
              <a:gdLst/>
              <a:ahLst/>
              <a:cxnLst/>
              <a:rect l="l" t="t" r="r" b="b"/>
              <a:pathLst>
                <a:path w="2194560" h="2194560">
                  <a:moveTo>
                    <a:pt x="0" y="0"/>
                  </a:moveTo>
                  <a:lnTo>
                    <a:pt x="2194560" y="0"/>
                  </a:lnTo>
                  <a:lnTo>
                    <a:pt x="2194560" y="2194560"/>
                  </a:lnTo>
                  <a:lnTo>
                    <a:pt x="0" y="2194560"/>
                  </a:lnTo>
                  <a:lnTo>
                    <a:pt x="0" y="0"/>
                  </a:lnTo>
                  <a:close/>
                </a:path>
              </a:pathLst>
            </a:custGeom>
            <a:blipFill>
              <a:blip r:embed="rId4"/>
              <a:stretch>
                <a:fillRect/>
              </a:stretch>
            </a:blipFill>
          </p:spPr>
        </p:sp>
      </p:grpSp>
      <p:grpSp>
        <p:nvGrpSpPr>
          <p:cNvPr id="13" name="Group 13"/>
          <p:cNvGrpSpPr/>
          <p:nvPr/>
        </p:nvGrpSpPr>
        <p:grpSpPr>
          <a:xfrm>
            <a:off x="6096476" y="2255996"/>
            <a:ext cx="11371136" cy="2140267"/>
            <a:chOff x="0" y="0"/>
            <a:chExt cx="15161514" cy="2853690"/>
          </a:xfrm>
        </p:grpSpPr>
        <p:sp>
          <p:nvSpPr>
            <p:cNvPr id="14" name="Freeform 14"/>
            <p:cNvSpPr/>
            <p:nvPr/>
          </p:nvSpPr>
          <p:spPr>
            <a:xfrm>
              <a:off x="0" y="0"/>
              <a:ext cx="15161515" cy="2853690"/>
            </a:xfrm>
            <a:custGeom>
              <a:avLst/>
              <a:gdLst/>
              <a:ahLst/>
              <a:cxnLst/>
              <a:rect l="l" t="t" r="r" b="b"/>
              <a:pathLst>
                <a:path w="15161515" h="2853690">
                  <a:moveTo>
                    <a:pt x="0" y="220980"/>
                  </a:moveTo>
                  <a:cubicBezTo>
                    <a:pt x="0" y="98933"/>
                    <a:pt x="98933" y="0"/>
                    <a:pt x="220980" y="0"/>
                  </a:cubicBezTo>
                  <a:lnTo>
                    <a:pt x="14940535" y="0"/>
                  </a:lnTo>
                  <a:cubicBezTo>
                    <a:pt x="15062581" y="0"/>
                    <a:pt x="15161515" y="98933"/>
                    <a:pt x="15161515" y="220980"/>
                  </a:cubicBezTo>
                  <a:lnTo>
                    <a:pt x="15161515" y="2632710"/>
                  </a:lnTo>
                  <a:cubicBezTo>
                    <a:pt x="15161515" y="2754757"/>
                    <a:pt x="15062581" y="2853690"/>
                    <a:pt x="14940535" y="2853690"/>
                  </a:cubicBezTo>
                  <a:lnTo>
                    <a:pt x="220980" y="2853690"/>
                  </a:lnTo>
                  <a:cubicBezTo>
                    <a:pt x="98933" y="2853690"/>
                    <a:pt x="0" y="2754757"/>
                    <a:pt x="0" y="2632710"/>
                  </a:cubicBezTo>
                  <a:close/>
                </a:path>
              </a:pathLst>
            </a:custGeom>
            <a:solidFill>
              <a:srgbClr val="FFFFFF"/>
            </a:solidFill>
            <a:ln w="14288" cap="sq">
              <a:solidFill>
                <a:srgbClr val="DCE6E0"/>
              </a:solidFill>
              <a:prstDash val="solid"/>
              <a:miter/>
            </a:ln>
          </p:spPr>
        </p:sp>
      </p:grpSp>
      <p:grpSp>
        <p:nvGrpSpPr>
          <p:cNvPr id="15" name="Group 15"/>
          <p:cNvGrpSpPr/>
          <p:nvPr/>
        </p:nvGrpSpPr>
        <p:grpSpPr>
          <a:xfrm>
            <a:off x="6574155" y="2692527"/>
            <a:ext cx="1253490" cy="1253490"/>
            <a:chOff x="0" y="0"/>
            <a:chExt cx="1671320" cy="1671320"/>
          </a:xfrm>
        </p:grpSpPr>
        <p:sp>
          <p:nvSpPr>
            <p:cNvPr id="16" name="Freeform 16"/>
            <p:cNvSpPr/>
            <p:nvPr/>
          </p:nvSpPr>
          <p:spPr>
            <a:xfrm>
              <a:off x="0" y="0"/>
              <a:ext cx="1671320" cy="1671320"/>
            </a:xfrm>
            <a:custGeom>
              <a:avLst/>
              <a:gdLst/>
              <a:ahLst/>
              <a:cxnLst/>
              <a:rect l="l" t="t" r="r" b="b"/>
              <a:pathLst>
                <a:path w="1671320" h="1671320">
                  <a:moveTo>
                    <a:pt x="0" y="835660"/>
                  </a:moveTo>
                  <a:cubicBezTo>
                    <a:pt x="0" y="374142"/>
                    <a:pt x="374142" y="0"/>
                    <a:pt x="835660" y="0"/>
                  </a:cubicBezTo>
                  <a:cubicBezTo>
                    <a:pt x="1297178" y="0"/>
                    <a:pt x="1671320" y="374142"/>
                    <a:pt x="1671320" y="835660"/>
                  </a:cubicBezTo>
                  <a:cubicBezTo>
                    <a:pt x="1671320" y="1297178"/>
                    <a:pt x="1297178" y="1671320"/>
                    <a:pt x="835660" y="1671320"/>
                  </a:cubicBezTo>
                  <a:cubicBezTo>
                    <a:pt x="374142" y="1671320"/>
                    <a:pt x="0" y="1297178"/>
                    <a:pt x="0" y="835660"/>
                  </a:cubicBezTo>
                  <a:close/>
                </a:path>
              </a:pathLst>
            </a:custGeom>
            <a:solidFill>
              <a:srgbClr val="FFF1E5"/>
            </a:solidFill>
            <a:ln w="19050" cap="sq">
              <a:solidFill>
                <a:srgbClr val="FFF1E5"/>
              </a:solidFill>
              <a:prstDash val="solid"/>
              <a:miter/>
            </a:ln>
          </p:spPr>
        </p:sp>
      </p:grpSp>
      <p:grpSp>
        <p:nvGrpSpPr>
          <p:cNvPr id="17" name="Group 17"/>
          <p:cNvGrpSpPr/>
          <p:nvPr/>
        </p:nvGrpSpPr>
        <p:grpSpPr>
          <a:xfrm>
            <a:off x="6892290" y="3010662"/>
            <a:ext cx="617220" cy="617220"/>
            <a:chOff x="0" y="0"/>
            <a:chExt cx="822960" cy="822960"/>
          </a:xfrm>
        </p:grpSpPr>
        <p:sp>
          <p:nvSpPr>
            <p:cNvPr id="18" name="Freeform 18" descr="preencoded.png"/>
            <p:cNvSpPr/>
            <p:nvPr/>
          </p:nvSpPr>
          <p:spPr>
            <a:xfrm>
              <a:off x="0" y="0"/>
              <a:ext cx="822960" cy="822960"/>
            </a:xfrm>
            <a:custGeom>
              <a:avLst/>
              <a:gdLst/>
              <a:ahLst/>
              <a:cxnLst/>
              <a:rect l="l" t="t" r="r" b="b"/>
              <a:pathLst>
                <a:path w="822960" h="822960">
                  <a:moveTo>
                    <a:pt x="0" y="0"/>
                  </a:moveTo>
                  <a:lnTo>
                    <a:pt x="822960" y="0"/>
                  </a:lnTo>
                  <a:lnTo>
                    <a:pt x="822960" y="822960"/>
                  </a:lnTo>
                  <a:lnTo>
                    <a:pt x="0" y="822960"/>
                  </a:lnTo>
                  <a:lnTo>
                    <a:pt x="0" y="0"/>
                  </a:lnTo>
                  <a:close/>
                </a:path>
              </a:pathLst>
            </a:custGeom>
            <a:blipFill>
              <a:blip r:embed="rId5"/>
              <a:stretch>
                <a:fillRect/>
              </a:stretch>
            </a:blipFill>
          </p:spPr>
        </p:sp>
      </p:grpSp>
      <p:grpSp>
        <p:nvGrpSpPr>
          <p:cNvPr id="19" name="Group 19"/>
          <p:cNvGrpSpPr/>
          <p:nvPr/>
        </p:nvGrpSpPr>
        <p:grpSpPr>
          <a:xfrm>
            <a:off x="8229600" y="2468880"/>
            <a:ext cx="8846820" cy="1714500"/>
            <a:chOff x="0" y="0"/>
            <a:chExt cx="11795760" cy="2286000"/>
          </a:xfrm>
        </p:grpSpPr>
        <p:sp>
          <p:nvSpPr>
            <p:cNvPr id="20" name="Freeform 20"/>
            <p:cNvSpPr/>
            <p:nvPr/>
          </p:nvSpPr>
          <p:spPr>
            <a:xfrm>
              <a:off x="0" y="0"/>
              <a:ext cx="11795760" cy="2286000"/>
            </a:xfrm>
            <a:custGeom>
              <a:avLst/>
              <a:gdLst/>
              <a:ahLst/>
              <a:cxnLst/>
              <a:rect l="l" t="t" r="r" b="b"/>
              <a:pathLst>
                <a:path w="11795760" h="2286000">
                  <a:moveTo>
                    <a:pt x="0" y="0"/>
                  </a:moveTo>
                  <a:lnTo>
                    <a:pt x="11795760" y="0"/>
                  </a:lnTo>
                  <a:lnTo>
                    <a:pt x="11795760" y="2286000"/>
                  </a:lnTo>
                  <a:lnTo>
                    <a:pt x="0" y="2286000"/>
                  </a:lnTo>
                  <a:close/>
                </a:path>
              </a:pathLst>
            </a:custGeom>
            <a:blipFill>
              <a:blip r:embed="rId3">
                <a:alphaModFix amt="0"/>
              </a:blip>
              <a:stretch>
                <a:fillRect t="-50542" b="-50542"/>
              </a:stretch>
            </a:blipFill>
          </p:spPr>
        </p:sp>
        <p:sp>
          <p:nvSpPr>
            <p:cNvPr id="21" name="TextBox 21"/>
            <p:cNvSpPr txBox="1"/>
            <p:nvPr/>
          </p:nvSpPr>
          <p:spPr>
            <a:xfrm>
              <a:off x="0" y="-38100"/>
              <a:ext cx="11795760" cy="2324100"/>
            </a:xfrm>
            <a:prstGeom prst="rect">
              <a:avLst/>
            </a:prstGeom>
          </p:spPr>
          <p:txBody>
            <a:bodyPr lIns="0" tIns="0" rIns="0" bIns="0" rtlCol="0" anchor="ctr"/>
            <a:lstStyle/>
            <a:p>
              <a:pPr algn="l">
                <a:lnSpc>
                  <a:spcPts val="3427"/>
                </a:lnSpc>
              </a:pPr>
              <a:r>
                <a:rPr lang="en-US" sz="2550" b="1">
                  <a:latin typeface="Montserrat Bold"/>
                  <a:ea typeface="Montserrat Bold"/>
                  <a:cs typeface="Montserrat Bold"/>
                  <a:sym typeface="Montserrat Bold"/>
                </a:rPr>
                <a:t>Định vị lại vai trò: </a:t>
              </a:r>
              <a:r>
                <a:rPr lang="en-US" sz="2550">
                  <a:solidFill>
                    <a:srgbClr val="1E2B25"/>
                  </a:solidFill>
                  <a:latin typeface="Montserrat"/>
                  <a:ea typeface="Montserrat"/>
                  <a:cs typeface="Montserrat"/>
                  <a:sym typeface="Montserrat"/>
                </a:rPr>
                <a:t>Từ "Người làm" sang "Người duyệt".</a:t>
              </a:r>
            </a:p>
          </p:txBody>
        </p:sp>
      </p:grpSp>
      <p:grpSp>
        <p:nvGrpSpPr>
          <p:cNvPr id="22" name="Group 22"/>
          <p:cNvGrpSpPr/>
          <p:nvPr/>
        </p:nvGrpSpPr>
        <p:grpSpPr>
          <a:xfrm>
            <a:off x="6096476" y="4724876"/>
            <a:ext cx="11371136" cy="2140267"/>
            <a:chOff x="0" y="0"/>
            <a:chExt cx="15161514" cy="2853690"/>
          </a:xfrm>
        </p:grpSpPr>
        <p:sp>
          <p:nvSpPr>
            <p:cNvPr id="23" name="Freeform 23"/>
            <p:cNvSpPr/>
            <p:nvPr/>
          </p:nvSpPr>
          <p:spPr>
            <a:xfrm>
              <a:off x="0" y="0"/>
              <a:ext cx="15161515" cy="2853690"/>
            </a:xfrm>
            <a:custGeom>
              <a:avLst/>
              <a:gdLst/>
              <a:ahLst/>
              <a:cxnLst/>
              <a:rect l="l" t="t" r="r" b="b"/>
              <a:pathLst>
                <a:path w="15161515" h="2853690">
                  <a:moveTo>
                    <a:pt x="0" y="220980"/>
                  </a:moveTo>
                  <a:cubicBezTo>
                    <a:pt x="0" y="98933"/>
                    <a:pt x="98933" y="0"/>
                    <a:pt x="220980" y="0"/>
                  </a:cubicBezTo>
                  <a:lnTo>
                    <a:pt x="14940535" y="0"/>
                  </a:lnTo>
                  <a:cubicBezTo>
                    <a:pt x="15062581" y="0"/>
                    <a:pt x="15161515" y="98933"/>
                    <a:pt x="15161515" y="220980"/>
                  </a:cubicBezTo>
                  <a:lnTo>
                    <a:pt x="15161515" y="2632710"/>
                  </a:lnTo>
                  <a:cubicBezTo>
                    <a:pt x="15161515" y="2754757"/>
                    <a:pt x="15062581" y="2853690"/>
                    <a:pt x="14940535" y="2853690"/>
                  </a:cubicBezTo>
                  <a:lnTo>
                    <a:pt x="220980" y="2853690"/>
                  </a:lnTo>
                  <a:cubicBezTo>
                    <a:pt x="98933" y="2853690"/>
                    <a:pt x="0" y="2754757"/>
                    <a:pt x="0" y="2632710"/>
                  </a:cubicBezTo>
                  <a:close/>
                </a:path>
              </a:pathLst>
            </a:custGeom>
            <a:solidFill>
              <a:srgbClr val="FFFFFF"/>
            </a:solidFill>
            <a:ln w="14288" cap="sq">
              <a:solidFill>
                <a:srgbClr val="DCE6E0"/>
              </a:solidFill>
              <a:prstDash val="solid"/>
              <a:miter/>
            </a:ln>
          </p:spPr>
        </p:sp>
      </p:grpSp>
      <p:grpSp>
        <p:nvGrpSpPr>
          <p:cNvPr id="24" name="Group 24"/>
          <p:cNvGrpSpPr/>
          <p:nvPr/>
        </p:nvGrpSpPr>
        <p:grpSpPr>
          <a:xfrm>
            <a:off x="6574155" y="5161407"/>
            <a:ext cx="1253490" cy="1253490"/>
            <a:chOff x="0" y="0"/>
            <a:chExt cx="1671320" cy="1671320"/>
          </a:xfrm>
        </p:grpSpPr>
        <p:sp>
          <p:nvSpPr>
            <p:cNvPr id="25" name="Freeform 25"/>
            <p:cNvSpPr/>
            <p:nvPr/>
          </p:nvSpPr>
          <p:spPr>
            <a:xfrm>
              <a:off x="0" y="0"/>
              <a:ext cx="1671320" cy="1671320"/>
            </a:xfrm>
            <a:custGeom>
              <a:avLst/>
              <a:gdLst/>
              <a:ahLst/>
              <a:cxnLst/>
              <a:rect l="l" t="t" r="r" b="b"/>
              <a:pathLst>
                <a:path w="1671320" h="1671320">
                  <a:moveTo>
                    <a:pt x="0" y="835660"/>
                  </a:moveTo>
                  <a:cubicBezTo>
                    <a:pt x="0" y="374142"/>
                    <a:pt x="374142" y="0"/>
                    <a:pt x="835660" y="0"/>
                  </a:cubicBezTo>
                  <a:cubicBezTo>
                    <a:pt x="1297178" y="0"/>
                    <a:pt x="1671320" y="374142"/>
                    <a:pt x="1671320" y="835660"/>
                  </a:cubicBezTo>
                  <a:cubicBezTo>
                    <a:pt x="1671320" y="1297178"/>
                    <a:pt x="1297178" y="1671320"/>
                    <a:pt x="835660" y="1671320"/>
                  </a:cubicBezTo>
                  <a:cubicBezTo>
                    <a:pt x="374142" y="1671320"/>
                    <a:pt x="0" y="1297178"/>
                    <a:pt x="0" y="835660"/>
                  </a:cubicBezTo>
                  <a:close/>
                </a:path>
              </a:pathLst>
            </a:custGeom>
            <a:solidFill>
              <a:srgbClr val="FFF1E5"/>
            </a:solidFill>
            <a:ln w="19050" cap="sq">
              <a:solidFill>
                <a:srgbClr val="FFF1E5"/>
              </a:solidFill>
              <a:prstDash val="solid"/>
              <a:miter/>
            </a:ln>
          </p:spPr>
        </p:sp>
      </p:grpSp>
      <p:grpSp>
        <p:nvGrpSpPr>
          <p:cNvPr id="26" name="Group 26"/>
          <p:cNvGrpSpPr/>
          <p:nvPr/>
        </p:nvGrpSpPr>
        <p:grpSpPr>
          <a:xfrm>
            <a:off x="6892290" y="5479542"/>
            <a:ext cx="617220" cy="617220"/>
            <a:chOff x="0" y="0"/>
            <a:chExt cx="822960" cy="822960"/>
          </a:xfrm>
        </p:grpSpPr>
        <p:sp>
          <p:nvSpPr>
            <p:cNvPr id="27" name="Freeform 27" descr="preencoded.png"/>
            <p:cNvSpPr/>
            <p:nvPr/>
          </p:nvSpPr>
          <p:spPr>
            <a:xfrm>
              <a:off x="0" y="0"/>
              <a:ext cx="822960" cy="822960"/>
            </a:xfrm>
            <a:custGeom>
              <a:avLst/>
              <a:gdLst/>
              <a:ahLst/>
              <a:cxnLst/>
              <a:rect l="l" t="t" r="r" b="b"/>
              <a:pathLst>
                <a:path w="822960" h="822960">
                  <a:moveTo>
                    <a:pt x="0" y="0"/>
                  </a:moveTo>
                  <a:lnTo>
                    <a:pt x="822960" y="0"/>
                  </a:lnTo>
                  <a:lnTo>
                    <a:pt x="822960" y="822960"/>
                  </a:lnTo>
                  <a:lnTo>
                    <a:pt x="0" y="822960"/>
                  </a:lnTo>
                  <a:lnTo>
                    <a:pt x="0" y="0"/>
                  </a:lnTo>
                  <a:close/>
                </a:path>
              </a:pathLst>
            </a:custGeom>
            <a:blipFill>
              <a:blip r:embed="rId6"/>
              <a:stretch>
                <a:fillRect/>
              </a:stretch>
            </a:blipFill>
          </p:spPr>
        </p:sp>
      </p:grpSp>
      <p:grpSp>
        <p:nvGrpSpPr>
          <p:cNvPr id="28" name="Group 28"/>
          <p:cNvGrpSpPr/>
          <p:nvPr/>
        </p:nvGrpSpPr>
        <p:grpSpPr>
          <a:xfrm>
            <a:off x="8229600" y="4937760"/>
            <a:ext cx="8846820" cy="1714500"/>
            <a:chOff x="0" y="0"/>
            <a:chExt cx="11795760" cy="2286000"/>
          </a:xfrm>
        </p:grpSpPr>
        <p:sp>
          <p:nvSpPr>
            <p:cNvPr id="29" name="Freeform 29"/>
            <p:cNvSpPr/>
            <p:nvPr/>
          </p:nvSpPr>
          <p:spPr>
            <a:xfrm>
              <a:off x="0" y="0"/>
              <a:ext cx="11795760" cy="2286000"/>
            </a:xfrm>
            <a:custGeom>
              <a:avLst/>
              <a:gdLst/>
              <a:ahLst/>
              <a:cxnLst/>
              <a:rect l="l" t="t" r="r" b="b"/>
              <a:pathLst>
                <a:path w="11795760" h="2286000">
                  <a:moveTo>
                    <a:pt x="0" y="0"/>
                  </a:moveTo>
                  <a:lnTo>
                    <a:pt x="11795760" y="0"/>
                  </a:lnTo>
                  <a:lnTo>
                    <a:pt x="11795760" y="2286000"/>
                  </a:lnTo>
                  <a:lnTo>
                    <a:pt x="0" y="2286000"/>
                  </a:lnTo>
                  <a:close/>
                </a:path>
              </a:pathLst>
            </a:custGeom>
            <a:blipFill>
              <a:blip r:embed="rId3">
                <a:alphaModFix amt="0"/>
              </a:blip>
              <a:stretch>
                <a:fillRect t="-50542" b="-50542"/>
              </a:stretch>
            </a:blipFill>
          </p:spPr>
        </p:sp>
        <p:sp>
          <p:nvSpPr>
            <p:cNvPr id="30" name="TextBox 30"/>
            <p:cNvSpPr txBox="1"/>
            <p:nvPr/>
          </p:nvSpPr>
          <p:spPr>
            <a:xfrm>
              <a:off x="0" y="-38100"/>
              <a:ext cx="11795760" cy="2324100"/>
            </a:xfrm>
            <a:prstGeom prst="rect">
              <a:avLst/>
            </a:prstGeom>
          </p:spPr>
          <p:txBody>
            <a:bodyPr lIns="0" tIns="0" rIns="0" bIns="0" rtlCol="0" anchor="ctr"/>
            <a:lstStyle/>
            <a:p>
              <a:pPr algn="l">
                <a:lnSpc>
                  <a:spcPts val="3427"/>
                </a:lnSpc>
              </a:pPr>
              <a:r>
                <a:rPr lang="en-US" sz="2550" b="1">
                  <a:latin typeface="Montserrat Bold"/>
                  <a:sym typeface="Montserrat"/>
                </a:rPr>
                <a:t>Xây dựng mạng lưới "AI Champions" </a:t>
              </a:r>
              <a:r>
                <a:rPr lang="en-US" sz="2550">
                  <a:solidFill>
                    <a:srgbClr val="1E2B25"/>
                  </a:solidFill>
                  <a:latin typeface="Montserrat"/>
                  <a:ea typeface="Montserrat"/>
                  <a:cs typeface="Montserrat"/>
                  <a:sym typeface="Montserrat"/>
                </a:rPr>
                <a:t>(Đại sứ AI) tại từng phòng ban.</a:t>
              </a:r>
            </a:p>
          </p:txBody>
        </p:sp>
      </p:grpSp>
      <p:grpSp>
        <p:nvGrpSpPr>
          <p:cNvPr id="31" name="Group 31"/>
          <p:cNvGrpSpPr/>
          <p:nvPr/>
        </p:nvGrpSpPr>
        <p:grpSpPr>
          <a:xfrm>
            <a:off x="6096476" y="7193756"/>
            <a:ext cx="11371136" cy="2140267"/>
            <a:chOff x="0" y="0"/>
            <a:chExt cx="15161514" cy="2853690"/>
          </a:xfrm>
        </p:grpSpPr>
        <p:sp>
          <p:nvSpPr>
            <p:cNvPr id="32" name="Freeform 32"/>
            <p:cNvSpPr/>
            <p:nvPr/>
          </p:nvSpPr>
          <p:spPr>
            <a:xfrm>
              <a:off x="0" y="0"/>
              <a:ext cx="15161515" cy="2853690"/>
            </a:xfrm>
            <a:custGeom>
              <a:avLst/>
              <a:gdLst/>
              <a:ahLst/>
              <a:cxnLst/>
              <a:rect l="l" t="t" r="r" b="b"/>
              <a:pathLst>
                <a:path w="15161515" h="2853690">
                  <a:moveTo>
                    <a:pt x="0" y="220980"/>
                  </a:moveTo>
                  <a:cubicBezTo>
                    <a:pt x="0" y="98933"/>
                    <a:pt x="98933" y="0"/>
                    <a:pt x="220980" y="0"/>
                  </a:cubicBezTo>
                  <a:lnTo>
                    <a:pt x="14940535" y="0"/>
                  </a:lnTo>
                  <a:cubicBezTo>
                    <a:pt x="15062581" y="0"/>
                    <a:pt x="15161515" y="98933"/>
                    <a:pt x="15161515" y="220980"/>
                  </a:cubicBezTo>
                  <a:lnTo>
                    <a:pt x="15161515" y="2632710"/>
                  </a:lnTo>
                  <a:cubicBezTo>
                    <a:pt x="15161515" y="2754757"/>
                    <a:pt x="15062581" y="2853690"/>
                    <a:pt x="14940535" y="2853690"/>
                  </a:cubicBezTo>
                  <a:lnTo>
                    <a:pt x="220980" y="2853690"/>
                  </a:lnTo>
                  <a:cubicBezTo>
                    <a:pt x="98933" y="2853690"/>
                    <a:pt x="0" y="2754757"/>
                    <a:pt x="0" y="2632710"/>
                  </a:cubicBezTo>
                  <a:close/>
                </a:path>
              </a:pathLst>
            </a:custGeom>
            <a:solidFill>
              <a:srgbClr val="FFFFFF"/>
            </a:solidFill>
            <a:ln w="14288" cap="sq">
              <a:solidFill>
                <a:srgbClr val="DCE6E0"/>
              </a:solidFill>
              <a:prstDash val="solid"/>
              <a:miter/>
            </a:ln>
          </p:spPr>
        </p:sp>
      </p:grpSp>
      <p:grpSp>
        <p:nvGrpSpPr>
          <p:cNvPr id="33" name="Group 33"/>
          <p:cNvGrpSpPr/>
          <p:nvPr/>
        </p:nvGrpSpPr>
        <p:grpSpPr>
          <a:xfrm>
            <a:off x="6574155" y="7630287"/>
            <a:ext cx="1253490" cy="1253490"/>
            <a:chOff x="0" y="0"/>
            <a:chExt cx="1671320" cy="1671320"/>
          </a:xfrm>
        </p:grpSpPr>
        <p:sp>
          <p:nvSpPr>
            <p:cNvPr id="34" name="Freeform 34"/>
            <p:cNvSpPr/>
            <p:nvPr/>
          </p:nvSpPr>
          <p:spPr>
            <a:xfrm>
              <a:off x="0" y="0"/>
              <a:ext cx="1671320" cy="1671320"/>
            </a:xfrm>
            <a:custGeom>
              <a:avLst/>
              <a:gdLst/>
              <a:ahLst/>
              <a:cxnLst/>
              <a:rect l="l" t="t" r="r" b="b"/>
              <a:pathLst>
                <a:path w="1671320" h="1671320">
                  <a:moveTo>
                    <a:pt x="0" y="835660"/>
                  </a:moveTo>
                  <a:cubicBezTo>
                    <a:pt x="0" y="374142"/>
                    <a:pt x="374142" y="0"/>
                    <a:pt x="835660" y="0"/>
                  </a:cubicBezTo>
                  <a:cubicBezTo>
                    <a:pt x="1297178" y="0"/>
                    <a:pt x="1671320" y="374142"/>
                    <a:pt x="1671320" y="835660"/>
                  </a:cubicBezTo>
                  <a:cubicBezTo>
                    <a:pt x="1671320" y="1297178"/>
                    <a:pt x="1297178" y="1671320"/>
                    <a:pt x="835660" y="1671320"/>
                  </a:cubicBezTo>
                  <a:cubicBezTo>
                    <a:pt x="374142" y="1671320"/>
                    <a:pt x="0" y="1297178"/>
                    <a:pt x="0" y="835660"/>
                  </a:cubicBezTo>
                  <a:close/>
                </a:path>
              </a:pathLst>
            </a:custGeom>
            <a:solidFill>
              <a:srgbClr val="FFF1E5"/>
            </a:solidFill>
            <a:ln w="19050" cap="sq">
              <a:solidFill>
                <a:srgbClr val="FFF1E5"/>
              </a:solidFill>
              <a:prstDash val="solid"/>
              <a:miter/>
            </a:ln>
          </p:spPr>
        </p:sp>
      </p:grpSp>
      <p:grpSp>
        <p:nvGrpSpPr>
          <p:cNvPr id="35" name="Group 35"/>
          <p:cNvGrpSpPr/>
          <p:nvPr/>
        </p:nvGrpSpPr>
        <p:grpSpPr>
          <a:xfrm>
            <a:off x="6892290" y="7948422"/>
            <a:ext cx="617220" cy="617220"/>
            <a:chOff x="0" y="0"/>
            <a:chExt cx="822960" cy="822960"/>
          </a:xfrm>
        </p:grpSpPr>
        <p:sp>
          <p:nvSpPr>
            <p:cNvPr id="36" name="Freeform 36" descr="preencoded.png"/>
            <p:cNvSpPr/>
            <p:nvPr/>
          </p:nvSpPr>
          <p:spPr>
            <a:xfrm>
              <a:off x="0" y="0"/>
              <a:ext cx="822960" cy="822960"/>
            </a:xfrm>
            <a:custGeom>
              <a:avLst/>
              <a:gdLst/>
              <a:ahLst/>
              <a:cxnLst/>
              <a:rect l="l" t="t" r="r" b="b"/>
              <a:pathLst>
                <a:path w="822960" h="822960">
                  <a:moveTo>
                    <a:pt x="0" y="0"/>
                  </a:moveTo>
                  <a:lnTo>
                    <a:pt x="822960" y="0"/>
                  </a:lnTo>
                  <a:lnTo>
                    <a:pt x="822960" y="822960"/>
                  </a:lnTo>
                  <a:lnTo>
                    <a:pt x="0" y="822960"/>
                  </a:lnTo>
                  <a:lnTo>
                    <a:pt x="0" y="0"/>
                  </a:lnTo>
                  <a:close/>
                </a:path>
              </a:pathLst>
            </a:custGeom>
            <a:blipFill>
              <a:blip r:embed="rId7"/>
              <a:stretch>
                <a:fillRect/>
              </a:stretch>
            </a:blipFill>
          </p:spPr>
        </p:sp>
      </p:grpSp>
      <p:grpSp>
        <p:nvGrpSpPr>
          <p:cNvPr id="37" name="Group 37"/>
          <p:cNvGrpSpPr/>
          <p:nvPr/>
        </p:nvGrpSpPr>
        <p:grpSpPr>
          <a:xfrm>
            <a:off x="8229600" y="7406640"/>
            <a:ext cx="8846820" cy="1714500"/>
            <a:chOff x="0" y="0"/>
            <a:chExt cx="11795760" cy="2286000"/>
          </a:xfrm>
        </p:grpSpPr>
        <p:sp>
          <p:nvSpPr>
            <p:cNvPr id="38" name="Freeform 38"/>
            <p:cNvSpPr/>
            <p:nvPr/>
          </p:nvSpPr>
          <p:spPr>
            <a:xfrm>
              <a:off x="0" y="0"/>
              <a:ext cx="11795760" cy="2286000"/>
            </a:xfrm>
            <a:custGeom>
              <a:avLst/>
              <a:gdLst/>
              <a:ahLst/>
              <a:cxnLst/>
              <a:rect l="l" t="t" r="r" b="b"/>
              <a:pathLst>
                <a:path w="11795760" h="2286000">
                  <a:moveTo>
                    <a:pt x="0" y="0"/>
                  </a:moveTo>
                  <a:lnTo>
                    <a:pt x="11795760" y="0"/>
                  </a:lnTo>
                  <a:lnTo>
                    <a:pt x="11795760" y="2286000"/>
                  </a:lnTo>
                  <a:lnTo>
                    <a:pt x="0" y="2286000"/>
                  </a:lnTo>
                  <a:close/>
                </a:path>
              </a:pathLst>
            </a:custGeom>
            <a:blipFill>
              <a:blip r:embed="rId3">
                <a:alphaModFix amt="0"/>
              </a:blip>
              <a:stretch>
                <a:fillRect t="-50542" b="-50542"/>
              </a:stretch>
            </a:blipFill>
          </p:spPr>
        </p:sp>
        <p:sp>
          <p:nvSpPr>
            <p:cNvPr id="39" name="TextBox 39"/>
            <p:cNvSpPr txBox="1"/>
            <p:nvPr/>
          </p:nvSpPr>
          <p:spPr>
            <a:xfrm>
              <a:off x="0" y="-38100"/>
              <a:ext cx="11795760" cy="2324100"/>
            </a:xfrm>
            <a:prstGeom prst="rect">
              <a:avLst/>
            </a:prstGeom>
          </p:spPr>
          <p:txBody>
            <a:bodyPr lIns="0" tIns="0" rIns="0" bIns="0" rtlCol="0" anchor="ctr"/>
            <a:lstStyle/>
            <a:p>
              <a:pPr algn="l">
                <a:lnSpc>
                  <a:spcPts val="3427"/>
                </a:lnSpc>
              </a:pPr>
              <a:r>
                <a:rPr lang="en-US" sz="2550" b="1">
                  <a:latin typeface="Montserrat Bold"/>
                  <a:sym typeface="Montserrat"/>
                </a:rPr>
                <a:t>Khuyến khích văn hóa "An toàn để thất bại" </a:t>
              </a:r>
              <a:r>
                <a:rPr lang="en-US" sz="2550">
                  <a:solidFill>
                    <a:srgbClr val="1E2B25"/>
                  </a:solidFill>
                  <a:latin typeface="Montserrat"/>
                  <a:ea typeface="Montserrat"/>
                  <a:cs typeface="Montserrat"/>
                  <a:sym typeface="Montserrat"/>
                </a:rPr>
                <a:t>trong giai đoạn đầu.</a:t>
              </a:r>
            </a:p>
          </p:txBody>
        </p:sp>
      </p:gr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4"/>
          <p:cNvGrpSpPr/>
          <p:nvPr/>
        </p:nvGrpSpPr>
        <p:grpSpPr>
          <a:xfrm>
            <a:off x="822960" y="411480"/>
            <a:ext cx="15361920" cy="1371600"/>
            <a:chOff x="0" y="0"/>
            <a:chExt cx="20482560" cy="1828800"/>
          </a:xfrm>
        </p:grpSpPr>
        <p:sp>
          <p:nvSpPr>
            <p:cNvPr id="5" name="Freeform 5"/>
            <p:cNvSpPr/>
            <p:nvPr/>
          </p:nvSpPr>
          <p:spPr>
            <a:xfrm>
              <a:off x="0" y="0"/>
              <a:ext cx="20482561" cy="1828800"/>
            </a:xfrm>
            <a:custGeom>
              <a:avLst/>
              <a:gdLst/>
              <a:ahLst/>
              <a:cxnLst/>
              <a:rect l="l" t="t" r="r" b="b"/>
              <a:pathLst>
                <a:path w="20482561" h="1828800">
                  <a:moveTo>
                    <a:pt x="0" y="0"/>
                  </a:moveTo>
                  <a:lnTo>
                    <a:pt x="20482561" y="0"/>
                  </a:lnTo>
                  <a:lnTo>
                    <a:pt x="20482561" y="1828800"/>
                  </a:lnTo>
                  <a:lnTo>
                    <a:pt x="0" y="1828800"/>
                  </a:lnTo>
                  <a:close/>
                </a:path>
              </a:pathLst>
            </a:custGeom>
            <a:blipFill>
              <a:blip r:embed="rId3">
                <a:alphaModFix amt="0"/>
              </a:blip>
              <a:stretch>
                <a:fillRect t="-168232" b="-168232"/>
              </a:stretch>
            </a:blipFill>
          </p:spPr>
        </p:sp>
        <p:sp>
          <p:nvSpPr>
            <p:cNvPr id="6" name="TextBox 6"/>
            <p:cNvSpPr txBox="1"/>
            <p:nvPr/>
          </p:nvSpPr>
          <p:spPr>
            <a:xfrm>
              <a:off x="0" y="0"/>
              <a:ext cx="20482560" cy="1828800"/>
            </a:xfrm>
            <a:prstGeom prst="rect">
              <a:avLst/>
            </a:prstGeom>
          </p:spPr>
          <p:txBody>
            <a:bodyPr lIns="0" tIns="0" rIns="0" bIns="0" rtlCol="0" anchor="ctr"/>
            <a:lstStyle/>
            <a:p>
              <a:pPr algn="l">
                <a:lnSpc>
                  <a:spcPts val="4680"/>
                </a:lnSpc>
              </a:pPr>
              <a:r>
                <a:rPr lang="en-US" sz="3900" b="1">
                  <a:solidFill>
                    <a:srgbClr val="006838"/>
                  </a:solidFill>
                  <a:latin typeface="Montserrat Bold"/>
                  <a:ea typeface="Montserrat Bold"/>
                  <a:cs typeface="Montserrat Bold"/>
                  <a:sym typeface="Montserrat Bold"/>
                </a:rPr>
                <a:t>LỘ TRÌNH TRIỂN KHAI 03 GIAI ĐOẠN</a:t>
              </a:r>
            </a:p>
          </p:txBody>
        </p:sp>
      </p:grpSp>
      <p:graphicFrame>
        <p:nvGraphicFramePr>
          <p:cNvPr id="7" name="Table 7"/>
          <p:cNvGraphicFramePr>
            <a:graphicFrameLocks noGrp="1"/>
          </p:cNvGraphicFramePr>
          <p:nvPr>
            <p:extLst>
              <p:ext uri="{D42A27DB-BD31-4B8C-83A1-F6EECF244321}">
                <p14:modId xmlns:p14="http://schemas.microsoft.com/office/powerpoint/2010/main" val="3761098577"/>
              </p:ext>
            </p:extLst>
          </p:nvPr>
        </p:nvGraphicFramePr>
        <p:xfrm>
          <a:off x="822960" y="2331720"/>
          <a:ext cx="16611600" cy="6819901"/>
        </p:xfrm>
        <a:graphic>
          <a:graphicData uri="http://schemas.openxmlformats.org/drawingml/2006/table">
            <a:tbl>
              <a:tblPr/>
              <a:tblGrid>
                <a:gridCol w="4566981">
                  <a:extLst>
                    <a:ext uri="{9D8B030D-6E8A-4147-A177-3AD203B41FA5}">
                      <a16:colId xmlns:a16="http://schemas.microsoft.com/office/drawing/2014/main" val="20000"/>
                    </a:ext>
                  </a:extLst>
                </a:gridCol>
                <a:gridCol w="6158322">
                  <a:extLst>
                    <a:ext uri="{9D8B030D-6E8A-4147-A177-3AD203B41FA5}">
                      <a16:colId xmlns:a16="http://schemas.microsoft.com/office/drawing/2014/main" val="20001"/>
                    </a:ext>
                  </a:extLst>
                </a:gridCol>
                <a:gridCol w="5886297">
                  <a:extLst>
                    <a:ext uri="{9D8B030D-6E8A-4147-A177-3AD203B41FA5}">
                      <a16:colId xmlns:a16="http://schemas.microsoft.com/office/drawing/2014/main" val="20002"/>
                    </a:ext>
                  </a:extLst>
                </a:gridCol>
              </a:tblGrid>
              <a:tr h="904378">
                <a:tc>
                  <a:txBody>
                    <a:bodyPr/>
                    <a:lstStyle/>
                    <a:p>
                      <a:pPr algn="l">
                        <a:lnSpc>
                          <a:spcPts val="2700"/>
                        </a:lnSpc>
                        <a:defRPr/>
                      </a:pPr>
                      <a:r>
                        <a:rPr lang="en-US" sz="2250" b="1">
                          <a:solidFill>
                            <a:srgbClr val="FFFFFF"/>
                          </a:solidFill>
                          <a:latin typeface="Montserrat Bold"/>
                          <a:ea typeface="Montserrat Bold"/>
                          <a:cs typeface="Montserrat Bold"/>
                          <a:sym typeface="Montserrat Bold"/>
                        </a:rPr>
                        <a:t>Giai đoạn</a:t>
                      </a:r>
                      <a:endParaRPr lang="en-US" sz="1100"/>
                    </a:p>
                  </a:txBody>
                  <a:tcPr marL="152400" marR="152400" marT="152400" marB="152400" anchor="ctr">
                    <a:lnL w="12700" cap="flat" cmpd="sng" algn="ctr">
                      <a:solidFill>
                        <a:srgbClr val="DCE6E0"/>
                      </a:solidFill>
                      <a:prstDash val="solid"/>
                      <a:round/>
                      <a:headEnd type="none" w="med" len="med"/>
                      <a:tailEnd type="none" w="med" len="med"/>
                    </a:lnL>
                    <a:lnR w="12700" cap="flat" cmpd="sng" algn="ctr">
                      <a:solidFill>
                        <a:srgbClr val="DCE6E0"/>
                      </a:solidFill>
                      <a:prstDash val="solid"/>
                      <a:round/>
                      <a:headEnd type="none" w="med" len="med"/>
                      <a:tailEnd type="none" w="med" len="med"/>
                    </a:lnR>
                    <a:lnT w="12700" cap="flat" cmpd="sng" algn="ctr">
                      <a:solidFill>
                        <a:srgbClr val="DCE6E0"/>
                      </a:solidFill>
                      <a:prstDash val="solid"/>
                      <a:round/>
                      <a:headEnd type="none" w="med" len="med"/>
                      <a:tailEnd type="none" w="med" len="med"/>
                    </a:lnT>
                    <a:lnB w="12700" cap="flat" cmpd="sng" algn="ctr">
                      <a:solidFill>
                        <a:srgbClr val="DCE6E0"/>
                      </a:solidFill>
                      <a:prstDash val="solid"/>
                      <a:round/>
                      <a:headEnd type="none" w="med" len="med"/>
                      <a:tailEnd type="none" w="med" len="med"/>
                    </a:lnB>
                    <a:solidFill>
                      <a:srgbClr val="006838"/>
                    </a:solidFill>
                  </a:tcPr>
                </a:tc>
                <a:tc>
                  <a:txBody>
                    <a:bodyPr/>
                    <a:lstStyle/>
                    <a:p>
                      <a:pPr algn="l">
                        <a:lnSpc>
                          <a:spcPts val="2700"/>
                        </a:lnSpc>
                        <a:defRPr/>
                      </a:pPr>
                      <a:r>
                        <a:rPr lang="en-US" sz="2250" b="1">
                          <a:solidFill>
                            <a:srgbClr val="FFFFFF"/>
                          </a:solidFill>
                          <a:latin typeface="Montserrat Bold"/>
                          <a:ea typeface="Montserrat Bold"/>
                          <a:cs typeface="Montserrat Bold"/>
                          <a:sym typeface="Montserrat Bold"/>
                        </a:rPr>
                        <a:t>Trọng tâm Hành động</a:t>
                      </a:r>
                      <a:endParaRPr lang="en-US" sz="1100"/>
                    </a:p>
                  </a:txBody>
                  <a:tcPr marL="152400" marR="152400" marT="152400" marB="152400" anchor="ctr">
                    <a:lnL w="12700" cap="flat" cmpd="sng" algn="ctr">
                      <a:solidFill>
                        <a:srgbClr val="DCE6E0"/>
                      </a:solidFill>
                      <a:prstDash val="solid"/>
                      <a:round/>
                      <a:headEnd type="none" w="med" len="med"/>
                      <a:tailEnd type="none" w="med" len="med"/>
                    </a:lnL>
                    <a:lnR w="12700" cap="flat" cmpd="sng" algn="ctr">
                      <a:solidFill>
                        <a:srgbClr val="DCE6E0"/>
                      </a:solidFill>
                      <a:prstDash val="solid"/>
                      <a:round/>
                      <a:headEnd type="none" w="med" len="med"/>
                      <a:tailEnd type="none" w="med" len="med"/>
                    </a:lnR>
                    <a:lnT w="12700" cap="flat" cmpd="sng" algn="ctr">
                      <a:solidFill>
                        <a:srgbClr val="DCE6E0"/>
                      </a:solidFill>
                      <a:prstDash val="solid"/>
                      <a:round/>
                      <a:headEnd type="none" w="med" len="med"/>
                      <a:tailEnd type="none" w="med" len="med"/>
                    </a:lnT>
                    <a:lnB w="12700" cap="flat" cmpd="sng" algn="ctr">
                      <a:solidFill>
                        <a:srgbClr val="DCE6E0"/>
                      </a:solidFill>
                      <a:prstDash val="solid"/>
                      <a:round/>
                      <a:headEnd type="none" w="med" len="med"/>
                      <a:tailEnd type="none" w="med" len="med"/>
                    </a:lnB>
                    <a:solidFill>
                      <a:srgbClr val="006838"/>
                    </a:solidFill>
                  </a:tcPr>
                </a:tc>
                <a:tc>
                  <a:txBody>
                    <a:bodyPr/>
                    <a:lstStyle/>
                    <a:p>
                      <a:pPr algn="l">
                        <a:lnSpc>
                          <a:spcPts val="2700"/>
                        </a:lnSpc>
                        <a:defRPr/>
                      </a:pPr>
                      <a:r>
                        <a:rPr lang="en-US" sz="2250" b="1">
                          <a:solidFill>
                            <a:srgbClr val="FFFFFF"/>
                          </a:solidFill>
                          <a:latin typeface="Montserrat Bold"/>
                          <a:ea typeface="Montserrat Bold"/>
                          <a:cs typeface="Montserrat Bold"/>
                          <a:sym typeface="Montserrat Bold"/>
                        </a:rPr>
                        <a:t>Mục tiêu đạt được</a:t>
                      </a:r>
                      <a:endParaRPr lang="en-US" sz="1100"/>
                    </a:p>
                  </a:txBody>
                  <a:tcPr marL="152400" marR="152400" marT="152400" marB="152400" anchor="ctr">
                    <a:lnL w="12700" cap="flat" cmpd="sng" algn="ctr">
                      <a:solidFill>
                        <a:srgbClr val="DCE6E0"/>
                      </a:solidFill>
                      <a:prstDash val="solid"/>
                      <a:round/>
                      <a:headEnd type="none" w="med" len="med"/>
                      <a:tailEnd type="none" w="med" len="med"/>
                    </a:lnL>
                    <a:lnR w="12700" cap="flat" cmpd="sng" algn="ctr">
                      <a:solidFill>
                        <a:srgbClr val="DCE6E0"/>
                      </a:solidFill>
                      <a:prstDash val="solid"/>
                      <a:round/>
                      <a:headEnd type="none" w="med" len="med"/>
                      <a:tailEnd type="none" w="med" len="med"/>
                    </a:lnR>
                    <a:lnT w="12700" cap="flat" cmpd="sng" algn="ctr">
                      <a:solidFill>
                        <a:srgbClr val="DCE6E0"/>
                      </a:solidFill>
                      <a:prstDash val="solid"/>
                      <a:round/>
                      <a:headEnd type="none" w="med" len="med"/>
                      <a:tailEnd type="none" w="med" len="med"/>
                    </a:lnT>
                    <a:lnB w="12700" cap="flat" cmpd="sng" algn="ctr">
                      <a:solidFill>
                        <a:srgbClr val="DCE6E0"/>
                      </a:solidFill>
                      <a:prstDash val="solid"/>
                      <a:round/>
                      <a:headEnd type="none" w="med" len="med"/>
                      <a:tailEnd type="none" w="med" len="med"/>
                    </a:lnB>
                    <a:solidFill>
                      <a:srgbClr val="006838"/>
                    </a:solidFill>
                  </a:tcPr>
                </a:tc>
                <a:extLst>
                  <a:ext uri="{0D108BD9-81ED-4DB2-BD59-A6C34878D82A}">
                    <a16:rowId xmlns:a16="http://schemas.microsoft.com/office/drawing/2014/main" val="10000"/>
                  </a:ext>
                </a:extLst>
              </a:tr>
              <a:tr h="1971841">
                <a:tc>
                  <a:txBody>
                    <a:bodyPr/>
                    <a:lstStyle/>
                    <a:p>
                      <a:pPr algn="l">
                        <a:lnSpc>
                          <a:spcPts val="2879"/>
                        </a:lnSpc>
                        <a:defRPr/>
                      </a:pPr>
                      <a:r>
                        <a:rPr lang="en-US" sz="2400" b="1">
                          <a:solidFill>
                            <a:srgbClr val="006838"/>
                          </a:solidFill>
                          <a:latin typeface="Montserrat Bold"/>
                          <a:ea typeface="Montserrat Bold"/>
                          <a:cs typeface="Montserrat Bold"/>
                          <a:sym typeface="Montserrat Bold"/>
                        </a:rPr>
                        <a:t>1. Khởi động (Pilot)</a:t>
                      </a:r>
                      <a:endParaRPr lang="en-US" sz="1100"/>
                    </a:p>
                  </a:txBody>
                  <a:tcPr marL="152400" marR="152400" marT="152400" marB="152400" anchor="ctr">
                    <a:lnL w="12700" cap="flat" cmpd="sng" algn="ctr">
                      <a:solidFill>
                        <a:srgbClr val="DCE6E0"/>
                      </a:solidFill>
                      <a:prstDash val="solid"/>
                      <a:round/>
                      <a:headEnd type="none" w="med" len="med"/>
                      <a:tailEnd type="none" w="med" len="med"/>
                    </a:lnL>
                    <a:lnR w="12700" cap="flat" cmpd="sng" algn="ctr">
                      <a:solidFill>
                        <a:srgbClr val="DCE6E0"/>
                      </a:solidFill>
                      <a:prstDash val="solid"/>
                      <a:round/>
                      <a:headEnd type="none" w="med" len="med"/>
                      <a:tailEnd type="none" w="med" len="med"/>
                    </a:lnR>
                    <a:lnT w="12700" cap="flat" cmpd="sng" algn="ctr">
                      <a:solidFill>
                        <a:srgbClr val="DCE6E0"/>
                      </a:solidFill>
                      <a:prstDash val="solid"/>
                      <a:round/>
                      <a:headEnd type="none" w="med" len="med"/>
                      <a:tailEnd type="none" w="med" len="med"/>
                    </a:lnT>
                    <a:lnB w="12700" cap="flat" cmpd="sng" algn="ctr">
                      <a:solidFill>
                        <a:srgbClr val="DCE6E0"/>
                      </a:solidFill>
                      <a:prstDash val="solid"/>
                      <a:round/>
                      <a:headEnd type="none" w="med" len="med"/>
                      <a:tailEnd type="none" w="med" len="med"/>
                    </a:lnB>
                    <a:solidFill>
                      <a:srgbClr val="FFFFFF"/>
                    </a:solidFill>
                  </a:tcPr>
                </a:tc>
                <a:tc>
                  <a:txBody>
                    <a:bodyPr/>
                    <a:lstStyle/>
                    <a:p>
                      <a:pPr algn="just">
                        <a:lnSpc>
                          <a:spcPts val="2700"/>
                        </a:lnSpc>
                        <a:defRPr/>
                      </a:pPr>
                      <a:r>
                        <a:rPr lang="en-US" sz="2250">
                          <a:solidFill>
                            <a:srgbClr val="1E2B25"/>
                          </a:solidFill>
                          <a:latin typeface="Montserrat"/>
                          <a:ea typeface="Montserrat"/>
                          <a:cs typeface="Montserrat"/>
                          <a:sym typeface="Montserrat"/>
                        </a:rPr>
                        <a:t>Chọn 1-2 phòng ban (VD: R&amp;D, Kế toán) thử nghiệm các tác vụ hẹp.</a:t>
                      </a:r>
                      <a:endParaRPr lang="en-US" sz="1100"/>
                    </a:p>
                  </a:txBody>
                  <a:tcPr marL="152400" marR="152400" marT="152400" marB="152400" anchor="ctr">
                    <a:lnL w="12700" cap="flat" cmpd="sng" algn="ctr">
                      <a:solidFill>
                        <a:srgbClr val="DCE6E0"/>
                      </a:solidFill>
                      <a:prstDash val="solid"/>
                      <a:round/>
                      <a:headEnd type="none" w="med" len="med"/>
                      <a:tailEnd type="none" w="med" len="med"/>
                    </a:lnL>
                    <a:lnR w="12700" cap="flat" cmpd="sng" algn="ctr">
                      <a:solidFill>
                        <a:srgbClr val="DCE6E0"/>
                      </a:solidFill>
                      <a:prstDash val="solid"/>
                      <a:round/>
                      <a:headEnd type="none" w="med" len="med"/>
                      <a:tailEnd type="none" w="med" len="med"/>
                    </a:lnR>
                    <a:lnT w="12700" cap="flat" cmpd="sng" algn="ctr">
                      <a:solidFill>
                        <a:srgbClr val="DCE6E0"/>
                      </a:solidFill>
                      <a:prstDash val="solid"/>
                      <a:round/>
                      <a:headEnd type="none" w="med" len="med"/>
                      <a:tailEnd type="none" w="med" len="med"/>
                    </a:lnT>
                    <a:lnB w="12700" cap="flat" cmpd="sng" algn="ctr">
                      <a:solidFill>
                        <a:srgbClr val="DCE6E0"/>
                      </a:solidFill>
                      <a:prstDash val="solid"/>
                      <a:round/>
                      <a:headEnd type="none" w="med" len="med"/>
                      <a:tailEnd type="none" w="med" len="med"/>
                    </a:lnB>
                    <a:solidFill>
                      <a:srgbClr val="FFFFFF"/>
                    </a:solidFill>
                  </a:tcPr>
                </a:tc>
                <a:tc>
                  <a:txBody>
                    <a:bodyPr/>
                    <a:lstStyle/>
                    <a:p>
                      <a:pPr algn="just">
                        <a:lnSpc>
                          <a:spcPts val="2700"/>
                        </a:lnSpc>
                        <a:defRPr/>
                      </a:pPr>
                      <a:r>
                        <a:rPr lang="en-US" sz="2250">
                          <a:solidFill>
                            <a:srgbClr val="1E2B25"/>
                          </a:solidFill>
                          <a:latin typeface="Montserrat"/>
                          <a:ea typeface="Montserrat"/>
                          <a:cs typeface="Montserrat"/>
                          <a:sym typeface="Montserrat"/>
                        </a:rPr>
                        <a:t>Chứng minh hiệu quả, xóa bỏ sự hoài nghi.</a:t>
                      </a:r>
                      <a:endParaRPr lang="en-US" sz="1100"/>
                    </a:p>
                  </a:txBody>
                  <a:tcPr marL="152400" marR="152400" marT="152400" marB="152400" anchor="ctr">
                    <a:lnL w="12700" cap="flat" cmpd="sng" algn="ctr">
                      <a:solidFill>
                        <a:srgbClr val="DCE6E0"/>
                      </a:solidFill>
                      <a:prstDash val="solid"/>
                      <a:round/>
                      <a:headEnd type="none" w="med" len="med"/>
                      <a:tailEnd type="none" w="med" len="med"/>
                    </a:lnL>
                    <a:lnR w="12700" cap="flat" cmpd="sng" algn="ctr">
                      <a:solidFill>
                        <a:srgbClr val="DCE6E0"/>
                      </a:solidFill>
                      <a:prstDash val="solid"/>
                      <a:round/>
                      <a:headEnd type="none" w="med" len="med"/>
                      <a:tailEnd type="none" w="med" len="med"/>
                    </a:lnR>
                    <a:lnT w="12700" cap="flat" cmpd="sng" algn="ctr">
                      <a:solidFill>
                        <a:srgbClr val="DCE6E0"/>
                      </a:solidFill>
                      <a:prstDash val="solid"/>
                      <a:round/>
                      <a:headEnd type="none" w="med" len="med"/>
                      <a:tailEnd type="none" w="med" len="med"/>
                    </a:lnT>
                    <a:lnB w="12700" cap="flat" cmpd="sng" algn="ctr">
                      <a:solidFill>
                        <a:srgbClr val="DCE6E0"/>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1971841">
                <a:tc>
                  <a:txBody>
                    <a:bodyPr/>
                    <a:lstStyle/>
                    <a:p>
                      <a:pPr algn="l">
                        <a:lnSpc>
                          <a:spcPts val="2879"/>
                        </a:lnSpc>
                        <a:defRPr/>
                      </a:pPr>
                      <a:r>
                        <a:rPr lang="en-US" sz="2400" b="1">
                          <a:solidFill>
                            <a:srgbClr val="006838"/>
                          </a:solidFill>
                          <a:latin typeface="Montserrat Bold"/>
                          <a:ea typeface="Montserrat Bold"/>
                          <a:cs typeface="Montserrat Bold"/>
                          <a:sym typeface="Montserrat Bold"/>
                        </a:rPr>
                        <a:t>2. Mở rộng (Scale up)</a:t>
                      </a:r>
                      <a:endParaRPr lang="en-US" sz="1100"/>
                    </a:p>
                  </a:txBody>
                  <a:tcPr marL="152400" marR="152400" marT="152400" marB="152400" anchor="ctr">
                    <a:lnL w="12700" cap="flat" cmpd="sng" algn="ctr">
                      <a:solidFill>
                        <a:srgbClr val="DCE6E0"/>
                      </a:solidFill>
                      <a:prstDash val="solid"/>
                      <a:round/>
                      <a:headEnd type="none" w="med" len="med"/>
                      <a:tailEnd type="none" w="med" len="med"/>
                    </a:lnL>
                    <a:lnR w="12700" cap="flat" cmpd="sng" algn="ctr">
                      <a:solidFill>
                        <a:srgbClr val="DCE6E0"/>
                      </a:solidFill>
                      <a:prstDash val="solid"/>
                      <a:round/>
                      <a:headEnd type="none" w="med" len="med"/>
                      <a:tailEnd type="none" w="med" len="med"/>
                    </a:lnR>
                    <a:lnT w="12700" cap="flat" cmpd="sng" algn="ctr">
                      <a:solidFill>
                        <a:srgbClr val="DCE6E0"/>
                      </a:solidFill>
                      <a:prstDash val="solid"/>
                      <a:round/>
                      <a:headEnd type="none" w="med" len="med"/>
                      <a:tailEnd type="none" w="med" len="med"/>
                    </a:lnT>
                    <a:lnB w="12700" cap="flat" cmpd="sng" algn="ctr">
                      <a:solidFill>
                        <a:srgbClr val="DCE6E0"/>
                      </a:solidFill>
                      <a:prstDash val="solid"/>
                      <a:round/>
                      <a:headEnd type="none" w="med" len="med"/>
                      <a:tailEnd type="none" w="med" len="med"/>
                    </a:lnB>
                    <a:solidFill>
                      <a:srgbClr val="E8F3ED"/>
                    </a:solidFill>
                  </a:tcPr>
                </a:tc>
                <a:tc>
                  <a:txBody>
                    <a:bodyPr/>
                    <a:lstStyle/>
                    <a:p>
                      <a:pPr algn="just">
                        <a:lnSpc>
                          <a:spcPts val="2700"/>
                        </a:lnSpc>
                        <a:defRPr/>
                      </a:pPr>
                      <a:r>
                        <a:rPr lang="en-US" sz="2250">
                          <a:solidFill>
                            <a:srgbClr val="1E2B25"/>
                          </a:solidFill>
                          <a:latin typeface="Montserrat"/>
                          <a:ea typeface="Montserrat"/>
                          <a:cs typeface="Montserrat"/>
                          <a:sym typeface="Montserrat"/>
                        </a:rPr>
                        <a:t>Đào tạo diện rộng, chuẩn hóa thư viện Prompt, cấp tài khoản Enterprise.</a:t>
                      </a:r>
                      <a:endParaRPr lang="en-US" sz="1100"/>
                    </a:p>
                  </a:txBody>
                  <a:tcPr marL="152400" marR="152400" marT="152400" marB="152400" anchor="ctr">
                    <a:lnL w="12700" cap="flat" cmpd="sng" algn="ctr">
                      <a:solidFill>
                        <a:srgbClr val="DCE6E0"/>
                      </a:solidFill>
                      <a:prstDash val="solid"/>
                      <a:round/>
                      <a:headEnd type="none" w="med" len="med"/>
                      <a:tailEnd type="none" w="med" len="med"/>
                    </a:lnL>
                    <a:lnR w="12700" cap="flat" cmpd="sng" algn="ctr">
                      <a:solidFill>
                        <a:srgbClr val="DCE6E0"/>
                      </a:solidFill>
                      <a:prstDash val="solid"/>
                      <a:round/>
                      <a:headEnd type="none" w="med" len="med"/>
                      <a:tailEnd type="none" w="med" len="med"/>
                    </a:lnR>
                    <a:lnT w="12700" cap="flat" cmpd="sng" algn="ctr">
                      <a:solidFill>
                        <a:srgbClr val="DCE6E0"/>
                      </a:solidFill>
                      <a:prstDash val="solid"/>
                      <a:round/>
                      <a:headEnd type="none" w="med" len="med"/>
                      <a:tailEnd type="none" w="med" len="med"/>
                    </a:lnT>
                    <a:lnB w="12700" cap="flat" cmpd="sng" algn="ctr">
                      <a:solidFill>
                        <a:srgbClr val="DCE6E0"/>
                      </a:solidFill>
                      <a:prstDash val="solid"/>
                      <a:round/>
                      <a:headEnd type="none" w="med" len="med"/>
                      <a:tailEnd type="none" w="med" len="med"/>
                    </a:lnB>
                    <a:solidFill>
                      <a:srgbClr val="E8F3ED"/>
                    </a:solidFill>
                  </a:tcPr>
                </a:tc>
                <a:tc>
                  <a:txBody>
                    <a:bodyPr/>
                    <a:lstStyle/>
                    <a:p>
                      <a:pPr algn="just">
                        <a:lnSpc>
                          <a:spcPts val="2700"/>
                        </a:lnSpc>
                        <a:defRPr/>
                      </a:pPr>
                      <a:r>
                        <a:rPr lang="en-US" sz="2250">
                          <a:solidFill>
                            <a:srgbClr val="1E2B25"/>
                          </a:solidFill>
                          <a:latin typeface="Montserrat"/>
                          <a:ea typeface="Montserrat"/>
                          <a:cs typeface="Montserrat"/>
                          <a:sym typeface="Montserrat"/>
                        </a:rPr>
                        <a:t>Hình thành thói quen dùng AI hàng ngày trên toàn công ty.</a:t>
                      </a:r>
                      <a:endParaRPr lang="en-US" sz="1100"/>
                    </a:p>
                  </a:txBody>
                  <a:tcPr marL="152400" marR="152400" marT="152400" marB="152400" anchor="ctr">
                    <a:lnL w="12700" cap="flat" cmpd="sng" algn="ctr">
                      <a:solidFill>
                        <a:srgbClr val="DCE6E0"/>
                      </a:solidFill>
                      <a:prstDash val="solid"/>
                      <a:round/>
                      <a:headEnd type="none" w="med" len="med"/>
                      <a:tailEnd type="none" w="med" len="med"/>
                    </a:lnL>
                    <a:lnR w="12700" cap="flat" cmpd="sng" algn="ctr">
                      <a:solidFill>
                        <a:srgbClr val="DCE6E0"/>
                      </a:solidFill>
                      <a:prstDash val="solid"/>
                      <a:round/>
                      <a:headEnd type="none" w="med" len="med"/>
                      <a:tailEnd type="none" w="med" len="med"/>
                    </a:lnR>
                    <a:lnT w="12700" cap="flat" cmpd="sng" algn="ctr">
                      <a:solidFill>
                        <a:srgbClr val="DCE6E0"/>
                      </a:solidFill>
                      <a:prstDash val="solid"/>
                      <a:round/>
                      <a:headEnd type="none" w="med" len="med"/>
                      <a:tailEnd type="none" w="med" len="med"/>
                    </a:lnT>
                    <a:lnB w="12700" cap="flat" cmpd="sng" algn="ctr">
                      <a:solidFill>
                        <a:srgbClr val="DCE6E0"/>
                      </a:solidFill>
                      <a:prstDash val="solid"/>
                      <a:round/>
                      <a:headEnd type="none" w="med" len="med"/>
                      <a:tailEnd type="none" w="med" len="med"/>
                    </a:lnB>
                    <a:solidFill>
                      <a:srgbClr val="E8F3ED"/>
                    </a:solidFill>
                  </a:tcPr>
                </a:tc>
                <a:extLst>
                  <a:ext uri="{0D108BD9-81ED-4DB2-BD59-A6C34878D82A}">
                    <a16:rowId xmlns:a16="http://schemas.microsoft.com/office/drawing/2014/main" val="10002"/>
                  </a:ext>
                </a:extLst>
              </a:tr>
              <a:tr h="1971841">
                <a:tc>
                  <a:txBody>
                    <a:bodyPr/>
                    <a:lstStyle/>
                    <a:p>
                      <a:pPr algn="l">
                        <a:lnSpc>
                          <a:spcPts val="2879"/>
                        </a:lnSpc>
                        <a:defRPr/>
                      </a:pPr>
                      <a:r>
                        <a:rPr lang="en-US" sz="2400" b="1">
                          <a:solidFill>
                            <a:srgbClr val="006838"/>
                          </a:solidFill>
                          <a:latin typeface="Montserrat Bold"/>
                          <a:ea typeface="Montserrat Bold"/>
                          <a:cs typeface="Montserrat Bold"/>
                          <a:sym typeface="Montserrat Bold"/>
                        </a:rPr>
                        <a:t>3. Tái cấu trúc (Transform)</a:t>
                      </a:r>
                      <a:endParaRPr lang="en-US" sz="1100"/>
                    </a:p>
                  </a:txBody>
                  <a:tcPr marL="152400" marR="152400" marT="152400" marB="152400" anchor="ctr">
                    <a:lnL w="12700" cap="flat" cmpd="sng" algn="ctr">
                      <a:solidFill>
                        <a:srgbClr val="DCE6E0"/>
                      </a:solidFill>
                      <a:prstDash val="solid"/>
                      <a:round/>
                      <a:headEnd type="none" w="med" len="med"/>
                      <a:tailEnd type="none" w="med" len="med"/>
                    </a:lnL>
                    <a:lnR w="12700" cap="flat" cmpd="sng" algn="ctr">
                      <a:solidFill>
                        <a:srgbClr val="DCE6E0"/>
                      </a:solidFill>
                      <a:prstDash val="solid"/>
                      <a:round/>
                      <a:headEnd type="none" w="med" len="med"/>
                      <a:tailEnd type="none" w="med" len="med"/>
                    </a:lnR>
                    <a:lnT w="12700" cap="flat" cmpd="sng" algn="ctr">
                      <a:solidFill>
                        <a:srgbClr val="DCE6E0"/>
                      </a:solidFill>
                      <a:prstDash val="solid"/>
                      <a:round/>
                      <a:headEnd type="none" w="med" len="med"/>
                      <a:tailEnd type="none" w="med" len="med"/>
                    </a:lnT>
                    <a:lnB w="12700" cap="flat" cmpd="sng" algn="ctr">
                      <a:solidFill>
                        <a:srgbClr val="DCE6E0"/>
                      </a:solidFill>
                      <a:prstDash val="solid"/>
                      <a:round/>
                      <a:headEnd type="none" w="med" len="med"/>
                      <a:tailEnd type="none" w="med" len="med"/>
                    </a:lnB>
                    <a:solidFill>
                      <a:srgbClr val="FFFFFF"/>
                    </a:solidFill>
                  </a:tcPr>
                </a:tc>
                <a:tc>
                  <a:txBody>
                    <a:bodyPr/>
                    <a:lstStyle/>
                    <a:p>
                      <a:pPr algn="just">
                        <a:lnSpc>
                          <a:spcPts val="2700"/>
                        </a:lnSpc>
                        <a:defRPr/>
                      </a:pPr>
                      <a:r>
                        <a:rPr lang="en-US" sz="2250">
                          <a:solidFill>
                            <a:srgbClr val="1E2B25"/>
                          </a:solidFill>
                          <a:latin typeface="Montserrat"/>
                          <a:ea typeface="Montserrat"/>
                          <a:cs typeface="Montserrat"/>
                          <a:sym typeface="Montserrat"/>
                        </a:rPr>
                        <a:t>Tích hợp AI vào ERP/CRM, tự động hóa chuỗi quy trình lõi.</a:t>
                      </a:r>
                      <a:endParaRPr lang="en-US" sz="1100"/>
                    </a:p>
                  </a:txBody>
                  <a:tcPr marL="152400" marR="152400" marT="152400" marB="152400" anchor="ctr">
                    <a:lnL w="12700" cap="flat" cmpd="sng" algn="ctr">
                      <a:solidFill>
                        <a:srgbClr val="DCE6E0"/>
                      </a:solidFill>
                      <a:prstDash val="solid"/>
                      <a:round/>
                      <a:headEnd type="none" w="med" len="med"/>
                      <a:tailEnd type="none" w="med" len="med"/>
                    </a:lnL>
                    <a:lnR w="12700" cap="flat" cmpd="sng" algn="ctr">
                      <a:solidFill>
                        <a:srgbClr val="DCE6E0"/>
                      </a:solidFill>
                      <a:prstDash val="solid"/>
                      <a:round/>
                      <a:headEnd type="none" w="med" len="med"/>
                      <a:tailEnd type="none" w="med" len="med"/>
                    </a:lnR>
                    <a:lnT w="12700" cap="flat" cmpd="sng" algn="ctr">
                      <a:solidFill>
                        <a:srgbClr val="DCE6E0"/>
                      </a:solidFill>
                      <a:prstDash val="solid"/>
                      <a:round/>
                      <a:headEnd type="none" w="med" len="med"/>
                      <a:tailEnd type="none" w="med" len="med"/>
                    </a:lnT>
                    <a:lnB w="12700" cap="flat" cmpd="sng" algn="ctr">
                      <a:solidFill>
                        <a:srgbClr val="DCE6E0"/>
                      </a:solidFill>
                      <a:prstDash val="solid"/>
                      <a:round/>
                      <a:headEnd type="none" w="med" len="med"/>
                      <a:tailEnd type="none" w="med" len="med"/>
                    </a:lnB>
                    <a:solidFill>
                      <a:srgbClr val="FFFFFF"/>
                    </a:solidFill>
                  </a:tcPr>
                </a:tc>
                <a:tc>
                  <a:txBody>
                    <a:bodyPr/>
                    <a:lstStyle/>
                    <a:p>
                      <a:pPr algn="just">
                        <a:lnSpc>
                          <a:spcPts val="2700"/>
                        </a:lnSpc>
                        <a:defRPr/>
                      </a:pPr>
                      <a:r>
                        <a:rPr lang="en-US" sz="2250">
                          <a:solidFill>
                            <a:srgbClr val="1E2B25"/>
                          </a:solidFill>
                          <a:latin typeface="Montserrat"/>
                          <a:ea typeface="Montserrat"/>
                          <a:cs typeface="Montserrat"/>
                          <a:sym typeface="Montserrat"/>
                        </a:rPr>
                        <a:t>Trở thành "AI Native" thực thụ, tối ưu chi phí vận hành ở quy mô lớn.</a:t>
                      </a:r>
                      <a:endParaRPr lang="en-US" sz="1100"/>
                    </a:p>
                  </a:txBody>
                  <a:tcPr marL="152400" marR="152400" marT="152400" marB="152400" anchor="ctr">
                    <a:lnL w="12700" cap="flat" cmpd="sng" algn="ctr">
                      <a:solidFill>
                        <a:srgbClr val="DCE6E0"/>
                      </a:solidFill>
                      <a:prstDash val="solid"/>
                      <a:round/>
                      <a:headEnd type="none" w="med" len="med"/>
                      <a:tailEnd type="none" w="med" len="med"/>
                    </a:lnL>
                    <a:lnR w="12700" cap="flat" cmpd="sng" algn="ctr">
                      <a:solidFill>
                        <a:srgbClr val="DCE6E0"/>
                      </a:solidFill>
                      <a:prstDash val="solid"/>
                      <a:round/>
                      <a:headEnd type="none" w="med" len="med"/>
                      <a:tailEnd type="none" w="med" len="med"/>
                    </a:lnR>
                    <a:lnT w="12700" cap="flat" cmpd="sng" algn="ctr">
                      <a:solidFill>
                        <a:srgbClr val="DCE6E0"/>
                      </a:solidFill>
                      <a:prstDash val="solid"/>
                      <a:round/>
                      <a:headEnd type="none" w="med" len="med"/>
                      <a:tailEnd type="none" w="med" len="med"/>
                    </a:lnT>
                    <a:lnB w="12700" cap="flat" cmpd="sng" algn="ctr">
                      <a:solidFill>
                        <a:srgbClr val="DCE6E0"/>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006838"/>
        </a:solidFill>
        <a:effectLst/>
      </p:bgPr>
    </p:bg>
    <p:spTree>
      <p:nvGrpSpPr>
        <p:cNvPr id="1" name=""/>
        <p:cNvGrpSpPr/>
        <p:nvPr/>
      </p:nvGrpSpPr>
      <p:grpSpPr>
        <a:xfrm>
          <a:off x="0" y="0"/>
          <a:ext cx="0" cy="0"/>
          <a:chOff x="0" y="0"/>
          <a:chExt cx="0" cy="0"/>
        </a:xfrm>
      </p:grpSpPr>
      <p:grpSp>
        <p:nvGrpSpPr>
          <p:cNvPr id="2" name="Group 2"/>
          <p:cNvGrpSpPr/>
          <p:nvPr/>
        </p:nvGrpSpPr>
        <p:grpSpPr>
          <a:xfrm>
            <a:off x="11786235" y="-9525"/>
            <a:ext cx="6510833" cy="10306050"/>
            <a:chOff x="0" y="0"/>
            <a:chExt cx="8681110" cy="13741400"/>
          </a:xfrm>
        </p:grpSpPr>
        <p:sp>
          <p:nvSpPr>
            <p:cNvPr id="3" name="Freeform 3"/>
            <p:cNvSpPr/>
            <p:nvPr/>
          </p:nvSpPr>
          <p:spPr>
            <a:xfrm>
              <a:off x="0" y="0"/>
              <a:ext cx="8681085" cy="13741400"/>
            </a:xfrm>
            <a:custGeom>
              <a:avLst/>
              <a:gdLst/>
              <a:ahLst/>
              <a:cxnLst/>
              <a:rect l="l" t="t" r="r" b="b"/>
              <a:pathLst>
                <a:path w="8681085" h="13741400">
                  <a:moveTo>
                    <a:pt x="0" y="0"/>
                  </a:moveTo>
                  <a:lnTo>
                    <a:pt x="8681085" y="0"/>
                  </a:lnTo>
                  <a:lnTo>
                    <a:pt x="8681085" y="13741400"/>
                  </a:lnTo>
                  <a:lnTo>
                    <a:pt x="0" y="13741400"/>
                  </a:lnTo>
                  <a:close/>
                </a:path>
              </a:pathLst>
            </a:custGeom>
            <a:solidFill>
              <a:srgbClr val="004A28"/>
            </a:solidFill>
            <a:ln w="19050" cap="sq">
              <a:solidFill>
                <a:srgbClr val="004A28"/>
              </a:solidFill>
              <a:prstDash val="solid"/>
              <a:miter/>
            </a:ln>
          </p:spPr>
        </p:sp>
      </p:grpSp>
      <p:grpSp>
        <p:nvGrpSpPr>
          <p:cNvPr id="4" name="Group 4"/>
          <p:cNvGrpSpPr/>
          <p:nvPr/>
        </p:nvGrpSpPr>
        <p:grpSpPr>
          <a:xfrm>
            <a:off x="960120" y="822960"/>
            <a:ext cx="1371600" cy="1028700"/>
            <a:chOff x="0" y="0"/>
            <a:chExt cx="1828800" cy="1371600"/>
          </a:xfrm>
        </p:grpSpPr>
        <p:sp>
          <p:nvSpPr>
            <p:cNvPr id="5" name="Freeform 5" descr="/tmp/claude-0/-home-claude/f2393a9e-ecac-5976-acd4-5fd24e92a8fe/scratchpad/assets/logo.jpg"/>
            <p:cNvSpPr/>
            <p:nvPr/>
          </p:nvSpPr>
          <p:spPr>
            <a:xfrm>
              <a:off x="0" y="0"/>
              <a:ext cx="1828800" cy="1371600"/>
            </a:xfrm>
            <a:custGeom>
              <a:avLst/>
              <a:gdLst/>
              <a:ahLst/>
              <a:cxnLst/>
              <a:rect l="l" t="t" r="r" b="b"/>
              <a:pathLst>
                <a:path w="1828800" h="1371600">
                  <a:moveTo>
                    <a:pt x="0" y="0"/>
                  </a:moveTo>
                  <a:lnTo>
                    <a:pt x="1828800" y="0"/>
                  </a:lnTo>
                  <a:lnTo>
                    <a:pt x="1828800" y="1371600"/>
                  </a:lnTo>
                  <a:lnTo>
                    <a:pt x="0" y="1371600"/>
                  </a:lnTo>
                  <a:lnTo>
                    <a:pt x="0" y="0"/>
                  </a:lnTo>
                  <a:close/>
                </a:path>
              </a:pathLst>
            </a:custGeom>
            <a:blipFill>
              <a:blip r:embed="rId3"/>
              <a:stretch>
                <a:fillRect/>
              </a:stretch>
            </a:blipFill>
          </p:spPr>
        </p:sp>
      </p:grpSp>
      <p:grpSp>
        <p:nvGrpSpPr>
          <p:cNvPr id="6" name="Group 6"/>
          <p:cNvGrpSpPr/>
          <p:nvPr/>
        </p:nvGrpSpPr>
        <p:grpSpPr>
          <a:xfrm>
            <a:off x="11795760" y="2606040"/>
            <a:ext cx="6491783" cy="4389120"/>
            <a:chOff x="0" y="0"/>
            <a:chExt cx="8655710" cy="5852160"/>
          </a:xfrm>
        </p:grpSpPr>
        <p:sp>
          <p:nvSpPr>
            <p:cNvPr id="7" name="Freeform 7"/>
            <p:cNvSpPr/>
            <p:nvPr/>
          </p:nvSpPr>
          <p:spPr>
            <a:xfrm>
              <a:off x="0" y="0"/>
              <a:ext cx="8655710" cy="5852160"/>
            </a:xfrm>
            <a:custGeom>
              <a:avLst/>
              <a:gdLst/>
              <a:ahLst/>
              <a:cxnLst/>
              <a:rect l="l" t="t" r="r" b="b"/>
              <a:pathLst>
                <a:path w="8655710" h="5852160">
                  <a:moveTo>
                    <a:pt x="0" y="0"/>
                  </a:moveTo>
                  <a:lnTo>
                    <a:pt x="8655710" y="0"/>
                  </a:lnTo>
                  <a:lnTo>
                    <a:pt x="8655710" y="5852160"/>
                  </a:lnTo>
                  <a:lnTo>
                    <a:pt x="0" y="5852160"/>
                  </a:lnTo>
                  <a:close/>
                </a:path>
              </a:pathLst>
            </a:custGeom>
            <a:blipFill>
              <a:blip r:embed="rId4">
                <a:alphaModFix amt="0"/>
              </a:blip>
              <a:stretch>
                <a:fillRect l="-36746" r="-36746"/>
              </a:stretch>
            </a:blipFill>
          </p:spPr>
        </p:sp>
        <p:sp>
          <p:nvSpPr>
            <p:cNvPr id="8" name="TextBox 8"/>
            <p:cNvSpPr txBox="1"/>
            <p:nvPr/>
          </p:nvSpPr>
          <p:spPr>
            <a:xfrm>
              <a:off x="0" y="-9525"/>
              <a:ext cx="8655710" cy="5861685"/>
            </a:xfrm>
            <a:prstGeom prst="rect">
              <a:avLst/>
            </a:prstGeom>
          </p:spPr>
          <p:txBody>
            <a:bodyPr lIns="0" tIns="0" rIns="0" bIns="0" rtlCol="0" anchor="ctr"/>
            <a:lstStyle/>
            <a:p>
              <a:pPr algn="ctr">
                <a:lnSpc>
                  <a:spcPts val="32400"/>
                </a:lnSpc>
              </a:pPr>
              <a:r>
                <a:rPr lang="en-US" sz="27000" b="1">
                  <a:solidFill>
                    <a:srgbClr val="FF7300"/>
                  </a:solidFill>
                  <a:latin typeface="Montserrat Bold"/>
                  <a:ea typeface="Montserrat Bold"/>
                  <a:cs typeface="Montserrat Bold"/>
                  <a:sym typeface="Montserrat Bold"/>
                </a:rPr>
                <a:t>05</a:t>
              </a:r>
            </a:p>
          </p:txBody>
        </p:sp>
      </p:grpSp>
      <p:grpSp>
        <p:nvGrpSpPr>
          <p:cNvPr id="9" name="Group 9"/>
          <p:cNvGrpSpPr/>
          <p:nvPr/>
        </p:nvGrpSpPr>
        <p:grpSpPr>
          <a:xfrm>
            <a:off x="960120" y="3291840"/>
            <a:ext cx="10287000" cy="3566160"/>
            <a:chOff x="0" y="0"/>
            <a:chExt cx="13716000" cy="4754880"/>
          </a:xfrm>
        </p:grpSpPr>
        <p:sp>
          <p:nvSpPr>
            <p:cNvPr id="10" name="Freeform 10"/>
            <p:cNvSpPr/>
            <p:nvPr/>
          </p:nvSpPr>
          <p:spPr>
            <a:xfrm>
              <a:off x="0" y="0"/>
              <a:ext cx="13716000" cy="4754880"/>
            </a:xfrm>
            <a:custGeom>
              <a:avLst/>
              <a:gdLst/>
              <a:ahLst/>
              <a:cxnLst/>
              <a:rect l="l" t="t" r="r" b="b"/>
              <a:pathLst>
                <a:path w="13716000" h="4754880">
                  <a:moveTo>
                    <a:pt x="0" y="0"/>
                  </a:moveTo>
                  <a:lnTo>
                    <a:pt x="13716000" y="0"/>
                  </a:lnTo>
                  <a:lnTo>
                    <a:pt x="13716000" y="4754880"/>
                  </a:lnTo>
                  <a:lnTo>
                    <a:pt x="0" y="4754880"/>
                  </a:lnTo>
                  <a:close/>
                </a:path>
              </a:pathLst>
            </a:custGeom>
            <a:blipFill>
              <a:blip r:embed="rId4">
                <a:alphaModFix amt="0"/>
              </a:blip>
              <a:stretch>
                <a:fillRect t="-6206" b="-6206"/>
              </a:stretch>
            </a:blipFill>
          </p:spPr>
        </p:sp>
        <p:sp>
          <p:nvSpPr>
            <p:cNvPr id="11" name="TextBox 11"/>
            <p:cNvSpPr txBox="1"/>
            <p:nvPr/>
          </p:nvSpPr>
          <p:spPr>
            <a:xfrm>
              <a:off x="0" y="0"/>
              <a:ext cx="13716000" cy="4754880"/>
            </a:xfrm>
            <a:prstGeom prst="rect">
              <a:avLst/>
            </a:prstGeom>
          </p:spPr>
          <p:txBody>
            <a:bodyPr lIns="0" tIns="0" rIns="0" bIns="0" rtlCol="0" anchor="ctr"/>
            <a:lstStyle/>
            <a:p>
              <a:pPr algn="l">
                <a:lnSpc>
                  <a:spcPts val="7200"/>
                </a:lnSpc>
              </a:pPr>
              <a:r>
                <a:rPr lang="en-US" sz="6000" b="1">
                  <a:solidFill>
                    <a:srgbClr val="FFFFFF"/>
                  </a:solidFill>
                  <a:latin typeface="Montserrat Bold"/>
                  <a:ea typeface="Montserrat Bold"/>
                  <a:cs typeface="Montserrat Bold"/>
                  <a:sym typeface="Montserrat Bold"/>
                </a:rPr>
                <a:t>ĐO LƯỜNG &amp;</a:t>
              </a:r>
            </a:p>
            <a:p>
              <a:pPr algn="l">
                <a:lnSpc>
                  <a:spcPts val="7200"/>
                </a:lnSpc>
              </a:pPr>
              <a:r>
                <a:rPr lang="en-US" sz="6000" b="1">
                  <a:solidFill>
                    <a:srgbClr val="FFFFFF"/>
                  </a:solidFill>
                  <a:latin typeface="Montserrat Bold"/>
                  <a:ea typeface="Montserrat Bold"/>
                  <a:cs typeface="Montserrat Bold"/>
                  <a:sym typeface="Montserrat Bold"/>
                </a:rPr>
                <a:t>CAM KẾT HÀNH ĐỘNG</a:t>
              </a:r>
            </a:p>
          </p:txBody>
        </p:sp>
      </p:gr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6527780" y="438912"/>
            <a:ext cx="1097280" cy="822960"/>
            <a:chOff x="0" y="0"/>
            <a:chExt cx="1463040" cy="1097280"/>
          </a:xfrm>
        </p:grpSpPr>
        <p:sp>
          <p:nvSpPr>
            <p:cNvPr id="3" name="Freeform 3" descr="/tmp/claude-0/-home-claude/f2393a9e-ecac-5976-acd4-5fd24e92a8fe/scratchpad/assets/logo.jpg"/>
            <p:cNvSpPr/>
            <p:nvPr/>
          </p:nvSpPr>
          <p:spPr>
            <a:xfrm>
              <a:off x="0" y="0"/>
              <a:ext cx="1463040" cy="1097280"/>
            </a:xfrm>
            <a:custGeom>
              <a:avLst/>
              <a:gdLst/>
              <a:ahLst/>
              <a:cxnLst/>
              <a:rect l="l" t="t" r="r" b="b"/>
              <a:pathLst>
                <a:path w="1463040" h="1097280">
                  <a:moveTo>
                    <a:pt x="0" y="0"/>
                  </a:moveTo>
                  <a:lnTo>
                    <a:pt x="1463040" y="0"/>
                  </a:lnTo>
                  <a:lnTo>
                    <a:pt x="1463040" y="1097280"/>
                  </a:lnTo>
                  <a:lnTo>
                    <a:pt x="0" y="1097280"/>
                  </a:lnTo>
                  <a:lnTo>
                    <a:pt x="0" y="0"/>
                  </a:lnTo>
                  <a:close/>
                </a:path>
              </a:pathLst>
            </a:custGeom>
            <a:blipFill>
              <a:blip r:embed="rId3"/>
              <a:stretch>
                <a:fillRect/>
              </a:stretch>
            </a:blipFill>
          </p:spPr>
        </p:sp>
      </p:grpSp>
      <p:grpSp>
        <p:nvGrpSpPr>
          <p:cNvPr id="4" name="Group 4"/>
          <p:cNvGrpSpPr/>
          <p:nvPr/>
        </p:nvGrpSpPr>
        <p:grpSpPr>
          <a:xfrm>
            <a:off x="822960" y="411480"/>
            <a:ext cx="15361920" cy="1371600"/>
            <a:chOff x="0" y="0"/>
            <a:chExt cx="20482560" cy="1828800"/>
          </a:xfrm>
        </p:grpSpPr>
        <p:sp>
          <p:nvSpPr>
            <p:cNvPr id="5" name="Freeform 5"/>
            <p:cNvSpPr/>
            <p:nvPr/>
          </p:nvSpPr>
          <p:spPr>
            <a:xfrm>
              <a:off x="0" y="0"/>
              <a:ext cx="20482561" cy="1828800"/>
            </a:xfrm>
            <a:custGeom>
              <a:avLst/>
              <a:gdLst/>
              <a:ahLst/>
              <a:cxnLst/>
              <a:rect l="l" t="t" r="r" b="b"/>
              <a:pathLst>
                <a:path w="20482561" h="1828800">
                  <a:moveTo>
                    <a:pt x="0" y="0"/>
                  </a:moveTo>
                  <a:lnTo>
                    <a:pt x="20482561" y="0"/>
                  </a:lnTo>
                  <a:lnTo>
                    <a:pt x="20482561" y="1828800"/>
                  </a:lnTo>
                  <a:lnTo>
                    <a:pt x="0" y="1828800"/>
                  </a:lnTo>
                  <a:close/>
                </a:path>
              </a:pathLst>
            </a:custGeom>
            <a:blipFill>
              <a:blip r:embed="rId4">
                <a:alphaModFix amt="0"/>
              </a:blip>
              <a:stretch>
                <a:fillRect t="-168232" b="-168232"/>
              </a:stretch>
            </a:blipFill>
          </p:spPr>
        </p:sp>
        <p:sp>
          <p:nvSpPr>
            <p:cNvPr id="6" name="TextBox 6"/>
            <p:cNvSpPr txBox="1"/>
            <p:nvPr/>
          </p:nvSpPr>
          <p:spPr>
            <a:xfrm>
              <a:off x="0" y="0"/>
              <a:ext cx="20482560" cy="1828800"/>
            </a:xfrm>
            <a:prstGeom prst="rect">
              <a:avLst/>
            </a:prstGeom>
          </p:spPr>
          <p:txBody>
            <a:bodyPr lIns="0" tIns="0" rIns="0" bIns="0" rtlCol="0" anchor="ctr"/>
            <a:lstStyle/>
            <a:p>
              <a:pPr algn="l">
                <a:lnSpc>
                  <a:spcPts val="4680"/>
                </a:lnSpc>
              </a:pPr>
              <a:r>
                <a:rPr lang="en-US" sz="3900" b="1">
                  <a:solidFill>
                    <a:srgbClr val="006838"/>
                  </a:solidFill>
                  <a:latin typeface="Montserrat Bold"/>
                  <a:ea typeface="Montserrat Bold"/>
                  <a:cs typeface="Montserrat Bold"/>
                  <a:sym typeface="Montserrat Bold"/>
                </a:rPr>
                <a:t>BỘ CHỈ SỐ ĐO LƯỜNG THÀNH CÔNG</a:t>
              </a:r>
            </a:p>
          </p:txBody>
        </p:sp>
      </p:grpSp>
      <p:grpSp>
        <p:nvGrpSpPr>
          <p:cNvPr id="7" name="Group 7"/>
          <p:cNvGrpSpPr/>
          <p:nvPr/>
        </p:nvGrpSpPr>
        <p:grpSpPr>
          <a:xfrm>
            <a:off x="815816" y="2324576"/>
            <a:ext cx="5240084" cy="7009447"/>
            <a:chOff x="0" y="0"/>
            <a:chExt cx="6986778" cy="9345930"/>
          </a:xfrm>
        </p:grpSpPr>
        <p:sp>
          <p:nvSpPr>
            <p:cNvPr id="8" name="Freeform 8"/>
            <p:cNvSpPr/>
            <p:nvPr/>
          </p:nvSpPr>
          <p:spPr>
            <a:xfrm>
              <a:off x="0" y="0"/>
              <a:ext cx="6986778" cy="9345930"/>
            </a:xfrm>
            <a:custGeom>
              <a:avLst/>
              <a:gdLst/>
              <a:ahLst/>
              <a:cxnLst/>
              <a:rect l="l" t="t" r="r" b="b"/>
              <a:pathLst>
                <a:path w="6986778" h="9345930">
                  <a:moveTo>
                    <a:pt x="0" y="220091"/>
                  </a:moveTo>
                  <a:cubicBezTo>
                    <a:pt x="0" y="98552"/>
                    <a:pt x="98552" y="0"/>
                    <a:pt x="220091" y="0"/>
                  </a:cubicBezTo>
                  <a:lnTo>
                    <a:pt x="6766687" y="0"/>
                  </a:lnTo>
                  <a:cubicBezTo>
                    <a:pt x="6888226" y="0"/>
                    <a:pt x="6986778" y="98552"/>
                    <a:pt x="6986778" y="220091"/>
                  </a:cubicBezTo>
                  <a:lnTo>
                    <a:pt x="6986778" y="9125839"/>
                  </a:lnTo>
                  <a:cubicBezTo>
                    <a:pt x="6986778" y="9247378"/>
                    <a:pt x="6888226" y="9345930"/>
                    <a:pt x="6766687" y="9345930"/>
                  </a:cubicBezTo>
                  <a:lnTo>
                    <a:pt x="220091" y="9345930"/>
                  </a:lnTo>
                  <a:cubicBezTo>
                    <a:pt x="98552" y="9345930"/>
                    <a:pt x="0" y="9247378"/>
                    <a:pt x="0" y="9125839"/>
                  </a:cubicBezTo>
                  <a:close/>
                </a:path>
              </a:pathLst>
            </a:custGeom>
            <a:solidFill>
              <a:srgbClr val="FFFFFF"/>
            </a:solidFill>
            <a:ln w="14288" cap="sq">
              <a:solidFill>
                <a:srgbClr val="DCE6E0"/>
              </a:solidFill>
              <a:prstDash val="solid"/>
              <a:miter/>
            </a:ln>
          </p:spPr>
        </p:sp>
      </p:grpSp>
      <p:sp>
        <p:nvSpPr>
          <p:cNvPr id="9" name="TextBox 9"/>
          <p:cNvSpPr txBox="1"/>
          <p:nvPr/>
        </p:nvSpPr>
        <p:spPr>
          <a:xfrm>
            <a:off x="1303020" y="2606040"/>
            <a:ext cx="1920240" cy="1920240"/>
          </a:xfrm>
          <a:prstGeom prst="rect">
            <a:avLst/>
          </a:prstGeom>
        </p:spPr>
        <p:txBody>
          <a:bodyPr lIns="0" tIns="0" rIns="0" bIns="0" rtlCol="0" anchor="t">
            <a:spAutoFit/>
          </a:bodyPr>
          <a:lstStyle/>
          <a:p>
            <a:pPr algn="l">
              <a:lnSpc>
                <a:spcPts val="14400"/>
              </a:lnSpc>
            </a:pPr>
            <a:r>
              <a:rPr lang="en-US" sz="12000" b="1">
                <a:solidFill>
                  <a:srgbClr val="FF7300"/>
                </a:solidFill>
                <a:latin typeface="Montserrat Bold"/>
                <a:ea typeface="Montserrat Bold"/>
                <a:cs typeface="Montserrat Bold"/>
                <a:sym typeface="Montserrat Bold"/>
              </a:rPr>
              <a:t>1</a:t>
            </a:r>
          </a:p>
        </p:txBody>
      </p:sp>
      <p:grpSp>
        <p:nvGrpSpPr>
          <p:cNvPr id="10" name="Group 10"/>
          <p:cNvGrpSpPr/>
          <p:nvPr/>
        </p:nvGrpSpPr>
        <p:grpSpPr>
          <a:xfrm>
            <a:off x="4256151" y="2939415"/>
            <a:ext cx="1322070" cy="1322070"/>
            <a:chOff x="0" y="0"/>
            <a:chExt cx="1762760" cy="1762760"/>
          </a:xfrm>
        </p:grpSpPr>
        <p:sp>
          <p:nvSpPr>
            <p:cNvPr id="11" name="Freeform 11"/>
            <p:cNvSpPr/>
            <p:nvPr/>
          </p:nvSpPr>
          <p:spPr>
            <a:xfrm>
              <a:off x="0" y="0"/>
              <a:ext cx="1762760" cy="1762760"/>
            </a:xfrm>
            <a:custGeom>
              <a:avLst/>
              <a:gdLst/>
              <a:ahLst/>
              <a:cxnLst/>
              <a:rect l="l" t="t" r="r" b="b"/>
              <a:pathLst>
                <a:path w="1762760" h="1762760">
                  <a:moveTo>
                    <a:pt x="0" y="881380"/>
                  </a:moveTo>
                  <a:cubicBezTo>
                    <a:pt x="0" y="394589"/>
                    <a:pt x="394589" y="0"/>
                    <a:pt x="881380" y="0"/>
                  </a:cubicBezTo>
                  <a:cubicBezTo>
                    <a:pt x="1368171" y="0"/>
                    <a:pt x="1762760" y="394589"/>
                    <a:pt x="1762760" y="881380"/>
                  </a:cubicBezTo>
                  <a:cubicBezTo>
                    <a:pt x="1762760" y="1368171"/>
                    <a:pt x="1368171" y="1762760"/>
                    <a:pt x="881380" y="1762760"/>
                  </a:cubicBezTo>
                  <a:cubicBezTo>
                    <a:pt x="394589" y="1762760"/>
                    <a:pt x="0" y="1368171"/>
                    <a:pt x="0" y="881380"/>
                  </a:cubicBezTo>
                  <a:close/>
                </a:path>
              </a:pathLst>
            </a:custGeom>
            <a:solidFill>
              <a:srgbClr val="E8F3ED"/>
            </a:solidFill>
            <a:ln w="19050" cap="sq">
              <a:solidFill>
                <a:srgbClr val="E8F3ED"/>
              </a:solidFill>
              <a:prstDash val="solid"/>
              <a:miter/>
            </a:ln>
          </p:spPr>
        </p:sp>
      </p:grpSp>
      <p:grpSp>
        <p:nvGrpSpPr>
          <p:cNvPr id="12" name="Group 12"/>
          <p:cNvGrpSpPr/>
          <p:nvPr/>
        </p:nvGrpSpPr>
        <p:grpSpPr>
          <a:xfrm>
            <a:off x="4604461" y="3287725"/>
            <a:ext cx="625450" cy="625450"/>
            <a:chOff x="0" y="0"/>
            <a:chExt cx="833933" cy="833933"/>
          </a:xfrm>
        </p:grpSpPr>
        <p:sp>
          <p:nvSpPr>
            <p:cNvPr id="13" name="Freeform 13" descr="preencoded.png"/>
            <p:cNvSpPr/>
            <p:nvPr/>
          </p:nvSpPr>
          <p:spPr>
            <a:xfrm>
              <a:off x="0" y="0"/>
              <a:ext cx="833882" cy="833882"/>
            </a:xfrm>
            <a:custGeom>
              <a:avLst/>
              <a:gdLst/>
              <a:ahLst/>
              <a:cxnLst/>
              <a:rect l="l" t="t" r="r" b="b"/>
              <a:pathLst>
                <a:path w="833882" h="833882">
                  <a:moveTo>
                    <a:pt x="0" y="0"/>
                  </a:moveTo>
                  <a:lnTo>
                    <a:pt x="833882" y="0"/>
                  </a:lnTo>
                  <a:lnTo>
                    <a:pt x="833882" y="833882"/>
                  </a:lnTo>
                  <a:lnTo>
                    <a:pt x="0" y="833882"/>
                  </a:lnTo>
                  <a:lnTo>
                    <a:pt x="0" y="0"/>
                  </a:lnTo>
                  <a:close/>
                </a:path>
              </a:pathLst>
            </a:custGeom>
            <a:blipFill>
              <a:blip r:embed="rId5"/>
              <a:stretch>
                <a:fillRect r="-6" b="-6"/>
              </a:stretch>
            </a:blipFill>
          </p:spPr>
        </p:sp>
      </p:grpSp>
      <p:grpSp>
        <p:nvGrpSpPr>
          <p:cNvPr id="14" name="Group 14"/>
          <p:cNvGrpSpPr/>
          <p:nvPr/>
        </p:nvGrpSpPr>
        <p:grpSpPr>
          <a:xfrm>
            <a:off x="1303020" y="5006340"/>
            <a:ext cx="4265676" cy="822960"/>
            <a:chOff x="0" y="0"/>
            <a:chExt cx="5687568" cy="1097280"/>
          </a:xfrm>
        </p:grpSpPr>
        <p:sp>
          <p:nvSpPr>
            <p:cNvPr id="15" name="Freeform 15"/>
            <p:cNvSpPr/>
            <p:nvPr/>
          </p:nvSpPr>
          <p:spPr>
            <a:xfrm>
              <a:off x="0" y="0"/>
              <a:ext cx="5687568" cy="1097280"/>
            </a:xfrm>
            <a:custGeom>
              <a:avLst/>
              <a:gdLst/>
              <a:ahLst/>
              <a:cxnLst/>
              <a:rect l="l" t="t" r="r" b="b"/>
              <a:pathLst>
                <a:path w="5687568" h="1097280">
                  <a:moveTo>
                    <a:pt x="0" y="0"/>
                  </a:moveTo>
                  <a:lnTo>
                    <a:pt x="5687568" y="0"/>
                  </a:lnTo>
                  <a:lnTo>
                    <a:pt x="5687568" y="1097280"/>
                  </a:lnTo>
                  <a:lnTo>
                    <a:pt x="0" y="1097280"/>
                  </a:lnTo>
                  <a:close/>
                </a:path>
              </a:pathLst>
            </a:custGeom>
            <a:blipFill>
              <a:blip r:embed="rId4">
                <a:alphaModFix amt="0"/>
              </a:blip>
              <a:stretch>
                <a:fillRect t="-50997" b="-50997"/>
              </a:stretch>
            </a:blipFill>
          </p:spPr>
        </p:sp>
        <p:sp>
          <p:nvSpPr>
            <p:cNvPr id="16" name="TextBox 16"/>
            <p:cNvSpPr txBox="1"/>
            <p:nvPr/>
          </p:nvSpPr>
          <p:spPr>
            <a:xfrm>
              <a:off x="0" y="0"/>
              <a:ext cx="5687568" cy="1097280"/>
            </a:xfrm>
            <a:prstGeom prst="rect">
              <a:avLst/>
            </a:prstGeom>
          </p:spPr>
          <p:txBody>
            <a:bodyPr lIns="0" tIns="0" rIns="0" bIns="0" rtlCol="0" anchor="ctr"/>
            <a:lstStyle/>
            <a:p>
              <a:pPr algn="l">
                <a:lnSpc>
                  <a:spcPts val="3960"/>
                </a:lnSpc>
              </a:pPr>
              <a:r>
                <a:rPr lang="en-US" sz="3300" b="1">
                  <a:solidFill>
                    <a:srgbClr val="006838"/>
                  </a:solidFill>
                  <a:latin typeface="Montserrat Bold"/>
                  <a:ea typeface="Montserrat Bold"/>
                  <a:cs typeface="Montserrat Bold"/>
                  <a:sym typeface="Montserrat Bold"/>
                </a:rPr>
                <a:t>Chỉ số Sẵn sàng:</a:t>
              </a:r>
            </a:p>
          </p:txBody>
        </p:sp>
      </p:grpSp>
      <p:sp>
        <p:nvSpPr>
          <p:cNvPr id="17" name="TextBox 17"/>
          <p:cNvSpPr txBox="1"/>
          <p:nvPr/>
        </p:nvSpPr>
        <p:spPr>
          <a:xfrm>
            <a:off x="1303020" y="5987415"/>
            <a:ext cx="4265676" cy="965585"/>
          </a:xfrm>
          <a:prstGeom prst="rect">
            <a:avLst/>
          </a:prstGeom>
        </p:spPr>
        <p:txBody>
          <a:bodyPr lIns="0" tIns="0" rIns="0" bIns="0" rtlCol="0" anchor="t">
            <a:spAutoFit/>
          </a:bodyPr>
          <a:lstStyle/>
          <a:p>
            <a:pPr algn="just">
              <a:lnSpc>
                <a:spcPts val="3933"/>
              </a:lnSpc>
            </a:pPr>
            <a:r>
              <a:rPr lang="en-US" sz="2850">
                <a:solidFill>
                  <a:srgbClr val="1E2B25"/>
                </a:solidFill>
                <a:latin typeface="Montserrat"/>
                <a:ea typeface="Montserrat"/>
                <a:cs typeface="Montserrat"/>
                <a:sym typeface="Montserrat"/>
              </a:rPr>
              <a:t>Tỷ lệ % nhân sự sử dụng AI hàng tuần.</a:t>
            </a:r>
          </a:p>
        </p:txBody>
      </p:sp>
      <p:grpSp>
        <p:nvGrpSpPr>
          <p:cNvPr id="18" name="Group 18"/>
          <p:cNvGrpSpPr/>
          <p:nvPr/>
        </p:nvGrpSpPr>
        <p:grpSpPr>
          <a:xfrm>
            <a:off x="6521672" y="2324576"/>
            <a:ext cx="5240084" cy="7009447"/>
            <a:chOff x="0" y="0"/>
            <a:chExt cx="6986778" cy="9345930"/>
          </a:xfrm>
        </p:grpSpPr>
        <p:sp>
          <p:nvSpPr>
            <p:cNvPr id="19" name="Freeform 19"/>
            <p:cNvSpPr/>
            <p:nvPr/>
          </p:nvSpPr>
          <p:spPr>
            <a:xfrm>
              <a:off x="0" y="0"/>
              <a:ext cx="6986778" cy="9345930"/>
            </a:xfrm>
            <a:custGeom>
              <a:avLst/>
              <a:gdLst/>
              <a:ahLst/>
              <a:cxnLst/>
              <a:rect l="l" t="t" r="r" b="b"/>
              <a:pathLst>
                <a:path w="6986778" h="9345930">
                  <a:moveTo>
                    <a:pt x="0" y="220091"/>
                  </a:moveTo>
                  <a:cubicBezTo>
                    <a:pt x="0" y="98552"/>
                    <a:pt x="98552" y="0"/>
                    <a:pt x="220091" y="0"/>
                  </a:cubicBezTo>
                  <a:lnTo>
                    <a:pt x="6766687" y="0"/>
                  </a:lnTo>
                  <a:cubicBezTo>
                    <a:pt x="6888226" y="0"/>
                    <a:pt x="6986778" y="98552"/>
                    <a:pt x="6986778" y="220091"/>
                  </a:cubicBezTo>
                  <a:lnTo>
                    <a:pt x="6986778" y="9125839"/>
                  </a:lnTo>
                  <a:cubicBezTo>
                    <a:pt x="6986778" y="9247378"/>
                    <a:pt x="6888226" y="9345930"/>
                    <a:pt x="6766687" y="9345930"/>
                  </a:cubicBezTo>
                  <a:lnTo>
                    <a:pt x="220091" y="9345930"/>
                  </a:lnTo>
                  <a:cubicBezTo>
                    <a:pt x="98552" y="9345930"/>
                    <a:pt x="0" y="9247378"/>
                    <a:pt x="0" y="9125839"/>
                  </a:cubicBezTo>
                  <a:close/>
                </a:path>
              </a:pathLst>
            </a:custGeom>
            <a:solidFill>
              <a:srgbClr val="006838"/>
            </a:solidFill>
            <a:ln w="14288" cap="sq">
              <a:solidFill>
                <a:srgbClr val="006838"/>
              </a:solidFill>
              <a:prstDash val="solid"/>
              <a:miter/>
            </a:ln>
          </p:spPr>
        </p:sp>
      </p:grpSp>
      <p:sp>
        <p:nvSpPr>
          <p:cNvPr id="20" name="TextBox 20"/>
          <p:cNvSpPr txBox="1"/>
          <p:nvPr/>
        </p:nvSpPr>
        <p:spPr>
          <a:xfrm>
            <a:off x="7008876" y="2606040"/>
            <a:ext cx="1920240" cy="1920240"/>
          </a:xfrm>
          <a:prstGeom prst="rect">
            <a:avLst/>
          </a:prstGeom>
        </p:spPr>
        <p:txBody>
          <a:bodyPr lIns="0" tIns="0" rIns="0" bIns="0" rtlCol="0" anchor="t">
            <a:spAutoFit/>
          </a:bodyPr>
          <a:lstStyle/>
          <a:p>
            <a:pPr algn="l">
              <a:lnSpc>
                <a:spcPts val="14400"/>
              </a:lnSpc>
            </a:pPr>
            <a:r>
              <a:rPr lang="en-US" sz="12000" b="1">
                <a:solidFill>
                  <a:srgbClr val="FF7300"/>
                </a:solidFill>
                <a:latin typeface="Montserrat Bold"/>
                <a:ea typeface="Montserrat Bold"/>
                <a:cs typeface="Montserrat Bold"/>
                <a:sym typeface="Montserrat Bold"/>
              </a:rPr>
              <a:t>2</a:t>
            </a:r>
          </a:p>
        </p:txBody>
      </p:sp>
      <p:grpSp>
        <p:nvGrpSpPr>
          <p:cNvPr id="21" name="Group 21"/>
          <p:cNvGrpSpPr/>
          <p:nvPr/>
        </p:nvGrpSpPr>
        <p:grpSpPr>
          <a:xfrm>
            <a:off x="9962007" y="2939415"/>
            <a:ext cx="1322070" cy="1322070"/>
            <a:chOff x="0" y="0"/>
            <a:chExt cx="1762760" cy="1762760"/>
          </a:xfrm>
        </p:grpSpPr>
        <p:sp>
          <p:nvSpPr>
            <p:cNvPr id="22" name="Freeform 22"/>
            <p:cNvSpPr/>
            <p:nvPr/>
          </p:nvSpPr>
          <p:spPr>
            <a:xfrm>
              <a:off x="0" y="0"/>
              <a:ext cx="1762760" cy="1762760"/>
            </a:xfrm>
            <a:custGeom>
              <a:avLst/>
              <a:gdLst/>
              <a:ahLst/>
              <a:cxnLst/>
              <a:rect l="l" t="t" r="r" b="b"/>
              <a:pathLst>
                <a:path w="1762760" h="1762760">
                  <a:moveTo>
                    <a:pt x="0" y="881380"/>
                  </a:moveTo>
                  <a:cubicBezTo>
                    <a:pt x="0" y="394589"/>
                    <a:pt x="394589" y="0"/>
                    <a:pt x="881380" y="0"/>
                  </a:cubicBezTo>
                  <a:cubicBezTo>
                    <a:pt x="1368171" y="0"/>
                    <a:pt x="1762760" y="394589"/>
                    <a:pt x="1762760" y="881380"/>
                  </a:cubicBezTo>
                  <a:cubicBezTo>
                    <a:pt x="1762760" y="1368171"/>
                    <a:pt x="1368171" y="1762760"/>
                    <a:pt x="881380" y="1762760"/>
                  </a:cubicBezTo>
                  <a:cubicBezTo>
                    <a:pt x="394589" y="1762760"/>
                    <a:pt x="0" y="1368171"/>
                    <a:pt x="0" y="881380"/>
                  </a:cubicBezTo>
                  <a:close/>
                </a:path>
              </a:pathLst>
            </a:custGeom>
            <a:solidFill>
              <a:srgbClr val="FFFFFF"/>
            </a:solidFill>
            <a:ln w="19050" cap="sq">
              <a:solidFill>
                <a:srgbClr val="FFFFFF"/>
              </a:solidFill>
              <a:prstDash val="solid"/>
              <a:miter/>
            </a:ln>
          </p:spPr>
        </p:sp>
      </p:grpSp>
      <p:grpSp>
        <p:nvGrpSpPr>
          <p:cNvPr id="23" name="Group 23"/>
          <p:cNvGrpSpPr/>
          <p:nvPr/>
        </p:nvGrpSpPr>
        <p:grpSpPr>
          <a:xfrm>
            <a:off x="10310317" y="3287725"/>
            <a:ext cx="625450" cy="625450"/>
            <a:chOff x="0" y="0"/>
            <a:chExt cx="833933" cy="833933"/>
          </a:xfrm>
        </p:grpSpPr>
        <p:sp>
          <p:nvSpPr>
            <p:cNvPr id="24" name="Freeform 24" descr="preencoded.png"/>
            <p:cNvSpPr/>
            <p:nvPr/>
          </p:nvSpPr>
          <p:spPr>
            <a:xfrm>
              <a:off x="0" y="0"/>
              <a:ext cx="833882" cy="833882"/>
            </a:xfrm>
            <a:custGeom>
              <a:avLst/>
              <a:gdLst/>
              <a:ahLst/>
              <a:cxnLst/>
              <a:rect l="l" t="t" r="r" b="b"/>
              <a:pathLst>
                <a:path w="833882" h="833882">
                  <a:moveTo>
                    <a:pt x="0" y="0"/>
                  </a:moveTo>
                  <a:lnTo>
                    <a:pt x="833882" y="0"/>
                  </a:lnTo>
                  <a:lnTo>
                    <a:pt x="833882" y="833882"/>
                  </a:lnTo>
                  <a:lnTo>
                    <a:pt x="0" y="833882"/>
                  </a:lnTo>
                  <a:lnTo>
                    <a:pt x="0" y="0"/>
                  </a:lnTo>
                  <a:close/>
                </a:path>
              </a:pathLst>
            </a:custGeom>
            <a:blipFill>
              <a:blip r:embed="rId6"/>
              <a:stretch>
                <a:fillRect r="-6" b="-6"/>
              </a:stretch>
            </a:blipFill>
          </p:spPr>
        </p:sp>
      </p:grpSp>
      <p:grpSp>
        <p:nvGrpSpPr>
          <p:cNvPr id="25" name="Group 25"/>
          <p:cNvGrpSpPr/>
          <p:nvPr/>
        </p:nvGrpSpPr>
        <p:grpSpPr>
          <a:xfrm>
            <a:off x="7008876" y="5006340"/>
            <a:ext cx="4265676" cy="822960"/>
            <a:chOff x="0" y="0"/>
            <a:chExt cx="5687568" cy="1097280"/>
          </a:xfrm>
        </p:grpSpPr>
        <p:sp>
          <p:nvSpPr>
            <p:cNvPr id="26" name="Freeform 26"/>
            <p:cNvSpPr/>
            <p:nvPr/>
          </p:nvSpPr>
          <p:spPr>
            <a:xfrm>
              <a:off x="0" y="0"/>
              <a:ext cx="5687568" cy="1097280"/>
            </a:xfrm>
            <a:custGeom>
              <a:avLst/>
              <a:gdLst/>
              <a:ahLst/>
              <a:cxnLst/>
              <a:rect l="l" t="t" r="r" b="b"/>
              <a:pathLst>
                <a:path w="5687568" h="1097280">
                  <a:moveTo>
                    <a:pt x="0" y="0"/>
                  </a:moveTo>
                  <a:lnTo>
                    <a:pt x="5687568" y="0"/>
                  </a:lnTo>
                  <a:lnTo>
                    <a:pt x="5687568" y="1097280"/>
                  </a:lnTo>
                  <a:lnTo>
                    <a:pt x="0" y="1097280"/>
                  </a:lnTo>
                  <a:close/>
                </a:path>
              </a:pathLst>
            </a:custGeom>
            <a:blipFill>
              <a:blip r:embed="rId4">
                <a:alphaModFix amt="0"/>
              </a:blip>
              <a:stretch>
                <a:fillRect t="-50997" b="-50997"/>
              </a:stretch>
            </a:blipFill>
          </p:spPr>
        </p:sp>
        <p:sp>
          <p:nvSpPr>
            <p:cNvPr id="27" name="TextBox 27"/>
            <p:cNvSpPr txBox="1"/>
            <p:nvPr/>
          </p:nvSpPr>
          <p:spPr>
            <a:xfrm>
              <a:off x="0" y="0"/>
              <a:ext cx="5687568" cy="1097280"/>
            </a:xfrm>
            <a:prstGeom prst="rect">
              <a:avLst/>
            </a:prstGeom>
          </p:spPr>
          <p:txBody>
            <a:bodyPr lIns="0" tIns="0" rIns="0" bIns="0" rtlCol="0" anchor="ctr"/>
            <a:lstStyle/>
            <a:p>
              <a:pPr algn="l">
                <a:lnSpc>
                  <a:spcPts val="3960"/>
                </a:lnSpc>
              </a:pPr>
              <a:r>
                <a:rPr lang="en-US" sz="3300" b="1">
                  <a:solidFill>
                    <a:srgbClr val="FFFFFF"/>
                  </a:solidFill>
                  <a:latin typeface="Montserrat Bold"/>
                  <a:ea typeface="Montserrat Bold"/>
                  <a:cs typeface="Montserrat Bold"/>
                  <a:sym typeface="Montserrat Bold"/>
                </a:rPr>
                <a:t>Chỉ số Hiệu suất:</a:t>
              </a:r>
            </a:p>
          </p:txBody>
        </p:sp>
      </p:grpSp>
      <p:sp>
        <p:nvSpPr>
          <p:cNvPr id="28" name="TextBox 28"/>
          <p:cNvSpPr txBox="1"/>
          <p:nvPr/>
        </p:nvSpPr>
        <p:spPr>
          <a:xfrm>
            <a:off x="7008876" y="5987415"/>
            <a:ext cx="4265676" cy="1965859"/>
          </a:xfrm>
          <a:prstGeom prst="rect">
            <a:avLst/>
          </a:prstGeom>
        </p:spPr>
        <p:txBody>
          <a:bodyPr lIns="0" tIns="0" rIns="0" bIns="0" rtlCol="0" anchor="t">
            <a:spAutoFit/>
          </a:bodyPr>
          <a:lstStyle/>
          <a:p>
            <a:pPr marL="457200" indent="-457200" algn="just">
              <a:lnSpc>
                <a:spcPts val="3933"/>
              </a:lnSpc>
              <a:buFont typeface="Arial" panose="020B0604020202020204" pitchFamily="34" charset="0"/>
              <a:buChar char="•"/>
            </a:pPr>
            <a:r>
              <a:rPr lang="en-US" sz="2850">
                <a:solidFill>
                  <a:srgbClr val="E6F2EB"/>
                </a:solidFill>
                <a:latin typeface="Montserrat"/>
                <a:ea typeface="Montserrat"/>
                <a:cs typeface="Montserrat"/>
                <a:sym typeface="Montserrat"/>
              </a:rPr>
              <a:t>Số giờ làm việc thủ công được cắt giảm;</a:t>
            </a:r>
          </a:p>
          <a:p>
            <a:pPr marL="457200" indent="-457200" algn="just">
              <a:lnSpc>
                <a:spcPts val="3933"/>
              </a:lnSpc>
              <a:buFont typeface="Arial" panose="020B0604020202020204" pitchFamily="34" charset="0"/>
              <a:buChar char="•"/>
            </a:pPr>
            <a:r>
              <a:rPr lang="en-US" sz="2850">
                <a:solidFill>
                  <a:srgbClr val="E6F2EB"/>
                </a:solidFill>
                <a:latin typeface="Montserrat"/>
                <a:ea typeface="Montserrat"/>
                <a:cs typeface="Montserrat"/>
                <a:sym typeface="Montserrat"/>
              </a:rPr>
              <a:t>Tốc độ hoàn thành dự án.</a:t>
            </a:r>
          </a:p>
        </p:txBody>
      </p:sp>
      <p:grpSp>
        <p:nvGrpSpPr>
          <p:cNvPr id="29" name="Group 29"/>
          <p:cNvGrpSpPr/>
          <p:nvPr/>
        </p:nvGrpSpPr>
        <p:grpSpPr>
          <a:xfrm>
            <a:off x="12227528" y="2324576"/>
            <a:ext cx="5240084" cy="7009447"/>
            <a:chOff x="0" y="0"/>
            <a:chExt cx="6986778" cy="9345930"/>
          </a:xfrm>
        </p:grpSpPr>
        <p:sp>
          <p:nvSpPr>
            <p:cNvPr id="30" name="Freeform 30"/>
            <p:cNvSpPr/>
            <p:nvPr/>
          </p:nvSpPr>
          <p:spPr>
            <a:xfrm>
              <a:off x="0" y="0"/>
              <a:ext cx="6986778" cy="9345930"/>
            </a:xfrm>
            <a:custGeom>
              <a:avLst/>
              <a:gdLst/>
              <a:ahLst/>
              <a:cxnLst/>
              <a:rect l="l" t="t" r="r" b="b"/>
              <a:pathLst>
                <a:path w="6986778" h="9345930">
                  <a:moveTo>
                    <a:pt x="0" y="220091"/>
                  </a:moveTo>
                  <a:cubicBezTo>
                    <a:pt x="0" y="98552"/>
                    <a:pt x="98552" y="0"/>
                    <a:pt x="220091" y="0"/>
                  </a:cubicBezTo>
                  <a:lnTo>
                    <a:pt x="6766687" y="0"/>
                  </a:lnTo>
                  <a:cubicBezTo>
                    <a:pt x="6888226" y="0"/>
                    <a:pt x="6986778" y="98552"/>
                    <a:pt x="6986778" y="220091"/>
                  </a:cubicBezTo>
                  <a:lnTo>
                    <a:pt x="6986778" y="9125839"/>
                  </a:lnTo>
                  <a:cubicBezTo>
                    <a:pt x="6986778" y="9247378"/>
                    <a:pt x="6888226" y="9345930"/>
                    <a:pt x="6766687" y="9345930"/>
                  </a:cubicBezTo>
                  <a:lnTo>
                    <a:pt x="220091" y="9345930"/>
                  </a:lnTo>
                  <a:cubicBezTo>
                    <a:pt x="98552" y="9345930"/>
                    <a:pt x="0" y="9247378"/>
                    <a:pt x="0" y="9125839"/>
                  </a:cubicBezTo>
                  <a:close/>
                </a:path>
              </a:pathLst>
            </a:custGeom>
            <a:solidFill>
              <a:srgbClr val="FFFFFF"/>
            </a:solidFill>
            <a:ln w="14288" cap="sq">
              <a:solidFill>
                <a:srgbClr val="DCE6E0"/>
              </a:solidFill>
              <a:prstDash val="solid"/>
              <a:miter/>
            </a:ln>
          </p:spPr>
        </p:sp>
      </p:grpSp>
      <p:sp>
        <p:nvSpPr>
          <p:cNvPr id="31" name="TextBox 31"/>
          <p:cNvSpPr txBox="1"/>
          <p:nvPr/>
        </p:nvSpPr>
        <p:spPr>
          <a:xfrm>
            <a:off x="12714732" y="2606040"/>
            <a:ext cx="1920240" cy="1920240"/>
          </a:xfrm>
          <a:prstGeom prst="rect">
            <a:avLst/>
          </a:prstGeom>
        </p:spPr>
        <p:txBody>
          <a:bodyPr lIns="0" tIns="0" rIns="0" bIns="0" rtlCol="0" anchor="t">
            <a:spAutoFit/>
          </a:bodyPr>
          <a:lstStyle/>
          <a:p>
            <a:pPr algn="l">
              <a:lnSpc>
                <a:spcPts val="14400"/>
              </a:lnSpc>
            </a:pPr>
            <a:r>
              <a:rPr lang="en-US" sz="12000" b="1">
                <a:solidFill>
                  <a:srgbClr val="FF7300"/>
                </a:solidFill>
                <a:latin typeface="Montserrat Bold"/>
                <a:ea typeface="Montserrat Bold"/>
                <a:cs typeface="Montserrat Bold"/>
                <a:sym typeface="Montserrat Bold"/>
              </a:rPr>
              <a:t>3</a:t>
            </a:r>
          </a:p>
        </p:txBody>
      </p:sp>
      <p:grpSp>
        <p:nvGrpSpPr>
          <p:cNvPr id="32" name="Group 32"/>
          <p:cNvGrpSpPr/>
          <p:nvPr/>
        </p:nvGrpSpPr>
        <p:grpSpPr>
          <a:xfrm>
            <a:off x="15667863" y="2939415"/>
            <a:ext cx="1322070" cy="1322070"/>
            <a:chOff x="0" y="0"/>
            <a:chExt cx="1762760" cy="1762760"/>
          </a:xfrm>
        </p:grpSpPr>
        <p:sp>
          <p:nvSpPr>
            <p:cNvPr id="33" name="Freeform 33"/>
            <p:cNvSpPr/>
            <p:nvPr/>
          </p:nvSpPr>
          <p:spPr>
            <a:xfrm>
              <a:off x="0" y="0"/>
              <a:ext cx="1762760" cy="1762760"/>
            </a:xfrm>
            <a:custGeom>
              <a:avLst/>
              <a:gdLst/>
              <a:ahLst/>
              <a:cxnLst/>
              <a:rect l="l" t="t" r="r" b="b"/>
              <a:pathLst>
                <a:path w="1762760" h="1762760">
                  <a:moveTo>
                    <a:pt x="0" y="881380"/>
                  </a:moveTo>
                  <a:cubicBezTo>
                    <a:pt x="0" y="394589"/>
                    <a:pt x="394589" y="0"/>
                    <a:pt x="881380" y="0"/>
                  </a:cubicBezTo>
                  <a:cubicBezTo>
                    <a:pt x="1368171" y="0"/>
                    <a:pt x="1762760" y="394589"/>
                    <a:pt x="1762760" y="881380"/>
                  </a:cubicBezTo>
                  <a:cubicBezTo>
                    <a:pt x="1762760" y="1368171"/>
                    <a:pt x="1368171" y="1762760"/>
                    <a:pt x="881380" y="1762760"/>
                  </a:cubicBezTo>
                  <a:cubicBezTo>
                    <a:pt x="394589" y="1762760"/>
                    <a:pt x="0" y="1368171"/>
                    <a:pt x="0" y="881380"/>
                  </a:cubicBezTo>
                  <a:close/>
                </a:path>
              </a:pathLst>
            </a:custGeom>
            <a:solidFill>
              <a:srgbClr val="E8F3ED"/>
            </a:solidFill>
            <a:ln w="19050" cap="sq">
              <a:solidFill>
                <a:srgbClr val="E8F3ED"/>
              </a:solidFill>
              <a:prstDash val="solid"/>
              <a:miter/>
            </a:ln>
          </p:spPr>
        </p:sp>
      </p:grpSp>
      <p:grpSp>
        <p:nvGrpSpPr>
          <p:cNvPr id="34" name="Group 34"/>
          <p:cNvGrpSpPr/>
          <p:nvPr/>
        </p:nvGrpSpPr>
        <p:grpSpPr>
          <a:xfrm>
            <a:off x="16016173" y="3287725"/>
            <a:ext cx="625450" cy="625450"/>
            <a:chOff x="0" y="0"/>
            <a:chExt cx="833933" cy="833933"/>
          </a:xfrm>
        </p:grpSpPr>
        <p:sp>
          <p:nvSpPr>
            <p:cNvPr id="35" name="Freeform 35" descr="preencoded.png"/>
            <p:cNvSpPr/>
            <p:nvPr/>
          </p:nvSpPr>
          <p:spPr>
            <a:xfrm>
              <a:off x="0" y="0"/>
              <a:ext cx="833882" cy="833882"/>
            </a:xfrm>
            <a:custGeom>
              <a:avLst/>
              <a:gdLst/>
              <a:ahLst/>
              <a:cxnLst/>
              <a:rect l="l" t="t" r="r" b="b"/>
              <a:pathLst>
                <a:path w="833882" h="833882">
                  <a:moveTo>
                    <a:pt x="0" y="0"/>
                  </a:moveTo>
                  <a:lnTo>
                    <a:pt x="833882" y="0"/>
                  </a:lnTo>
                  <a:lnTo>
                    <a:pt x="833882" y="833882"/>
                  </a:lnTo>
                  <a:lnTo>
                    <a:pt x="0" y="833882"/>
                  </a:lnTo>
                  <a:lnTo>
                    <a:pt x="0" y="0"/>
                  </a:lnTo>
                  <a:close/>
                </a:path>
              </a:pathLst>
            </a:custGeom>
            <a:blipFill>
              <a:blip r:embed="rId7"/>
              <a:stretch>
                <a:fillRect r="-6" b="-6"/>
              </a:stretch>
            </a:blipFill>
          </p:spPr>
        </p:sp>
      </p:grpSp>
      <p:grpSp>
        <p:nvGrpSpPr>
          <p:cNvPr id="36" name="Group 36"/>
          <p:cNvGrpSpPr/>
          <p:nvPr/>
        </p:nvGrpSpPr>
        <p:grpSpPr>
          <a:xfrm>
            <a:off x="12714732" y="5006340"/>
            <a:ext cx="4265676" cy="822960"/>
            <a:chOff x="0" y="0"/>
            <a:chExt cx="5687568" cy="1097280"/>
          </a:xfrm>
        </p:grpSpPr>
        <p:sp>
          <p:nvSpPr>
            <p:cNvPr id="37" name="Freeform 37"/>
            <p:cNvSpPr/>
            <p:nvPr/>
          </p:nvSpPr>
          <p:spPr>
            <a:xfrm>
              <a:off x="0" y="0"/>
              <a:ext cx="5687568" cy="1097280"/>
            </a:xfrm>
            <a:custGeom>
              <a:avLst/>
              <a:gdLst/>
              <a:ahLst/>
              <a:cxnLst/>
              <a:rect l="l" t="t" r="r" b="b"/>
              <a:pathLst>
                <a:path w="5687568" h="1097280">
                  <a:moveTo>
                    <a:pt x="0" y="0"/>
                  </a:moveTo>
                  <a:lnTo>
                    <a:pt x="5687568" y="0"/>
                  </a:lnTo>
                  <a:lnTo>
                    <a:pt x="5687568" y="1097280"/>
                  </a:lnTo>
                  <a:lnTo>
                    <a:pt x="0" y="1097280"/>
                  </a:lnTo>
                  <a:close/>
                </a:path>
              </a:pathLst>
            </a:custGeom>
            <a:blipFill>
              <a:blip r:embed="rId4">
                <a:alphaModFix amt="0"/>
              </a:blip>
              <a:stretch>
                <a:fillRect t="-50997" b="-50997"/>
              </a:stretch>
            </a:blipFill>
          </p:spPr>
        </p:sp>
        <p:sp>
          <p:nvSpPr>
            <p:cNvPr id="38" name="TextBox 38"/>
            <p:cNvSpPr txBox="1"/>
            <p:nvPr/>
          </p:nvSpPr>
          <p:spPr>
            <a:xfrm>
              <a:off x="0" y="0"/>
              <a:ext cx="5687568" cy="1097280"/>
            </a:xfrm>
            <a:prstGeom prst="rect">
              <a:avLst/>
            </a:prstGeom>
          </p:spPr>
          <p:txBody>
            <a:bodyPr lIns="0" tIns="0" rIns="0" bIns="0" rtlCol="0" anchor="ctr"/>
            <a:lstStyle/>
            <a:p>
              <a:pPr algn="l">
                <a:lnSpc>
                  <a:spcPts val="3960"/>
                </a:lnSpc>
              </a:pPr>
              <a:r>
                <a:rPr lang="en-US" sz="3300" b="1">
                  <a:solidFill>
                    <a:srgbClr val="006838"/>
                  </a:solidFill>
                  <a:latin typeface="Montserrat Bold"/>
                  <a:ea typeface="Montserrat Bold"/>
                  <a:cs typeface="Montserrat Bold"/>
                  <a:sym typeface="Montserrat Bold"/>
                </a:rPr>
                <a:t>Chỉ số Chất lượng:</a:t>
              </a:r>
            </a:p>
          </p:txBody>
        </p:sp>
      </p:grpSp>
      <p:sp>
        <p:nvSpPr>
          <p:cNvPr id="39" name="TextBox 39"/>
          <p:cNvSpPr txBox="1"/>
          <p:nvPr/>
        </p:nvSpPr>
        <p:spPr>
          <a:xfrm>
            <a:off x="12714732" y="5987415"/>
            <a:ext cx="4265676" cy="1465722"/>
          </a:xfrm>
          <a:prstGeom prst="rect">
            <a:avLst/>
          </a:prstGeom>
        </p:spPr>
        <p:txBody>
          <a:bodyPr lIns="0" tIns="0" rIns="0" bIns="0" rtlCol="0" anchor="t">
            <a:spAutoFit/>
          </a:bodyPr>
          <a:lstStyle/>
          <a:p>
            <a:pPr marL="457200" indent="-457200" algn="just">
              <a:lnSpc>
                <a:spcPts val="3933"/>
              </a:lnSpc>
              <a:buFont typeface="Arial" panose="020B0604020202020204" pitchFamily="34" charset="0"/>
              <a:buChar char="•"/>
            </a:pPr>
            <a:r>
              <a:rPr lang="en-US" sz="2850">
                <a:solidFill>
                  <a:srgbClr val="1E2B25"/>
                </a:solidFill>
                <a:latin typeface="Montserrat"/>
                <a:ea typeface="Montserrat"/>
                <a:cs typeface="Montserrat"/>
                <a:sym typeface="Montserrat"/>
              </a:rPr>
              <a:t>Tỷ lệ giảm sai sót; </a:t>
            </a:r>
          </a:p>
          <a:p>
            <a:pPr marL="457200" indent="-457200" algn="just">
              <a:lnSpc>
                <a:spcPts val="3933"/>
              </a:lnSpc>
              <a:buFont typeface="Arial" panose="020B0604020202020204" pitchFamily="34" charset="0"/>
              <a:buChar char="•"/>
            </a:pPr>
            <a:r>
              <a:rPr lang="en-US" sz="2850">
                <a:solidFill>
                  <a:srgbClr val="1E2B25"/>
                </a:solidFill>
                <a:latin typeface="Montserrat"/>
                <a:ea typeface="Montserrat"/>
                <a:cs typeface="Montserrat"/>
                <a:sym typeface="Montserrat"/>
              </a:rPr>
              <a:t>Mức độ hài lòng của khách hàng.</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4"/>
          <p:cNvGrpSpPr/>
          <p:nvPr/>
        </p:nvGrpSpPr>
        <p:grpSpPr>
          <a:xfrm>
            <a:off x="822960" y="411480"/>
            <a:ext cx="15361920" cy="1371600"/>
            <a:chOff x="0" y="0"/>
            <a:chExt cx="20482560" cy="1828800"/>
          </a:xfrm>
        </p:grpSpPr>
        <p:sp>
          <p:nvSpPr>
            <p:cNvPr id="5" name="Freeform 5"/>
            <p:cNvSpPr/>
            <p:nvPr/>
          </p:nvSpPr>
          <p:spPr>
            <a:xfrm>
              <a:off x="0" y="0"/>
              <a:ext cx="20482561" cy="1828800"/>
            </a:xfrm>
            <a:custGeom>
              <a:avLst/>
              <a:gdLst/>
              <a:ahLst/>
              <a:cxnLst/>
              <a:rect l="l" t="t" r="r" b="b"/>
              <a:pathLst>
                <a:path w="20482561" h="1828800">
                  <a:moveTo>
                    <a:pt x="0" y="0"/>
                  </a:moveTo>
                  <a:lnTo>
                    <a:pt x="20482561" y="0"/>
                  </a:lnTo>
                  <a:lnTo>
                    <a:pt x="20482561" y="1828800"/>
                  </a:lnTo>
                  <a:lnTo>
                    <a:pt x="0" y="1828800"/>
                  </a:lnTo>
                  <a:close/>
                </a:path>
              </a:pathLst>
            </a:custGeom>
            <a:blipFill>
              <a:blip r:embed="rId3">
                <a:alphaModFix amt="0"/>
              </a:blip>
              <a:stretch>
                <a:fillRect t="-168232" b="-168232"/>
              </a:stretch>
            </a:blipFill>
          </p:spPr>
        </p:sp>
        <p:sp>
          <p:nvSpPr>
            <p:cNvPr id="6" name="TextBox 6"/>
            <p:cNvSpPr txBox="1"/>
            <p:nvPr/>
          </p:nvSpPr>
          <p:spPr>
            <a:xfrm>
              <a:off x="0" y="0"/>
              <a:ext cx="20482560" cy="1828800"/>
            </a:xfrm>
            <a:prstGeom prst="rect">
              <a:avLst/>
            </a:prstGeom>
          </p:spPr>
          <p:txBody>
            <a:bodyPr lIns="0" tIns="0" rIns="0" bIns="0" rtlCol="0" anchor="ctr"/>
            <a:lstStyle/>
            <a:p>
              <a:pPr algn="l">
                <a:lnSpc>
                  <a:spcPts val="4680"/>
                </a:lnSpc>
              </a:pPr>
              <a:r>
                <a:rPr lang="en-US" sz="3900" b="1">
                  <a:solidFill>
                    <a:srgbClr val="006838"/>
                  </a:solidFill>
                  <a:latin typeface="Montserrat Bold"/>
                  <a:ea typeface="Montserrat Bold"/>
                  <a:cs typeface="Montserrat Bold"/>
                  <a:sym typeface="Montserrat Bold"/>
                </a:rPr>
                <a:t>VIỆC CẦN LÀM NGAY</a:t>
              </a:r>
            </a:p>
          </p:txBody>
        </p:sp>
      </p:grpSp>
      <p:grpSp>
        <p:nvGrpSpPr>
          <p:cNvPr id="7" name="Group 7"/>
          <p:cNvGrpSpPr/>
          <p:nvPr/>
        </p:nvGrpSpPr>
        <p:grpSpPr>
          <a:xfrm>
            <a:off x="815816" y="2187416"/>
            <a:ext cx="16651796" cy="2208848"/>
            <a:chOff x="0" y="0"/>
            <a:chExt cx="22202394" cy="2945130"/>
          </a:xfrm>
        </p:grpSpPr>
        <p:sp>
          <p:nvSpPr>
            <p:cNvPr id="8" name="Freeform 8"/>
            <p:cNvSpPr/>
            <p:nvPr/>
          </p:nvSpPr>
          <p:spPr>
            <a:xfrm>
              <a:off x="0" y="0"/>
              <a:ext cx="22202394" cy="2945130"/>
            </a:xfrm>
            <a:custGeom>
              <a:avLst/>
              <a:gdLst/>
              <a:ahLst/>
              <a:cxnLst/>
              <a:rect l="l" t="t" r="r" b="b"/>
              <a:pathLst>
                <a:path w="22202394" h="2945130">
                  <a:moveTo>
                    <a:pt x="0" y="220853"/>
                  </a:moveTo>
                  <a:cubicBezTo>
                    <a:pt x="0" y="98933"/>
                    <a:pt x="98933" y="0"/>
                    <a:pt x="220853" y="0"/>
                  </a:cubicBezTo>
                  <a:lnTo>
                    <a:pt x="21981540" y="0"/>
                  </a:lnTo>
                  <a:cubicBezTo>
                    <a:pt x="22103587" y="0"/>
                    <a:pt x="22202394" y="98933"/>
                    <a:pt x="22202394" y="220853"/>
                  </a:cubicBezTo>
                  <a:lnTo>
                    <a:pt x="22202394" y="2724277"/>
                  </a:lnTo>
                  <a:cubicBezTo>
                    <a:pt x="22202394" y="2846324"/>
                    <a:pt x="22103460" y="2945130"/>
                    <a:pt x="21981540" y="2945130"/>
                  </a:cubicBezTo>
                  <a:lnTo>
                    <a:pt x="220853" y="2945130"/>
                  </a:lnTo>
                  <a:cubicBezTo>
                    <a:pt x="98933" y="2945130"/>
                    <a:pt x="0" y="2846197"/>
                    <a:pt x="0" y="2724277"/>
                  </a:cubicBezTo>
                  <a:close/>
                </a:path>
              </a:pathLst>
            </a:custGeom>
            <a:solidFill>
              <a:srgbClr val="FFFFFF"/>
            </a:solidFill>
            <a:ln w="14288" cap="sq">
              <a:solidFill>
                <a:srgbClr val="DCE6E0"/>
              </a:solidFill>
              <a:prstDash val="solid"/>
              <a:miter/>
            </a:ln>
          </p:spPr>
        </p:sp>
      </p:grpSp>
      <p:grpSp>
        <p:nvGrpSpPr>
          <p:cNvPr id="9" name="Group 9"/>
          <p:cNvGrpSpPr/>
          <p:nvPr/>
        </p:nvGrpSpPr>
        <p:grpSpPr>
          <a:xfrm>
            <a:off x="813435" y="2185035"/>
            <a:ext cx="4408170" cy="2213610"/>
            <a:chOff x="0" y="0"/>
            <a:chExt cx="5877560" cy="2951480"/>
          </a:xfrm>
        </p:grpSpPr>
        <p:sp>
          <p:nvSpPr>
            <p:cNvPr id="10" name="Freeform 10"/>
            <p:cNvSpPr/>
            <p:nvPr/>
          </p:nvSpPr>
          <p:spPr>
            <a:xfrm>
              <a:off x="0" y="0"/>
              <a:ext cx="5877560" cy="2951480"/>
            </a:xfrm>
            <a:custGeom>
              <a:avLst/>
              <a:gdLst/>
              <a:ahLst/>
              <a:cxnLst/>
              <a:rect l="l" t="t" r="r" b="b"/>
              <a:pathLst>
                <a:path w="5877560" h="2951480">
                  <a:moveTo>
                    <a:pt x="0" y="221361"/>
                  </a:moveTo>
                  <a:cubicBezTo>
                    <a:pt x="0" y="99060"/>
                    <a:pt x="99060" y="0"/>
                    <a:pt x="221361" y="0"/>
                  </a:cubicBezTo>
                  <a:lnTo>
                    <a:pt x="5656199" y="0"/>
                  </a:lnTo>
                  <a:cubicBezTo>
                    <a:pt x="5778500" y="0"/>
                    <a:pt x="5877560" y="99060"/>
                    <a:pt x="5877560" y="221361"/>
                  </a:cubicBezTo>
                  <a:lnTo>
                    <a:pt x="5877560" y="2730119"/>
                  </a:lnTo>
                  <a:cubicBezTo>
                    <a:pt x="5877560" y="2852420"/>
                    <a:pt x="5778500" y="2951480"/>
                    <a:pt x="5656199" y="2951480"/>
                  </a:cubicBezTo>
                  <a:lnTo>
                    <a:pt x="221361" y="2951480"/>
                  </a:lnTo>
                  <a:cubicBezTo>
                    <a:pt x="99060" y="2951480"/>
                    <a:pt x="0" y="2852420"/>
                    <a:pt x="0" y="2730119"/>
                  </a:cubicBezTo>
                  <a:close/>
                </a:path>
              </a:pathLst>
            </a:custGeom>
            <a:solidFill>
              <a:srgbClr val="006838"/>
            </a:solidFill>
            <a:ln w="19050" cap="sq">
              <a:solidFill>
                <a:srgbClr val="006838"/>
              </a:solidFill>
              <a:prstDash val="solid"/>
              <a:miter/>
            </a:ln>
          </p:spPr>
        </p:sp>
      </p:grpSp>
      <p:grpSp>
        <p:nvGrpSpPr>
          <p:cNvPr id="11" name="Group 11"/>
          <p:cNvGrpSpPr/>
          <p:nvPr/>
        </p:nvGrpSpPr>
        <p:grpSpPr>
          <a:xfrm>
            <a:off x="1156335" y="2733675"/>
            <a:ext cx="1116330" cy="1116330"/>
            <a:chOff x="0" y="0"/>
            <a:chExt cx="1488440" cy="1488440"/>
          </a:xfrm>
        </p:grpSpPr>
        <p:sp>
          <p:nvSpPr>
            <p:cNvPr id="12" name="Freeform 12"/>
            <p:cNvSpPr/>
            <p:nvPr/>
          </p:nvSpPr>
          <p:spPr>
            <a:xfrm>
              <a:off x="0" y="0"/>
              <a:ext cx="1488440" cy="1488440"/>
            </a:xfrm>
            <a:custGeom>
              <a:avLst/>
              <a:gdLst/>
              <a:ahLst/>
              <a:cxnLst/>
              <a:rect l="l" t="t" r="r" b="b"/>
              <a:pathLst>
                <a:path w="1488440" h="1488440">
                  <a:moveTo>
                    <a:pt x="0" y="744220"/>
                  </a:moveTo>
                  <a:cubicBezTo>
                    <a:pt x="0" y="333248"/>
                    <a:pt x="333248" y="0"/>
                    <a:pt x="744220" y="0"/>
                  </a:cubicBezTo>
                  <a:cubicBezTo>
                    <a:pt x="1155192" y="0"/>
                    <a:pt x="1488440" y="333248"/>
                    <a:pt x="1488440" y="744220"/>
                  </a:cubicBezTo>
                  <a:cubicBezTo>
                    <a:pt x="1488440" y="1155192"/>
                    <a:pt x="1155192" y="1488440"/>
                    <a:pt x="744220" y="1488440"/>
                  </a:cubicBezTo>
                  <a:cubicBezTo>
                    <a:pt x="333248" y="1488440"/>
                    <a:pt x="0" y="1155192"/>
                    <a:pt x="0" y="744220"/>
                  </a:cubicBezTo>
                  <a:close/>
                </a:path>
              </a:pathLst>
            </a:custGeom>
            <a:solidFill>
              <a:srgbClr val="FFFFFF"/>
            </a:solidFill>
            <a:ln w="19050" cap="sq">
              <a:solidFill>
                <a:srgbClr val="FFFFFF"/>
              </a:solidFill>
              <a:prstDash val="solid"/>
              <a:miter/>
            </a:ln>
          </p:spPr>
        </p:sp>
      </p:grpSp>
      <p:grpSp>
        <p:nvGrpSpPr>
          <p:cNvPr id="13" name="Group 13"/>
          <p:cNvGrpSpPr/>
          <p:nvPr/>
        </p:nvGrpSpPr>
        <p:grpSpPr>
          <a:xfrm>
            <a:off x="1429207" y="3006547"/>
            <a:ext cx="570586" cy="570586"/>
            <a:chOff x="0" y="0"/>
            <a:chExt cx="760781" cy="760781"/>
          </a:xfrm>
        </p:grpSpPr>
        <p:sp>
          <p:nvSpPr>
            <p:cNvPr id="14" name="Freeform 14" descr="preencoded.png"/>
            <p:cNvSpPr/>
            <p:nvPr/>
          </p:nvSpPr>
          <p:spPr>
            <a:xfrm>
              <a:off x="0" y="0"/>
              <a:ext cx="760730" cy="760730"/>
            </a:xfrm>
            <a:custGeom>
              <a:avLst/>
              <a:gdLst/>
              <a:ahLst/>
              <a:cxnLst/>
              <a:rect l="l" t="t" r="r" b="b"/>
              <a:pathLst>
                <a:path w="760730" h="760730">
                  <a:moveTo>
                    <a:pt x="0" y="0"/>
                  </a:moveTo>
                  <a:lnTo>
                    <a:pt x="760730" y="0"/>
                  </a:lnTo>
                  <a:lnTo>
                    <a:pt x="760730" y="760730"/>
                  </a:lnTo>
                  <a:lnTo>
                    <a:pt x="0" y="760730"/>
                  </a:lnTo>
                  <a:lnTo>
                    <a:pt x="0" y="0"/>
                  </a:lnTo>
                  <a:close/>
                </a:path>
              </a:pathLst>
            </a:custGeom>
            <a:blipFill>
              <a:blip r:embed="rId4"/>
              <a:stretch>
                <a:fillRect r="-6" b="-6"/>
              </a:stretch>
            </a:blipFill>
          </p:spPr>
        </p:sp>
      </p:grpSp>
      <p:grpSp>
        <p:nvGrpSpPr>
          <p:cNvPr id="15" name="Group 15"/>
          <p:cNvGrpSpPr/>
          <p:nvPr/>
        </p:nvGrpSpPr>
        <p:grpSpPr>
          <a:xfrm>
            <a:off x="2468880" y="2743200"/>
            <a:ext cx="2606040" cy="1097280"/>
            <a:chOff x="0" y="0"/>
            <a:chExt cx="3474720" cy="1463040"/>
          </a:xfrm>
        </p:grpSpPr>
        <p:sp>
          <p:nvSpPr>
            <p:cNvPr id="16" name="Freeform 16"/>
            <p:cNvSpPr/>
            <p:nvPr/>
          </p:nvSpPr>
          <p:spPr>
            <a:xfrm>
              <a:off x="0" y="0"/>
              <a:ext cx="3474720" cy="1463040"/>
            </a:xfrm>
            <a:custGeom>
              <a:avLst/>
              <a:gdLst/>
              <a:ahLst/>
              <a:cxnLst/>
              <a:rect l="l" t="t" r="r" b="b"/>
              <a:pathLst>
                <a:path w="3474720" h="1463040">
                  <a:moveTo>
                    <a:pt x="0" y="0"/>
                  </a:moveTo>
                  <a:lnTo>
                    <a:pt x="3474720" y="0"/>
                  </a:lnTo>
                  <a:lnTo>
                    <a:pt x="3474720" y="1463040"/>
                  </a:lnTo>
                  <a:lnTo>
                    <a:pt x="0" y="1463040"/>
                  </a:lnTo>
                  <a:close/>
                </a:path>
              </a:pathLst>
            </a:custGeom>
            <a:blipFill>
              <a:blip r:embed="rId3">
                <a:alphaModFix amt="0"/>
              </a:blip>
              <a:stretch>
                <a:fillRect l="-4022" r="-4022"/>
              </a:stretch>
            </a:blipFill>
          </p:spPr>
        </p:sp>
        <p:sp>
          <p:nvSpPr>
            <p:cNvPr id="17" name="TextBox 17"/>
            <p:cNvSpPr txBox="1"/>
            <p:nvPr/>
          </p:nvSpPr>
          <p:spPr>
            <a:xfrm>
              <a:off x="0" y="0"/>
              <a:ext cx="3474720" cy="1463040"/>
            </a:xfrm>
            <a:prstGeom prst="rect">
              <a:avLst/>
            </a:prstGeom>
          </p:spPr>
          <p:txBody>
            <a:bodyPr lIns="0" tIns="0" rIns="0" bIns="0" rtlCol="0" anchor="ctr"/>
            <a:lstStyle/>
            <a:p>
              <a:pPr algn="l">
                <a:lnSpc>
                  <a:spcPts val="3060"/>
                </a:lnSpc>
              </a:pPr>
              <a:r>
                <a:rPr lang="en-US" sz="2550" b="1">
                  <a:solidFill>
                    <a:srgbClr val="FFFFFF"/>
                  </a:solidFill>
                  <a:latin typeface="Montserrat Bold"/>
                  <a:ea typeface="Montserrat Bold"/>
                  <a:cs typeface="Montserrat Bold"/>
                  <a:sym typeface="Montserrat Bold"/>
                </a:rPr>
                <a:t>Governance</a:t>
              </a:r>
            </a:p>
          </p:txBody>
        </p:sp>
      </p:grpSp>
      <p:grpSp>
        <p:nvGrpSpPr>
          <p:cNvPr id="18" name="Group 18"/>
          <p:cNvGrpSpPr/>
          <p:nvPr/>
        </p:nvGrpSpPr>
        <p:grpSpPr>
          <a:xfrm>
            <a:off x="5623560" y="2324100"/>
            <a:ext cx="11452860" cy="1865376"/>
            <a:chOff x="0" y="0"/>
            <a:chExt cx="15270480" cy="2487168"/>
          </a:xfrm>
        </p:grpSpPr>
        <p:sp>
          <p:nvSpPr>
            <p:cNvPr id="19" name="Freeform 19"/>
            <p:cNvSpPr/>
            <p:nvPr/>
          </p:nvSpPr>
          <p:spPr>
            <a:xfrm>
              <a:off x="0" y="0"/>
              <a:ext cx="15270480" cy="2487168"/>
            </a:xfrm>
            <a:custGeom>
              <a:avLst/>
              <a:gdLst/>
              <a:ahLst/>
              <a:cxnLst/>
              <a:rect l="l" t="t" r="r" b="b"/>
              <a:pathLst>
                <a:path w="15270480" h="2487168">
                  <a:moveTo>
                    <a:pt x="0" y="0"/>
                  </a:moveTo>
                  <a:lnTo>
                    <a:pt x="15270480" y="0"/>
                  </a:lnTo>
                  <a:lnTo>
                    <a:pt x="15270480" y="2487168"/>
                  </a:lnTo>
                  <a:lnTo>
                    <a:pt x="0" y="2487168"/>
                  </a:lnTo>
                  <a:close/>
                </a:path>
              </a:pathLst>
            </a:custGeom>
            <a:blipFill>
              <a:blip r:embed="rId3">
                <a:alphaModFix amt="0"/>
              </a:blip>
              <a:stretch>
                <a:fillRect t="-69632" b="-69632"/>
              </a:stretch>
            </a:blipFill>
          </p:spPr>
        </p:sp>
        <p:sp>
          <p:nvSpPr>
            <p:cNvPr id="20" name="TextBox 20"/>
            <p:cNvSpPr txBox="1"/>
            <p:nvPr/>
          </p:nvSpPr>
          <p:spPr>
            <a:xfrm>
              <a:off x="0" y="0"/>
              <a:ext cx="15270480" cy="2487168"/>
            </a:xfrm>
            <a:prstGeom prst="rect">
              <a:avLst/>
            </a:prstGeom>
          </p:spPr>
          <p:txBody>
            <a:bodyPr lIns="0" tIns="0" rIns="0" bIns="0" rtlCol="0" anchor="ctr"/>
            <a:lstStyle/>
            <a:p>
              <a:pPr marL="380048" lvl="1" indent="-190024" algn="just">
                <a:lnSpc>
                  <a:spcPts val="2520"/>
                </a:lnSpc>
                <a:buFont typeface="Arial"/>
                <a:buChar char="•"/>
              </a:pPr>
              <a:r>
                <a:rPr lang="en-US" sz="2100">
                  <a:solidFill>
                    <a:srgbClr val="1E2B25"/>
                  </a:solidFill>
                  <a:latin typeface="Montserrat"/>
                  <a:ea typeface="Montserrat"/>
                  <a:cs typeface="Montserrat"/>
                  <a:sym typeface="Montserrat"/>
                </a:rPr>
                <a:t>Thành lập Ban chỉ đạo AI (AI Taskforce) gồm đại diện QL cấp trung, IT và HR.</a:t>
              </a:r>
            </a:p>
            <a:p>
              <a:pPr marL="380048" lvl="1" indent="-190024" algn="just">
                <a:lnSpc>
                  <a:spcPts val="2520"/>
                </a:lnSpc>
                <a:buFont typeface="Arial"/>
                <a:buChar char="•"/>
              </a:pPr>
              <a:r>
                <a:rPr lang="en-US" sz="2100">
                  <a:solidFill>
                    <a:srgbClr val="1E2B25"/>
                  </a:solidFill>
                  <a:latin typeface="Montserrat"/>
                  <a:ea typeface="Montserrat"/>
                  <a:cs typeface="Montserrat"/>
                  <a:sym typeface="Montserrat"/>
                </a:rPr>
                <a:t>Ban hành "Sổ tay Hướng dẫn Sử dụng AI An toàn" phiên bản 1.0.</a:t>
              </a:r>
            </a:p>
          </p:txBody>
        </p:sp>
      </p:grpSp>
      <p:grpSp>
        <p:nvGrpSpPr>
          <p:cNvPr id="21" name="Group 21"/>
          <p:cNvGrpSpPr/>
          <p:nvPr/>
        </p:nvGrpSpPr>
        <p:grpSpPr>
          <a:xfrm>
            <a:off x="815816" y="4656296"/>
            <a:ext cx="16651796" cy="2208848"/>
            <a:chOff x="0" y="0"/>
            <a:chExt cx="22202394" cy="2945130"/>
          </a:xfrm>
        </p:grpSpPr>
        <p:sp>
          <p:nvSpPr>
            <p:cNvPr id="22" name="Freeform 22"/>
            <p:cNvSpPr/>
            <p:nvPr/>
          </p:nvSpPr>
          <p:spPr>
            <a:xfrm>
              <a:off x="0" y="0"/>
              <a:ext cx="22202394" cy="2945130"/>
            </a:xfrm>
            <a:custGeom>
              <a:avLst/>
              <a:gdLst/>
              <a:ahLst/>
              <a:cxnLst/>
              <a:rect l="l" t="t" r="r" b="b"/>
              <a:pathLst>
                <a:path w="22202394" h="2945130">
                  <a:moveTo>
                    <a:pt x="0" y="220853"/>
                  </a:moveTo>
                  <a:cubicBezTo>
                    <a:pt x="0" y="98933"/>
                    <a:pt x="98933" y="0"/>
                    <a:pt x="220853" y="0"/>
                  </a:cubicBezTo>
                  <a:lnTo>
                    <a:pt x="21981540" y="0"/>
                  </a:lnTo>
                  <a:cubicBezTo>
                    <a:pt x="22103587" y="0"/>
                    <a:pt x="22202394" y="98933"/>
                    <a:pt x="22202394" y="220853"/>
                  </a:cubicBezTo>
                  <a:lnTo>
                    <a:pt x="22202394" y="2724277"/>
                  </a:lnTo>
                  <a:cubicBezTo>
                    <a:pt x="22202394" y="2846324"/>
                    <a:pt x="22103460" y="2945130"/>
                    <a:pt x="21981540" y="2945130"/>
                  </a:cubicBezTo>
                  <a:lnTo>
                    <a:pt x="220853" y="2945130"/>
                  </a:lnTo>
                  <a:cubicBezTo>
                    <a:pt x="98933" y="2945130"/>
                    <a:pt x="0" y="2846197"/>
                    <a:pt x="0" y="2724277"/>
                  </a:cubicBezTo>
                  <a:close/>
                </a:path>
              </a:pathLst>
            </a:custGeom>
            <a:solidFill>
              <a:srgbClr val="FFFFFF"/>
            </a:solidFill>
            <a:ln w="14288" cap="sq">
              <a:solidFill>
                <a:srgbClr val="DCE6E0"/>
              </a:solidFill>
              <a:prstDash val="solid"/>
              <a:miter/>
            </a:ln>
          </p:spPr>
        </p:sp>
      </p:grpSp>
      <p:grpSp>
        <p:nvGrpSpPr>
          <p:cNvPr id="23" name="Group 23"/>
          <p:cNvGrpSpPr/>
          <p:nvPr/>
        </p:nvGrpSpPr>
        <p:grpSpPr>
          <a:xfrm>
            <a:off x="813435" y="4653915"/>
            <a:ext cx="4408170" cy="2213610"/>
            <a:chOff x="0" y="0"/>
            <a:chExt cx="5877560" cy="2951480"/>
          </a:xfrm>
        </p:grpSpPr>
        <p:sp>
          <p:nvSpPr>
            <p:cNvPr id="24" name="Freeform 24"/>
            <p:cNvSpPr/>
            <p:nvPr/>
          </p:nvSpPr>
          <p:spPr>
            <a:xfrm>
              <a:off x="0" y="0"/>
              <a:ext cx="5877560" cy="2951480"/>
            </a:xfrm>
            <a:custGeom>
              <a:avLst/>
              <a:gdLst/>
              <a:ahLst/>
              <a:cxnLst/>
              <a:rect l="l" t="t" r="r" b="b"/>
              <a:pathLst>
                <a:path w="5877560" h="2951480">
                  <a:moveTo>
                    <a:pt x="0" y="221361"/>
                  </a:moveTo>
                  <a:cubicBezTo>
                    <a:pt x="0" y="99060"/>
                    <a:pt x="99060" y="0"/>
                    <a:pt x="221361" y="0"/>
                  </a:cubicBezTo>
                  <a:lnTo>
                    <a:pt x="5656199" y="0"/>
                  </a:lnTo>
                  <a:cubicBezTo>
                    <a:pt x="5778500" y="0"/>
                    <a:pt x="5877560" y="99060"/>
                    <a:pt x="5877560" y="221361"/>
                  </a:cubicBezTo>
                  <a:lnTo>
                    <a:pt x="5877560" y="2730119"/>
                  </a:lnTo>
                  <a:cubicBezTo>
                    <a:pt x="5877560" y="2852420"/>
                    <a:pt x="5778500" y="2951480"/>
                    <a:pt x="5656199" y="2951480"/>
                  </a:cubicBezTo>
                  <a:lnTo>
                    <a:pt x="221361" y="2951480"/>
                  </a:lnTo>
                  <a:cubicBezTo>
                    <a:pt x="99060" y="2951480"/>
                    <a:pt x="0" y="2852420"/>
                    <a:pt x="0" y="2730119"/>
                  </a:cubicBezTo>
                  <a:close/>
                </a:path>
              </a:pathLst>
            </a:custGeom>
            <a:solidFill>
              <a:srgbClr val="006838"/>
            </a:solidFill>
            <a:ln w="19050" cap="sq">
              <a:solidFill>
                <a:srgbClr val="006838"/>
              </a:solidFill>
              <a:prstDash val="solid"/>
              <a:miter/>
            </a:ln>
          </p:spPr>
        </p:sp>
      </p:grpSp>
      <p:grpSp>
        <p:nvGrpSpPr>
          <p:cNvPr id="25" name="Group 25"/>
          <p:cNvGrpSpPr/>
          <p:nvPr/>
        </p:nvGrpSpPr>
        <p:grpSpPr>
          <a:xfrm>
            <a:off x="1156335" y="5202555"/>
            <a:ext cx="1116330" cy="1116330"/>
            <a:chOff x="0" y="0"/>
            <a:chExt cx="1488440" cy="1488440"/>
          </a:xfrm>
        </p:grpSpPr>
        <p:sp>
          <p:nvSpPr>
            <p:cNvPr id="26" name="Freeform 26"/>
            <p:cNvSpPr/>
            <p:nvPr/>
          </p:nvSpPr>
          <p:spPr>
            <a:xfrm>
              <a:off x="0" y="0"/>
              <a:ext cx="1488440" cy="1488440"/>
            </a:xfrm>
            <a:custGeom>
              <a:avLst/>
              <a:gdLst/>
              <a:ahLst/>
              <a:cxnLst/>
              <a:rect l="l" t="t" r="r" b="b"/>
              <a:pathLst>
                <a:path w="1488440" h="1488440">
                  <a:moveTo>
                    <a:pt x="0" y="744220"/>
                  </a:moveTo>
                  <a:cubicBezTo>
                    <a:pt x="0" y="333248"/>
                    <a:pt x="333248" y="0"/>
                    <a:pt x="744220" y="0"/>
                  </a:cubicBezTo>
                  <a:cubicBezTo>
                    <a:pt x="1155192" y="0"/>
                    <a:pt x="1488440" y="333248"/>
                    <a:pt x="1488440" y="744220"/>
                  </a:cubicBezTo>
                  <a:cubicBezTo>
                    <a:pt x="1488440" y="1155192"/>
                    <a:pt x="1155192" y="1488440"/>
                    <a:pt x="744220" y="1488440"/>
                  </a:cubicBezTo>
                  <a:cubicBezTo>
                    <a:pt x="333248" y="1488440"/>
                    <a:pt x="0" y="1155192"/>
                    <a:pt x="0" y="744220"/>
                  </a:cubicBezTo>
                  <a:close/>
                </a:path>
              </a:pathLst>
            </a:custGeom>
            <a:solidFill>
              <a:srgbClr val="FFFFFF"/>
            </a:solidFill>
            <a:ln w="19050" cap="sq">
              <a:solidFill>
                <a:srgbClr val="FFFFFF"/>
              </a:solidFill>
              <a:prstDash val="solid"/>
              <a:miter/>
            </a:ln>
          </p:spPr>
        </p:sp>
      </p:grpSp>
      <p:grpSp>
        <p:nvGrpSpPr>
          <p:cNvPr id="27" name="Group 27"/>
          <p:cNvGrpSpPr/>
          <p:nvPr/>
        </p:nvGrpSpPr>
        <p:grpSpPr>
          <a:xfrm>
            <a:off x="1429207" y="5475427"/>
            <a:ext cx="570586" cy="570586"/>
            <a:chOff x="0" y="0"/>
            <a:chExt cx="760781" cy="760781"/>
          </a:xfrm>
        </p:grpSpPr>
        <p:sp>
          <p:nvSpPr>
            <p:cNvPr id="28" name="Freeform 28" descr="preencoded.png"/>
            <p:cNvSpPr/>
            <p:nvPr/>
          </p:nvSpPr>
          <p:spPr>
            <a:xfrm>
              <a:off x="0" y="0"/>
              <a:ext cx="760730" cy="760730"/>
            </a:xfrm>
            <a:custGeom>
              <a:avLst/>
              <a:gdLst/>
              <a:ahLst/>
              <a:cxnLst/>
              <a:rect l="l" t="t" r="r" b="b"/>
              <a:pathLst>
                <a:path w="760730" h="760730">
                  <a:moveTo>
                    <a:pt x="0" y="0"/>
                  </a:moveTo>
                  <a:lnTo>
                    <a:pt x="760730" y="0"/>
                  </a:lnTo>
                  <a:lnTo>
                    <a:pt x="760730" y="760730"/>
                  </a:lnTo>
                  <a:lnTo>
                    <a:pt x="0" y="760730"/>
                  </a:lnTo>
                  <a:lnTo>
                    <a:pt x="0" y="0"/>
                  </a:lnTo>
                  <a:close/>
                </a:path>
              </a:pathLst>
            </a:custGeom>
            <a:blipFill>
              <a:blip r:embed="rId5"/>
              <a:stretch>
                <a:fillRect r="-6" b="-6"/>
              </a:stretch>
            </a:blipFill>
          </p:spPr>
        </p:sp>
      </p:grpSp>
      <p:grpSp>
        <p:nvGrpSpPr>
          <p:cNvPr id="29" name="Group 29"/>
          <p:cNvGrpSpPr/>
          <p:nvPr/>
        </p:nvGrpSpPr>
        <p:grpSpPr>
          <a:xfrm>
            <a:off x="2468880" y="5212080"/>
            <a:ext cx="2606040" cy="1097280"/>
            <a:chOff x="0" y="0"/>
            <a:chExt cx="3474720" cy="1463040"/>
          </a:xfrm>
        </p:grpSpPr>
        <p:sp>
          <p:nvSpPr>
            <p:cNvPr id="30" name="Freeform 30"/>
            <p:cNvSpPr/>
            <p:nvPr/>
          </p:nvSpPr>
          <p:spPr>
            <a:xfrm>
              <a:off x="0" y="0"/>
              <a:ext cx="3474720" cy="1463040"/>
            </a:xfrm>
            <a:custGeom>
              <a:avLst/>
              <a:gdLst/>
              <a:ahLst/>
              <a:cxnLst/>
              <a:rect l="l" t="t" r="r" b="b"/>
              <a:pathLst>
                <a:path w="3474720" h="1463040">
                  <a:moveTo>
                    <a:pt x="0" y="0"/>
                  </a:moveTo>
                  <a:lnTo>
                    <a:pt x="3474720" y="0"/>
                  </a:lnTo>
                  <a:lnTo>
                    <a:pt x="3474720" y="1463040"/>
                  </a:lnTo>
                  <a:lnTo>
                    <a:pt x="0" y="1463040"/>
                  </a:lnTo>
                  <a:close/>
                </a:path>
              </a:pathLst>
            </a:custGeom>
            <a:blipFill>
              <a:blip r:embed="rId3">
                <a:alphaModFix amt="0"/>
              </a:blip>
              <a:stretch>
                <a:fillRect l="-4022" r="-4022"/>
              </a:stretch>
            </a:blipFill>
          </p:spPr>
        </p:sp>
        <p:sp>
          <p:nvSpPr>
            <p:cNvPr id="31" name="TextBox 31"/>
            <p:cNvSpPr txBox="1"/>
            <p:nvPr/>
          </p:nvSpPr>
          <p:spPr>
            <a:xfrm>
              <a:off x="0" y="0"/>
              <a:ext cx="3474720" cy="1463040"/>
            </a:xfrm>
            <a:prstGeom prst="rect">
              <a:avLst/>
            </a:prstGeom>
          </p:spPr>
          <p:txBody>
            <a:bodyPr lIns="0" tIns="0" rIns="0" bIns="0" rtlCol="0" anchor="ctr"/>
            <a:lstStyle/>
            <a:p>
              <a:pPr algn="l">
                <a:lnSpc>
                  <a:spcPts val="3060"/>
                </a:lnSpc>
              </a:pPr>
              <a:r>
                <a:rPr lang="en-US" sz="2550" b="1">
                  <a:solidFill>
                    <a:srgbClr val="FFFFFF"/>
                  </a:solidFill>
                  <a:latin typeface="Montserrat Bold"/>
                  <a:ea typeface="Montserrat Bold"/>
                  <a:cs typeface="Montserrat Bold"/>
                  <a:sym typeface="Montserrat Bold"/>
                </a:rPr>
                <a:t>Capability</a:t>
              </a:r>
            </a:p>
          </p:txBody>
        </p:sp>
      </p:grpSp>
      <p:grpSp>
        <p:nvGrpSpPr>
          <p:cNvPr id="32" name="Group 32"/>
          <p:cNvGrpSpPr/>
          <p:nvPr/>
        </p:nvGrpSpPr>
        <p:grpSpPr>
          <a:xfrm>
            <a:off x="5623560" y="4792980"/>
            <a:ext cx="11452860" cy="1865376"/>
            <a:chOff x="0" y="0"/>
            <a:chExt cx="15270480" cy="2487168"/>
          </a:xfrm>
        </p:grpSpPr>
        <p:sp>
          <p:nvSpPr>
            <p:cNvPr id="33" name="Freeform 33"/>
            <p:cNvSpPr/>
            <p:nvPr/>
          </p:nvSpPr>
          <p:spPr>
            <a:xfrm>
              <a:off x="0" y="0"/>
              <a:ext cx="15270480" cy="2487168"/>
            </a:xfrm>
            <a:custGeom>
              <a:avLst/>
              <a:gdLst/>
              <a:ahLst/>
              <a:cxnLst/>
              <a:rect l="l" t="t" r="r" b="b"/>
              <a:pathLst>
                <a:path w="15270480" h="2487168">
                  <a:moveTo>
                    <a:pt x="0" y="0"/>
                  </a:moveTo>
                  <a:lnTo>
                    <a:pt x="15270480" y="0"/>
                  </a:lnTo>
                  <a:lnTo>
                    <a:pt x="15270480" y="2487168"/>
                  </a:lnTo>
                  <a:lnTo>
                    <a:pt x="0" y="2487168"/>
                  </a:lnTo>
                  <a:close/>
                </a:path>
              </a:pathLst>
            </a:custGeom>
            <a:blipFill>
              <a:blip r:embed="rId3">
                <a:alphaModFix amt="0"/>
              </a:blip>
              <a:stretch>
                <a:fillRect t="-69632" b="-69632"/>
              </a:stretch>
            </a:blipFill>
          </p:spPr>
        </p:sp>
        <p:sp>
          <p:nvSpPr>
            <p:cNvPr id="34" name="TextBox 34"/>
            <p:cNvSpPr txBox="1"/>
            <p:nvPr/>
          </p:nvSpPr>
          <p:spPr>
            <a:xfrm>
              <a:off x="0" y="0"/>
              <a:ext cx="15270480" cy="2487168"/>
            </a:xfrm>
            <a:prstGeom prst="rect">
              <a:avLst/>
            </a:prstGeom>
          </p:spPr>
          <p:txBody>
            <a:bodyPr lIns="0" tIns="0" rIns="0" bIns="0" rtlCol="0" anchor="ctr"/>
            <a:lstStyle/>
            <a:p>
              <a:pPr marL="380048" lvl="1" indent="-190024" algn="just">
                <a:lnSpc>
                  <a:spcPts val="2520"/>
                </a:lnSpc>
                <a:buFont typeface="Arial"/>
                <a:buChar char="•"/>
              </a:pPr>
              <a:r>
                <a:rPr lang="en-US" sz="2100">
                  <a:solidFill>
                    <a:srgbClr val="1E2B25"/>
                  </a:solidFill>
                  <a:latin typeface="Montserrat"/>
                  <a:ea typeface="Montserrat"/>
                  <a:cs typeface="Montserrat"/>
                  <a:sym typeface="Montserrat"/>
                </a:rPr>
                <a:t>Xây dựng khung năng lực: Xác định vấn đề - Xây bối cảnh – Đánh giá kết quả là năng lực chính thức</a:t>
              </a:r>
            </a:p>
            <a:p>
              <a:pPr marL="380048" lvl="1" indent="-190024" algn="just">
                <a:lnSpc>
                  <a:spcPts val="2520"/>
                </a:lnSpc>
                <a:buFont typeface="Arial"/>
                <a:buChar char="•"/>
              </a:pPr>
              <a:r>
                <a:rPr lang="en-US" sz="2100">
                  <a:solidFill>
                    <a:srgbClr val="1E2B25"/>
                  </a:solidFill>
                  <a:latin typeface="Montserrat"/>
                  <a:ea typeface="Montserrat"/>
                  <a:cs typeface="Montserrat"/>
                  <a:sym typeface="Montserrat"/>
                </a:rPr>
                <a:t>Tổ chức các buổi Workshop cho quản lý cấp trung, đào tạo phổ cập cho CBNV</a:t>
              </a:r>
            </a:p>
            <a:p>
              <a:pPr marL="380048" lvl="1" indent="-190024" algn="just">
                <a:lnSpc>
                  <a:spcPts val="2520"/>
                </a:lnSpc>
                <a:buFont typeface="Arial"/>
                <a:buChar char="•"/>
              </a:pPr>
              <a:r>
                <a:rPr lang="en-US" sz="2100" b="1">
                  <a:solidFill>
                    <a:srgbClr val="1E2B25"/>
                  </a:solidFill>
                  <a:latin typeface="Montserrat"/>
                  <a:ea typeface="Montserrat"/>
                  <a:cs typeface="Montserrat"/>
                  <a:sym typeface="Montserrat"/>
                </a:rPr>
                <a:t>01 quy trình viết lại = AI</a:t>
              </a:r>
            </a:p>
          </p:txBody>
        </p:sp>
      </p:grpSp>
      <p:grpSp>
        <p:nvGrpSpPr>
          <p:cNvPr id="35" name="Group 35"/>
          <p:cNvGrpSpPr/>
          <p:nvPr/>
        </p:nvGrpSpPr>
        <p:grpSpPr>
          <a:xfrm>
            <a:off x="815816" y="7125176"/>
            <a:ext cx="16651796" cy="2208848"/>
            <a:chOff x="0" y="0"/>
            <a:chExt cx="22202394" cy="2945130"/>
          </a:xfrm>
        </p:grpSpPr>
        <p:sp>
          <p:nvSpPr>
            <p:cNvPr id="36" name="Freeform 36"/>
            <p:cNvSpPr/>
            <p:nvPr/>
          </p:nvSpPr>
          <p:spPr>
            <a:xfrm>
              <a:off x="0" y="0"/>
              <a:ext cx="22202394" cy="2945130"/>
            </a:xfrm>
            <a:custGeom>
              <a:avLst/>
              <a:gdLst/>
              <a:ahLst/>
              <a:cxnLst/>
              <a:rect l="l" t="t" r="r" b="b"/>
              <a:pathLst>
                <a:path w="22202394" h="2945130">
                  <a:moveTo>
                    <a:pt x="0" y="220853"/>
                  </a:moveTo>
                  <a:cubicBezTo>
                    <a:pt x="0" y="98933"/>
                    <a:pt x="98933" y="0"/>
                    <a:pt x="220853" y="0"/>
                  </a:cubicBezTo>
                  <a:lnTo>
                    <a:pt x="21981540" y="0"/>
                  </a:lnTo>
                  <a:cubicBezTo>
                    <a:pt x="22103587" y="0"/>
                    <a:pt x="22202394" y="98933"/>
                    <a:pt x="22202394" y="220853"/>
                  </a:cubicBezTo>
                  <a:lnTo>
                    <a:pt x="22202394" y="2724277"/>
                  </a:lnTo>
                  <a:cubicBezTo>
                    <a:pt x="22202394" y="2846324"/>
                    <a:pt x="22103460" y="2945130"/>
                    <a:pt x="21981540" y="2945130"/>
                  </a:cubicBezTo>
                  <a:lnTo>
                    <a:pt x="220853" y="2945130"/>
                  </a:lnTo>
                  <a:cubicBezTo>
                    <a:pt x="98933" y="2945130"/>
                    <a:pt x="0" y="2846197"/>
                    <a:pt x="0" y="2724277"/>
                  </a:cubicBezTo>
                  <a:close/>
                </a:path>
              </a:pathLst>
            </a:custGeom>
            <a:solidFill>
              <a:srgbClr val="FFFFFF"/>
            </a:solidFill>
            <a:ln w="14288" cap="sq">
              <a:solidFill>
                <a:srgbClr val="DCE6E0"/>
              </a:solidFill>
              <a:prstDash val="solid"/>
              <a:miter/>
            </a:ln>
          </p:spPr>
        </p:sp>
      </p:grpSp>
      <p:grpSp>
        <p:nvGrpSpPr>
          <p:cNvPr id="37" name="Group 37"/>
          <p:cNvGrpSpPr/>
          <p:nvPr/>
        </p:nvGrpSpPr>
        <p:grpSpPr>
          <a:xfrm>
            <a:off x="813435" y="7122795"/>
            <a:ext cx="4408170" cy="2213610"/>
            <a:chOff x="0" y="0"/>
            <a:chExt cx="5877560" cy="2951480"/>
          </a:xfrm>
        </p:grpSpPr>
        <p:sp>
          <p:nvSpPr>
            <p:cNvPr id="38" name="Freeform 38"/>
            <p:cNvSpPr/>
            <p:nvPr/>
          </p:nvSpPr>
          <p:spPr>
            <a:xfrm>
              <a:off x="0" y="0"/>
              <a:ext cx="5877560" cy="2951480"/>
            </a:xfrm>
            <a:custGeom>
              <a:avLst/>
              <a:gdLst/>
              <a:ahLst/>
              <a:cxnLst/>
              <a:rect l="l" t="t" r="r" b="b"/>
              <a:pathLst>
                <a:path w="5877560" h="2951480">
                  <a:moveTo>
                    <a:pt x="0" y="221361"/>
                  </a:moveTo>
                  <a:cubicBezTo>
                    <a:pt x="0" y="99060"/>
                    <a:pt x="99060" y="0"/>
                    <a:pt x="221361" y="0"/>
                  </a:cubicBezTo>
                  <a:lnTo>
                    <a:pt x="5656199" y="0"/>
                  </a:lnTo>
                  <a:cubicBezTo>
                    <a:pt x="5778500" y="0"/>
                    <a:pt x="5877560" y="99060"/>
                    <a:pt x="5877560" y="221361"/>
                  </a:cubicBezTo>
                  <a:lnTo>
                    <a:pt x="5877560" y="2730119"/>
                  </a:lnTo>
                  <a:cubicBezTo>
                    <a:pt x="5877560" y="2852420"/>
                    <a:pt x="5778500" y="2951480"/>
                    <a:pt x="5656199" y="2951480"/>
                  </a:cubicBezTo>
                  <a:lnTo>
                    <a:pt x="221361" y="2951480"/>
                  </a:lnTo>
                  <a:cubicBezTo>
                    <a:pt x="99060" y="2951480"/>
                    <a:pt x="0" y="2852420"/>
                    <a:pt x="0" y="2730119"/>
                  </a:cubicBezTo>
                  <a:close/>
                </a:path>
              </a:pathLst>
            </a:custGeom>
            <a:solidFill>
              <a:srgbClr val="006838"/>
            </a:solidFill>
            <a:ln w="19050" cap="sq">
              <a:solidFill>
                <a:srgbClr val="006838"/>
              </a:solidFill>
              <a:prstDash val="solid"/>
              <a:miter/>
            </a:ln>
          </p:spPr>
        </p:sp>
      </p:grpSp>
      <p:grpSp>
        <p:nvGrpSpPr>
          <p:cNvPr id="39" name="Group 39"/>
          <p:cNvGrpSpPr/>
          <p:nvPr/>
        </p:nvGrpSpPr>
        <p:grpSpPr>
          <a:xfrm>
            <a:off x="1156335" y="7671435"/>
            <a:ext cx="1116330" cy="1116330"/>
            <a:chOff x="0" y="0"/>
            <a:chExt cx="1488440" cy="1488440"/>
          </a:xfrm>
        </p:grpSpPr>
        <p:sp>
          <p:nvSpPr>
            <p:cNvPr id="40" name="Freeform 40"/>
            <p:cNvSpPr/>
            <p:nvPr/>
          </p:nvSpPr>
          <p:spPr>
            <a:xfrm>
              <a:off x="0" y="0"/>
              <a:ext cx="1488440" cy="1488440"/>
            </a:xfrm>
            <a:custGeom>
              <a:avLst/>
              <a:gdLst/>
              <a:ahLst/>
              <a:cxnLst/>
              <a:rect l="l" t="t" r="r" b="b"/>
              <a:pathLst>
                <a:path w="1488440" h="1488440">
                  <a:moveTo>
                    <a:pt x="0" y="744220"/>
                  </a:moveTo>
                  <a:cubicBezTo>
                    <a:pt x="0" y="333248"/>
                    <a:pt x="333248" y="0"/>
                    <a:pt x="744220" y="0"/>
                  </a:cubicBezTo>
                  <a:cubicBezTo>
                    <a:pt x="1155192" y="0"/>
                    <a:pt x="1488440" y="333248"/>
                    <a:pt x="1488440" y="744220"/>
                  </a:cubicBezTo>
                  <a:cubicBezTo>
                    <a:pt x="1488440" y="1155192"/>
                    <a:pt x="1155192" y="1488440"/>
                    <a:pt x="744220" y="1488440"/>
                  </a:cubicBezTo>
                  <a:cubicBezTo>
                    <a:pt x="333248" y="1488440"/>
                    <a:pt x="0" y="1155192"/>
                    <a:pt x="0" y="744220"/>
                  </a:cubicBezTo>
                  <a:close/>
                </a:path>
              </a:pathLst>
            </a:custGeom>
            <a:solidFill>
              <a:srgbClr val="FFFFFF"/>
            </a:solidFill>
            <a:ln w="19050" cap="sq">
              <a:solidFill>
                <a:srgbClr val="FFFFFF"/>
              </a:solidFill>
              <a:prstDash val="solid"/>
              <a:miter/>
            </a:ln>
          </p:spPr>
        </p:sp>
      </p:grpSp>
      <p:grpSp>
        <p:nvGrpSpPr>
          <p:cNvPr id="41" name="Group 41"/>
          <p:cNvGrpSpPr/>
          <p:nvPr/>
        </p:nvGrpSpPr>
        <p:grpSpPr>
          <a:xfrm>
            <a:off x="1429207" y="7944307"/>
            <a:ext cx="570586" cy="570586"/>
            <a:chOff x="0" y="0"/>
            <a:chExt cx="760781" cy="760781"/>
          </a:xfrm>
        </p:grpSpPr>
        <p:sp>
          <p:nvSpPr>
            <p:cNvPr id="42" name="Freeform 42" descr="preencoded.png"/>
            <p:cNvSpPr/>
            <p:nvPr/>
          </p:nvSpPr>
          <p:spPr>
            <a:xfrm>
              <a:off x="0" y="0"/>
              <a:ext cx="760730" cy="760730"/>
            </a:xfrm>
            <a:custGeom>
              <a:avLst/>
              <a:gdLst/>
              <a:ahLst/>
              <a:cxnLst/>
              <a:rect l="l" t="t" r="r" b="b"/>
              <a:pathLst>
                <a:path w="760730" h="760730">
                  <a:moveTo>
                    <a:pt x="0" y="0"/>
                  </a:moveTo>
                  <a:lnTo>
                    <a:pt x="760730" y="0"/>
                  </a:lnTo>
                  <a:lnTo>
                    <a:pt x="760730" y="760730"/>
                  </a:lnTo>
                  <a:lnTo>
                    <a:pt x="0" y="760730"/>
                  </a:lnTo>
                  <a:lnTo>
                    <a:pt x="0" y="0"/>
                  </a:lnTo>
                  <a:close/>
                </a:path>
              </a:pathLst>
            </a:custGeom>
            <a:blipFill>
              <a:blip r:embed="rId6"/>
              <a:stretch>
                <a:fillRect r="-6" b="-6"/>
              </a:stretch>
            </a:blipFill>
          </p:spPr>
        </p:sp>
      </p:grpSp>
      <p:grpSp>
        <p:nvGrpSpPr>
          <p:cNvPr id="43" name="Group 43"/>
          <p:cNvGrpSpPr/>
          <p:nvPr/>
        </p:nvGrpSpPr>
        <p:grpSpPr>
          <a:xfrm>
            <a:off x="2468880" y="7680960"/>
            <a:ext cx="2606040" cy="1097280"/>
            <a:chOff x="0" y="0"/>
            <a:chExt cx="3474720" cy="1463040"/>
          </a:xfrm>
        </p:grpSpPr>
        <p:sp>
          <p:nvSpPr>
            <p:cNvPr id="44" name="Freeform 44"/>
            <p:cNvSpPr/>
            <p:nvPr/>
          </p:nvSpPr>
          <p:spPr>
            <a:xfrm>
              <a:off x="0" y="0"/>
              <a:ext cx="3474720" cy="1463040"/>
            </a:xfrm>
            <a:custGeom>
              <a:avLst/>
              <a:gdLst/>
              <a:ahLst/>
              <a:cxnLst/>
              <a:rect l="l" t="t" r="r" b="b"/>
              <a:pathLst>
                <a:path w="3474720" h="1463040">
                  <a:moveTo>
                    <a:pt x="0" y="0"/>
                  </a:moveTo>
                  <a:lnTo>
                    <a:pt x="3474720" y="0"/>
                  </a:lnTo>
                  <a:lnTo>
                    <a:pt x="3474720" y="1463040"/>
                  </a:lnTo>
                  <a:lnTo>
                    <a:pt x="0" y="1463040"/>
                  </a:lnTo>
                  <a:close/>
                </a:path>
              </a:pathLst>
            </a:custGeom>
            <a:blipFill>
              <a:blip r:embed="rId3">
                <a:alphaModFix amt="0"/>
              </a:blip>
              <a:stretch>
                <a:fillRect l="-4022" r="-4022"/>
              </a:stretch>
            </a:blipFill>
          </p:spPr>
        </p:sp>
        <p:sp>
          <p:nvSpPr>
            <p:cNvPr id="45" name="TextBox 45"/>
            <p:cNvSpPr txBox="1"/>
            <p:nvPr/>
          </p:nvSpPr>
          <p:spPr>
            <a:xfrm>
              <a:off x="0" y="0"/>
              <a:ext cx="3474720" cy="1463040"/>
            </a:xfrm>
            <a:prstGeom prst="rect">
              <a:avLst/>
            </a:prstGeom>
          </p:spPr>
          <p:txBody>
            <a:bodyPr lIns="0" tIns="0" rIns="0" bIns="0" rtlCol="0" anchor="ctr"/>
            <a:lstStyle/>
            <a:p>
              <a:pPr algn="l">
                <a:lnSpc>
                  <a:spcPts val="3060"/>
                </a:lnSpc>
              </a:pPr>
              <a:r>
                <a:rPr lang="en-US" sz="2550" b="1">
                  <a:solidFill>
                    <a:srgbClr val="FFFFFF"/>
                  </a:solidFill>
                  <a:latin typeface="Montserrat Bold"/>
                  <a:ea typeface="Montserrat Bold"/>
                  <a:cs typeface="Montserrat Bold"/>
                  <a:sym typeface="Montserrat Bold"/>
                </a:rPr>
                <a:t>Culture</a:t>
              </a:r>
            </a:p>
          </p:txBody>
        </p:sp>
      </p:grpSp>
      <p:grpSp>
        <p:nvGrpSpPr>
          <p:cNvPr id="46" name="Group 46"/>
          <p:cNvGrpSpPr/>
          <p:nvPr/>
        </p:nvGrpSpPr>
        <p:grpSpPr>
          <a:xfrm>
            <a:off x="5623560" y="7296912"/>
            <a:ext cx="11452860" cy="1865376"/>
            <a:chOff x="0" y="0"/>
            <a:chExt cx="15270480" cy="2487168"/>
          </a:xfrm>
        </p:grpSpPr>
        <p:sp>
          <p:nvSpPr>
            <p:cNvPr id="47" name="Freeform 47"/>
            <p:cNvSpPr/>
            <p:nvPr/>
          </p:nvSpPr>
          <p:spPr>
            <a:xfrm>
              <a:off x="0" y="0"/>
              <a:ext cx="15270480" cy="2487168"/>
            </a:xfrm>
            <a:custGeom>
              <a:avLst/>
              <a:gdLst/>
              <a:ahLst/>
              <a:cxnLst/>
              <a:rect l="l" t="t" r="r" b="b"/>
              <a:pathLst>
                <a:path w="15270480" h="2487168">
                  <a:moveTo>
                    <a:pt x="0" y="0"/>
                  </a:moveTo>
                  <a:lnTo>
                    <a:pt x="15270480" y="0"/>
                  </a:lnTo>
                  <a:lnTo>
                    <a:pt x="15270480" y="2487168"/>
                  </a:lnTo>
                  <a:lnTo>
                    <a:pt x="0" y="2487168"/>
                  </a:lnTo>
                  <a:close/>
                </a:path>
              </a:pathLst>
            </a:custGeom>
            <a:blipFill>
              <a:blip r:embed="rId3">
                <a:alphaModFix amt="0"/>
              </a:blip>
              <a:stretch>
                <a:fillRect t="-69632" b="-69632"/>
              </a:stretch>
            </a:blipFill>
          </p:spPr>
        </p:sp>
        <p:sp>
          <p:nvSpPr>
            <p:cNvPr id="48" name="TextBox 48"/>
            <p:cNvSpPr txBox="1"/>
            <p:nvPr/>
          </p:nvSpPr>
          <p:spPr>
            <a:xfrm>
              <a:off x="0" y="0"/>
              <a:ext cx="15270480" cy="2487168"/>
            </a:xfrm>
            <a:prstGeom prst="rect">
              <a:avLst/>
            </a:prstGeom>
          </p:spPr>
          <p:txBody>
            <a:bodyPr lIns="0" tIns="0" rIns="0" bIns="0" rtlCol="0" anchor="ctr"/>
            <a:lstStyle/>
            <a:p>
              <a:pPr marL="380048" lvl="1" indent="-190024" algn="just">
                <a:lnSpc>
                  <a:spcPts val="2520"/>
                </a:lnSpc>
                <a:buFont typeface="Arial"/>
                <a:buChar char="•"/>
              </a:pPr>
              <a:r>
                <a:rPr lang="en-US" sz="2100">
                  <a:solidFill>
                    <a:srgbClr val="1E2B25"/>
                  </a:solidFill>
                  <a:latin typeface="Montserrat"/>
                  <a:ea typeface="Montserrat"/>
                  <a:cs typeface="Montserrat"/>
                  <a:sym typeface="Montserrat"/>
                </a:rPr>
                <a:t>Liệt kê 5 quyết định giao việc gần nhất được giao kèm bối cảnh đầy đủ so với chỉ giao nhiệm vụ đơn thuần</a:t>
              </a:r>
            </a:p>
            <a:p>
              <a:pPr marL="380048" lvl="1" indent="-190024" algn="just">
                <a:lnSpc>
                  <a:spcPts val="2520"/>
                </a:lnSpc>
                <a:buFont typeface="Arial"/>
                <a:buChar char="•"/>
              </a:pPr>
              <a:r>
                <a:rPr lang="en-US" sz="2100">
                  <a:solidFill>
                    <a:srgbClr val="1E2B25"/>
                  </a:solidFill>
                  <a:latin typeface="Montserrat"/>
                  <a:ea typeface="Montserrat"/>
                  <a:cs typeface="Montserrat"/>
                  <a:sym typeface="Montserrat"/>
                </a:rPr>
                <a:t>Cổ vũ văn hóa "học liên tục, sai nhanh, sửa nhanh"</a:t>
              </a:r>
            </a:p>
          </p:txBody>
        </p:sp>
      </p:gr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006838"/>
        </a:solidFill>
        <a:effectLst/>
      </p:bgPr>
    </p:bg>
    <p:spTree>
      <p:nvGrpSpPr>
        <p:cNvPr id="1" name=""/>
        <p:cNvGrpSpPr/>
        <p:nvPr/>
      </p:nvGrpSpPr>
      <p:grpSpPr>
        <a:xfrm>
          <a:off x="0" y="0"/>
          <a:ext cx="0" cy="0"/>
          <a:chOff x="0" y="0"/>
          <a:chExt cx="0" cy="0"/>
        </a:xfrm>
      </p:grpSpPr>
      <p:grpSp>
        <p:nvGrpSpPr>
          <p:cNvPr id="2" name="Group 2"/>
          <p:cNvGrpSpPr/>
          <p:nvPr/>
        </p:nvGrpSpPr>
        <p:grpSpPr>
          <a:xfrm>
            <a:off x="0" y="0"/>
            <a:ext cx="18287543" cy="10287000"/>
            <a:chOff x="0" y="0"/>
            <a:chExt cx="24383390" cy="13716000"/>
          </a:xfrm>
        </p:grpSpPr>
        <p:sp>
          <p:nvSpPr>
            <p:cNvPr id="3" name="Freeform 3" descr="/tmp/claude-0/-home-claude/f2393a9e-ecac-5976-acd4-5fd24e92a8fe/scratchpad/assets/thanks.jpg"/>
            <p:cNvSpPr/>
            <p:nvPr/>
          </p:nvSpPr>
          <p:spPr>
            <a:xfrm>
              <a:off x="0" y="0"/>
              <a:ext cx="24383364" cy="13716000"/>
            </a:xfrm>
            <a:custGeom>
              <a:avLst/>
              <a:gdLst/>
              <a:ahLst/>
              <a:cxnLst/>
              <a:rect l="l" t="t" r="r" b="b"/>
              <a:pathLst>
                <a:path w="24383364" h="13716000">
                  <a:moveTo>
                    <a:pt x="0" y="0"/>
                  </a:moveTo>
                  <a:lnTo>
                    <a:pt x="24383364" y="0"/>
                  </a:lnTo>
                  <a:lnTo>
                    <a:pt x="24383364" y="13716000"/>
                  </a:lnTo>
                  <a:lnTo>
                    <a:pt x="0" y="13716000"/>
                  </a:lnTo>
                  <a:lnTo>
                    <a:pt x="0" y="0"/>
                  </a:lnTo>
                  <a:close/>
                </a:path>
              </a:pathLst>
            </a:custGeom>
            <a:blipFill>
              <a:blip r:embed="rId3"/>
              <a:stretch>
                <a:fillRect b="-13739"/>
              </a:stretch>
            </a:blipFill>
          </p:spPr>
        </p:sp>
      </p:grpSp>
      <p:grpSp>
        <p:nvGrpSpPr>
          <p:cNvPr id="4" name="Group 4"/>
          <p:cNvGrpSpPr/>
          <p:nvPr/>
        </p:nvGrpSpPr>
        <p:grpSpPr>
          <a:xfrm>
            <a:off x="-9068" y="4516755"/>
            <a:ext cx="18306593" cy="5779770"/>
            <a:chOff x="0" y="0"/>
            <a:chExt cx="24408790" cy="7706360"/>
          </a:xfrm>
        </p:grpSpPr>
        <p:sp>
          <p:nvSpPr>
            <p:cNvPr id="5" name="Freeform 5"/>
            <p:cNvSpPr/>
            <p:nvPr/>
          </p:nvSpPr>
          <p:spPr>
            <a:xfrm>
              <a:off x="0" y="0"/>
              <a:ext cx="24408764" cy="7706360"/>
            </a:xfrm>
            <a:custGeom>
              <a:avLst/>
              <a:gdLst/>
              <a:ahLst/>
              <a:cxnLst/>
              <a:rect l="l" t="t" r="r" b="b"/>
              <a:pathLst>
                <a:path w="24408764" h="7706360">
                  <a:moveTo>
                    <a:pt x="0" y="0"/>
                  </a:moveTo>
                  <a:lnTo>
                    <a:pt x="24408764" y="0"/>
                  </a:lnTo>
                  <a:lnTo>
                    <a:pt x="24408764" y="7706360"/>
                  </a:lnTo>
                  <a:lnTo>
                    <a:pt x="0" y="7706360"/>
                  </a:lnTo>
                  <a:close/>
                </a:path>
              </a:pathLst>
            </a:custGeom>
            <a:solidFill>
              <a:srgbClr val="004A28">
                <a:alpha val="67059"/>
              </a:srgbClr>
            </a:solidFill>
            <a:ln w="19050" cap="sq">
              <a:solidFill>
                <a:srgbClr val="004A28"/>
              </a:solidFill>
              <a:prstDash val="solid"/>
              <a:miter/>
            </a:ln>
          </p:spPr>
        </p:sp>
      </p:grpSp>
      <p:grpSp>
        <p:nvGrpSpPr>
          <p:cNvPr id="6" name="Group 6"/>
          <p:cNvGrpSpPr/>
          <p:nvPr/>
        </p:nvGrpSpPr>
        <p:grpSpPr>
          <a:xfrm>
            <a:off x="7698867" y="1773555"/>
            <a:ext cx="2899410" cy="2145030"/>
            <a:chOff x="0" y="0"/>
            <a:chExt cx="3865880" cy="2860040"/>
          </a:xfrm>
        </p:grpSpPr>
        <p:sp>
          <p:nvSpPr>
            <p:cNvPr id="7" name="Freeform 7"/>
            <p:cNvSpPr/>
            <p:nvPr/>
          </p:nvSpPr>
          <p:spPr>
            <a:xfrm>
              <a:off x="0" y="0"/>
              <a:ext cx="3865880" cy="2860040"/>
            </a:xfrm>
            <a:custGeom>
              <a:avLst/>
              <a:gdLst/>
              <a:ahLst/>
              <a:cxnLst/>
              <a:rect l="l" t="t" r="r" b="b"/>
              <a:pathLst>
                <a:path w="3865880" h="2860040">
                  <a:moveTo>
                    <a:pt x="0" y="221361"/>
                  </a:moveTo>
                  <a:cubicBezTo>
                    <a:pt x="0" y="99187"/>
                    <a:pt x="99187" y="0"/>
                    <a:pt x="221361" y="0"/>
                  </a:cubicBezTo>
                  <a:lnTo>
                    <a:pt x="3644519" y="0"/>
                  </a:lnTo>
                  <a:cubicBezTo>
                    <a:pt x="3766820" y="0"/>
                    <a:pt x="3865880" y="99187"/>
                    <a:pt x="3865880" y="221361"/>
                  </a:cubicBezTo>
                  <a:lnTo>
                    <a:pt x="3865880" y="2638679"/>
                  </a:lnTo>
                  <a:cubicBezTo>
                    <a:pt x="3865880" y="2760980"/>
                    <a:pt x="3766693" y="2860040"/>
                    <a:pt x="3644519" y="2860040"/>
                  </a:cubicBezTo>
                  <a:lnTo>
                    <a:pt x="221361" y="2860040"/>
                  </a:lnTo>
                  <a:cubicBezTo>
                    <a:pt x="99187" y="2860040"/>
                    <a:pt x="0" y="2760853"/>
                    <a:pt x="0" y="2638679"/>
                  </a:cubicBezTo>
                  <a:close/>
                </a:path>
              </a:pathLst>
            </a:custGeom>
            <a:solidFill>
              <a:srgbClr val="FFFFFF"/>
            </a:solidFill>
            <a:ln w="19050" cap="sq">
              <a:solidFill>
                <a:srgbClr val="FFFFFF"/>
              </a:solidFill>
              <a:prstDash val="solid"/>
              <a:miter/>
            </a:ln>
          </p:spPr>
        </p:sp>
      </p:grpSp>
      <p:grpSp>
        <p:nvGrpSpPr>
          <p:cNvPr id="8" name="Group 8"/>
          <p:cNvGrpSpPr/>
          <p:nvPr/>
        </p:nvGrpSpPr>
        <p:grpSpPr>
          <a:xfrm>
            <a:off x="7914132" y="1892808"/>
            <a:ext cx="2468880" cy="1851660"/>
            <a:chOff x="0" y="0"/>
            <a:chExt cx="3291840" cy="2468880"/>
          </a:xfrm>
        </p:grpSpPr>
        <p:sp>
          <p:nvSpPr>
            <p:cNvPr id="9" name="Freeform 9" descr="/tmp/claude-0/-home-claude/f2393a9e-ecac-5976-acd4-5fd24e92a8fe/scratchpad/assets/logo.jpg"/>
            <p:cNvSpPr/>
            <p:nvPr/>
          </p:nvSpPr>
          <p:spPr>
            <a:xfrm>
              <a:off x="0" y="0"/>
              <a:ext cx="3291840" cy="2468880"/>
            </a:xfrm>
            <a:custGeom>
              <a:avLst/>
              <a:gdLst/>
              <a:ahLst/>
              <a:cxnLst/>
              <a:rect l="l" t="t" r="r" b="b"/>
              <a:pathLst>
                <a:path w="3291840" h="2468880">
                  <a:moveTo>
                    <a:pt x="0" y="0"/>
                  </a:moveTo>
                  <a:lnTo>
                    <a:pt x="3291840" y="0"/>
                  </a:lnTo>
                  <a:lnTo>
                    <a:pt x="3291840" y="2468880"/>
                  </a:lnTo>
                  <a:lnTo>
                    <a:pt x="0" y="2468880"/>
                  </a:lnTo>
                  <a:lnTo>
                    <a:pt x="0" y="0"/>
                  </a:lnTo>
                  <a:close/>
                </a:path>
              </a:pathLst>
            </a:custGeom>
            <a:blipFill>
              <a:blip r:embed="rId4"/>
              <a:stretch>
                <a:fillRect/>
              </a:stretch>
            </a:blipFill>
          </p:spPr>
        </p:sp>
      </p:grpSp>
      <p:grpSp>
        <p:nvGrpSpPr>
          <p:cNvPr id="10" name="Group 10"/>
          <p:cNvGrpSpPr/>
          <p:nvPr/>
        </p:nvGrpSpPr>
        <p:grpSpPr>
          <a:xfrm>
            <a:off x="2057400" y="4526280"/>
            <a:ext cx="14168628" cy="2194560"/>
            <a:chOff x="0" y="0"/>
            <a:chExt cx="18891504" cy="2926080"/>
          </a:xfrm>
        </p:grpSpPr>
        <p:sp>
          <p:nvSpPr>
            <p:cNvPr id="11" name="Freeform 11"/>
            <p:cNvSpPr/>
            <p:nvPr/>
          </p:nvSpPr>
          <p:spPr>
            <a:xfrm>
              <a:off x="0" y="0"/>
              <a:ext cx="18891504" cy="2926080"/>
            </a:xfrm>
            <a:custGeom>
              <a:avLst/>
              <a:gdLst/>
              <a:ahLst/>
              <a:cxnLst/>
              <a:rect l="l" t="t" r="r" b="b"/>
              <a:pathLst>
                <a:path w="18891504" h="2926080">
                  <a:moveTo>
                    <a:pt x="0" y="0"/>
                  </a:moveTo>
                  <a:lnTo>
                    <a:pt x="18891504" y="0"/>
                  </a:lnTo>
                  <a:lnTo>
                    <a:pt x="18891504" y="2926080"/>
                  </a:lnTo>
                  <a:lnTo>
                    <a:pt x="0" y="2926080"/>
                  </a:lnTo>
                  <a:close/>
                </a:path>
              </a:pathLst>
            </a:custGeom>
            <a:blipFill>
              <a:blip r:embed="rId5">
                <a:alphaModFix amt="0"/>
              </a:blip>
              <a:stretch>
                <a:fillRect t="-75800" b="-75800"/>
              </a:stretch>
            </a:blipFill>
          </p:spPr>
        </p:sp>
        <p:sp>
          <p:nvSpPr>
            <p:cNvPr id="12" name="TextBox 12"/>
            <p:cNvSpPr txBox="1"/>
            <p:nvPr/>
          </p:nvSpPr>
          <p:spPr>
            <a:xfrm>
              <a:off x="0" y="0"/>
              <a:ext cx="18891504" cy="2926080"/>
            </a:xfrm>
            <a:prstGeom prst="rect">
              <a:avLst/>
            </a:prstGeom>
          </p:spPr>
          <p:txBody>
            <a:bodyPr lIns="0" tIns="0" rIns="0" bIns="0" rtlCol="0" anchor="ctr"/>
            <a:lstStyle/>
            <a:p>
              <a:pPr algn="ctr">
                <a:lnSpc>
                  <a:spcPts val="12960"/>
                </a:lnSpc>
              </a:pPr>
              <a:r>
                <a:rPr lang="en-US" sz="10800" b="1">
                  <a:solidFill>
                    <a:srgbClr val="FFFFFF"/>
                  </a:solidFill>
                  <a:latin typeface="Montserrat Bold"/>
                  <a:ea typeface="Montserrat Bold"/>
                  <a:cs typeface="Montserrat Bold"/>
                  <a:sym typeface="Montserrat Bold"/>
                </a:rPr>
                <a:t>Thank You</a:t>
              </a:r>
            </a:p>
          </p:txBody>
        </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074B8B7554C64646BC570E725E309A7D" ma:contentTypeVersion="8" ma:contentTypeDescription="Create a new document." ma:contentTypeScope="" ma:versionID="daca4047dfeb407342c2efdbd9782ad6">
  <xsd:schema xmlns:xsd="http://www.w3.org/2001/XMLSchema" xmlns:xs="http://www.w3.org/2001/XMLSchema" xmlns:p="http://schemas.microsoft.com/office/2006/metadata/properties" xmlns:ns2="289f21b5-c36f-4b98-8f2a-3609cb554ed4" targetNamespace="http://schemas.microsoft.com/office/2006/metadata/properties" ma:root="true" ma:fieldsID="23007bc2f3f0f57be080b18f659f410f" ns2:_="">
    <xsd:import namespace="289f21b5-c36f-4b98-8f2a-3609cb554ed4"/>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lcf76f155ced4ddcb4097134ff3c332f" minOccurs="0"/>
                <xsd:element ref="ns2:MediaServiceGenerationTime" minOccurs="0"/>
                <xsd:element ref="ns2: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289f21b5-c36f-4b98-8f2a-3609cb554ed4"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lcf76f155ced4ddcb4097134ff3c332f" ma:index="13" nillable="true" ma:taxonomy="true" ma:internalName="lcf76f155ced4ddcb4097134ff3c332f" ma:taxonomyFieldName="MediaServiceImageTags" ma:displayName="Image Tags" ma:readOnly="false" ma:fieldId="{5cf76f15-5ced-4ddc-b409-7134ff3c332f}" ma:taxonomyMulti="true" ma:sspId="1a94d084-e199-4164-8a90-017735542d61" ma:termSetId="09814cd3-568e-fe90-9814-8d621ff8fb84" ma:anchorId="fba54fb3-c3e1-fe81-a776-ca4b69148c4d" ma:open="true" ma:isKeyword="false">
      <xsd:complexType>
        <xsd:sequence>
          <xsd:element ref="pc:Terms" minOccurs="0" maxOccurs="1"/>
        </xsd:sequence>
      </xsd:complex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289f21b5-c36f-4b98-8f2a-3609cb554ed4">
      <Terms xmlns="http://schemas.microsoft.com/office/infopath/2007/PartnerControls"/>
    </lcf76f155ced4ddcb4097134ff3c332f>
  </documentManagement>
</p:properties>
</file>

<file path=customXml/itemProps1.xml><?xml version="1.0" encoding="utf-8"?>
<ds:datastoreItem xmlns:ds="http://schemas.openxmlformats.org/officeDocument/2006/customXml" ds:itemID="{AC01EC0C-7BAD-42CA-B0F8-FCEEC95F340D}">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289f21b5-c36f-4b98-8f2a-3609cb554ed4"/>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B4CC3D07-B680-4522-919F-8520E8CE43DD}">
  <ds:schemaRefs>
    <ds:schemaRef ds:uri="http://schemas.microsoft.com/sharepoint/v3/contenttype/forms"/>
  </ds:schemaRefs>
</ds:datastoreItem>
</file>

<file path=customXml/itemProps3.xml><?xml version="1.0" encoding="utf-8"?>
<ds:datastoreItem xmlns:ds="http://schemas.openxmlformats.org/officeDocument/2006/customXml" ds:itemID="{5666808C-BE93-4295-B046-94B18683078D}">
  <ds:schemaRefs>
    <ds:schemaRef ds:uri="http://schemas.microsoft.com/office/2006/metadata/properties"/>
    <ds:schemaRef ds:uri="http://schemas.microsoft.com/office/infopath/2007/PartnerControls"/>
    <ds:schemaRef ds:uri="289f21b5-c36f-4b98-8f2a-3609cb554ed4"/>
  </ds:schemaRefs>
</ds:datastoreItem>
</file>

<file path=docProps/app.xml><?xml version="1.0" encoding="utf-8"?>
<Properties xmlns="http://schemas.openxmlformats.org/officeDocument/2006/extended-properties" xmlns:vt="http://schemas.openxmlformats.org/officeDocument/2006/docPropsVTypes">
  <TotalTime>55</TotalTime>
  <Words>3594</Words>
  <Application>Microsoft Office PowerPoint</Application>
  <PresentationFormat>Custom</PresentationFormat>
  <Paragraphs>450</Paragraphs>
  <Slides>33</Slides>
  <Notes>33</Notes>
  <HiddenSlides>0</HiddenSlides>
  <MMClips>0</MMClips>
  <ScaleCrop>false</ScaleCrop>
  <HeadingPairs>
    <vt:vector size="4" baseType="variant">
      <vt:variant>
        <vt:lpstr>Theme</vt:lpstr>
      </vt:variant>
      <vt:variant>
        <vt:i4>1</vt:i4>
      </vt:variant>
      <vt:variant>
        <vt:lpstr>Slide Titles</vt:lpstr>
      </vt:variant>
      <vt:variant>
        <vt:i4>33</vt:i4>
      </vt:variant>
    </vt:vector>
  </HeadingPairs>
  <TitlesOfParts>
    <vt:vector size="34"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AI_native_organization_redesign.pptx</dc:title>
  <cp:lastModifiedBy>Ha, Duong Thi Thu (BS | NS)</cp:lastModifiedBy>
  <cp:revision>45</cp:revision>
  <dcterms:created xsi:type="dcterms:W3CDTF">2006-08-16T00:00:00Z</dcterms:created>
  <dcterms:modified xsi:type="dcterms:W3CDTF">2026-10-09T06:28:37Z</dcterms:modified>
  <dc:identifier>DAHXTUgF_o8</dc:identifier>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0x010100074B8B7554C64646BC570E725E309A7D</vt:lpwstr>
  </property>
  <property fmtid="{D5CDD505-2E9C-101B-9397-08002B2CF9AE}" pid="3" name="MediaServiceImageTags">
    <vt:lpwstr/>
  </property>
</Properties>
</file>